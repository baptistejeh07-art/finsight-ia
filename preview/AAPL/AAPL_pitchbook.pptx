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Lst>
  <p:sldSz cx="9144000" cy="51444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3716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5600"/>
            <a:ext cx="8229600" cy="255600"/>
          </a:xfrm>
          <a:prstGeom prst="rect">
            <a:avLst/>
          </a:prstGeom>
          <a:noFill/>
        </p:spPr>
        <p:txBody>
          <a:bodyPr wrap="square">
            <a:spAutoFit/>
          </a:bodyPr>
          <a:lstStyle/>
          <a:p>
            <a:pPr algn="ctr"/>
            <a:r>
              <a:rPr sz="1000" b="0" i="0">
                <a:solidFill>
                  <a:srgbClr val="8899BB"/>
                </a:solidFill>
                <a:latin typeface="Calibri"/>
              </a:rPr>
              <a:t>FinSight IA</a:t>
            </a:r>
          </a:p>
        </p:txBody>
      </p:sp>
      <p:sp>
        <p:nvSpPr>
          <p:cNvPr id="4" name="Rectangle 3"/>
          <p:cNvSpPr/>
          <p:nvPr/>
        </p:nvSpPr>
        <p:spPr>
          <a:xfrm>
            <a:off x="3978000" y="475200"/>
            <a:ext cx="1188000" cy="1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547200"/>
            <a:ext cx="8229600" cy="291600"/>
          </a:xfrm>
          <a:prstGeom prst="rect">
            <a:avLst/>
          </a:prstGeom>
          <a:noFill/>
        </p:spPr>
        <p:txBody>
          <a:bodyPr wrap="square">
            <a:spAutoFit/>
          </a:bodyPr>
          <a:lstStyle/>
          <a:p>
            <a:pPr algn="ctr"/>
            <a:r>
              <a:rPr sz="1100" b="0" i="0">
                <a:solidFill>
                  <a:srgbClr val="CCDDEE"/>
                </a:solidFill>
                <a:latin typeface="Calibri"/>
              </a:rPr>
              <a:t>Pitchbook  —  Analyse d'investissement</a:t>
            </a:r>
          </a:p>
        </p:txBody>
      </p:sp>
      <p:sp>
        <p:nvSpPr>
          <p:cNvPr id="6" name="TextBox 5"/>
          <p:cNvSpPr txBox="1"/>
          <p:nvPr/>
        </p:nvSpPr>
        <p:spPr>
          <a:xfrm>
            <a:off x="457200" y="1461599"/>
            <a:ext cx="8229600" cy="794232"/>
          </a:xfrm>
          <a:prstGeom prst="rect">
            <a:avLst/>
          </a:prstGeom>
          <a:noFill/>
        </p:spPr>
        <p:txBody>
          <a:bodyPr wrap="square">
            <a:spAutoFit/>
          </a:bodyPr>
          <a:lstStyle/>
          <a:p>
            <a:pPr algn="ctr"/>
            <a:r>
              <a:rPr sz="4000" b="1" i="0">
                <a:solidFill>
                  <a:srgbClr val="1B3A6B"/>
                </a:solidFill>
                <a:latin typeface="Calibri"/>
              </a:rPr>
              <a:t>Apple Inc.</a:t>
            </a:r>
          </a:p>
        </p:txBody>
      </p:sp>
      <p:sp>
        <p:nvSpPr>
          <p:cNvPr id="7" name="TextBox 6"/>
          <p:cNvSpPr txBox="1"/>
          <p:nvPr/>
        </p:nvSpPr>
        <p:spPr>
          <a:xfrm>
            <a:off x="457200" y="2345832"/>
            <a:ext cx="8229600" cy="255600"/>
          </a:xfrm>
          <a:prstGeom prst="rect">
            <a:avLst/>
          </a:prstGeom>
          <a:noFill/>
        </p:spPr>
        <p:txBody>
          <a:bodyPr wrap="square">
            <a:spAutoFit/>
          </a:bodyPr>
          <a:lstStyle/>
          <a:p>
            <a:pPr algn="ctr"/>
            <a:r>
              <a:rPr sz="1100" b="0" i="0">
                <a:solidFill>
                  <a:srgbClr val="888888"/>
                </a:solidFill>
                <a:latin typeface="Calibri"/>
              </a:rPr>
              <a:t>AAPL  ·  Technology</a:t>
            </a:r>
          </a:p>
        </p:txBody>
      </p:sp>
      <p:sp>
        <p:nvSpPr>
          <p:cNvPr id="8" name="Rectangle 7"/>
          <p:cNvSpPr/>
          <p:nvPr/>
        </p:nvSpPr>
        <p:spPr>
          <a:xfrm>
            <a:off x="2771999" y="2720232"/>
            <a:ext cx="3600000" cy="432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826000" y="2738232"/>
            <a:ext cx="3491999" cy="395999"/>
          </a:xfrm>
          <a:prstGeom prst="rect">
            <a:avLst/>
          </a:prstGeom>
          <a:noFill/>
        </p:spPr>
        <p:txBody>
          <a:bodyPr wrap="square">
            <a:spAutoFit/>
          </a:bodyPr>
          <a:lstStyle/>
          <a:p>
            <a:pPr algn="ctr"/>
            <a:r>
              <a:rPr sz="900" b="1" i="0">
                <a:solidFill>
                  <a:srgbClr val="FFFFFF"/>
                </a:solidFill>
                <a:latin typeface="Calibri"/>
              </a:rPr>
              <a:t>● BUY  ·  Prix cible base : 285 $  ·  Upside : +10,6 %</a:t>
            </a:r>
          </a:p>
        </p:txBody>
      </p:sp>
      <p:sp>
        <p:nvSpPr>
          <p:cNvPr id="10" name="Rectangle 9"/>
          <p:cNvSpPr/>
          <p:nvPr/>
        </p:nvSpPr>
        <p:spPr>
          <a:xfrm>
            <a:off x="367200" y="4464000"/>
            <a:ext cx="8413200" cy="10800"/>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7200" y="4554000"/>
            <a:ext cx="4114800" cy="201600"/>
          </a:xfrm>
          <a:prstGeom prst="rect">
            <a:avLst/>
          </a:prstGeom>
          <a:noFill/>
        </p:spPr>
        <p:txBody>
          <a:bodyPr wrap="square">
            <a:spAutoFit/>
          </a:bodyPr>
          <a:lstStyle/>
          <a:p>
            <a:pPr algn="l"/>
            <a:r>
              <a:rPr sz="800" b="0" i="0">
                <a:solidFill>
                  <a:srgbClr val="555555"/>
                </a:solidFill>
                <a:latin typeface="Calibri"/>
              </a:rPr>
              <a:t>Rapport confidentiel</a:t>
            </a:r>
          </a:p>
        </p:txBody>
      </p:sp>
      <p:sp>
        <p:nvSpPr>
          <p:cNvPr id="12" name="TextBox 11"/>
          <p:cNvSpPr txBox="1"/>
          <p:nvPr/>
        </p:nvSpPr>
        <p:spPr>
          <a:xfrm>
            <a:off x="4662000" y="4554000"/>
            <a:ext cx="4114800" cy="201600"/>
          </a:xfrm>
          <a:prstGeom prst="rect">
            <a:avLst/>
          </a:prstGeom>
          <a:noFill/>
        </p:spPr>
        <p:txBody>
          <a:bodyPr wrap="square">
            <a:spAutoFit/>
          </a:bodyPr>
          <a:lstStyle/>
          <a:p>
            <a:pPr algn="r"/>
            <a:r>
              <a:rPr sz="800" b="0" i="0">
                <a:solidFill>
                  <a:srgbClr val="555555"/>
                </a:solidFill>
                <a:latin typeface="Calibri"/>
              </a:rPr>
              <a:t>8 avril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TextBox 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Executive Summary</a:t>
            </a:r>
          </a:p>
        </p:txBody>
      </p:sp>
      <p:sp>
        <p:nvSpPr>
          <p:cNvPr id="6" name="Rectangle 5"/>
          <p:cNvSpPr/>
          <p:nvPr/>
        </p:nvSpPr>
        <p:spPr>
          <a:xfrm>
            <a:off x="367200" y="748800"/>
            <a:ext cx="8413200" cy="439200"/>
          </a:xfrm>
          <a:prstGeom prst="rect">
            <a:avLst/>
          </a:prstGeom>
          <a:solidFill>
            <a:srgbClr val="EA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7200" y="748800"/>
            <a:ext cx="46800" cy="4392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3999" y="766800"/>
            <a:ext cx="1098000" cy="403200"/>
          </a:xfrm>
          <a:prstGeom prst="rect">
            <a:avLst/>
          </a:prstGeom>
          <a:noFill/>
        </p:spPr>
        <p:txBody>
          <a:bodyPr wrap="square">
            <a:spAutoFit/>
          </a:bodyPr>
          <a:lstStyle/>
          <a:p>
            <a:pPr algn="l"/>
            <a:r>
              <a:rPr sz="1100" b="1" i="0">
                <a:solidFill>
                  <a:srgbClr val="1A7A4A"/>
                </a:solidFill>
                <a:latin typeface="Calibri"/>
              </a:rPr>
              <a:t>● BUY</a:t>
            </a:r>
          </a:p>
        </p:txBody>
      </p:sp>
      <p:sp>
        <p:nvSpPr>
          <p:cNvPr id="9" name="TextBox 8"/>
          <p:cNvSpPr txBox="1"/>
          <p:nvPr/>
        </p:nvSpPr>
        <p:spPr>
          <a:xfrm>
            <a:off x="1692000" y="766800"/>
            <a:ext cx="6948000" cy="403200"/>
          </a:xfrm>
          <a:prstGeom prst="rect">
            <a:avLst/>
          </a:prstGeom>
          <a:noFill/>
        </p:spPr>
        <p:txBody>
          <a:bodyPr wrap="square">
            <a:spAutoFit/>
          </a:bodyPr>
          <a:lstStyle/>
          <a:p>
            <a:pPr algn="l"/>
            <a:r>
              <a:rPr sz="900" b="0" i="0">
                <a:solidFill>
                  <a:srgbClr val="1B3A6B"/>
                </a:solidFill>
                <a:latin typeface="Calibri"/>
              </a:rPr>
              <a:t>Prix cible base : 285 $  ·  Upside : +10,6 %  ·  Bear : 240 $ (-6,9 %)  ·  Bull : 320 $ (+24,2 %)</a:t>
            </a:r>
          </a:p>
        </p:txBody>
      </p:sp>
      <p:sp>
        <p:nvSpPr>
          <p:cNvPr id="10" name="Rectangle 9"/>
          <p:cNvSpPr/>
          <p:nvPr/>
        </p:nvSpPr>
        <p:spPr>
          <a:xfrm>
            <a:off x="367200" y="1353600"/>
            <a:ext cx="4161600" cy="2556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7200" y="1353600"/>
            <a:ext cx="4161600" cy="255600"/>
          </a:xfrm>
          <a:prstGeom prst="rect">
            <a:avLst/>
          </a:prstGeom>
          <a:noFill/>
        </p:spPr>
        <p:txBody>
          <a:bodyPr wrap="square">
            <a:spAutoFit/>
          </a:bodyPr>
          <a:lstStyle/>
          <a:p>
            <a:pPr algn="l"/>
            <a:r>
              <a:rPr sz="900" b="1" i="0">
                <a:solidFill>
                  <a:srgbClr val="FFFFFF"/>
                </a:solidFill>
                <a:latin typeface="Calibri"/>
              </a:rPr>
              <a:t>THÈSE D'INVESTISSEMENT</a:t>
            </a:r>
          </a:p>
        </p:txBody>
      </p:sp>
      <p:sp>
        <p:nvSpPr>
          <p:cNvPr id="12" name="Rectangle 11"/>
          <p:cNvSpPr/>
          <p:nvPr/>
        </p:nvSpPr>
        <p:spPr>
          <a:xfrm>
            <a:off x="367200" y="1663200"/>
            <a:ext cx="54000" cy="129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3999" y="1645200"/>
            <a:ext cx="3931200" cy="183600"/>
          </a:xfrm>
          <a:prstGeom prst="rect">
            <a:avLst/>
          </a:prstGeom>
          <a:noFill/>
        </p:spPr>
        <p:txBody>
          <a:bodyPr wrap="square">
            <a:spAutoFit/>
          </a:bodyPr>
          <a:lstStyle/>
          <a:p>
            <a:pPr algn="l"/>
            <a:r>
              <a:rPr sz="850" b="1" i="0">
                <a:solidFill>
                  <a:srgbClr val="1B3A6B"/>
                </a:solidFill>
                <a:latin typeface="Calibri"/>
              </a:rPr>
              <a:t>Écosystème fermé</a:t>
            </a:r>
          </a:p>
        </p:txBody>
      </p:sp>
      <p:sp>
        <p:nvSpPr>
          <p:cNvPr id="14" name="TextBox 13"/>
          <p:cNvSpPr txBox="1"/>
          <p:nvPr/>
        </p:nvSpPr>
        <p:spPr>
          <a:xfrm>
            <a:off x="503999" y="1814400"/>
            <a:ext cx="3931200" cy="378000"/>
          </a:xfrm>
          <a:prstGeom prst="rect">
            <a:avLst/>
          </a:prstGeom>
          <a:noFill/>
        </p:spPr>
        <p:txBody>
          <a:bodyPr wrap="square">
            <a:spAutoFit/>
          </a:bodyPr>
          <a:lstStyle/>
          <a:p>
            <a:pPr algn="l"/>
            <a:r>
              <a:rPr sz="750" b="0" i="0">
                <a:solidFill>
                  <a:srgbClr val="333333"/>
                </a:solidFill>
                <a:latin typeface="Calibri"/>
              </a:rPr>
              <a:t>Croissance du CA de 6,4 % en 2025 tirée par l'iPhone en Chine (+18 % YoY) et les services (+15 %)</a:t>
            </a:r>
          </a:p>
        </p:txBody>
      </p:sp>
      <p:sp>
        <p:nvSpPr>
          <p:cNvPr id="15" name="Rectangle 14"/>
          <p:cNvSpPr/>
          <p:nvPr/>
        </p:nvSpPr>
        <p:spPr>
          <a:xfrm>
            <a:off x="367200" y="2214000"/>
            <a:ext cx="54000" cy="129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3999" y="2196000"/>
            <a:ext cx="3931200" cy="183600"/>
          </a:xfrm>
          <a:prstGeom prst="rect">
            <a:avLst/>
          </a:prstGeom>
          <a:noFill/>
        </p:spPr>
        <p:txBody>
          <a:bodyPr wrap="square">
            <a:spAutoFit/>
          </a:bodyPr>
          <a:lstStyle/>
          <a:p>
            <a:pPr algn="l"/>
            <a:r>
              <a:rPr sz="850" b="1" i="0">
                <a:solidFill>
                  <a:srgbClr val="1B3A6B"/>
                </a:solidFill>
                <a:latin typeface="Calibri"/>
              </a:rPr>
              <a:t>Marges premium</a:t>
            </a:r>
          </a:p>
        </p:txBody>
      </p:sp>
      <p:sp>
        <p:nvSpPr>
          <p:cNvPr id="17" name="TextBox 16"/>
          <p:cNvSpPr txBox="1"/>
          <p:nvPr/>
        </p:nvSpPr>
        <p:spPr>
          <a:xfrm>
            <a:off x="503999" y="2365200"/>
            <a:ext cx="3931200" cy="378000"/>
          </a:xfrm>
          <a:prstGeom prst="rect">
            <a:avLst/>
          </a:prstGeom>
          <a:noFill/>
        </p:spPr>
        <p:txBody>
          <a:bodyPr wrap="square">
            <a:spAutoFit/>
          </a:bodyPr>
          <a:lstStyle/>
          <a:p>
            <a:pPr algn="l"/>
            <a:r>
              <a:rPr sz="750" b="0" i="0">
                <a:solidFill>
                  <a:srgbClr val="333333"/>
                </a:solidFill>
                <a:latin typeface="Calibri"/>
              </a:rPr>
              <a:t>Expansion des marges nettes à 26,9 % grâce au mix services et à l'effet de levier opérationnel</a:t>
            </a:r>
          </a:p>
        </p:txBody>
      </p:sp>
      <p:sp>
        <p:nvSpPr>
          <p:cNvPr id="18" name="Rectangle 17"/>
          <p:cNvSpPr/>
          <p:nvPr/>
        </p:nvSpPr>
        <p:spPr>
          <a:xfrm>
            <a:off x="367200" y="2764800"/>
            <a:ext cx="54000" cy="129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3999" y="2746800"/>
            <a:ext cx="3931200" cy="183600"/>
          </a:xfrm>
          <a:prstGeom prst="rect">
            <a:avLst/>
          </a:prstGeom>
          <a:noFill/>
        </p:spPr>
        <p:txBody>
          <a:bodyPr wrap="square">
            <a:spAutoFit/>
          </a:bodyPr>
          <a:lstStyle/>
          <a:p>
            <a:pPr algn="l"/>
            <a:r>
              <a:rPr sz="850" b="1" i="0">
                <a:solidFill>
                  <a:srgbClr val="1B3A6B"/>
                </a:solidFill>
                <a:latin typeface="Calibri"/>
              </a:rPr>
              <a:t>Trésorerie record</a:t>
            </a:r>
          </a:p>
        </p:txBody>
      </p:sp>
      <p:sp>
        <p:nvSpPr>
          <p:cNvPr id="20" name="TextBox 19"/>
          <p:cNvSpPr txBox="1"/>
          <p:nvPr/>
        </p:nvSpPr>
        <p:spPr>
          <a:xfrm>
            <a:off x="503999" y="2916000"/>
            <a:ext cx="3931200" cy="378000"/>
          </a:xfrm>
          <a:prstGeom prst="rect">
            <a:avLst/>
          </a:prstGeom>
          <a:noFill/>
        </p:spPr>
        <p:txBody>
          <a:bodyPr wrap="square">
            <a:spAutoFit/>
          </a:bodyPr>
          <a:lstStyle/>
          <a:p>
            <a:pPr algn="l"/>
            <a:r>
              <a:rPr sz="750" b="0" i="0">
                <a:solidFill>
                  <a:srgbClr val="333333"/>
                </a:solidFill>
                <a:latin typeface="Calibri"/>
              </a:rPr>
              <a:t>Trésorerie nette de 166 Mds USD permettant 100 Mds USD de rachats d'actions en 2026</a:t>
            </a:r>
          </a:p>
        </p:txBody>
      </p:sp>
      <p:sp>
        <p:nvSpPr>
          <p:cNvPr id="21" name="Rectangle 20"/>
          <p:cNvSpPr/>
          <p:nvPr/>
        </p:nvSpPr>
        <p:spPr>
          <a:xfrm>
            <a:off x="4708800" y="1353600"/>
            <a:ext cx="4068000" cy="2556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708800" y="1353600"/>
            <a:ext cx="4068000" cy="255600"/>
          </a:xfrm>
          <a:prstGeom prst="rect">
            <a:avLst/>
          </a:prstGeom>
          <a:noFill/>
        </p:spPr>
        <p:txBody>
          <a:bodyPr wrap="square">
            <a:spAutoFit/>
          </a:bodyPr>
          <a:lstStyle/>
          <a:p>
            <a:pPr algn="l"/>
            <a:r>
              <a:rPr sz="900" b="1" i="0">
                <a:solidFill>
                  <a:srgbClr val="FFFFFF"/>
                </a:solidFill>
                <a:latin typeface="Calibri"/>
              </a:rPr>
              <a:t>RISQUES PRINCIPAUX</a:t>
            </a:r>
          </a:p>
        </p:txBody>
      </p:sp>
      <p:sp>
        <p:nvSpPr>
          <p:cNvPr id="23" name="Rectangle 22"/>
          <p:cNvSpPr/>
          <p:nvPr/>
        </p:nvSpPr>
        <p:spPr>
          <a:xfrm>
            <a:off x="4708800" y="1663200"/>
            <a:ext cx="54000" cy="1296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45600" y="1645200"/>
            <a:ext cx="3794399" cy="183600"/>
          </a:xfrm>
          <a:prstGeom prst="rect">
            <a:avLst/>
          </a:prstGeom>
          <a:noFill/>
        </p:spPr>
        <p:txBody>
          <a:bodyPr wrap="square">
            <a:spAutoFit/>
          </a:bodyPr>
          <a:lstStyle/>
          <a:p>
            <a:pPr algn="l"/>
            <a:r>
              <a:rPr sz="850" b="1" i="0">
                <a:solidFill>
                  <a:srgbClr val="1B3A6B"/>
                </a:solidFill>
                <a:latin typeface="Calibri"/>
              </a:rPr>
              <a:t>Dépendance iPhone</a:t>
            </a:r>
          </a:p>
        </p:txBody>
      </p:sp>
      <p:sp>
        <p:nvSpPr>
          <p:cNvPr id="25" name="TextBox 24"/>
          <p:cNvSpPr txBox="1"/>
          <p:nvPr/>
        </p:nvSpPr>
        <p:spPr>
          <a:xfrm>
            <a:off x="4845600" y="1814400"/>
            <a:ext cx="3794399" cy="378000"/>
          </a:xfrm>
          <a:prstGeom prst="rect">
            <a:avLst/>
          </a:prstGeom>
          <a:noFill/>
        </p:spPr>
        <p:txBody>
          <a:bodyPr wrap="square">
            <a:spAutoFit/>
          </a:bodyPr>
          <a:lstStyle/>
          <a:p>
            <a:pPr algn="l"/>
            <a:r>
              <a:rPr sz="750" b="0" i="0">
                <a:solidFill>
                  <a:srgbClr val="333333"/>
                </a:solidFill>
                <a:latin typeface="Calibri"/>
              </a:rPr>
              <a:t>Régulation européenne sur l'App Store réduisant les revenus services de 15 % d'ici 2027 | Impact CA -12 Mds USD et marge -300 bps | Horizon 12-18 mois</a:t>
            </a:r>
          </a:p>
        </p:txBody>
      </p:sp>
      <p:sp>
        <p:nvSpPr>
          <p:cNvPr id="26" name="Rectangle 25"/>
          <p:cNvSpPr/>
          <p:nvPr/>
        </p:nvSpPr>
        <p:spPr>
          <a:xfrm>
            <a:off x="4708800" y="2214000"/>
            <a:ext cx="54000" cy="1296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845600" y="2196000"/>
            <a:ext cx="3794399" cy="183600"/>
          </a:xfrm>
          <a:prstGeom prst="rect">
            <a:avLst/>
          </a:prstGeom>
          <a:noFill/>
        </p:spPr>
        <p:txBody>
          <a:bodyPr wrap="square">
            <a:spAutoFit/>
          </a:bodyPr>
          <a:lstStyle/>
          <a:p>
            <a:pPr algn="l"/>
            <a:r>
              <a:rPr sz="850" b="1" i="0">
                <a:solidFill>
                  <a:srgbClr val="1B3A6B"/>
                </a:solidFill>
                <a:latin typeface="Calibri"/>
              </a:rPr>
              <a:t>Régulation App Store</a:t>
            </a:r>
          </a:p>
        </p:txBody>
      </p:sp>
      <p:sp>
        <p:nvSpPr>
          <p:cNvPr id="28" name="TextBox 27"/>
          <p:cNvSpPr txBox="1"/>
          <p:nvPr/>
        </p:nvSpPr>
        <p:spPr>
          <a:xfrm>
            <a:off x="4845600" y="2365200"/>
            <a:ext cx="3794399" cy="378000"/>
          </a:xfrm>
          <a:prstGeom prst="rect">
            <a:avLst/>
          </a:prstGeom>
          <a:noFill/>
        </p:spPr>
        <p:txBody>
          <a:bodyPr wrap="square">
            <a:spAutoFit/>
          </a:bodyPr>
          <a:lstStyle/>
          <a:p>
            <a:pPr algn="l"/>
            <a:r>
              <a:rPr sz="750" b="0" i="0">
                <a:solidFill>
                  <a:srgbClr val="333333"/>
                </a:solidFill>
                <a:latin typeface="Calibri"/>
              </a:rPr>
              <a:t>Concurrence accrue en IA avec des acteurs comme Google et Meta captant 30 % du marché cloud en 2026 | Risque de perte de parts de marché iPhone | Horizon 12 mois</a:t>
            </a:r>
          </a:p>
        </p:txBody>
      </p:sp>
      <p:sp>
        <p:nvSpPr>
          <p:cNvPr id="29" name="Rectangle 28"/>
          <p:cNvSpPr/>
          <p:nvPr/>
        </p:nvSpPr>
        <p:spPr>
          <a:xfrm>
            <a:off x="4708800" y="2764800"/>
            <a:ext cx="54000" cy="1296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45600" y="2746800"/>
            <a:ext cx="3794399" cy="183600"/>
          </a:xfrm>
          <a:prstGeom prst="rect">
            <a:avLst/>
          </a:prstGeom>
          <a:noFill/>
        </p:spPr>
        <p:txBody>
          <a:bodyPr wrap="square">
            <a:spAutoFit/>
          </a:bodyPr>
          <a:lstStyle/>
          <a:p>
            <a:pPr algn="l"/>
            <a:r>
              <a:rPr sz="850" b="1" i="0">
                <a:solidFill>
                  <a:srgbClr val="1B3A6B"/>
                </a:solidFill>
                <a:latin typeface="Calibri"/>
              </a:rPr>
              <a:t>Concurrence IA</a:t>
            </a:r>
          </a:p>
        </p:txBody>
      </p:sp>
      <p:sp>
        <p:nvSpPr>
          <p:cNvPr id="31" name="TextBox 30"/>
          <p:cNvSpPr txBox="1"/>
          <p:nvPr/>
        </p:nvSpPr>
        <p:spPr>
          <a:xfrm>
            <a:off x="4845600" y="2916000"/>
            <a:ext cx="3794399" cy="378000"/>
          </a:xfrm>
          <a:prstGeom prst="rect">
            <a:avLst/>
          </a:prstGeom>
          <a:noFill/>
        </p:spPr>
        <p:txBody>
          <a:bodyPr wrap="square">
            <a:spAutoFit/>
          </a:bodyPr>
          <a:lstStyle/>
          <a:p>
            <a:pPr algn="l"/>
            <a:r>
              <a:rPr sz="750" b="0" i="0">
                <a:solidFill>
                  <a:srgbClr val="333333"/>
                </a:solidFill>
                <a:latin typeface="Calibri"/>
              </a:rPr>
              <a:t>Ralentissement économique en Chine (-5 % PIB en 2026) impactant les ventes iPhone de 10 % | CA en baisse de 23 Mds USD | Horizon 6-12 mois</a:t>
            </a:r>
          </a:p>
        </p:txBody>
      </p:sp>
      <p:sp>
        <p:nvSpPr>
          <p:cNvPr id="32" name="Rectangle 31"/>
          <p:cNvSpPr/>
          <p:nvPr/>
        </p:nvSpPr>
        <p:spPr>
          <a:xfrm>
            <a:off x="4525200" y="1353600"/>
            <a:ext cx="10800" cy="1742400"/>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67200" y="3301200"/>
            <a:ext cx="8413200" cy="10800"/>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67200" y="3333600"/>
            <a:ext cx="4010400" cy="198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13999" y="3333600"/>
            <a:ext cx="3960000" cy="198000"/>
          </a:xfrm>
          <a:prstGeom prst="rect">
            <a:avLst/>
          </a:prstGeom>
          <a:noFill/>
        </p:spPr>
        <p:txBody>
          <a:bodyPr wrap="square">
            <a:spAutoFit/>
          </a:bodyPr>
          <a:lstStyle/>
          <a:p>
            <a:pPr algn="l"/>
            <a:r>
              <a:rPr sz="750" b="1" i="0">
                <a:solidFill>
                  <a:srgbClr val="FFFFFF"/>
                </a:solidFill>
                <a:latin typeface="Calibri"/>
              </a:rPr>
              <a:t>CATALYSEURS À SURVEILLER (12M)</a:t>
            </a:r>
          </a:p>
        </p:txBody>
      </p:sp>
      <p:sp>
        <p:nvSpPr>
          <p:cNvPr id="36" name="Rectangle 35"/>
          <p:cNvSpPr/>
          <p:nvPr/>
        </p:nvSpPr>
        <p:spPr>
          <a:xfrm>
            <a:off x="367200" y="3582000"/>
            <a:ext cx="43200" cy="936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39200" y="3560400"/>
            <a:ext cx="3837600" cy="172800"/>
          </a:xfrm>
          <a:prstGeom prst="rect">
            <a:avLst/>
          </a:prstGeom>
          <a:noFill/>
        </p:spPr>
        <p:txBody>
          <a:bodyPr wrap="square">
            <a:spAutoFit/>
          </a:bodyPr>
          <a:lstStyle/>
          <a:p>
            <a:pPr algn="l"/>
            <a:r>
              <a:rPr sz="750" b="0" i="0">
                <a:solidFill>
                  <a:srgbClr val="333333"/>
                </a:solidFill>
                <a:latin typeface="Calibri"/>
              </a:rPr>
              <a:t>iPhone 16: Lancement septembre 2026 avec +12 % de ventes YoY</a:t>
            </a:r>
          </a:p>
        </p:txBody>
      </p:sp>
      <p:sp>
        <p:nvSpPr>
          <p:cNvPr id="38" name="Rectangle 37"/>
          <p:cNvSpPr/>
          <p:nvPr/>
        </p:nvSpPr>
        <p:spPr>
          <a:xfrm>
            <a:off x="367200" y="3780000"/>
            <a:ext cx="43200" cy="936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39200" y="3758400"/>
            <a:ext cx="3837600" cy="172800"/>
          </a:xfrm>
          <a:prstGeom prst="rect">
            <a:avLst/>
          </a:prstGeom>
          <a:noFill/>
        </p:spPr>
        <p:txBody>
          <a:bodyPr wrap="square">
            <a:spAutoFit/>
          </a:bodyPr>
          <a:lstStyle/>
          <a:p>
            <a:pPr algn="l"/>
            <a:r>
              <a:rPr sz="750" b="0" i="0">
                <a:solidFill>
                  <a:srgbClr val="333333"/>
                </a:solidFill>
                <a:latin typeface="Calibri"/>
              </a:rPr>
              <a:t>Services Inde/Brésil: Expansion des services (App Store, Apple</a:t>
            </a:r>
          </a:p>
        </p:txBody>
      </p:sp>
      <p:sp>
        <p:nvSpPr>
          <p:cNvPr id="40" name="Rectangle 39"/>
          <p:cNvSpPr/>
          <p:nvPr/>
        </p:nvSpPr>
        <p:spPr>
          <a:xfrm>
            <a:off x="4708800" y="3333600"/>
            <a:ext cx="4068000" cy="19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755600" y="3333600"/>
            <a:ext cx="3996000" cy="198000"/>
          </a:xfrm>
          <a:prstGeom prst="rect">
            <a:avLst/>
          </a:prstGeom>
          <a:noFill/>
        </p:spPr>
        <p:txBody>
          <a:bodyPr wrap="square">
            <a:spAutoFit/>
          </a:bodyPr>
          <a:lstStyle/>
          <a:p>
            <a:pPr algn="l"/>
            <a:r>
              <a:rPr sz="750" b="1" i="0">
                <a:solidFill>
                  <a:srgbClr val="FFFFFF"/>
                </a:solidFill>
                <a:latin typeface="Calibri"/>
              </a:rPr>
              <a:t>VALORISATION SYNTHÉTIQUE</a:t>
            </a:r>
          </a:p>
        </p:txBody>
      </p:sp>
      <p:graphicFrame>
        <p:nvGraphicFramePr>
          <p:cNvPr id="42" name="Table 41"/>
          <p:cNvGraphicFramePr>
            <a:graphicFrameLocks noGrp="1"/>
          </p:cNvGraphicFramePr>
          <p:nvPr/>
        </p:nvGraphicFramePr>
        <p:xfrm>
          <a:off x="4708800" y="3560400"/>
          <a:ext cx="4068000" cy="396000"/>
        </p:xfrm>
        <a:graphic>
          <a:graphicData uri="http://schemas.openxmlformats.org/drawingml/2006/table">
            <a:tbl>
              <a:tblPr firstRow="1" bandRow="1">
                <a:tableStyleId>{5C22544A-7EE6-4342-B048-85BDC9FD1C3A}</a:tableStyleId>
              </a:tblPr>
              <a:tblGrid>
                <a:gridCol w="2034000"/>
                <a:gridCol w="1017000"/>
                <a:gridCol w="1017000"/>
              </a:tblGrid>
              <a:tr h="99000">
                <a:tc>
                  <a:txBody>
                    <a:bodyPr/>
                    <a:lstStyle/>
                    <a:p>
                      <a:pPr algn="l"/>
                      <a:r>
                        <a:rPr sz="800" b="1" i="0">
                          <a:solidFill>
                            <a:srgbClr val="FFFFFF"/>
                          </a:solidFill>
                          <a:latin typeface="Calibri"/>
                        </a:rPr>
                        <a:t>Multiple</a:t>
                      </a:r>
                    </a:p>
                  </a:txBody>
                  <a:tcPr>
                    <a:solidFill>
                      <a:srgbClr val="1B3A6B"/>
                    </a:solidFill>
                  </a:tcPr>
                </a:tc>
                <a:tc>
                  <a:txBody>
                    <a:bodyPr/>
                    <a:lstStyle/>
                    <a:p>
                      <a:pPr algn="ctr"/>
                      <a:r>
                        <a:rPr sz="800" b="1" i="0">
                          <a:solidFill>
                            <a:srgbClr val="FFFFFF"/>
                          </a:solidFill>
                          <a:latin typeface="Calibri"/>
                        </a:rPr>
                        <a:t>Société</a:t>
                      </a:r>
                    </a:p>
                  </a:txBody>
                  <a:tcPr>
                    <a:solidFill>
                      <a:srgbClr val="1B3A6B"/>
                    </a:solidFill>
                  </a:tcPr>
                </a:tc>
                <a:tc>
                  <a:txBody>
                    <a:bodyPr/>
                    <a:lstStyle/>
                    <a:p>
                      <a:pPr algn="ctr"/>
                      <a:r>
                        <a:rPr sz="800" b="1" i="0">
                          <a:solidFill>
                            <a:srgbClr val="FFFFFF"/>
                          </a:solidFill>
                          <a:latin typeface="Calibri"/>
                        </a:rPr>
                        <a:t>Médiane pairs</a:t>
                      </a:r>
                    </a:p>
                  </a:txBody>
                  <a:tcPr>
                    <a:solidFill>
                      <a:srgbClr val="1B3A6B"/>
                    </a:solidFill>
                  </a:tcPr>
                </a:tc>
              </a:tr>
              <a:tr h="99000">
                <a:tc>
                  <a:txBody>
                    <a:bodyPr/>
                    <a:lstStyle/>
                    <a:p>
                      <a:pPr algn="l"/>
                      <a:r>
                        <a:rPr sz="800" b="0" i="0">
                          <a:solidFill>
                            <a:srgbClr val="0D0D0D"/>
                          </a:solidFill>
                          <a:latin typeface="Calibri"/>
                        </a:rPr>
                        <a:t>P/E NTM (x)</a:t>
                      </a:r>
                    </a:p>
                  </a:txBody>
                  <a:tcPr>
                    <a:solidFill>
                      <a:srgbClr val="FFFFFF"/>
                    </a:solidFill>
                  </a:tcPr>
                </a:tc>
                <a:tc>
                  <a:txBody>
                    <a:bodyPr/>
                    <a:lstStyle/>
                    <a:p>
                      <a:pPr algn="ctr"/>
                      <a:r>
                        <a:rPr sz="800" b="0" i="0">
                          <a:solidFill>
                            <a:srgbClr val="0D0D0D"/>
                          </a:solidFill>
                          <a:latin typeface="Calibri"/>
                        </a:rPr>
                        <a:t>33,8x</a:t>
                      </a:r>
                    </a:p>
                  </a:txBody>
                  <a:tcPr>
                    <a:solidFill>
                      <a:srgbClr val="FFFFFF"/>
                    </a:solidFill>
                  </a:tcPr>
                </a:tc>
                <a:tc>
                  <a:txBody>
                    <a:bodyPr/>
                    <a:lstStyle/>
                    <a:p>
                      <a:pPr algn="ctr"/>
                      <a:r>
                        <a:rPr sz="800" b="0" i="0">
                          <a:solidFill>
                            <a:srgbClr val="0D0D0D"/>
                          </a:solidFill>
                          <a:latin typeface="Calibri"/>
                        </a:rPr>
                        <a:t>30,0x</a:t>
                      </a:r>
                    </a:p>
                  </a:txBody>
                  <a:tcPr>
                    <a:solidFill>
                      <a:srgbClr val="FFFFFF"/>
                    </a:solidFill>
                  </a:tcPr>
                </a:tc>
              </a:tr>
              <a:tr h="99000">
                <a:tc>
                  <a:txBody>
                    <a:bodyPr/>
                    <a:lstStyle/>
                    <a:p>
                      <a:pPr algn="l"/>
                      <a:r>
                        <a:rPr sz="800" b="0" i="0">
                          <a:solidFill>
                            <a:srgbClr val="0D0D0D"/>
                          </a:solidFill>
                          <a:latin typeface="Calibri"/>
                        </a:rPr>
                        <a:t>EV/EBITDA (x)</a:t>
                      </a:r>
                    </a:p>
                  </a:txBody>
                  <a:tcPr>
                    <a:solidFill>
                      <a:srgbClr val="F7F8FA"/>
                    </a:solidFill>
                  </a:tcPr>
                </a:tc>
                <a:tc>
                  <a:txBody>
                    <a:bodyPr/>
                    <a:lstStyle/>
                    <a:p>
                      <a:pPr algn="ctr"/>
                      <a:r>
                        <a:rPr sz="800" b="0" i="0">
                          <a:solidFill>
                            <a:srgbClr val="0D0D0D"/>
                          </a:solidFill>
                          <a:latin typeface="Calibri"/>
                        </a:rPr>
                        <a:t>26,6x</a:t>
                      </a:r>
                    </a:p>
                  </a:txBody>
                  <a:tcPr>
                    <a:solidFill>
                      <a:srgbClr val="F7F8FA"/>
                    </a:solidFill>
                  </a:tcPr>
                </a:tc>
                <a:tc>
                  <a:txBody>
                    <a:bodyPr/>
                    <a:lstStyle/>
                    <a:p>
                      <a:pPr algn="ctr"/>
                      <a:r>
                        <a:rPr sz="800" b="0" i="0">
                          <a:solidFill>
                            <a:srgbClr val="0D0D0D"/>
                          </a:solidFill>
                          <a:latin typeface="Calibri"/>
                        </a:rPr>
                        <a:t>22,0x</a:t>
                      </a:r>
                    </a:p>
                  </a:txBody>
                  <a:tcPr>
                    <a:solidFill>
                      <a:srgbClr val="F7F8FA"/>
                    </a:solidFill>
                  </a:tcPr>
                </a:tc>
              </a:tr>
              <a:tr h="99000">
                <a:tc>
                  <a:txBody>
                    <a:bodyPr/>
                    <a:lstStyle/>
                    <a:p>
                      <a:pPr algn="l"/>
                      <a:r>
                        <a:rPr sz="800" b="0" i="0">
                          <a:solidFill>
                            <a:srgbClr val="0D0D0D"/>
                          </a:solidFill>
                          <a:latin typeface="Calibri"/>
                        </a:rPr>
                        <a:t>Cible DCF ($)</a:t>
                      </a:r>
                    </a:p>
                  </a:txBody>
                  <a:tcPr>
                    <a:solidFill>
                      <a:srgbClr val="FFFFFF"/>
                    </a:solidFill>
                  </a:tcPr>
                </a:tc>
                <a:tc>
                  <a:txBody>
                    <a:bodyPr/>
                    <a:lstStyle/>
                    <a:p>
                      <a:pPr algn="ctr"/>
                      <a:r>
                        <a:rPr sz="800" b="0" i="0">
                          <a:solidFill>
                            <a:srgbClr val="0D0D0D"/>
                          </a:solidFill>
                          <a:latin typeface="Calibri"/>
                        </a:rPr>
                        <a:t>285 $</a:t>
                      </a:r>
                    </a:p>
                  </a:txBody>
                  <a:tcPr>
                    <a:solidFill>
                      <a:srgbClr val="FFFFFF"/>
                    </a:solidFill>
                  </a:tcPr>
                </a:tc>
                <a:tc>
                  <a:txBody>
                    <a:bodyPr/>
                    <a:lstStyle/>
                    <a:p>
                      <a:pPr algn="ctr"/>
                      <a:r>
                        <a:rPr sz="800" b="0" i="0">
                          <a:solidFill>
                            <a:srgbClr val="0D0D0D"/>
                          </a:solidFill>
                          <a:latin typeface="Calibri"/>
                        </a:rPr>
                        <a:t>Upside +10,6 %</a:t>
                      </a:r>
                    </a:p>
                  </a:txBody>
                  <a:tcPr>
                    <a:solidFill>
                      <a:srgbClr val="FFFFFF"/>
                    </a:solidFill>
                  </a:tcPr>
                </a:tc>
              </a:tr>
            </a:tbl>
          </a:graphicData>
        </a:graphic>
      </p:graphicFrame>
      <p:sp>
        <p:nvSpPr>
          <p:cNvPr id="43" name="Rectangle 42"/>
          <p:cNvSpPr/>
          <p:nvPr/>
        </p:nvSpPr>
        <p:spPr>
          <a:xfrm>
            <a:off x="4525200" y="3301200"/>
            <a:ext cx="10800" cy="720000"/>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367200" y="4042800"/>
            <a:ext cx="8413200" cy="10800"/>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367200" y="4082400"/>
            <a:ext cx="2030400" cy="7056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367200" y="4082400"/>
            <a:ext cx="46800" cy="705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57200" y="4136400"/>
            <a:ext cx="1893600" cy="396000"/>
          </a:xfrm>
          <a:prstGeom prst="rect">
            <a:avLst/>
          </a:prstGeom>
          <a:noFill/>
        </p:spPr>
        <p:txBody>
          <a:bodyPr wrap="square">
            <a:spAutoFit/>
          </a:bodyPr>
          <a:lstStyle/>
          <a:p>
            <a:pPr algn="l"/>
            <a:r>
              <a:rPr sz="1900" b="1" i="0">
                <a:solidFill>
                  <a:srgbClr val="1B3A6B"/>
                </a:solidFill>
                <a:latin typeface="Calibri"/>
              </a:rPr>
              <a:t>26,6x</a:t>
            </a:r>
          </a:p>
        </p:txBody>
      </p:sp>
      <p:sp>
        <p:nvSpPr>
          <p:cNvPr id="48" name="TextBox 47"/>
          <p:cNvSpPr txBox="1"/>
          <p:nvPr/>
        </p:nvSpPr>
        <p:spPr>
          <a:xfrm>
            <a:off x="457200" y="4532400"/>
            <a:ext cx="1893600" cy="205199"/>
          </a:xfrm>
          <a:prstGeom prst="rect">
            <a:avLst/>
          </a:prstGeom>
          <a:noFill/>
        </p:spPr>
        <p:txBody>
          <a:bodyPr wrap="square">
            <a:spAutoFit/>
          </a:bodyPr>
          <a:lstStyle/>
          <a:p>
            <a:pPr algn="l"/>
            <a:r>
              <a:rPr sz="800" b="0" i="0">
                <a:solidFill>
                  <a:srgbClr val="555555"/>
                </a:solidFill>
                <a:latin typeface="Calibri"/>
              </a:rPr>
              <a:t>EV/EBITDA</a:t>
            </a:r>
          </a:p>
        </p:txBody>
      </p:sp>
      <p:sp>
        <p:nvSpPr>
          <p:cNvPr id="49" name="TextBox 48"/>
          <p:cNvSpPr txBox="1"/>
          <p:nvPr/>
        </p:nvSpPr>
        <p:spPr>
          <a:xfrm>
            <a:off x="457200" y="4730400"/>
            <a:ext cx="1893600" cy="165600"/>
          </a:xfrm>
          <a:prstGeom prst="rect">
            <a:avLst/>
          </a:prstGeom>
          <a:noFill/>
        </p:spPr>
        <p:txBody>
          <a:bodyPr wrap="square">
            <a:spAutoFit/>
          </a:bodyPr>
          <a:lstStyle/>
          <a:p>
            <a:pPr algn="l"/>
            <a:r>
              <a:rPr sz="700" b="0" i="0">
                <a:solidFill>
                  <a:srgbClr val="888888"/>
                </a:solidFill>
                <a:latin typeface="Calibri"/>
              </a:rPr>
              <a:t>vs 22,0x med. pairs</a:t>
            </a:r>
          </a:p>
        </p:txBody>
      </p:sp>
      <p:sp>
        <p:nvSpPr>
          <p:cNvPr id="50" name="Rectangle 49"/>
          <p:cNvSpPr/>
          <p:nvPr/>
        </p:nvSpPr>
        <p:spPr>
          <a:xfrm>
            <a:off x="2487600" y="4082400"/>
            <a:ext cx="2030400" cy="7056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2487600" y="4082400"/>
            <a:ext cx="46800" cy="705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2577600" y="4136400"/>
            <a:ext cx="1893600" cy="396000"/>
          </a:xfrm>
          <a:prstGeom prst="rect">
            <a:avLst/>
          </a:prstGeom>
          <a:noFill/>
        </p:spPr>
        <p:txBody>
          <a:bodyPr wrap="square">
            <a:spAutoFit/>
          </a:bodyPr>
          <a:lstStyle/>
          <a:p>
            <a:pPr algn="l"/>
            <a:r>
              <a:rPr sz="1900" b="1" i="0">
                <a:solidFill>
                  <a:srgbClr val="1B3A6B"/>
                </a:solidFill>
                <a:latin typeface="Calibri"/>
              </a:rPr>
              <a:t>10,2 %</a:t>
            </a:r>
          </a:p>
        </p:txBody>
      </p:sp>
      <p:sp>
        <p:nvSpPr>
          <p:cNvPr id="53" name="TextBox 52"/>
          <p:cNvSpPr txBox="1"/>
          <p:nvPr/>
        </p:nvSpPr>
        <p:spPr>
          <a:xfrm>
            <a:off x="2577600" y="4532400"/>
            <a:ext cx="1893600" cy="205199"/>
          </a:xfrm>
          <a:prstGeom prst="rect">
            <a:avLst/>
          </a:prstGeom>
          <a:noFill/>
        </p:spPr>
        <p:txBody>
          <a:bodyPr wrap="square">
            <a:spAutoFit/>
          </a:bodyPr>
          <a:lstStyle/>
          <a:p>
            <a:pPr algn="l"/>
            <a:r>
              <a:rPr sz="800" b="0" i="0">
                <a:solidFill>
                  <a:srgbClr val="555555"/>
                </a:solidFill>
                <a:latin typeface="Calibri"/>
              </a:rPr>
              <a:t>WACC</a:t>
            </a:r>
          </a:p>
        </p:txBody>
      </p:sp>
      <p:sp>
        <p:nvSpPr>
          <p:cNvPr id="54" name="TextBox 53"/>
          <p:cNvSpPr txBox="1"/>
          <p:nvPr/>
        </p:nvSpPr>
        <p:spPr>
          <a:xfrm>
            <a:off x="2577600" y="4730400"/>
            <a:ext cx="1893600" cy="165600"/>
          </a:xfrm>
          <a:prstGeom prst="rect">
            <a:avLst/>
          </a:prstGeom>
          <a:noFill/>
        </p:spPr>
        <p:txBody>
          <a:bodyPr wrap="square">
            <a:spAutoFit/>
          </a:bodyPr>
          <a:lstStyle/>
          <a:p>
            <a:pPr algn="l"/>
            <a:r>
              <a:rPr sz="700" b="0" i="0">
                <a:solidFill>
                  <a:srgbClr val="888888"/>
                </a:solidFill>
                <a:latin typeface="Calibri"/>
              </a:rPr>
              <a:t>Beta 1,11  ·  RFR 4,3 %</a:t>
            </a:r>
          </a:p>
        </p:txBody>
      </p:sp>
      <p:sp>
        <p:nvSpPr>
          <p:cNvPr id="55" name="Rectangle 54"/>
          <p:cNvSpPr/>
          <p:nvPr/>
        </p:nvSpPr>
        <p:spPr>
          <a:xfrm>
            <a:off x="4608000" y="4082400"/>
            <a:ext cx="2030400" cy="7056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4608000" y="4082400"/>
            <a:ext cx="46800" cy="705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4698000" y="4136400"/>
            <a:ext cx="1893600" cy="396000"/>
          </a:xfrm>
          <a:prstGeom prst="rect">
            <a:avLst/>
          </a:prstGeom>
          <a:noFill/>
        </p:spPr>
        <p:txBody>
          <a:bodyPr wrap="square">
            <a:spAutoFit/>
          </a:bodyPr>
          <a:lstStyle/>
          <a:p>
            <a:pPr algn="l"/>
            <a:r>
              <a:rPr sz="1900" b="1" i="0">
                <a:solidFill>
                  <a:srgbClr val="1B3A6B"/>
                </a:solidFill>
                <a:latin typeface="Calibri"/>
              </a:rPr>
              <a:t>285 $</a:t>
            </a:r>
          </a:p>
        </p:txBody>
      </p:sp>
      <p:sp>
        <p:nvSpPr>
          <p:cNvPr id="58" name="TextBox 57"/>
          <p:cNvSpPr txBox="1"/>
          <p:nvPr/>
        </p:nvSpPr>
        <p:spPr>
          <a:xfrm>
            <a:off x="4698000" y="4532400"/>
            <a:ext cx="1893600" cy="205199"/>
          </a:xfrm>
          <a:prstGeom prst="rect">
            <a:avLst/>
          </a:prstGeom>
          <a:noFill/>
        </p:spPr>
        <p:txBody>
          <a:bodyPr wrap="square">
            <a:spAutoFit/>
          </a:bodyPr>
          <a:lstStyle/>
          <a:p>
            <a:pPr algn="l"/>
            <a:r>
              <a:rPr sz="800" b="0" i="0">
                <a:solidFill>
                  <a:srgbClr val="555555"/>
                </a:solidFill>
                <a:latin typeface="Calibri"/>
              </a:rPr>
              <a:t>Valeur DCF base</a:t>
            </a:r>
          </a:p>
        </p:txBody>
      </p:sp>
      <p:sp>
        <p:nvSpPr>
          <p:cNvPr id="59" name="TextBox 58"/>
          <p:cNvSpPr txBox="1"/>
          <p:nvPr/>
        </p:nvSpPr>
        <p:spPr>
          <a:xfrm>
            <a:off x="4698000" y="4730400"/>
            <a:ext cx="1893600" cy="165600"/>
          </a:xfrm>
          <a:prstGeom prst="rect">
            <a:avLst/>
          </a:prstGeom>
          <a:noFill/>
        </p:spPr>
        <p:txBody>
          <a:bodyPr wrap="square">
            <a:spAutoFit/>
          </a:bodyPr>
          <a:lstStyle/>
          <a:p>
            <a:pPr algn="l"/>
            <a:r>
              <a:rPr sz="700" b="0" i="0">
                <a:solidFill>
                  <a:srgbClr val="888888"/>
                </a:solidFill>
                <a:latin typeface="Calibri"/>
              </a:rPr>
              <a:t>Upside +10,6 % vs cours</a:t>
            </a:r>
          </a:p>
        </p:txBody>
      </p:sp>
      <p:sp>
        <p:nvSpPr>
          <p:cNvPr id="60" name="Rectangle 59"/>
          <p:cNvSpPr/>
          <p:nvPr/>
        </p:nvSpPr>
        <p:spPr>
          <a:xfrm>
            <a:off x="6728400" y="4082400"/>
            <a:ext cx="2030400" cy="7056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6728400" y="4082400"/>
            <a:ext cx="46800" cy="705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6818400" y="4136400"/>
            <a:ext cx="1893600" cy="396000"/>
          </a:xfrm>
          <a:prstGeom prst="rect">
            <a:avLst/>
          </a:prstGeom>
          <a:noFill/>
        </p:spPr>
        <p:txBody>
          <a:bodyPr wrap="square">
            <a:spAutoFit/>
          </a:bodyPr>
          <a:lstStyle/>
          <a:p>
            <a:pPr algn="l"/>
            <a:r>
              <a:rPr sz="1900" b="1" i="0">
                <a:solidFill>
                  <a:srgbClr val="1B3A6B"/>
                </a:solidFill>
                <a:latin typeface="Calibri"/>
              </a:rPr>
              <a:t>+0,112</a:t>
            </a:r>
          </a:p>
        </p:txBody>
      </p:sp>
      <p:sp>
        <p:nvSpPr>
          <p:cNvPr id="63" name="TextBox 62"/>
          <p:cNvSpPr txBox="1"/>
          <p:nvPr/>
        </p:nvSpPr>
        <p:spPr>
          <a:xfrm>
            <a:off x="6818400" y="4532400"/>
            <a:ext cx="1893600" cy="205199"/>
          </a:xfrm>
          <a:prstGeom prst="rect">
            <a:avLst/>
          </a:prstGeom>
          <a:noFill/>
        </p:spPr>
        <p:txBody>
          <a:bodyPr wrap="square">
            <a:spAutoFit/>
          </a:bodyPr>
          <a:lstStyle/>
          <a:p>
            <a:pPr algn="l"/>
            <a:r>
              <a:rPr sz="800" b="0" i="0">
                <a:solidFill>
                  <a:srgbClr val="555555"/>
                </a:solidFill>
                <a:latin typeface="Calibri"/>
              </a:rPr>
              <a:t>Sentiment FinBERT</a:t>
            </a:r>
          </a:p>
        </p:txBody>
      </p:sp>
      <p:sp>
        <p:nvSpPr>
          <p:cNvPr id="64" name="TextBox 63"/>
          <p:cNvSpPr txBox="1"/>
          <p:nvPr/>
        </p:nvSpPr>
        <p:spPr>
          <a:xfrm>
            <a:off x="6818400" y="4730400"/>
            <a:ext cx="1893600" cy="165600"/>
          </a:xfrm>
          <a:prstGeom prst="rect">
            <a:avLst/>
          </a:prstGeom>
          <a:noFill/>
        </p:spPr>
        <p:txBody>
          <a:bodyPr wrap="square">
            <a:spAutoFit/>
          </a:bodyPr>
          <a:lstStyle/>
          <a:p>
            <a:pPr algn="l"/>
            <a:r>
              <a:rPr sz="700" b="0" i="0">
                <a:solidFill>
                  <a:srgbClr val="888888"/>
                </a:solidFill>
                <a:latin typeface="Calibri"/>
              </a:rPr>
              <a:t>Positif  ·  30 art.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TextBox 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Sommaire</a:t>
            </a:r>
          </a:p>
        </p:txBody>
      </p:sp>
      <p:sp>
        <p:nvSpPr>
          <p:cNvPr id="6" name="Rectangle 5"/>
          <p:cNvSpPr/>
          <p:nvPr/>
        </p:nvSpPr>
        <p:spPr>
          <a:xfrm>
            <a:off x="367200" y="896400"/>
            <a:ext cx="8413200" cy="622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7200" y="896400"/>
            <a:ext cx="46800" cy="6228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3999" y="950400"/>
            <a:ext cx="475200" cy="514800"/>
          </a:xfrm>
          <a:prstGeom prst="rect">
            <a:avLst/>
          </a:prstGeom>
          <a:noFill/>
        </p:spPr>
        <p:txBody>
          <a:bodyPr wrap="square">
            <a:spAutoFit/>
          </a:bodyPr>
          <a:lstStyle/>
          <a:p>
            <a:pPr algn="l"/>
            <a:r>
              <a:rPr sz="1700" b="1" i="0">
                <a:solidFill>
                  <a:srgbClr val="888888"/>
                </a:solidFill>
                <a:latin typeface="Calibri"/>
              </a:rPr>
              <a:t>01</a:t>
            </a:r>
          </a:p>
        </p:txBody>
      </p:sp>
      <p:sp>
        <p:nvSpPr>
          <p:cNvPr id="9" name="TextBox 8"/>
          <p:cNvSpPr txBox="1"/>
          <p:nvPr/>
        </p:nvSpPr>
        <p:spPr>
          <a:xfrm>
            <a:off x="1152000" y="968400"/>
            <a:ext cx="6120000" cy="255600"/>
          </a:xfrm>
          <a:prstGeom prst="rect">
            <a:avLst/>
          </a:prstGeom>
          <a:noFill/>
        </p:spPr>
        <p:txBody>
          <a:bodyPr wrap="square">
            <a:spAutoFit/>
          </a:bodyPr>
          <a:lstStyle/>
          <a:p>
            <a:pPr algn="l"/>
            <a:r>
              <a:rPr sz="1300" b="1" i="0">
                <a:solidFill>
                  <a:srgbClr val="1B3A6B"/>
                </a:solidFill>
                <a:latin typeface="Calibri"/>
              </a:rPr>
              <a:t>Company Overview</a:t>
            </a:r>
          </a:p>
        </p:txBody>
      </p:sp>
      <p:sp>
        <p:nvSpPr>
          <p:cNvPr id="10" name="TextBox 9"/>
          <p:cNvSpPr txBox="1"/>
          <p:nvPr/>
        </p:nvSpPr>
        <p:spPr>
          <a:xfrm>
            <a:off x="1152000" y="1202400"/>
            <a:ext cx="6120000" cy="255600"/>
          </a:xfrm>
          <a:prstGeom prst="rect">
            <a:avLst/>
          </a:prstGeom>
          <a:noFill/>
        </p:spPr>
        <p:txBody>
          <a:bodyPr wrap="square">
            <a:spAutoFit/>
          </a:bodyPr>
          <a:lstStyle/>
          <a:p>
            <a:pPr algn="l"/>
            <a:r>
              <a:rPr sz="850" b="0" i="0">
                <a:solidFill>
                  <a:srgbClr val="555555"/>
                </a:solidFill>
                <a:latin typeface="Calibri"/>
              </a:rPr>
              <a:t>Apple Inc.  ·  Technology</a:t>
            </a:r>
          </a:p>
        </p:txBody>
      </p:sp>
      <p:sp>
        <p:nvSpPr>
          <p:cNvPr id="11" name="TextBox 10"/>
          <p:cNvSpPr txBox="1"/>
          <p:nvPr/>
        </p:nvSpPr>
        <p:spPr>
          <a:xfrm>
            <a:off x="7405200" y="1058400"/>
            <a:ext cx="1375200" cy="255600"/>
          </a:xfrm>
          <a:prstGeom prst="rect">
            <a:avLst/>
          </a:prstGeom>
          <a:noFill/>
        </p:spPr>
        <p:txBody>
          <a:bodyPr wrap="square">
            <a:spAutoFit/>
          </a:bodyPr>
          <a:lstStyle/>
          <a:p>
            <a:pPr algn="r"/>
            <a:r>
              <a:rPr sz="900" b="0" i="0">
                <a:solidFill>
                  <a:srgbClr val="2E5FA3"/>
                </a:solidFill>
                <a:latin typeface="Calibri"/>
              </a:rPr>
              <a:t>4–6</a:t>
            </a:r>
          </a:p>
        </p:txBody>
      </p:sp>
      <p:sp>
        <p:nvSpPr>
          <p:cNvPr id="12" name="Rectangle 11"/>
          <p:cNvSpPr/>
          <p:nvPr/>
        </p:nvSpPr>
        <p:spPr>
          <a:xfrm>
            <a:off x="367200" y="1591200"/>
            <a:ext cx="8413200" cy="622800"/>
          </a:xfrm>
          <a:prstGeom prst="rect">
            <a:avLst/>
          </a:prstGeom>
          <a:solidFill>
            <a:srgbClr val="F7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67200" y="1591200"/>
            <a:ext cx="46800" cy="6228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3999" y="1645200"/>
            <a:ext cx="475200" cy="514800"/>
          </a:xfrm>
          <a:prstGeom prst="rect">
            <a:avLst/>
          </a:prstGeom>
          <a:noFill/>
        </p:spPr>
        <p:txBody>
          <a:bodyPr wrap="square">
            <a:spAutoFit/>
          </a:bodyPr>
          <a:lstStyle/>
          <a:p>
            <a:pPr algn="l"/>
            <a:r>
              <a:rPr sz="1700" b="1" i="0">
                <a:solidFill>
                  <a:srgbClr val="888888"/>
                </a:solidFill>
                <a:latin typeface="Calibri"/>
              </a:rPr>
              <a:t>02</a:t>
            </a:r>
          </a:p>
        </p:txBody>
      </p:sp>
      <p:sp>
        <p:nvSpPr>
          <p:cNvPr id="15" name="TextBox 14"/>
          <p:cNvSpPr txBox="1"/>
          <p:nvPr/>
        </p:nvSpPr>
        <p:spPr>
          <a:xfrm>
            <a:off x="1152000" y="1663200"/>
            <a:ext cx="6120000" cy="255600"/>
          </a:xfrm>
          <a:prstGeom prst="rect">
            <a:avLst/>
          </a:prstGeom>
          <a:noFill/>
        </p:spPr>
        <p:txBody>
          <a:bodyPr wrap="square">
            <a:spAutoFit/>
          </a:bodyPr>
          <a:lstStyle/>
          <a:p>
            <a:pPr algn="l"/>
            <a:r>
              <a:rPr sz="1300" b="1" i="0">
                <a:solidFill>
                  <a:srgbClr val="1B3A6B"/>
                </a:solidFill>
                <a:latin typeface="Calibri"/>
              </a:rPr>
              <a:t>Analyse Financière</a:t>
            </a:r>
          </a:p>
        </p:txBody>
      </p:sp>
      <p:sp>
        <p:nvSpPr>
          <p:cNvPr id="16" name="TextBox 15"/>
          <p:cNvSpPr txBox="1"/>
          <p:nvPr/>
        </p:nvSpPr>
        <p:spPr>
          <a:xfrm>
            <a:off x="1152000" y="1897199"/>
            <a:ext cx="6120000" cy="255600"/>
          </a:xfrm>
          <a:prstGeom prst="rect">
            <a:avLst/>
          </a:prstGeom>
          <a:noFill/>
        </p:spPr>
        <p:txBody>
          <a:bodyPr wrap="square">
            <a:spAutoFit/>
          </a:bodyPr>
          <a:lstStyle/>
          <a:p>
            <a:pPr algn="l"/>
            <a:r>
              <a:rPr sz="850" b="0" i="0">
                <a:solidFill>
                  <a:srgbClr val="555555"/>
                </a:solidFill>
                <a:latin typeface="Calibri"/>
              </a:rPr>
              <a:t>Compte de résultat, bilan &amp; liquidité, ratios</a:t>
            </a:r>
          </a:p>
        </p:txBody>
      </p:sp>
      <p:sp>
        <p:nvSpPr>
          <p:cNvPr id="17" name="TextBox 16"/>
          <p:cNvSpPr txBox="1"/>
          <p:nvPr/>
        </p:nvSpPr>
        <p:spPr>
          <a:xfrm>
            <a:off x="7405200" y="1753200"/>
            <a:ext cx="1375200" cy="255600"/>
          </a:xfrm>
          <a:prstGeom prst="rect">
            <a:avLst/>
          </a:prstGeom>
          <a:noFill/>
        </p:spPr>
        <p:txBody>
          <a:bodyPr wrap="square">
            <a:spAutoFit/>
          </a:bodyPr>
          <a:lstStyle/>
          <a:p>
            <a:pPr algn="r"/>
            <a:r>
              <a:rPr sz="900" b="0" i="0">
                <a:solidFill>
                  <a:srgbClr val="2E5FA3"/>
                </a:solidFill>
                <a:latin typeface="Calibri"/>
              </a:rPr>
              <a:t>7–10</a:t>
            </a:r>
          </a:p>
        </p:txBody>
      </p:sp>
      <p:sp>
        <p:nvSpPr>
          <p:cNvPr id="18" name="Rectangle 17"/>
          <p:cNvSpPr/>
          <p:nvPr/>
        </p:nvSpPr>
        <p:spPr>
          <a:xfrm>
            <a:off x="367200" y="2286000"/>
            <a:ext cx="8413200" cy="622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67200" y="2286000"/>
            <a:ext cx="46800" cy="6228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3999" y="2340000"/>
            <a:ext cx="475200" cy="514800"/>
          </a:xfrm>
          <a:prstGeom prst="rect">
            <a:avLst/>
          </a:prstGeom>
          <a:noFill/>
        </p:spPr>
        <p:txBody>
          <a:bodyPr wrap="square">
            <a:spAutoFit/>
          </a:bodyPr>
          <a:lstStyle/>
          <a:p>
            <a:pPr algn="l"/>
            <a:r>
              <a:rPr sz="1700" b="1" i="0">
                <a:solidFill>
                  <a:srgbClr val="888888"/>
                </a:solidFill>
                <a:latin typeface="Calibri"/>
              </a:rPr>
              <a:t>03</a:t>
            </a:r>
          </a:p>
        </p:txBody>
      </p:sp>
      <p:sp>
        <p:nvSpPr>
          <p:cNvPr id="21" name="TextBox 20"/>
          <p:cNvSpPr txBox="1"/>
          <p:nvPr/>
        </p:nvSpPr>
        <p:spPr>
          <a:xfrm>
            <a:off x="1152000" y="2358000"/>
            <a:ext cx="6120000" cy="255600"/>
          </a:xfrm>
          <a:prstGeom prst="rect">
            <a:avLst/>
          </a:prstGeom>
          <a:noFill/>
        </p:spPr>
        <p:txBody>
          <a:bodyPr wrap="square">
            <a:spAutoFit/>
          </a:bodyPr>
          <a:lstStyle/>
          <a:p>
            <a:pPr algn="l"/>
            <a:r>
              <a:rPr sz="1300" b="1" i="0">
                <a:solidFill>
                  <a:srgbClr val="1B3A6B"/>
                </a:solidFill>
                <a:latin typeface="Calibri"/>
              </a:rPr>
              <a:t>Valorisation</a:t>
            </a:r>
          </a:p>
        </p:txBody>
      </p:sp>
      <p:sp>
        <p:nvSpPr>
          <p:cNvPr id="22" name="TextBox 21"/>
          <p:cNvSpPr txBox="1"/>
          <p:nvPr/>
        </p:nvSpPr>
        <p:spPr>
          <a:xfrm>
            <a:off x="1152000" y="2591999"/>
            <a:ext cx="6120000" cy="255600"/>
          </a:xfrm>
          <a:prstGeom prst="rect">
            <a:avLst/>
          </a:prstGeom>
          <a:noFill/>
        </p:spPr>
        <p:txBody>
          <a:bodyPr wrap="square">
            <a:spAutoFit/>
          </a:bodyPr>
          <a:lstStyle/>
          <a:p>
            <a:pPr algn="l"/>
            <a:r>
              <a:rPr sz="850" b="0" i="0">
                <a:solidFill>
                  <a:srgbClr val="555555"/>
                </a:solidFill>
                <a:latin typeface="Calibri"/>
              </a:rPr>
              <a:t>DCF, comparable peers, Football Field</a:t>
            </a:r>
          </a:p>
        </p:txBody>
      </p:sp>
      <p:sp>
        <p:nvSpPr>
          <p:cNvPr id="23" name="TextBox 22"/>
          <p:cNvSpPr txBox="1"/>
          <p:nvPr/>
        </p:nvSpPr>
        <p:spPr>
          <a:xfrm>
            <a:off x="7405200" y="2448000"/>
            <a:ext cx="1375200" cy="255600"/>
          </a:xfrm>
          <a:prstGeom prst="rect">
            <a:avLst/>
          </a:prstGeom>
          <a:noFill/>
        </p:spPr>
        <p:txBody>
          <a:bodyPr wrap="square">
            <a:spAutoFit/>
          </a:bodyPr>
          <a:lstStyle/>
          <a:p>
            <a:pPr algn="r"/>
            <a:r>
              <a:rPr sz="900" b="0" i="0">
                <a:solidFill>
                  <a:srgbClr val="2E5FA3"/>
                </a:solidFill>
                <a:latin typeface="Calibri"/>
              </a:rPr>
              <a:t>11–14</a:t>
            </a:r>
          </a:p>
        </p:txBody>
      </p:sp>
      <p:sp>
        <p:nvSpPr>
          <p:cNvPr id="24" name="Rectangle 23"/>
          <p:cNvSpPr/>
          <p:nvPr/>
        </p:nvSpPr>
        <p:spPr>
          <a:xfrm>
            <a:off x="367200" y="2980800"/>
            <a:ext cx="8413200" cy="622800"/>
          </a:xfrm>
          <a:prstGeom prst="rect">
            <a:avLst/>
          </a:prstGeom>
          <a:solidFill>
            <a:srgbClr val="F7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67200" y="2980800"/>
            <a:ext cx="46800" cy="6228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03999" y="3034800"/>
            <a:ext cx="475200" cy="514800"/>
          </a:xfrm>
          <a:prstGeom prst="rect">
            <a:avLst/>
          </a:prstGeom>
          <a:noFill/>
        </p:spPr>
        <p:txBody>
          <a:bodyPr wrap="square">
            <a:spAutoFit/>
          </a:bodyPr>
          <a:lstStyle/>
          <a:p>
            <a:pPr algn="l"/>
            <a:r>
              <a:rPr sz="1700" b="1" i="0">
                <a:solidFill>
                  <a:srgbClr val="888888"/>
                </a:solidFill>
                <a:latin typeface="Calibri"/>
              </a:rPr>
              <a:t>04</a:t>
            </a:r>
          </a:p>
        </p:txBody>
      </p:sp>
      <p:sp>
        <p:nvSpPr>
          <p:cNvPr id="27" name="TextBox 26"/>
          <p:cNvSpPr txBox="1"/>
          <p:nvPr/>
        </p:nvSpPr>
        <p:spPr>
          <a:xfrm>
            <a:off x="1152000" y="3052799"/>
            <a:ext cx="6120000" cy="255600"/>
          </a:xfrm>
          <a:prstGeom prst="rect">
            <a:avLst/>
          </a:prstGeom>
          <a:noFill/>
        </p:spPr>
        <p:txBody>
          <a:bodyPr wrap="square">
            <a:spAutoFit/>
          </a:bodyPr>
          <a:lstStyle/>
          <a:p>
            <a:pPr algn="l"/>
            <a:r>
              <a:rPr sz="1300" b="1" i="0">
                <a:solidFill>
                  <a:srgbClr val="1B3A6B"/>
                </a:solidFill>
                <a:latin typeface="Calibri"/>
              </a:rPr>
              <a:t>Risques &amp; Stratégie</a:t>
            </a:r>
          </a:p>
        </p:txBody>
      </p:sp>
      <p:sp>
        <p:nvSpPr>
          <p:cNvPr id="28" name="TextBox 27"/>
          <p:cNvSpPr txBox="1"/>
          <p:nvPr/>
        </p:nvSpPr>
        <p:spPr>
          <a:xfrm>
            <a:off x="1152000" y="3286799"/>
            <a:ext cx="6120000" cy="255600"/>
          </a:xfrm>
          <a:prstGeom prst="rect">
            <a:avLst/>
          </a:prstGeom>
          <a:noFill/>
        </p:spPr>
        <p:txBody>
          <a:bodyPr wrap="square">
            <a:spAutoFit/>
          </a:bodyPr>
          <a:lstStyle/>
          <a:p>
            <a:pPr algn="l"/>
            <a:r>
              <a:rPr sz="850" b="0" i="0">
                <a:solidFill>
                  <a:srgbClr val="555555"/>
                </a:solidFill>
                <a:latin typeface="Calibri"/>
              </a:rPr>
              <a:t>Dépendance iPhone  ·  Régulation App Store</a:t>
            </a:r>
          </a:p>
        </p:txBody>
      </p:sp>
      <p:sp>
        <p:nvSpPr>
          <p:cNvPr id="29" name="TextBox 28"/>
          <p:cNvSpPr txBox="1"/>
          <p:nvPr/>
        </p:nvSpPr>
        <p:spPr>
          <a:xfrm>
            <a:off x="7405200" y="3142799"/>
            <a:ext cx="1375200" cy="255600"/>
          </a:xfrm>
          <a:prstGeom prst="rect">
            <a:avLst/>
          </a:prstGeom>
          <a:noFill/>
        </p:spPr>
        <p:txBody>
          <a:bodyPr wrap="square">
            <a:spAutoFit/>
          </a:bodyPr>
          <a:lstStyle/>
          <a:p>
            <a:pPr algn="r"/>
            <a:r>
              <a:rPr sz="900" b="0" i="0">
                <a:solidFill>
                  <a:srgbClr val="2E5FA3"/>
                </a:solidFill>
                <a:latin typeface="Calibri"/>
              </a:rPr>
              <a:t>15–16</a:t>
            </a:r>
          </a:p>
        </p:txBody>
      </p:sp>
      <p:sp>
        <p:nvSpPr>
          <p:cNvPr id="30" name="Rectangle 29"/>
          <p:cNvSpPr/>
          <p:nvPr/>
        </p:nvSpPr>
        <p:spPr>
          <a:xfrm>
            <a:off x="367200" y="3675600"/>
            <a:ext cx="8413200" cy="622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67200" y="3675600"/>
            <a:ext cx="46800" cy="6228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3999" y="3729600"/>
            <a:ext cx="475200" cy="514800"/>
          </a:xfrm>
          <a:prstGeom prst="rect">
            <a:avLst/>
          </a:prstGeom>
          <a:noFill/>
        </p:spPr>
        <p:txBody>
          <a:bodyPr wrap="square">
            <a:spAutoFit/>
          </a:bodyPr>
          <a:lstStyle/>
          <a:p>
            <a:pPr algn="l"/>
            <a:r>
              <a:rPr sz="1700" b="1" i="0">
                <a:solidFill>
                  <a:srgbClr val="888888"/>
                </a:solidFill>
                <a:latin typeface="Calibri"/>
              </a:rPr>
              <a:t>05</a:t>
            </a:r>
          </a:p>
        </p:txBody>
      </p:sp>
      <p:sp>
        <p:nvSpPr>
          <p:cNvPr id="33" name="TextBox 32"/>
          <p:cNvSpPr txBox="1"/>
          <p:nvPr/>
        </p:nvSpPr>
        <p:spPr>
          <a:xfrm>
            <a:off x="1152000" y="3747600"/>
            <a:ext cx="6120000" cy="255600"/>
          </a:xfrm>
          <a:prstGeom prst="rect">
            <a:avLst/>
          </a:prstGeom>
          <a:noFill/>
        </p:spPr>
        <p:txBody>
          <a:bodyPr wrap="square">
            <a:spAutoFit/>
          </a:bodyPr>
          <a:lstStyle/>
          <a:p>
            <a:pPr algn="l"/>
            <a:r>
              <a:rPr sz="1300" b="1" i="0">
                <a:solidFill>
                  <a:srgbClr val="1B3A6B"/>
                </a:solidFill>
                <a:latin typeface="Calibri"/>
              </a:rPr>
              <a:t>Sentiment &amp; Annexes</a:t>
            </a:r>
          </a:p>
        </p:txBody>
      </p:sp>
      <p:sp>
        <p:nvSpPr>
          <p:cNvPr id="34" name="TextBox 33"/>
          <p:cNvSpPr txBox="1"/>
          <p:nvPr/>
        </p:nvSpPr>
        <p:spPr>
          <a:xfrm>
            <a:off x="1152000" y="3981600"/>
            <a:ext cx="6120000" cy="255600"/>
          </a:xfrm>
          <a:prstGeom prst="rect">
            <a:avLst/>
          </a:prstGeom>
          <a:noFill/>
        </p:spPr>
        <p:txBody>
          <a:bodyPr wrap="square">
            <a:spAutoFit/>
          </a:bodyPr>
          <a:lstStyle/>
          <a:p>
            <a:pPr algn="l"/>
            <a:r>
              <a:rPr sz="850" b="0" i="0">
                <a:solidFill>
                  <a:srgbClr val="555555"/>
                </a:solidFill>
                <a:latin typeface="Calibri"/>
              </a:rPr>
              <a:t>FinBERT, actionnariat, historique &amp; conviction</a:t>
            </a:r>
          </a:p>
        </p:txBody>
      </p:sp>
      <p:sp>
        <p:nvSpPr>
          <p:cNvPr id="35" name="TextBox 34"/>
          <p:cNvSpPr txBox="1"/>
          <p:nvPr/>
        </p:nvSpPr>
        <p:spPr>
          <a:xfrm>
            <a:off x="7405200" y="3837600"/>
            <a:ext cx="1375200" cy="255600"/>
          </a:xfrm>
          <a:prstGeom prst="rect">
            <a:avLst/>
          </a:prstGeom>
          <a:noFill/>
        </p:spPr>
        <p:txBody>
          <a:bodyPr wrap="square">
            <a:spAutoFit/>
          </a:bodyPr>
          <a:lstStyle/>
          <a:p>
            <a:pPr algn="r"/>
            <a:r>
              <a:rPr sz="900" b="0" i="0">
                <a:solidFill>
                  <a:srgbClr val="2E5FA3"/>
                </a:solidFill>
                <a:latin typeface="Calibri"/>
              </a:rPr>
              <a:t>17–21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B3A6B"/>
        </a:solidFill>
        <a:effectLst/>
      </p:bgPr>
    </p:bg>
    <p:spTree>
      <p:nvGrpSpPr>
        <p:cNvPr id="1" name=""/>
        <p:cNvGrpSpPr/>
        <p:nvPr/>
      </p:nvGrpSpPr>
      <p:grpSpPr/>
      <p:sp>
        <p:nvSpPr>
          <p:cNvPr id="2" name="Rectangle 1"/>
          <p:cNvSpPr/>
          <p:nvPr/>
        </p:nvSpPr>
        <p:spPr>
          <a:xfrm>
            <a:off x="0" y="0"/>
            <a:ext cx="108000" cy="514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1599"/>
            <a:ext cx="8229600" cy="1645200"/>
          </a:xfrm>
          <a:prstGeom prst="rect">
            <a:avLst/>
          </a:prstGeom>
          <a:noFill/>
        </p:spPr>
        <p:txBody>
          <a:bodyPr wrap="none">
            <a:spAutoFit/>
          </a:bodyPr>
          <a:lstStyle/>
          <a:p>
            <a:r>
              <a:rPr sz="8000" b="1">
                <a:solidFill>
                  <a:srgbClr val="FFFFFF">
                    <a:alpha val="15000"/>
                  </a:srgbClr>
                </a:solidFill>
                <a:latin typeface="Calibri"/>
              </a:rPr>
              <a:t>01</a:t>
            </a:r>
          </a:p>
        </p:txBody>
      </p:sp>
      <p:sp>
        <p:nvSpPr>
          <p:cNvPr id="4" name="TextBox 3"/>
          <p:cNvSpPr txBox="1"/>
          <p:nvPr/>
        </p:nvSpPr>
        <p:spPr>
          <a:xfrm>
            <a:off x="457200" y="1875600"/>
            <a:ext cx="7772400" cy="824400"/>
          </a:xfrm>
          <a:prstGeom prst="rect">
            <a:avLst/>
          </a:prstGeom>
          <a:noFill/>
        </p:spPr>
        <p:txBody>
          <a:bodyPr wrap="square">
            <a:spAutoFit/>
          </a:bodyPr>
          <a:lstStyle/>
          <a:p>
            <a:pPr algn="l"/>
            <a:r>
              <a:rPr sz="2800" b="1" i="0">
                <a:solidFill>
                  <a:srgbClr val="FFFFFF"/>
                </a:solidFill>
                <a:latin typeface="Calibri"/>
              </a:rPr>
              <a:t>Company Overview</a:t>
            </a:r>
          </a:p>
        </p:txBody>
      </p:sp>
      <p:sp>
        <p:nvSpPr>
          <p:cNvPr id="5" name="Rectangle 4"/>
          <p:cNvSpPr/>
          <p:nvPr/>
        </p:nvSpPr>
        <p:spPr>
          <a:xfrm>
            <a:off x="457200" y="2790000"/>
            <a:ext cx="2743200" cy="3600"/>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908800"/>
            <a:ext cx="6400800" cy="320400"/>
          </a:xfrm>
          <a:prstGeom prst="rect">
            <a:avLst/>
          </a:prstGeom>
          <a:noFill/>
        </p:spPr>
        <p:txBody>
          <a:bodyPr wrap="square">
            <a:spAutoFit/>
          </a:bodyPr>
          <a:lstStyle/>
          <a:p>
            <a:pPr algn="l"/>
            <a:r>
              <a:rPr sz="1000" b="0" i="0">
                <a:solidFill>
                  <a:srgbClr val="AABBDD"/>
                </a:solidFill>
                <a:latin typeface="Calibri"/>
              </a:rPr>
              <a:t>Présentation, modèle économique &amp; données de marché</a:t>
            </a:r>
          </a:p>
        </p:txBody>
      </p:sp>
      <p:sp>
        <p:nvSpPr>
          <p:cNvPr id="7" name="TextBox 6"/>
          <p:cNvSpPr txBox="1"/>
          <p:nvPr/>
        </p:nvSpPr>
        <p:spPr>
          <a:xfrm>
            <a:off x="367200" y="4802400"/>
            <a:ext cx="8413200" cy="201600"/>
          </a:xfrm>
          <a:prstGeom prst="rect">
            <a:avLst/>
          </a:prstGeom>
          <a:noFill/>
        </p:spPr>
        <p:txBody>
          <a:bodyPr wrap="square">
            <a:spAutoFit/>
          </a:bodyPr>
          <a:lstStyle/>
          <a:p>
            <a:pPr algn="l"/>
            <a:r>
              <a:rPr sz="700" b="0" i="0">
                <a:solidFill>
                  <a:srgbClr val="6677AA"/>
                </a:solidFill>
                <a:latin typeface="Calibri"/>
              </a:rPr>
              <a:t>FinSight IA  ·  Usage confidentiel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1B3A6B"/>
                </a:solidFill>
                <a:latin typeface="Calibri"/>
              </a:rPr>
              <a:t>1</a:t>
            </a:r>
          </a:p>
        </p:txBody>
      </p:sp>
      <p:sp>
        <p:nvSpPr>
          <p:cNvPr id="7" name="Rectangle 6"/>
          <p:cNvSpPr/>
          <p:nvPr/>
        </p:nvSpPr>
        <p:spPr>
          <a:xfrm>
            <a:off x="6353999"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FFFFFF"/>
                </a:solidFill>
                <a:latin typeface="Calibri"/>
              </a:rPr>
              <a:t>2</a:t>
            </a:r>
          </a:p>
        </p:txBody>
      </p:sp>
      <p:sp>
        <p:nvSpPr>
          <p:cNvPr id="9" name="Rectangle 8"/>
          <p:cNvSpPr/>
          <p:nvPr/>
        </p:nvSpPr>
        <p:spPr>
          <a:xfrm>
            <a:off x="65844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FFFFFF"/>
                </a:solidFill>
                <a:latin typeface="Calibri"/>
              </a:rPr>
              <a:t>3</a:t>
            </a:r>
          </a:p>
        </p:txBody>
      </p:sp>
      <p:sp>
        <p:nvSpPr>
          <p:cNvPr id="11" name="Rectangle 10"/>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3" name="Rectangle 12"/>
          <p:cNvSpPr/>
          <p:nvPr/>
        </p:nvSpPr>
        <p:spPr>
          <a:xfrm>
            <a:off x="70416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FFFFFF"/>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Company Overview</a:t>
            </a:r>
          </a:p>
        </p:txBody>
      </p:sp>
      <p:sp>
        <p:nvSpPr>
          <p:cNvPr id="16" name="TextBox 15"/>
          <p:cNvSpPr txBox="1"/>
          <p:nvPr/>
        </p:nvSpPr>
        <p:spPr>
          <a:xfrm>
            <a:off x="367200" y="622800"/>
            <a:ext cx="8413200" cy="201600"/>
          </a:xfrm>
          <a:prstGeom prst="rect">
            <a:avLst/>
          </a:prstGeom>
          <a:noFill/>
        </p:spPr>
        <p:txBody>
          <a:bodyPr wrap="square">
            <a:spAutoFit/>
          </a:bodyPr>
          <a:lstStyle/>
          <a:p>
            <a:pPr algn="l"/>
            <a:r>
              <a:rPr sz="900" b="0" i="0">
                <a:solidFill>
                  <a:srgbClr val="2E5FA3"/>
                </a:solidFill>
                <a:latin typeface="Calibri"/>
              </a:rPr>
              <a:t>Apple Inc.  ·  Présentation &amp; Positionnement stratégique</a:t>
            </a:r>
          </a:p>
        </p:txBody>
      </p:sp>
      <p:sp>
        <p:nvSpPr>
          <p:cNvPr id="17" name="Rectangle 16"/>
          <p:cNvSpPr/>
          <p:nvPr/>
        </p:nvSpPr>
        <p:spPr>
          <a:xfrm>
            <a:off x="367200" y="961200"/>
            <a:ext cx="4939200" cy="3520800"/>
          </a:xfrm>
          <a:prstGeom prst="rect">
            <a:avLst/>
          </a:prstGeom>
          <a:solidFill>
            <a:srgbClr val="F7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67200" y="961200"/>
            <a:ext cx="46800" cy="35208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3999" y="1022400"/>
            <a:ext cx="4662000" cy="1440000"/>
          </a:xfrm>
          <a:prstGeom prst="rect">
            <a:avLst/>
          </a:prstGeom>
          <a:noFill/>
        </p:spPr>
        <p:txBody>
          <a:bodyPr wrap="square">
            <a:spAutoFit/>
          </a:bodyPr>
          <a:lstStyle/>
          <a:p>
            <a:pPr algn="l"/>
            <a:r>
              <a:rPr sz="850" b="0" i="0">
                <a:solidFill>
                  <a:srgbClr val="0D0D0D"/>
                </a:solidFill>
                <a:latin typeface="Calibri"/>
              </a:rPr>
              <a:t>Apple conçoit, fabrique et commercialise des produits technologiques innovants comme l'iPhone, les Mac et l'Apple Watch. Positionné en haut de gamme, l'entreprise mise sur un écosystème fermé (iOS, App Store, services) pour fidéliser ses clients. Ses avantages concurrentiels incluent une marque premium, une marge brute élevée et une trésorerie colossale générant des rendements exceptionnels. L'entreprise articule son activité autour de deux segments stratégiques :</a:t>
            </a:r>
          </a:p>
        </p:txBody>
      </p:sp>
      <p:sp>
        <p:nvSpPr>
          <p:cNvPr id="20" name="Rectangle 19"/>
          <p:cNvSpPr/>
          <p:nvPr/>
        </p:nvSpPr>
        <p:spPr>
          <a:xfrm>
            <a:off x="503999" y="2599200"/>
            <a:ext cx="64800" cy="648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19200" y="2556000"/>
            <a:ext cx="4338000" cy="165600"/>
          </a:xfrm>
          <a:prstGeom prst="rect">
            <a:avLst/>
          </a:prstGeom>
          <a:noFill/>
        </p:spPr>
        <p:txBody>
          <a:bodyPr wrap="square">
            <a:spAutoFit/>
          </a:bodyPr>
          <a:lstStyle/>
          <a:p>
            <a:pPr algn="l"/>
            <a:r>
              <a:rPr sz="850" b="1" i="0">
                <a:solidFill>
                  <a:srgbClr val="0D0D0D"/>
                </a:solidFill>
                <a:latin typeface="Calibri"/>
              </a:rPr>
              <a:t>Produits</a:t>
            </a:r>
          </a:p>
        </p:txBody>
      </p:sp>
      <p:sp>
        <p:nvSpPr>
          <p:cNvPr id="22" name="TextBox 21"/>
          <p:cNvSpPr txBox="1"/>
          <p:nvPr/>
        </p:nvSpPr>
        <p:spPr>
          <a:xfrm>
            <a:off x="619200" y="2714400"/>
            <a:ext cx="4338000" cy="503999"/>
          </a:xfrm>
          <a:prstGeom prst="rect">
            <a:avLst/>
          </a:prstGeom>
          <a:noFill/>
        </p:spPr>
        <p:txBody>
          <a:bodyPr wrap="square">
            <a:spAutoFit/>
          </a:bodyPr>
          <a:lstStyle/>
          <a:p>
            <a:pPr algn="l"/>
            <a:r>
              <a:rPr sz="750" b="0" i="1">
                <a:solidFill>
                  <a:srgbClr val="555555"/>
                </a:solidFill>
                <a:latin typeface="Calibri"/>
              </a:rPr>
              <a:t>Segment phare générant 80 % du CA via ventes d'iPhone (55 %), Mac, iPad et accessoires. Modèle basé sur l'innovation hardware et l'intégration logicielle. Clients premium (B2C et B2B) avec une forte récurrence via l'écosystème Apple. Croissance portée par l'Asie-Pacifique (+12 % YoY en 2025) et les services associés.</a:t>
            </a:r>
          </a:p>
        </p:txBody>
      </p:sp>
      <p:sp>
        <p:nvSpPr>
          <p:cNvPr id="23" name="Rectangle 22"/>
          <p:cNvSpPr/>
          <p:nvPr/>
        </p:nvSpPr>
        <p:spPr>
          <a:xfrm>
            <a:off x="503999" y="3301199"/>
            <a:ext cx="64800" cy="648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9200" y="3257999"/>
            <a:ext cx="4338000" cy="165600"/>
          </a:xfrm>
          <a:prstGeom prst="rect">
            <a:avLst/>
          </a:prstGeom>
          <a:noFill/>
        </p:spPr>
        <p:txBody>
          <a:bodyPr wrap="square">
            <a:spAutoFit/>
          </a:bodyPr>
          <a:lstStyle/>
          <a:p>
            <a:pPr algn="l"/>
            <a:r>
              <a:rPr sz="850" b="1" i="0">
                <a:solidFill>
                  <a:srgbClr val="0D0D0D"/>
                </a:solidFill>
                <a:latin typeface="Calibri"/>
              </a:rPr>
              <a:t>Services</a:t>
            </a:r>
          </a:p>
        </p:txBody>
      </p:sp>
      <p:sp>
        <p:nvSpPr>
          <p:cNvPr id="25" name="TextBox 24"/>
          <p:cNvSpPr txBox="1"/>
          <p:nvPr/>
        </p:nvSpPr>
        <p:spPr>
          <a:xfrm>
            <a:off x="619200" y="3416399"/>
            <a:ext cx="4338000" cy="503999"/>
          </a:xfrm>
          <a:prstGeom prst="rect">
            <a:avLst/>
          </a:prstGeom>
          <a:noFill/>
        </p:spPr>
        <p:txBody>
          <a:bodyPr wrap="square">
            <a:spAutoFit/>
          </a:bodyPr>
          <a:lstStyle/>
          <a:p>
            <a:pPr algn="l"/>
            <a:r>
              <a:rPr sz="750" b="0" i="1">
                <a:solidFill>
                  <a:srgbClr val="555555"/>
                </a:solidFill>
                <a:latin typeface="Calibri"/>
              </a:rPr>
              <a:t>Segment à forte marge (70 % GM) incluant App Store, Apple Music et iCloud. Modèle d'abonnements récurrents (1,8 Md d'utilisateurs actifs). Croissance annuelle de 15 % en 2025 grâce à l'expansion géographique et à l'augmentation des prix. Clients cibles : utilisateurs existants et nouveaux marchés émergents.</a:t>
            </a:r>
          </a:p>
        </p:txBody>
      </p:sp>
      <p:sp>
        <p:nvSpPr>
          <p:cNvPr id="26" name="Rectangle 25"/>
          <p:cNvSpPr/>
          <p:nvPr/>
        </p:nvSpPr>
        <p:spPr>
          <a:xfrm>
            <a:off x="5558400" y="961200"/>
            <a:ext cx="3200400" cy="824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558400" y="961200"/>
            <a:ext cx="46800" cy="824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48400" y="1015200"/>
            <a:ext cx="3063600" cy="396000"/>
          </a:xfrm>
          <a:prstGeom prst="rect">
            <a:avLst/>
          </a:prstGeom>
          <a:noFill/>
        </p:spPr>
        <p:txBody>
          <a:bodyPr wrap="square">
            <a:spAutoFit/>
          </a:bodyPr>
          <a:lstStyle/>
          <a:p>
            <a:pPr algn="l"/>
            <a:r>
              <a:rPr sz="1900" b="1" i="0">
                <a:solidFill>
                  <a:srgbClr val="FFFFFF"/>
                </a:solidFill>
                <a:latin typeface="Calibri"/>
              </a:rPr>
              <a:t>3 783,2 Mds$</a:t>
            </a:r>
          </a:p>
        </p:txBody>
      </p:sp>
      <p:sp>
        <p:nvSpPr>
          <p:cNvPr id="29" name="TextBox 28"/>
          <p:cNvSpPr txBox="1"/>
          <p:nvPr/>
        </p:nvSpPr>
        <p:spPr>
          <a:xfrm>
            <a:off x="5648400" y="1411200"/>
            <a:ext cx="3063600" cy="205199"/>
          </a:xfrm>
          <a:prstGeom prst="rect">
            <a:avLst/>
          </a:prstGeom>
          <a:noFill/>
        </p:spPr>
        <p:txBody>
          <a:bodyPr wrap="square">
            <a:spAutoFit/>
          </a:bodyPr>
          <a:lstStyle/>
          <a:p>
            <a:pPr algn="l"/>
            <a:r>
              <a:rPr sz="800" b="0" i="0">
                <a:solidFill>
                  <a:srgbClr val="FFFFFF"/>
                </a:solidFill>
                <a:latin typeface="Calibri"/>
              </a:rPr>
              <a:t>Capitalisation boursière</a:t>
            </a:r>
          </a:p>
        </p:txBody>
      </p:sp>
      <p:sp>
        <p:nvSpPr>
          <p:cNvPr id="30" name="Rectangle 29"/>
          <p:cNvSpPr/>
          <p:nvPr/>
        </p:nvSpPr>
        <p:spPr>
          <a:xfrm>
            <a:off x="5558400" y="1846800"/>
            <a:ext cx="3200400" cy="8244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558400" y="1846800"/>
            <a:ext cx="46800" cy="82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648400" y="1900800"/>
            <a:ext cx="3063600" cy="396000"/>
          </a:xfrm>
          <a:prstGeom prst="rect">
            <a:avLst/>
          </a:prstGeom>
          <a:noFill/>
        </p:spPr>
        <p:txBody>
          <a:bodyPr wrap="square">
            <a:spAutoFit/>
          </a:bodyPr>
          <a:lstStyle/>
          <a:p>
            <a:pPr algn="l"/>
            <a:r>
              <a:rPr sz="1900" b="1" i="0">
                <a:solidFill>
                  <a:srgbClr val="1B3A6B"/>
                </a:solidFill>
                <a:latin typeface="Calibri"/>
              </a:rPr>
              <a:t>416,2 Mds$</a:t>
            </a:r>
          </a:p>
        </p:txBody>
      </p:sp>
      <p:sp>
        <p:nvSpPr>
          <p:cNvPr id="33" name="TextBox 32"/>
          <p:cNvSpPr txBox="1"/>
          <p:nvPr/>
        </p:nvSpPr>
        <p:spPr>
          <a:xfrm>
            <a:off x="5648400" y="2296800"/>
            <a:ext cx="3063600" cy="205199"/>
          </a:xfrm>
          <a:prstGeom prst="rect">
            <a:avLst/>
          </a:prstGeom>
          <a:noFill/>
        </p:spPr>
        <p:txBody>
          <a:bodyPr wrap="square">
            <a:spAutoFit/>
          </a:bodyPr>
          <a:lstStyle/>
          <a:p>
            <a:pPr algn="l"/>
            <a:r>
              <a:rPr sz="800" b="0" i="0">
                <a:solidFill>
                  <a:srgbClr val="555555"/>
                </a:solidFill>
                <a:latin typeface="Calibri"/>
              </a:rPr>
              <a:t>Chiffre d'affaires (2025)</a:t>
            </a:r>
          </a:p>
        </p:txBody>
      </p:sp>
      <p:sp>
        <p:nvSpPr>
          <p:cNvPr id="34" name="Rectangle 33"/>
          <p:cNvSpPr/>
          <p:nvPr/>
        </p:nvSpPr>
        <p:spPr>
          <a:xfrm>
            <a:off x="5558400" y="2732400"/>
            <a:ext cx="3200400" cy="8244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558400" y="2732400"/>
            <a:ext cx="46800" cy="82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648400" y="2786400"/>
            <a:ext cx="3063600" cy="396000"/>
          </a:xfrm>
          <a:prstGeom prst="rect">
            <a:avLst/>
          </a:prstGeom>
          <a:noFill/>
        </p:spPr>
        <p:txBody>
          <a:bodyPr wrap="square">
            <a:spAutoFit/>
          </a:bodyPr>
          <a:lstStyle/>
          <a:p>
            <a:pPr algn="l"/>
            <a:r>
              <a:rPr sz="1900" b="1" i="0">
                <a:solidFill>
                  <a:srgbClr val="1B3A6B"/>
                </a:solidFill>
                <a:latin typeface="Calibri"/>
              </a:rPr>
              <a:t>257,69 $</a:t>
            </a:r>
          </a:p>
        </p:txBody>
      </p:sp>
      <p:sp>
        <p:nvSpPr>
          <p:cNvPr id="37" name="TextBox 36"/>
          <p:cNvSpPr txBox="1"/>
          <p:nvPr/>
        </p:nvSpPr>
        <p:spPr>
          <a:xfrm>
            <a:off x="5648400" y="3182400"/>
            <a:ext cx="3063600" cy="205199"/>
          </a:xfrm>
          <a:prstGeom prst="rect">
            <a:avLst/>
          </a:prstGeom>
          <a:noFill/>
        </p:spPr>
        <p:txBody>
          <a:bodyPr wrap="square">
            <a:spAutoFit/>
          </a:bodyPr>
          <a:lstStyle/>
          <a:p>
            <a:pPr algn="l"/>
            <a:r>
              <a:rPr sz="800" b="0" i="0">
                <a:solidFill>
                  <a:srgbClr val="555555"/>
                </a:solidFill>
                <a:latin typeface="Calibri"/>
              </a:rPr>
              <a:t>Cours actuel</a:t>
            </a:r>
          </a:p>
        </p:txBody>
      </p:sp>
      <p:sp>
        <p:nvSpPr>
          <p:cNvPr id="38" name="Rectangle 37"/>
          <p:cNvSpPr/>
          <p:nvPr/>
        </p:nvSpPr>
        <p:spPr>
          <a:xfrm>
            <a:off x="5558400" y="3621600"/>
            <a:ext cx="3200400" cy="8244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558400" y="3621600"/>
            <a:ext cx="46800" cy="82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648400" y="3675600"/>
            <a:ext cx="3063600" cy="396000"/>
          </a:xfrm>
          <a:prstGeom prst="rect">
            <a:avLst/>
          </a:prstGeom>
          <a:noFill/>
        </p:spPr>
        <p:txBody>
          <a:bodyPr wrap="square">
            <a:spAutoFit/>
          </a:bodyPr>
          <a:lstStyle/>
          <a:p>
            <a:pPr algn="l"/>
            <a:r>
              <a:rPr sz="1900" b="1" i="0">
                <a:solidFill>
                  <a:srgbClr val="1B3A6B"/>
                </a:solidFill>
                <a:latin typeface="Calibri"/>
              </a:rPr>
              <a:t>26,6x</a:t>
            </a:r>
          </a:p>
        </p:txBody>
      </p:sp>
      <p:sp>
        <p:nvSpPr>
          <p:cNvPr id="41" name="TextBox 40"/>
          <p:cNvSpPr txBox="1"/>
          <p:nvPr/>
        </p:nvSpPr>
        <p:spPr>
          <a:xfrm>
            <a:off x="5648400" y="4071600"/>
            <a:ext cx="3063600" cy="205199"/>
          </a:xfrm>
          <a:prstGeom prst="rect">
            <a:avLst/>
          </a:prstGeom>
          <a:noFill/>
        </p:spPr>
        <p:txBody>
          <a:bodyPr wrap="square">
            <a:spAutoFit/>
          </a:bodyPr>
          <a:lstStyle/>
          <a:p>
            <a:pPr algn="l"/>
            <a:r>
              <a:rPr sz="800" b="0" i="0">
                <a:solidFill>
                  <a:srgbClr val="555555"/>
                </a:solidFill>
                <a:latin typeface="Calibri"/>
              </a:rPr>
              <a:t>EV/EBITDA (LTM)</a:t>
            </a:r>
          </a:p>
        </p:txBody>
      </p:sp>
      <p:sp>
        <p:nvSpPr>
          <p:cNvPr id="42" name="TextBox 41"/>
          <p:cNvSpPr txBox="1"/>
          <p:nvPr/>
        </p:nvSpPr>
        <p:spPr>
          <a:xfrm>
            <a:off x="5648400" y="4269600"/>
            <a:ext cx="3063600" cy="165600"/>
          </a:xfrm>
          <a:prstGeom prst="rect">
            <a:avLst/>
          </a:prstGeom>
          <a:noFill/>
        </p:spPr>
        <p:txBody>
          <a:bodyPr wrap="square">
            <a:spAutoFit/>
          </a:bodyPr>
          <a:lstStyle/>
          <a:p>
            <a:pPr algn="l"/>
            <a:r>
              <a:rPr sz="700" b="0" i="0">
                <a:solidFill>
                  <a:srgbClr val="888888"/>
                </a:solidFill>
                <a:latin typeface="Calibri"/>
              </a:rPr>
              <a:t>P/E : 33,8x</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1B3A6B"/>
                </a:solidFill>
                <a:latin typeface="Calibri"/>
              </a:rPr>
              <a:t>1</a:t>
            </a:r>
          </a:p>
        </p:txBody>
      </p:sp>
      <p:sp>
        <p:nvSpPr>
          <p:cNvPr id="7" name="Rectangle 6"/>
          <p:cNvSpPr/>
          <p:nvPr/>
        </p:nvSpPr>
        <p:spPr>
          <a:xfrm>
            <a:off x="6353999"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FFFFFF"/>
                </a:solidFill>
                <a:latin typeface="Calibri"/>
              </a:rPr>
              <a:t>2</a:t>
            </a:r>
          </a:p>
        </p:txBody>
      </p:sp>
      <p:sp>
        <p:nvSpPr>
          <p:cNvPr id="9" name="Rectangle 8"/>
          <p:cNvSpPr/>
          <p:nvPr/>
        </p:nvSpPr>
        <p:spPr>
          <a:xfrm>
            <a:off x="65844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FFFFFF"/>
                </a:solidFill>
                <a:latin typeface="Calibri"/>
              </a:rPr>
              <a:t>3</a:t>
            </a:r>
          </a:p>
        </p:txBody>
      </p:sp>
      <p:sp>
        <p:nvSpPr>
          <p:cNvPr id="11" name="Rectangle 10"/>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3" name="Rectangle 12"/>
          <p:cNvSpPr/>
          <p:nvPr/>
        </p:nvSpPr>
        <p:spPr>
          <a:xfrm>
            <a:off x="70416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FFFFFF"/>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Modèle Économique</a:t>
            </a:r>
          </a:p>
        </p:txBody>
      </p:sp>
      <p:sp>
        <p:nvSpPr>
          <p:cNvPr id="16" name="TextBox 15"/>
          <p:cNvSpPr txBox="1"/>
          <p:nvPr/>
        </p:nvSpPr>
        <p:spPr>
          <a:xfrm>
            <a:off x="367200" y="622800"/>
            <a:ext cx="8413200" cy="201600"/>
          </a:xfrm>
          <a:prstGeom prst="rect">
            <a:avLst/>
          </a:prstGeom>
          <a:noFill/>
        </p:spPr>
        <p:txBody>
          <a:bodyPr wrap="square">
            <a:spAutoFit/>
          </a:bodyPr>
          <a:lstStyle/>
          <a:p>
            <a:pPr algn="l"/>
            <a:r>
              <a:rPr sz="900" b="0" i="0">
                <a:solidFill>
                  <a:srgbClr val="2E5FA3"/>
                </a:solidFill>
                <a:latin typeface="Calibri"/>
              </a:rPr>
              <a:t>Segments opérationnels et moteurs de croissance</a:t>
            </a:r>
          </a:p>
        </p:txBody>
      </p:sp>
      <p:sp>
        <p:nvSpPr>
          <p:cNvPr id="17" name="Rectangle 16"/>
          <p:cNvSpPr/>
          <p:nvPr/>
        </p:nvSpPr>
        <p:spPr>
          <a:xfrm>
            <a:off x="367200" y="961200"/>
            <a:ext cx="4150800" cy="35208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67200" y="961200"/>
            <a:ext cx="4150800" cy="54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1141200"/>
            <a:ext cx="3970800" cy="640800"/>
          </a:xfrm>
          <a:prstGeom prst="rect">
            <a:avLst/>
          </a:prstGeom>
          <a:noFill/>
        </p:spPr>
        <p:txBody>
          <a:bodyPr wrap="square">
            <a:spAutoFit/>
          </a:bodyPr>
          <a:lstStyle/>
          <a:p>
            <a:pPr algn="l"/>
            <a:r>
              <a:rPr sz="2200" b="1" i="0">
                <a:solidFill>
                  <a:srgbClr val="2E5FA3"/>
                </a:solidFill>
                <a:latin typeface="Calibri"/>
              </a:rPr>
              <a:t>80%</a:t>
            </a:r>
          </a:p>
        </p:txBody>
      </p:sp>
      <p:sp>
        <p:nvSpPr>
          <p:cNvPr id="20" name="TextBox 19"/>
          <p:cNvSpPr txBox="1"/>
          <p:nvPr/>
        </p:nvSpPr>
        <p:spPr>
          <a:xfrm>
            <a:off x="457200" y="1785600"/>
            <a:ext cx="3970800" cy="108000"/>
          </a:xfrm>
          <a:prstGeom prst="rect">
            <a:avLst/>
          </a:prstGeom>
          <a:noFill/>
        </p:spPr>
        <p:txBody>
          <a:bodyPr wrap="square">
            <a:spAutoFit/>
          </a:bodyPr>
          <a:lstStyle/>
          <a:p>
            <a:pPr algn="l"/>
            <a:r>
              <a:rPr sz="900" b="0" i="0">
                <a:solidFill>
                  <a:srgbClr val="555555"/>
                </a:solidFill>
                <a:latin typeface="Calibri"/>
              </a:rPr>
              <a:t>du CA</a:t>
            </a:r>
          </a:p>
        </p:txBody>
      </p:sp>
      <p:sp>
        <p:nvSpPr>
          <p:cNvPr id="21" name="Rectangle 20"/>
          <p:cNvSpPr/>
          <p:nvPr/>
        </p:nvSpPr>
        <p:spPr>
          <a:xfrm>
            <a:off x="457200" y="1965600"/>
            <a:ext cx="3970800" cy="18000"/>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200" y="2059200"/>
            <a:ext cx="3970800" cy="255600"/>
          </a:xfrm>
          <a:prstGeom prst="rect">
            <a:avLst/>
          </a:prstGeom>
          <a:noFill/>
        </p:spPr>
        <p:txBody>
          <a:bodyPr wrap="square">
            <a:spAutoFit/>
          </a:bodyPr>
          <a:lstStyle/>
          <a:p>
            <a:pPr algn="l"/>
            <a:r>
              <a:rPr sz="1000" b="1" i="0">
                <a:solidFill>
                  <a:srgbClr val="1B3A6B"/>
                </a:solidFill>
                <a:latin typeface="Calibri"/>
              </a:rPr>
              <a:t>Produits</a:t>
            </a:r>
          </a:p>
        </p:txBody>
      </p:sp>
      <p:sp>
        <p:nvSpPr>
          <p:cNvPr id="23" name="TextBox 22"/>
          <p:cNvSpPr txBox="1"/>
          <p:nvPr/>
        </p:nvSpPr>
        <p:spPr>
          <a:xfrm>
            <a:off x="457200" y="2332800"/>
            <a:ext cx="3970800" cy="2041199"/>
          </a:xfrm>
          <a:prstGeom prst="rect">
            <a:avLst/>
          </a:prstGeom>
          <a:noFill/>
        </p:spPr>
        <p:txBody>
          <a:bodyPr wrap="square">
            <a:spAutoFit/>
          </a:bodyPr>
          <a:lstStyle/>
          <a:p>
            <a:pPr algn="l"/>
            <a:r>
              <a:rPr sz="800" b="0" i="0">
                <a:solidFill>
                  <a:srgbClr val="555555"/>
                </a:solidFill>
                <a:latin typeface="Calibri"/>
              </a:rPr>
              <a:t>Segment phare générant 80 % du CA via ventes d'iPhone (55 %), Mac, iPad et accessoires. Modèle basé sur l'innovation hardware et l'intégration logicielle. Clients premium (B2C et B2B) avec une forte récurrence via l'écosystème Apple. Croissance portée par l'Asie-Pacifique (+12 % YoY en 2025) et les services associés.</a:t>
            </a:r>
          </a:p>
        </p:txBody>
      </p:sp>
      <p:sp>
        <p:nvSpPr>
          <p:cNvPr id="24" name="Rectangle 23"/>
          <p:cNvSpPr/>
          <p:nvPr/>
        </p:nvSpPr>
        <p:spPr>
          <a:xfrm>
            <a:off x="4626000" y="961200"/>
            <a:ext cx="4150800" cy="3520800"/>
          </a:xfrm>
          <a:prstGeom prst="rect">
            <a:avLst/>
          </a:prstGeom>
          <a:solidFill>
            <a:srgbClr val="EA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626000" y="961200"/>
            <a:ext cx="4150800" cy="54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716000" y="1141200"/>
            <a:ext cx="3970800" cy="640800"/>
          </a:xfrm>
          <a:prstGeom prst="rect">
            <a:avLst/>
          </a:prstGeom>
          <a:noFill/>
        </p:spPr>
        <p:txBody>
          <a:bodyPr wrap="square">
            <a:spAutoFit/>
          </a:bodyPr>
          <a:lstStyle/>
          <a:p>
            <a:pPr algn="l"/>
            <a:r>
              <a:rPr sz="2200" b="1" i="0">
                <a:solidFill>
                  <a:srgbClr val="1A7A4A"/>
                </a:solidFill>
                <a:latin typeface="Calibri"/>
              </a:rPr>
              <a:t>20%</a:t>
            </a:r>
          </a:p>
        </p:txBody>
      </p:sp>
      <p:sp>
        <p:nvSpPr>
          <p:cNvPr id="27" name="TextBox 26"/>
          <p:cNvSpPr txBox="1"/>
          <p:nvPr/>
        </p:nvSpPr>
        <p:spPr>
          <a:xfrm>
            <a:off x="4716000" y="1785600"/>
            <a:ext cx="3970800" cy="108000"/>
          </a:xfrm>
          <a:prstGeom prst="rect">
            <a:avLst/>
          </a:prstGeom>
          <a:noFill/>
        </p:spPr>
        <p:txBody>
          <a:bodyPr wrap="square">
            <a:spAutoFit/>
          </a:bodyPr>
          <a:lstStyle/>
          <a:p>
            <a:pPr algn="l"/>
            <a:r>
              <a:rPr sz="900" b="0" i="0">
                <a:solidFill>
                  <a:srgbClr val="555555"/>
                </a:solidFill>
                <a:latin typeface="Calibri"/>
              </a:rPr>
              <a:t>du CA</a:t>
            </a:r>
          </a:p>
        </p:txBody>
      </p:sp>
      <p:sp>
        <p:nvSpPr>
          <p:cNvPr id="28" name="Rectangle 27"/>
          <p:cNvSpPr/>
          <p:nvPr/>
        </p:nvSpPr>
        <p:spPr>
          <a:xfrm>
            <a:off x="4716000" y="1965600"/>
            <a:ext cx="3970800" cy="18000"/>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716000" y="2059200"/>
            <a:ext cx="3970800" cy="255600"/>
          </a:xfrm>
          <a:prstGeom prst="rect">
            <a:avLst/>
          </a:prstGeom>
          <a:noFill/>
        </p:spPr>
        <p:txBody>
          <a:bodyPr wrap="square">
            <a:spAutoFit/>
          </a:bodyPr>
          <a:lstStyle/>
          <a:p>
            <a:pPr algn="l"/>
            <a:r>
              <a:rPr sz="1000" b="1" i="0">
                <a:solidFill>
                  <a:srgbClr val="1B3A6B"/>
                </a:solidFill>
                <a:latin typeface="Calibri"/>
              </a:rPr>
              <a:t>Services</a:t>
            </a:r>
          </a:p>
        </p:txBody>
      </p:sp>
      <p:sp>
        <p:nvSpPr>
          <p:cNvPr id="30" name="TextBox 29"/>
          <p:cNvSpPr txBox="1"/>
          <p:nvPr/>
        </p:nvSpPr>
        <p:spPr>
          <a:xfrm>
            <a:off x="4716000" y="2332800"/>
            <a:ext cx="3970800" cy="2041199"/>
          </a:xfrm>
          <a:prstGeom prst="rect">
            <a:avLst/>
          </a:prstGeom>
          <a:noFill/>
        </p:spPr>
        <p:txBody>
          <a:bodyPr wrap="square">
            <a:spAutoFit/>
          </a:bodyPr>
          <a:lstStyle/>
          <a:p>
            <a:pPr algn="l"/>
            <a:r>
              <a:rPr sz="800" b="0" i="0">
                <a:solidFill>
                  <a:srgbClr val="555555"/>
                </a:solidFill>
                <a:latin typeface="Calibri"/>
              </a:rPr>
              <a:t>Segment à forte marge (70 % GM) incluant App Store, Apple Music et iCloud. Modèle d'abonnements récurrents (1,8 Md d'utilisateurs actifs). Croissance annuelle de 15 % en 2025 grâce à l'expansion géographique et à l'augmentation des prix. Clients cibles : utilisateurs existants et nouveaux marchés émergents.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B3A6B"/>
        </a:solidFill>
        <a:effectLst/>
      </p:bgPr>
    </p:bg>
    <p:spTree>
      <p:nvGrpSpPr>
        <p:cNvPr id="1" name=""/>
        <p:cNvGrpSpPr/>
        <p:nvPr/>
      </p:nvGrpSpPr>
      <p:grpSpPr/>
      <p:sp>
        <p:nvSpPr>
          <p:cNvPr id="2" name="Rectangle 1"/>
          <p:cNvSpPr/>
          <p:nvPr/>
        </p:nvSpPr>
        <p:spPr>
          <a:xfrm>
            <a:off x="0" y="0"/>
            <a:ext cx="108000" cy="514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1599"/>
            <a:ext cx="8229600" cy="1645200"/>
          </a:xfrm>
          <a:prstGeom prst="rect">
            <a:avLst/>
          </a:prstGeom>
          <a:noFill/>
        </p:spPr>
        <p:txBody>
          <a:bodyPr wrap="none">
            <a:spAutoFit/>
          </a:bodyPr>
          <a:lstStyle/>
          <a:p>
            <a:r>
              <a:rPr sz="8000" b="1">
                <a:solidFill>
                  <a:srgbClr val="FFFFFF">
                    <a:alpha val="15000"/>
                  </a:srgbClr>
                </a:solidFill>
                <a:latin typeface="Calibri"/>
              </a:rPr>
              <a:t>02</a:t>
            </a:r>
          </a:p>
        </p:txBody>
      </p:sp>
      <p:sp>
        <p:nvSpPr>
          <p:cNvPr id="4" name="TextBox 3"/>
          <p:cNvSpPr txBox="1"/>
          <p:nvPr/>
        </p:nvSpPr>
        <p:spPr>
          <a:xfrm>
            <a:off x="457200" y="1875600"/>
            <a:ext cx="7772400" cy="824400"/>
          </a:xfrm>
          <a:prstGeom prst="rect">
            <a:avLst/>
          </a:prstGeom>
          <a:noFill/>
        </p:spPr>
        <p:txBody>
          <a:bodyPr wrap="square">
            <a:spAutoFit/>
          </a:bodyPr>
          <a:lstStyle/>
          <a:p>
            <a:pPr algn="l"/>
            <a:r>
              <a:rPr sz="2800" b="1" i="0">
                <a:solidFill>
                  <a:srgbClr val="FFFFFF"/>
                </a:solidFill>
                <a:latin typeface="Calibri"/>
              </a:rPr>
              <a:t>Analyse Financière</a:t>
            </a:r>
          </a:p>
        </p:txBody>
      </p:sp>
      <p:sp>
        <p:nvSpPr>
          <p:cNvPr id="5" name="Rectangle 4"/>
          <p:cNvSpPr/>
          <p:nvPr/>
        </p:nvSpPr>
        <p:spPr>
          <a:xfrm>
            <a:off x="457200" y="2790000"/>
            <a:ext cx="2743200" cy="3600"/>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908800"/>
            <a:ext cx="6400800" cy="320400"/>
          </a:xfrm>
          <a:prstGeom prst="rect">
            <a:avLst/>
          </a:prstGeom>
          <a:noFill/>
        </p:spPr>
        <p:txBody>
          <a:bodyPr wrap="square">
            <a:spAutoFit/>
          </a:bodyPr>
          <a:lstStyle/>
          <a:p>
            <a:pPr algn="l"/>
            <a:r>
              <a:rPr sz="1000" b="0" i="0">
                <a:solidFill>
                  <a:srgbClr val="AABBDD"/>
                </a:solidFill>
                <a:latin typeface="Calibri"/>
              </a:rPr>
              <a:t>Compte de résultat, bilan, liquidité &amp; ratios</a:t>
            </a:r>
          </a:p>
        </p:txBody>
      </p:sp>
      <p:sp>
        <p:nvSpPr>
          <p:cNvPr id="7" name="TextBox 6"/>
          <p:cNvSpPr txBox="1"/>
          <p:nvPr/>
        </p:nvSpPr>
        <p:spPr>
          <a:xfrm>
            <a:off x="367200" y="4802400"/>
            <a:ext cx="8413200" cy="201600"/>
          </a:xfrm>
          <a:prstGeom prst="rect">
            <a:avLst/>
          </a:prstGeom>
          <a:noFill/>
        </p:spPr>
        <p:txBody>
          <a:bodyPr wrap="square">
            <a:spAutoFit/>
          </a:bodyPr>
          <a:lstStyle/>
          <a:p>
            <a:pPr algn="l"/>
            <a:r>
              <a:rPr sz="700" b="0" i="0">
                <a:solidFill>
                  <a:srgbClr val="6677AA"/>
                </a:solidFill>
                <a:latin typeface="Calibri"/>
              </a:rPr>
              <a:t>FinSight IA  ·  Usage confidentiel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FFFFFF"/>
                </a:solidFill>
                <a:latin typeface="Calibri"/>
              </a:rPr>
              <a:t>1</a:t>
            </a:r>
          </a:p>
        </p:txBody>
      </p:sp>
      <p:sp>
        <p:nvSpPr>
          <p:cNvPr id="7" name="Rectangle 6"/>
          <p:cNvSpPr/>
          <p:nvPr/>
        </p:nvSpPr>
        <p:spPr>
          <a:xfrm>
            <a:off x="6353999"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1B3A6B"/>
                </a:solidFill>
                <a:latin typeface="Calibri"/>
              </a:rPr>
              <a:t>2</a:t>
            </a:r>
          </a:p>
        </p:txBody>
      </p:sp>
      <p:sp>
        <p:nvSpPr>
          <p:cNvPr id="9" name="Rectangle 8"/>
          <p:cNvSpPr/>
          <p:nvPr/>
        </p:nvSpPr>
        <p:spPr>
          <a:xfrm>
            <a:off x="65844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FFFFFF"/>
                </a:solidFill>
                <a:latin typeface="Calibri"/>
              </a:rPr>
              <a:t>3</a:t>
            </a:r>
          </a:p>
        </p:txBody>
      </p:sp>
      <p:sp>
        <p:nvSpPr>
          <p:cNvPr id="11" name="Rectangle 10"/>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3" name="Rectangle 12"/>
          <p:cNvSpPr/>
          <p:nvPr/>
        </p:nvSpPr>
        <p:spPr>
          <a:xfrm>
            <a:off x="70416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FFFFFF"/>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Analyse Financière — Compte de Résultat</a:t>
            </a:r>
          </a:p>
        </p:txBody>
      </p:sp>
      <p:sp>
        <p:nvSpPr>
          <p:cNvPr id="16" name="TextBox 15"/>
          <p:cNvSpPr txBox="1"/>
          <p:nvPr/>
        </p:nvSpPr>
        <p:spPr>
          <a:xfrm>
            <a:off x="367200" y="622800"/>
            <a:ext cx="8413200" cy="201600"/>
          </a:xfrm>
          <a:prstGeom prst="rect">
            <a:avLst/>
          </a:prstGeom>
          <a:noFill/>
        </p:spPr>
        <p:txBody>
          <a:bodyPr wrap="square">
            <a:spAutoFit/>
          </a:bodyPr>
          <a:lstStyle/>
          <a:p>
            <a:pPr algn="l"/>
            <a:r>
              <a:rPr sz="900" b="0" i="0">
                <a:solidFill>
                  <a:srgbClr val="2E5FA3"/>
                </a:solidFill>
                <a:latin typeface="Calibri"/>
              </a:rPr>
              <a:t>USD millions  ·  2021–2027F</a:t>
            </a:r>
          </a:p>
        </p:txBody>
      </p:sp>
      <p:graphicFrame>
        <p:nvGraphicFramePr>
          <p:cNvPr id="17" name="Table 16"/>
          <p:cNvGraphicFramePr>
            <a:graphicFrameLocks noGrp="1"/>
          </p:cNvGraphicFramePr>
          <p:nvPr/>
        </p:nvGraphicFramePr>
        <p:xfrm>
          <a:off x="367200" y="914400"/>
          <a:ext cx="8413196" cy="1980000"/>
        </p:xfrm>
        <a:graphic>
          <a:graphicData uri="http://schemas.openxmlformats.org/drawingml/2006/table">
            <a:tbl>
              <a:tblPr firstRow="1" bandRow="1">
                <a:tableStyleId>{5C22544A-7EE6-4342-B048-85BDC9FD1C3A}</a:tableStyleId>
              </a:tblPr>
              <a:tblGrid>
                <a:gridCol w="2355696"/>
                <a:gridCol w="1211500"/>
                <a:gridCol w="1211500"/>
                <a:gridCol w="1211500"/>
                <a:gridCol w="1211500"/>
                <a:gridCol w="1211500"/>
              </a:tblGrid>
              <a:tr h="220000">
                <a:tc>
                  <a:txBody>
                    <a:bodyPr/>
                    <a:lstStyle/>
                    <a:p>
                      <a:pPr algn="l"/>
                      <a:r>
                        <a:rPr sz="800" b="1" i="0">
                          <a:solidFill>
                            <a:srgbClr val="FFFFFF"/>
                          </a:solidFill>
                          <a:latin typeface="Calibri"/>
                        </a:rPr>
                        <a:t>Indicateur</a:t>
                      </a:r>
                    </a:p>
                  </a:txBody>
                  <a:tcPr>
                    <a:solidFill>
                      <a:srgbClr val="1B3A6B"/>
                    </a:solidFill>
                  </a:tcPr>
                </a:tc>
                <a:tc>
                  <a:txBody>
                    <a:bodyPr/>
                    <a:lstStyle/>
                    <a:p>
                      <a:pPr algn="ctr"/>
                      <a:r>
                        <a:rPr sz="800" b="1" i="0">
                          <a:solidFill>
                            <a:srgbClr val="FFFFFF"/>
                          </a:solidFill>
                          <a:latin typeface="Calibri"/>
                        </a:rPr>
                        <a:t>2023</a:t>
                      </a:r>
                    </a:p>
                  </a:txBody>
                  <a:tcPr>
                    <a:solidFill>
                      <a:srgbClr val="1B3A6B"/>
                    </a:solidFill>
                  </a:tcPr>
                </a:tc>
                <a:tc>
                  <a:txBody>
                    <a:bodyPr/>
                    <a:lstStyle/>
                    <a:p>
                      <a:pPr algn="ctr"/>
                      <a:r>
                        <a:rPr sz="800" b="1" i="0">
                          <a:solidFill>
                            <a:srgbClr val="FFFFFF"/>
                          </a:solidFill>
                          <a:latin typeface="Calibri"/>
                        </a:rPr>
                        <a:t>2024</a:t>
                      </a:r>
                    </a:p>
                  </a:txBody>
                  <a:tcPr>
                    <a:solidFill>
                      <a:srgbClr val="1B3A6B"/>
                    </a:solidFill>
                  </a:tcPr>
                </a:tc>
                <a:tc>
                  <a:txBody>
                    <a:bodyPr/>
                    <a:lstStyle/>
                    <a:p>
                      <a:pPr algn="ctr"/>
                      <a:r>
                        <a:rPr sz="800" b="1" i="0">
                          <a:solidFill>
                            <a:srgbClr val="FFFFFF"/>
                          </a:solidFill>
                          <a:latin typeface="Calibri"/>
                        </a:rPr>
                        <a:t>2025</a:t>
                      </a:r>
                    </a:p>
                  </a:txBody>
                  <a:tcPr>
                    <a:solidFill>
                      <a:srgbClr val="1B3A6B"/>
                    </a:solidFill>
                  </a:tcPr>
                </a:tc>
                <a:tc>
                  <a:txBody>
                    <a:bodyPr/>
                    <a:lstStyle/>
                    <a:p>
                      <a:pPr algn="ctr"/>
                      <a:r>
                        <a:rPr sz="800" b="1" i="0">
                          <a:solidFill>
                            <a:srgbClr val="FFFFFF"/>
                          </a:solidFill>
                          <a:latin typeface="Calibri"/>
                        </a:rPr>
                        <a:t>2026F</a:t>
                      </a:r>
                    </a:p>
                  </a:txBody>
                  <a:tcPr>
                    <a:solidFill>
                      <a:srgbClr val="1B3A6B"/>
                    </a:solidFill>
                  </a:tcPr>
                </a:tc>
                <a:tc>
                  <a:txBody>
                    <a:bodyPr/>
                    <a:lstStyle/>
                    <a:p>
                      <a:pPr algn="ctr"/>
                      <a:r>
                        <a:rPr sz="800" b="1" i="0">
                          <a:solidFill>
                            <a:srgbClr val="FFFFFF"/>
                          </a:solidFill>
                          <a:latin typeface="Calibri"/>
                        </a:rPr>
                        <a:t>2027F</a:t>
                      </a:r>
                    </a:p>
                  </a:txBody>
                  <a:tcPr>
                    <a:solidFill>
                      <a:srgbClr val="1B3A6B"/>
                    </a:solidFill>
                  </a:tcPr>
                </a:tc>
              </a:tr>
              <a:tr h="220000">
                <a:tc>
                  <a:txBody>
                    <a:bodyPr/>
                    <a:lstStyle/>
                    <a:p>
                      <a:pPr algn="l"/>
                      <a:r>
                        <a:rPr sz="800" b="1" i="0">
                          <a:solidFill>
                            <a:srgbClr val="0D0D0D"/>
                          </a:solidFill>
                          <a:latin typeface="Calibri"/>
                        </a:rPr>
                        <a:t>Chiffre d'affaires</a:t>
                      </a:r>
                    </a:p>
                  </a:txBody>
                  <a:tcPr>
                    <a:solidFill>
                      <a:srgbClr val="FFFFFF"/>
                    </a:solidFill>
                  </a:tcPr>
                </a:tc>
                <a:tc>
                  <a:txBody>
                    <a:bodyPr/>
                    <a:lstStyle/>
                    <a:p>
                      <a:pPr algn="ctr"/>
                      <a:r>
                        <a:rPr sz="800" b="1" i="0">
                          <a:solidFill>
                            <a:srgbClr val="0D0D0D"/>
                          </a:solidFill>
                          <a:latin typeface="Calibri"/>
                        </a:rPr>
                        <a:t>383,3</a:t>
                      </a:r>
                    </a:p>
                  </a:txBody>
                  <a:tcPr>
                    <a:solidFill>
                      <a:srgbClr val="FFFFFF"/>
                    </a:solidFill>
                  </a:tcPr>
                </a:tc>
                <a:tc>
                  <a:txBody>
                    <a:bodyPr/>
                    <a:lstStyle/>
                    <a:p>
                      <a:pPr algn="ctr"/>
                      <a:r>
                        <a:rPr sz="800" b="1" i="0">
                          <a:solidFill>
                            <a:srgbClr val="0D0D0D"/>
                          </a:solidFill>
                          <a:latin typeface="Calibri"/>
                        </a:rPr>
                        <a:t>391,0</a:t>
                      </a:r>
                    </a:p>
                  </a:txBody>
                  <a:tcPr>
                    <a:solidFill>
                      <a:srgbClr val="FFFFFF"/>
                    </a:solidFill>
                  </a:tcPr>
                </a:tc>
                <a:tc>
                  <a:txBody>
                    <a:bodyPr/>
                    <a:lstStyle/>
                    <a:p>
                      <a:pPr algn="ctr"/>
                      <a:r>
                        <a:rPr sz="800" b="1" i="0">
                          <a:solidFill>
                            <a:srgbClr val="1B3A6B"/>
                          </a:solidFill>
                          <a:latin typeface="Calibri"/>
                        </a:rPr>
                        <a:t>416,2</a:t>
                      </a:r>
                    </a:p>
                  </a:txBody>
                  <a:tcPr>
                    <a:solidFill>
                      <a:srgbClr val="DDE8F5"/>
                    </a:solidFill>
                  </a:tcPr>
                </a:tc>
                <a:tc>
                  <a:txBody>
                    <a:bodyPr/>
                    <a:lstStyle/>
                    <a:p>
                      <a:pPr algn="ctr"/>
                      <a:r>
                        <a:rPr sz="800" b="1" i="0">
                          <a:solidFill>
                            <a:srgbClr val="0D0D0D"/>
                          </a:solidFill>
                          <a:latin typeface="Calibri"/>
                        </a:rPr>
                        <a:t>441,4</a:t>
                      </a:r>
                    </a:p>
                  </a:txBody>
                  <a:tcPr>
                    <a:solidFill>
                      <a:srgbClr val="FFFFFF"/>
                    </a:solidFill>
                  </a:tcPr>
                </a:tc>
                <a:tc>
                  <a:txBody>
                    <a:bodyPr/>
                    <a:lstStyle/>
                    <a:p>
                      <a:pPr algn="ctr"/>
                      <a:r>
                        <a:rPr sz="800" b="1" i="0">
                          <a:solidFill>
                            <a:srgbClr val="0D0D0D"/>
                          </a:solidFill>
                          <a:latin typeface="Calibri"/>
                        </a:rPr>
                        <a:t>468,0</a:t>
                      </a:r>
                    </a:p>
                  </a:txBody>
                  <a:tcPr>
                    <a:solidFill>
                      <a:srgbClr val="FFFFFF"/>
                    </a:solidFill>
                  </a:tcPr>
                </a:tc>
              </a:tr>
              <a:tr h="220000">
                <a:tc>
                  <a:txBody>
                    <a:bodyPr/>
                    <a:lstStyle/>
                    <a:p>
                      <a:pPr algn="l"/>
                      <a:r>
                        <a:rPr sz="750" b="0" i="1">
                          <a:solidFill>
                            <a:srgbClr val="555555"/>
                          </a:solidFill>
                          <a:latin typeface="Calibri"/>
                        </a:rPr>
                        <a:t>Croissance YoY</a:t>
                      </a:r>
                    </a:p>
                  </a:txBody>
                  <a:tcPr>
                    <a:solidFill>
                      <a:srgbClr val="F7F8FA"/>
                    </a:solidFill>
                  </a:tcPr>
                </a:tc>
                <a:tc>
                  <a:txBody>
                    <a:bodyPr/>
                    <a:lstStyle/>
                    <a:p>
                      <a:pPr algn="ctr"/>
                      <a:r>
                        <a:rPr sz="750" b="0" i="1">
                          <a:solidFill>
                            <a:srgbClr val="555555"/>
                          </a:solidFill>
                          <a:latin typeface="Calibri"/>
                        </a:rPr>
                        <a:t>-2,8 %</a:t>
                      </a:r>
                    </a:p>
                  </a:txBody>
                  <a:tcPr>
                    <a:solidFill>
                      <a:srgbClr val="F7F8FA"/>
                    </a:solidFill>
                  </a:tcPr>
                </a:tc>
                <a:tc>
                  <a:txBody>
                    <a:bodyPr/>
                    <a:lstStyle/>
                    <a:p>
                      <a:pPr algn="ctr"/>
                      <a:r>
                        <a:rPr sz="750" b="0" i="1">
                          <a:solidFill>
                            <a:srgbClr val="555555"/>
                          </a:solidFill>
                          <a:latin typeface="Calibri"/>
                        </a:rPr>
                        <a:t>+2,0 %</a:t>
                      </a:r>
                    </a:p>
                  </a:txBody>
                  <a:tcPr>
                    <a:solidFill>
                      <a:srgbClr val="F7F8FA"/>
                    </a:solidFill>
                  </a:tcPr>
                </a:tc>
                <a:tc>
                  <a:txBody>
                    <a:bodyPr/>
                    <a:lstStyle/>
                    <a:p>
                      <a:pPr algn="ctr"/>
                      <a:r>
                        <a:rPr sz="750" b="0" i="1">
                          <a:solidFill>
                            <a:srgbClr val="555555"/>
                          </a:solidFill>
                          <a:latin typeface="Calibri"/>
                        </a:rPr>
                        <a:t>+6,4 %</a:t>
                      </a:r>
                    </a:p>
                  </a:txBody>
                  <a:tcPr>
                    <a:solidFill>
                      <a:srgbClr val="DDE8F5"/>
                    </a:solidFill>
                  </a:tcPr>
                </a:tc>
                <a:tc>
                  <a:txBody>
                    <a:bodyPr/>
                    <a:lstStyle/>
                    <a:p>
                      <a:pPr algn="ctr"/>
                      <a:r>
                        <a:rPr sz="750" b="0" i="1">
                          <a:solidFill>
                            <a:srgbClr val="555555"/>
                          </a:solidFill>
                          <a:latin typeface="Calibri"/>
                        </a:rPr>
                        <a:t>+6,1 %</a:t>
                      </a:r>
                    </a:p>
                  </a:txBody>
                  <a:tcPr>
                    <a:solidFill>
                      <a:srgbClr val="F7F8FA"/>
                    </a:solidFill>
                  </a:tcPr>
                </a:tc>
                <a:tc>
                  <a:txBody>
                    <a:bodyPr/>
                    <a:lstStyle/>
                    <a:p>
                      <a:pPr algn="ctr"/>
                      <a:r>
                        <a:rPr sz="750" b="0" i="1">
                          <a:solidFill>
                            <a:srgbClr val="555555"/>
                          </a:solidFill>
                          <a:latin typeface="Calibri"/>
                        </a:rPr>
                        <a:t>+6,0 %</a:t>
                      </a:r>
                    </a:p>
                  </a:txBody>
                  <a:tcPr>
                    <a:solidFill>
                      <a:srgbClr val="F7F8FA"/>
                    </a:solidFill>
                  </a:tcPr>
                </a:tc>
              </a:tr>
              <a:tr h="220000">
                <a:tc>
                  <a:txBody>
                    <a:bodyPr/>
                    <a:lstStyle/>
                    <a:p>
                      <a:pPr algn="l"/>
                      <a:r>
                        <a:rPr sz="800" b="1" i="0">
                          <a:solidFill>
                            <a:srgbClr val="0D0D0D"/>
                          </a:solidFill>
                          <a:latin typeface="Calibri"/>
                        </a:rPr>
                        <a:t>Résultat brut</a:t>
                      </a:r>
                    </a:p>
                  </a:txBody>
                  <a:tcPr>
                    <a:solidFill>
                      <a:srgbClr val="FFFFFF"/>
                    </a:solidFill>
                  </a:tcPr>
                </a:tc>
                <a:tc>
                  <a:txBody>
                    <a:bodyPr/>
                    <a:lstStyle/>
                    <a:p>
                      <a:pPr algn="ctr"/>
                      <a:r>
                        <a:rPr sz="800" b="1" i="0">
                          <a:solidFill>
                            <a:srgbClr val="0D0D0D"/>
                          </a:solidFill>
                          <a:latin typeface="Calibri"/>
                        </a:rPr>
                        <a:t>169,1</a:t>
                      </a:r>
                    </a:p>
                  </a:txBody>
                  <a:tcPr>
                    <a:solidFill>
                      <a:srgbClr val="FFFFFF"/>
                    </a:solidFill>
                  </a:tcPr>
                </a:tc>
                <a:tc>
                  <a:txBody>
                    <a:bodyPr/>
                    <a:lstStyle/>
                    <a:p>
                      <a:pPr algn="ctr"/>
                      <a:r>
                        <a:rPr sz="800" b="1" i="0">
                          <a:solidFill>
                            <a:srgbClr val="0D0D0D"/>
                          </a:solidFill>
                          <a:latin typeface="Calibri"/>
                        </a:rPr>
                        <a:t>180,7</a:t>
                      </a:r>
                    </a:p>
                  </a:txBody>
                  <a:tcPr>
                    <a:solidFill>
                      <a:srgbClr val="FFFFFF"/>
                    </a:solidFill>
                  </a:tcPr>
                </a:tc>
                <a:tc>
                  <a:txBody>
                    <a:bodyPr/>
                    <a:lstStyle/>
                    <a:p>
                      <a:pPr algn="ctr"/>
                      <a:r>
                        <a:rPr sz="800" b="1" i="0">
                          <a:solidFill>
                            <a:srgbClr val="1B3A6B"/>
                          </a:solidFill>
                          <a:latin typeface="Calibri"/>
                        </a:rPr>
                        <a:t>195,2</a:t>
                      </a:r>
                    </a:p>
                  </a:txBody>
                  <a:tcPr>
                    <a:solidFill>
                      <a:srgbClr val="DDE8F5"/>
                    </a:solidFill>
                  </a:tcPr>
                </a:tc>
                <a:tc>
                  <a:txBody>
                    <a:bodyPr/>
                    <a:lstStyle/>
                    <a:p>
                      <a:pPr algn="ctr"/>
                      <a:r>
                        <a:rPr sz="800" b="1" i="0">
                          <a:solidFill>
                            <a:srgbClr val="0D0D0D"/>
                          </a:solidFill>
                          <a:latin typeface="Calibri"/>
                        </a:rPr>
                        <a:t>208,4</a:t>
                      </a:r>
                    </a:p>
                  </a:txBody>
                  <a:tcPr>
                    <a:solidFill>
                      <a:srgbClr val="FFFFFF"/>
                    </a:solidFill>
                  </a:tcPr>
                </a:tc>
                <a:tc>
                  <a:txBody>
                    <a:bodyPr/>
                    <a:lstStyle/>
                    <a:p>
                      <a:pPr algn="ctr"/>
                      <a:r>
                        <a:rPr sz="800" b="1" i="0">
                          <a:solidFill>
                            <a:srgbClr val="0D0D0D"/>
                          </a:solidFill>
                          <a:latin typeface="Calibri"/>
                        </a:rPr>
                        <a:t>222,3</a:t>
                      </a:r>
                    </a:p>
                  </a:txBody>
                  <a:tcPr>
                    <a:solidFill>
                      <a:srgbClr val="FFFFFF"/>
                    </a:solidFill>
                  </a:tcPr>
                </a:tc>
              </a:tr>
              <a:tr h="220000">
                <a:tc>
                  <a:txBody>
                    <a:bodyPr/>
                    <a:lstStyle/>
                    <a:p>
                      <a:pPr algn="l"/>
                      <a:r>
                        <a:rPr sz="750" b="0" i="1">
                          <a:solidFill>
                            <a:srgbClr val="555555"/>
                          </a:solidFill>
                          <a:latin typeface="Calibri"/>
                        </a:rPr>
                        <a:t>Marge brute</a:t>
                      </a:r>
                    </a:p>
                  </a:txBody>
                  <a:tcPr>
                    <a:solidFill>
                      <a:srgbClr val="F7F8FA"/>
                    </a:solidFill>
                  </a:tcPr>
                </a:tc>
                <a:tc>
                  <a:txBody>
                    <a:bodyPr/>
                    <a:lstStyle/>
                    <a:p>
                      <a:pPr algn="ctr"/>
                      <a:r>
                        <a:rPr sz="750" b="0" i="1">
                          <a:solidFill>
                            <a:srgbClr val="555555"/>
                          </a:solidFill>
                          <a:latin typeface="Calibri"/>
                        </a:rPr>
                        <a:t>44,1 %</a:t>
                      </a:r>
                    </a:p>
                  </a:txBody>
                  <a:tcPr>
                    <a:solidFill>
                      <a:srgbClr val="F7F8FA"/>
                    </a:solidFill>
                  </a:tcPr>
                </a:tc>
                <a:tc>
                  <a:txBody>
                    <a:bodyPr/>
                    <a:lstStyle/>
                    <a:p>
                      <a:pPr algn="ctr"/>
                      <a:r>
                        <a:rPr sz="750" b="0" i="1">
                          <a:solidFill>
                            <a:srgbClr val="555555"/>
                          </a:solidFill>
                          <a:latin typeface="Calibri"/>
                        </a:rPr>
                        <a:t>46,2 %</a:t>
                      </a:r>
                    </a:p>
                  </a:txBody>
                  <a:tcPr>
                    <a:solidFill>
                      <a:srgbClr val="F7F8FA"/>
                    </a:solidFill>
                  </a:tcPr>
                </a:tc>
                <a:tc>
                  <a:txBody>
                    <a:bodyPr/>
                    <a:lstStyle/>
                    <a:p>
                      <a:pPr algn="ctr"/>
                      <a:r>
                        <a:rPr sz="750" b="0" i="1">
                          <a:solidFill>
                            <a:srgbClr val="555555"/>
                          </a:solidFill>
                          <a:latin typeface="Calibri"/>
                        </a:rPr>
                        <a:t>46,9 %</a:t>
                      </a:r>
                    </a:p>
                  </a:txBody>
                  <a:tcPr>
                    <a:solidFill>
                      <a:srgbClr val="DDE8F5"/>
                    </a:solidFill>
                  </a:tcPr>
                </a:tc>
                <a:tc>
                  <a:txBody>
                    <a:bodyPr/>
                    <a:lstStyle/>
                    <a:p>
                      <a:pPr algn="ctr"/>
                      <a:r>
                        <a:rPr sz="750" b="0" i="1">
                          <a:solidFill>
                            <a:srgbClr val="555555"/>
                          </a:solidFill>
                          <a:latin typeface="Calibri"/>
                        </a:rPr>
                        <a:t>47,2 %</a:t>
                      </a:r>
                    </a:p>
                  </a:txBody>
                  <a:tcPr>
                    <a:solidFill>
                      <a:srgbClr val="F7F8FA"/>
                    </a:solidFill>
                  </a:tcPr>
                </a:tc>
                <a:tc>
                  <a:txBody>
                    <a:bodyPr/>
                    <a:lstStyle/>
                    <a:p>
                      <a:pPr algn="ctr"/>
                      <a:r>
                        <a:rPr sz="750" b="0" i="1">
                          <a:solidFill>
                            <a:srgbClr val="555555"/>
                          </a:solidFill>
                          <a:latin typeface="Calibri"/>
                        </a:rPr>
                        <a:t>47,5 %</a:t>
                      </a:r>
                    </a:p>
                  </a:txBody>
                  <a:tcPr>
                    <a:solidFill>
                      <a:srgbClr val="F7F8FA"/>
                    </a:solidFill>
                  </a:tcPr>
                </a:tc>
              </a:tr>
              <a:tr h="220000">
                <a:tc>
                  <a:txBody>
                    <a:bodyPr/>
                    <a:lstStyle/>
                    <a:p>
                      <a:pPr algn="l"/>
                      <a:r>
                        <a:rPr sz="800" b="1" i="0">
                          <a:solidFill>
                            <a:srgbClr val="0D0D0D"/>
                          </a:solidFill>
                          <a:latin typeface="Calibri"/>
                        </a:rPr>
                        <a:t>EBITDA</a:t>
                      </a:r>
                    </a:p>
                  </a:txBody>
                  <a:tcPr>
                    <a:solidFill>
                      <a:srgbClr val="FFFFFF"/>
                    </a:solidFill>
                  </a:tcPr>
                </a:tc>
                <a:tc>
                  <a:txBody>
                    <a:bodyPr/>
                    <a:lstStyle/>
                    <a:p>
                      <a:pPr algn="ctr"/>
                      <a:r>
                        <a:rPr sz="800" b="1" i="0">
                          <a:solidFill>
                            <a:srgbClr val="0D0D0D"/>
                          </a:solidFill>
                          <a:latin typeface="Calibri"/>
                        </a:rPr>
                        <a:t>125,8</a:t>
                      </a:r>
                    </a:p>
                  </a:txBody>
                  <a:tcPr>
                    <a:solidFill>
                      <a:srgbClr val="FFFFFF"/>
                    </a:solidFill>
                  </a:tcPr>
                </a:tc>
                <a:tc>
                  <a:txBody>
                    <a:bodyPr/>
                    <a:lstStyle/>
                    <a:p>
                      <a:pPr algn="ctr"/>
                      <a:r>
                        <a:rPr sz="800" b="1" i="0">
                          <a:solidFill>
                            <a:srgbClr val="0D0D0D"/>
                          </a:solidFill>
                          <a:latin typeface="Calibri"/>
                        </a:rPr>
                        <a:t>134,7</a:t>
                      </a:r>
                    </a:p>
                  </a:txBody>
                  <a:tcPr>
                    <a:solidFill>
                      <a:srgbClr val="FFFFFF"/>
                    </a:solidFill>
                  </a:tcPr>
                </a:tc>
                <a:tc>
                  <a:txBody>
                    <a:bodyPr/>
                    <a:lstStyle/>
                    <a:p>
                      <a:pPr algn="ctr"/>
                      <a:r>
                        <a:rPr sz="800" b="1" i="0">
                          <a:solidFill>
                            <a:srgbClr val="1B3A6B"/>
                          </a:solidFill>
                          <a:latin typeface="Calibri"/>
                        </a:rPr>
                        <a:t>144,7</a:t>
                      </a:r>
                    </a:p>
                  </a:txBody>
                  <a:tcPr>
                    <a:solidFill>
                      <a:srgbClr val="DDE8F5"/>
                    </a:solidFill>
                  </a:tcPr>
                </a:tc>
                <a:tc>
                  <a:txBody>
                    <a:bodyPr/>
                    <a:lstStyle/>
                    <a:p>
                      <a:pPr algn="ctr"/>
                      <a:r>
                        <a:rPr sz="800" b="1" i="0">
                          <a:solidFill>
                            <a:srgbClr val="0D0D0D"/>
                          </a:solidFill>
                          <a:latin typeface="Calibri"/>
                        </a:rPr>
                        <a:t>160,0</a:t>
                      </a:r>
                    </a:p>
                  </a:txBody>
                  <a:tcPr>
                    <a:solidFill>
                      <a:srgbClr val="FFFFFF"/>
                    </a:solidFill>
                  </a:tcPr>
                </a:tc>
                <a:tc>
                  <a:txBody>
                    <a:bodyPr/>
                    <a:lstStyle/>
                    <a:p>
                      <a:pPr algn="ctr"/>
                      <a:r>
                        <a:rPr sz="800" b="1" i="0">
                          <a:solidFill>
                            <a:srgbClr val="0D0D0D"/>
                          </a:solidFill>
                          <a:latin typeface="Calibri"/>
                        </a:rPr>
                        <a:t>170,0</a:t>
                      </a:r>
                    </a:p>
                  </a:txBody>
                  <a:tcPr>
                    <a:solidFill>
                      <a:srgbClr val="FFFFFF"/>
                    </a:solidFill>
                  </a:tcPr>
                </a:tc>
              </a:tr>
              <a:tr h="220000">
                <a:tc>
                  <a:txBody>
                    <a:bodyPr/>
                    <a:lstStyle/>
                    <a:p>
                      <a:pPr algn="l"/>
                      <a:r>
                        <a:rPr sz="750" b="0" i="1">
                          <a:solidFill>
                            <a:srgbClr val="555555"/>
                          </a:solidFill>
                          <a:latin typeface="Calibri"/>
                        </a:rPr>
                        <a:t>Marge EBITDA</a:t>
                      </a:r>
                    </a:p>
                  </a:txBody>
                  <a:tcPr>
                    <a:solidFill>
                      <a:srgbClr val="F7F8FA"/>
                    </a:solidFill>
                  </a:tcPr>
                </a:tc>
                <a:tc>
                  <a:txBody>
                    <a:bodyPr/>
                    <a:lstStyle/>
                    <a:p>
                      <a:pPr algn="ctr"/>
                      <a:r>
                        <a:rPr sz="750" b="0" i="1">
                          <a:solidFill>
                            <a:srgbClr val="555555"/>
                          </a:solidFill>
                          <a:latin typeface="Calibri"/>
                        </a:rPr>
                        <a:t>32,8 %</a:t>
                      </a:r>
                    </a:p>
                  </a:txBody>
                  <a:tcPr>
                    <a:solidFill>
                      <a:srgbClr val="F7F8FA"/>
                    </a:solidFill>
                  </a:tcPr>
                </a:tc>
                <a:tc>
                  <a:txBody>
                    <a:bodyPr/>
                    <a:lstStyle/>
                    <a:p>
                      <a:pPr algn="ctr"/>
                      <a:r>
                        <a:rPr sz="750" b="0" i="1">
                          <a:solidFill>
                            <a:srgbClr val="555555"/>
                          </a:solidFill>
                          <a:latin typeface="Calibri"/>
                        </a:rPr>
                        <a:t>34,4 %</a:t>
                      </a:r>
                    </a:p>
                  </a:txBody>
                  <a:tcPr>
                    <a:solidFill>
                      <a:srgbClr val="F7F8FA"/>
                    </a:solidFill>
                  </a:tcPr>
                </a:tc>
                <a:tc>
                  <a:txBody>
                    <a:bodyPr/>
                    <a:lstStyle/>
                    <a:p>
                      <a:pPr algn="ctr"/>
                      <a:r>
                        <a:rPr sz="750" b="0" i="1">
                          <a:solidFill>
                            <a:srgbClr val="555555"/>
                          </a:solidFill>
                          <a:latin typeface="Calibri"/>
                        </a:rPr>
                        <a:t>34,8 %</a:t>
                      </a:r>
                    </a:p>
                  </a:txBody>
                  <a:tcPr>
                    <a:solidFill>
                      <a:srgbClr val="DDE8F5"/>
                    </a:solidFill>
                  </a:tcPr>
                </a:tc>
                <a:tc>
                  <a:txBody>
                    <a:bodyPr/>
                    <a:lstStyle/>
                    <a:p>
                      <a:pPr algn="ctr"/>
                      <a:r>
                        <a:rPr sz="750" b="0" i="1">
                          <a:solidFill>
                            <a:srgbClr val="555555"/>
                          </a:solidFill>
                          <a:latin typeface="Calibri"/>
                        </a:rPr>
                        <a:t>36,3 %</a:t>
                      </a:r>
                    </a:p>
                  </a:txBody>
                  <a:tcPr>
                    <a:solidFill>
                      <a:srgbClr val="F7F8FA"/>
                    </a:solidFill>
                  </a:tcPr>
                </a:tc>
                <a:tc>
                  <a:txBody>
                    <a:bodyPr/>
                    <a:lstStyle/>
                    <a:p>
                      <a:pPr algn="ctr"/>
                      <a:r>
                        <a:rPr sz="750" b="0" i="1">
                          <a:solidFill>
                            <a:srgbClr val="555555"/>
                          </a:solidFill>
                          <a:latin typeface="Calibri"/>
                        </a:rPr>
                        <a:t>36,3 %</a:t>
                      </a:r>
                    </a:p>
                  </a:txBody>
                  <a:tcPr>
                    <a:solidFill>
                      <a:srgbClr val="F7F8FA"/>
                    </a:solidFill>
                  </a:tcPr>
                </a:tc>
              </a:tr>
              <a:tr h="220000">
                <a:tc>
                  <a:txBody>
                    <a:bodyPr/>
                    <a:lstStyle/>
                    <a:p>
                      <a:pPr algn="l"/>
                      <a:r>
                        <a:rPr sz="800" b="1" i="0">
                          <a:solidFill>
                            <a:srgbClr val="0D0D0D"/>
                          </a:solidFill>
                          <a:latin typeface="Calibri"/>
                        </a:rPr>
                        <a:t>Résultat net</a:t>
                      </a:r>
                    </a:p>
                  </a:txBody>
                  <a:tcPr>
                    <a:solidFill>
                      <a:srgbClr val="FFFFFF"/>
                    </a:solidFill>
                  </a:tcPr>
                </a:tc>
                <a:tc>
                  <a:txBody>
                    <a:bodyPr/>
                    <a:lstStyle/>
                    <a:p>
                      <a:pPr algn="ctr"/>
                      <a:r>
                        <a:rPr sz="800" b="1" i="0">
                          <a:solidFill>
                            <a:srgbClr val="0D0D0D"/>
                          </a:solidFill>
                          <a:latin typeface="Calibri"/>
                        </a:rPr>
                        <a:t>97,0</a:t>
                      </a:r>
                    </a:p>
                  </a:txBody>
                  <a:tcPr>
                    <a:solidFill>
                      <a:srgbClr val="FFFFFF"/>
                    </a:solidFill>
                  </a:tcPr>
                </a:tc>
                <a:tc>
                  <a:txBody>
                    <a:bodyPr/>
                    <a:lstStyle/>
                    <a:p>
                      <a:pPr algn="ctr"/>
                      <a:r>
                        <a:rPr sz="800" b="1" i="0">
                          <a:solidFill>
                            <a:srgbClr val="0D0D0D"/>
                          </a:solidFill>
                          <a:latin typeface="Calibri"/>
                        </a:rPr>
                        <a:t>93,7</a:t>
                      </a:r>
                    </a:p>
                  </a:txBody>
                  <a:tcPr>
                    <a:solidFill>
                      <a:srgbClr val="FFFFFF"/>
                    </a:solidFill>
                  </a:tcPr>
                </a:tc>
                <a:tc>
                  <a:txBody>
                    <a:bodyPr/>
                    <a:lstStyle/>
                    <a:p>
                      <a:pPr algn="ctr"/>
                      <a:r>
                        <a:rPr sz="800" b="1" i="0">
                          <a:solidFill>
                            <a:srgbClr val="1B3A6B"/>
                          </a:solidFill>
                          <a:latin typeface="Calibri"/>
                        </a:rPr>
                        <a:t>112,0</a:t>
                      </a:r>
                    </a:p>
                  </a:txBody>
                  <a:tcPr>
                    <a:solidFill>
                      <a:srgbClr val="DDE8F5"/>
                    </a:solidFill>
                  </a:tcPr>
                </a:tc>
                <a:tc>
                  <a:txBody>
                    <a:bodyPr/>
                    <a:lstStyle/>
                    <a:p>
                      <a:pPr algn="ctr"/>
                      <a:r>
                        <a:rPr sz="800" b="1" i="0">
                          <a:solidFill>
                            <a:srgbClr val="0D0D0D"/>
                          </a:solidFill>
                          <a:latin typeface="Calibri"/>
                        </a:rPr>
                        <a:t>115,0</a:t>
                      </a:r>
                    </a:p>
                  </a:txBody>
                  <a:tcPr>
                    <a:solidFill>
                      <a:srgbClr val="FFFFFF"/>
                    </a:solidFill>
                  </a:tcPr>
                </a:tc>
                <a:tc>
                  <a:txBody>
                    <a:bodyPr/>
                    <a:lstStyle/>
                    <a:p>
                      <a:pPr algn="ctr"/>
                      <a:r>
                        <a:rPr sz="800" b="1" i="0">
                          <a:solidFill>
                            <a:srgbClr val="0D0D0D"/>
                          </a:solidFill>
                          <a:latin typeface="Calibri"/>
                        </a:rPr>
                        <a:t>122,0</a:t>
                      </a:r>
                    </a:p>
                  </a:txBody>
                  <a:tcPr>
                    <a:solidFill>
                      <a:srgbClr val="FFFFFF"/>
                    </a:solidFill>
                  </a:tcPr>
                </a:tc>
              </a:tr>
              <a:tr h="220000">
                <a:tc>
                  <a:txBody>
                    <a:bodyPr/>
                    <a:lstStyle/>
                    <a:p>
                      <a:pPr algn="l"/>
                      <a:r>
                        <a:rPr sz="750" b="0" i="1">
                          <a:solidFill>
                            <a:srgbClr val="555555"/>
                          </a:solidFill>
                          <a:latin typeface="Calibri"/>
                        </a:rPr>
                        <a:t>Marge nette</a:t>
                      </a:r>
                    </a:p>
                  </a:txBody>
                  <a:tcPr>
                    <a:solidFill>
                      <a:srgbClr val="F7F8FA"/>
                    </a:solidFill>
                  </a:tcPr>
                </a:tc>
                <a:tc>
                  <a:txBody>
                    <a:bodyPr/>
                    <a:lstStyle/>
                    <a:p>
                      <a:pPr algn="ctr"/>
                      <a:r>
                        <a:rPr sz="750" b="0" i="1">
                          <a:solidFill>
                            <a:srgbClr val="555555"/>
                          </a:solidFill>
                          <a:latin typeface="Calibri"/>
                        </a:rPr>
                        <a:t>25,3 %</a:t>
                      </a:r>
                    </a:p>
                  </a:txBody>
                  <a:tcPr>
                    <a:solidFill>
                      <a:srgbClr val="F7F8FA"/>
                    </a:solidFill>
                  </a:tcPr>
                </a:tc>
                <a:tc>
                  <a:txBody>
                    <a:bodyPr/>
                    <a:lstStyle/>
                    <a:p>
                      <a:pPr algn="ctr"/>
                      <a:r>
                        <a:rPr sz="750" b="0" i="1">
                          <a:solidFill>
                            <a:srgbClr val="555555"/>
                          </a:solidFill>
                          <a:latin typeface="Calibri"/>
                        </a:rPr>
                        <a:t>24,0 %</a:t>
                      </a:r>
                    </a:p>
                  </a:txBody>
                  <a:tcPr>
                    <a:solidFill>
                      <a:srgbClr val="F7F8FA"/>
                    </a:solidFill>
                  </a:tcPr>
                </a:tc>
                <a:tc>
                  <a:txBody>
                    <a:bodyPr/>
                    <a:lstStyle/>
                    <a:p>
                      <a:pPr algn="ctr"/>
                      <a:r>
                        <a:rPr sz="750" b="0" i="1">
                          <a:solidFill>
                            <a:srgbClr val="555555"/>
                          </a:solidFill>
                          <a:latin typeface="Calibri"/>
                        </a:rPr>
                        <a:t>26,9 %</a:t>
                      </a:r>
                    </a:p>
                  </a:txBody>
                  <a:tcPr>
                    <a:solidFill>
                      <a:srgbClr val="DDE8F5"/>
                    </a:solidFill>
                  </a:tcPr>
                </a:tc>
                <a:tc>
                  <a:txBody>
                    <a:bodyPr/>
                    <a:lstStyle/>
                    <a:p>
                      <a:pPr algn="ctr"/>
                      <a:r>
                        <a:rPr sz="750" b="0" i="1">
                          <a:solidFill>
                            <a:srgbClr val="555555"/>
                          </a:solidFill>
                          <a:latin typeface="Calibri"/>
                        </a:rPr>
                        <a:t>26,1 %</a:t>
                      </a:r>
                    </a:p>
                  </a:txBody>
                  <a:tcPr>
                    <a:solidFill>
                      <a:srgbClr val="F7F8FA"/>
                    </a:solidFill>
                  </a:tcPr>
                </a:tc>
                <a:tc>
                  <a:txBody>
                    <a:bodyPr/>
                    <a:lstStyle/>
                    <a:p>
                      <a:pPr algn="ctr"/>
                      <a:r>
                        <a:rPr sz="750" b="0" i="1">
                          <a:solidFill>
                            <a:srgbClr val="555555"/>
                          </a:solidFill>
                          <a:latin typeface="Calibri"/>
                        </a:rPr>
                        <a:t>26,1 %</a:t>
                      </a:r>
                    </a:p>
                  </a:txBody>
                  <a:tcPr>
                    <a:solidFill>
                      <a:srgbClr val="F7F8FA"/>
                    </a:solidFill>
                  </a:tcPr>
                </a:tc>
              </a:tr>
            </a:tbl>
          </a:graphicData>
        </a:graphic>
      </p:graphicFrame>
      <p:sp>
        <p:nvSpPr>
          <p:cNvPr id="18" name="Rectangle 17"/>
          <p:cNvSpPr/>
          <p:nvPr/>
        </p:nvSpPr>
        <p:spPr>
          <a:xfrm>
            <a:off x="367200" y="3218400"/>
            <a:ext cx="8413200" cy="1224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67200" y="3218400"/>
            <a:ext cx="79200" cy="1224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75200" y="3247200"/>
            <a:ext cx="8298000" cy="1188000"/>
          </a:xfrm>
          <a:prstGeom prst="rect">
            <a:avLst/>
          </a:prstGeom>
          <a:noFill/>
        </p:spPr>
        <p:txBody>
          <a:bodyPr wrap="square">
            <a:spAutoFit/>
          </a:bodyPr>
          <a:lstStyle/>
          <a:p>
            <a:pPr algn="l"/>
            <a:r>
              <a:rPr sz="850" b="0" i="0">
                <a:solidFill>
                  <a:srgbClr val="555555"/>
                </a:solidFill>
                <a:latin typeface="Calibri"/>
              </a:rPr>
              <a:t>Le CA 2025 atteint 416,2 Mds USD (+6,4 % YoY) porté par l'iPhone (229 Mds USD) et les services (83 Mds USD). La marge brute progresse à 46,9 % (+360 bps vs 2024) grâce au mix logiciel haute marge et à l'optimisation des coûts de production. La trésorerie nette de 166 Mds USD (ND/EBITDA 0,4x) assure une capacité de rachat de 100 Mds USD en 2026.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FFFFFF"/>
                </a:solidFill>
                <a:latin typeface="Calibri"/>
              </a:rPr>
              <a:t>1</a:t>
            </a:r>
          </a:p>
        </p:txBody>
      </p:sp>
      <p:sp>
        <p:nvSpPr>
          <p:cNvPr id="7" name="Rectangle 6"/>
          <p:cNvSpPr/>
          <p:nvPr/>
        </p:nvSpPr>
        <p:spPr>
          <a:xfrm>
            <a:off x="6353999"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1B3A6B"/>
                </a:solidFill>
                <a:latin typeface="Calibri"/>
              </a:rPr>
              <a:t>2</a:t>
            </a:r>
          </a:p>
        </p:txBody>
      </p:sp>
      <p:sp>
        <p:nvSpPr>
          <p:cNvPr id="9" name="Rectangle 8"/>
          <p:cNvSpPr/>
          <p:nvPr/>
        </p:nvSpPr>
        <p:spPr>
          <a:xfrm>
            <a:off x="65844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FFFFFF"/>
                </a:solidFill>
                <a:latin typeface="Calibri"/>
              </a:rPr>
              <a:t>3</a:t>
            </a:r>
          </a:p>
        </p:txBody>
      </p:sp>
      <p:sp>
        <p:nvSpPr>
          <p:cNvPr id="11" name="Rectangle 10"/>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3" name="Rectangle 12"/>
          <p:cNvSpPr/>
          <p:nvPr/>
        </p:nvSpPr>
        <p:spPr>
          <a:xfrm>
            <a:off x="70416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FFFFFF"/>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Bilan &amp; Liquidité</a:t>
            </a:r>
          </a:p>
        </p:txBody>
      </p:sp>
      <p:sp>
        <p:nvSpPr>
          <p:cNvPr id="16" name="TextBox 15"/>
          <p:cNvSpPr txBox="1"/>
          <p:nvPr/>
        </p:nvSpPr>
        <p:spPr>
          <a:xfrm>
            <a:off x="367200" y="622800"/>
            <a:ext cx="8413200" cy="201600"/>
          </a:xfrm>
          <a:prstGeom prst="rect">
            <a:avLst/>
          </a:prstGeom>
          <a:noFill/>
        </p:spPr>
        <p:txBody>
          <a:bodyPr wrap="square">
            <a:spAutoFit/>
          </a:bodyPr>
          <a:lstStyle/>
          <a:p>
            <a:pPr algn="l"/>
            <a:r>
              <a:rPr sz="900" b="0" i="0">
                <a:solidFill>
                  <a:srgbClr val="2E5FA3"/>
                </a:solidFill>
                <a:latin typeface="Calibri"/>
              </a:rPr>
              <a:t>Structure financière  ·  USD millions  ·  LTM 2025</a:t>
            </a:r>
          </a:p>
        </p:txBody>
      </p:sp>
      <p:sp>
        <p:nvSpPr>
          <p:cNvPr id="17" name="Rectangle 16"/>
          <p:cNvSpPr/>
          <p:nvPr/>
        </p:nvSpPr>
        <p:spPr>
          <a:xfrm>
            <a:off x="367200" y="961200"/>
            <a:ext cx="2653200" cy="8244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67200" y="961200"/>
            <a:ext cx="46800" cy="82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1015200"/>
            <a:ext cx="2516400" cy="396000"/>
          </a:xfrm>
          <a:prstGeom prst="rect">
            <a:avLst/>
          </a:prstGeom>
          <a:noFill/>
        </p:spPr>
        <p:txBody>
          <a:bodyPr wrap="square">
            <a:spAutoFit/>
          </a:bodyPr>
          <a:lstStyle/>
          <a:p>
            <a:pPr algn="l"/>
            <a:r>
              <a:rPr sz="1900" b="1" i="0">
                <a:solidFill>
                  <a:srgbClr val="1B3A6B"/>
                </a:solidFill>
                <a:latin typeface="Calibri"/>
              </a:rPr>
              <a:t>35,9 Mds$</a:t>
            </a:r>
          </a:p>
        </p:txBody>
      </p:sp>
      <p:sp>
        <p:nvSpPr>
          <p:cNvPr id="20" name="TextBox 19"/>
          <p:cNvSpPr txBox="1"/>
          <p:nvPr/>
        </p:nvSpPr>
        <p:spPr>
          <a:xfrm>
            <a:off x="457200" y="1411200"/>
            <a:ext cx="2516400" cy="205199"/>
          </a:xfrm>
          <a:prstGeom prst="rect">
            <a:avLst/>
          </a:prstGeom>
          <a:noFill/>
        </p:spPr>
        <p:txBody>
          <a:bodyPr wrap="square">
            <a:spAutoFit/>
          </a:bodyPr>
          <a:lstStyle/>
          <a:p>
            <a:pPr algn="l"/>
            <a:r>
              <a:rPr sz="800" b="0" i="0">
                <a:solidFill>
                  <a:srgbClr val="555555"/>
                </a:solidFill>
                <a:latin typeface="Calibri"/>
              </a:rPr>
              <a:t>Cash &amp; equivalents</a:t>
            </a:r>
          </a:p>
        </p:txBody>
      </p:sp>
      <p:sp>
        <p:nvSpPr>
          <p:cNvPr id="21" name="Rectangle 20"/>
          <p:cNvSpPr/>
          <p:nvPr/>
        </p:nvSpPr>
        <p:spPr>
          <a:xfrm>
            <a:off x="367200" y="1900800"/>
            <a:ext cx="2653200" cy="8244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67200" y="1900800"/>
            <a:ext cx="46800" cy="82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7200" y="1954800"/>
            <a:ext cx="2516400" cy="396000"/>
          </a:xfrm>
          <a:prstGeom prst="rect">
            <a:avLst/>
          </a:prstGeom>
          <a:noFill/>
        </p:spPr>
        <p:txBody>
          <a:bodyPr wrap="square">
            <a:spAutoFit/>
          </a:bodyPr>
          <a:lstStyle/>
          <a:p>
            <a:pPr algn="l"/>
            <a:r>
              <a:rPr sz="1900" b="1" i="0">
                <a:solidFill>
                  <a:srgbClr val="1B3A6B"/>
                </a:solidFill>
                <a:latin typeface="Calibri"/>
              </a:rPr>
              <a:t>78,3 Mds$</a:t>
            </a:r>
          </a:p>
        </p:txBody>
      </p:sp>
      <p:sp>
        <p:nvSpPr>
          <p:cNvPr id="24" name="TextBox 23"/>
          <p:cNvSpPr txBox="1"/>
          <p:nvPr/>
        </p:nvSpPr>
        <p:spPr>
          <a:xfrm>
            <a:off x="457200" y="2350800"/>
            <a:ext cx="2516400" cy="205199"/>
          </a:xfrm>
          <a:prstGeom prst="rect">
            <a:avLst/>
          </a:prstGeom>
          <a:noFill/>
        </p:spPr>
        <p:txBody>
          <a:bodyPr wrap="square">
            <a:spAutoFit/>
          </a:bodyPr>
          <a:lstStyle/>
          <a:p>
            <a:pPr algn="l"/>
            <a:r>
              <a:rPr sz="800" b="0" i="0">
                <a:solidFill>
                  <a:srgbClr val="555555"/>
                </a:solidFill>
                <a:latin typeface="Calibri"/>
              </a:rPr>
              <a:t>Dette long terme</a:t>
            </a:r>
          </a:p>
        </p:txBody>
      </p:sp>
      <p:sp>
        <p:nvSpPr>
          <p:cNvPr id="25" name="Rectangle 24"/>
          <p:cNvSpPr/>
          <p:nvPr/>
        </p:nvSpPr>
        <p:spPr>
          <a:xfrm>
            <a:off x="367200" y="2844000"/>
            <a:ext cx="2653200" cy="824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67200" y="2844000"/>
            <a:ext cx="46800" cy="824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7200" y="2898000"/>
            <a:ext cx="2516400" cy="396000"/>
          </a:xfrm>
          <a:prstGeom prst="rect">
            <a:avLst/>
          </a:prstGeom>
          <a:noFill/>
        </p:spPr>
        <p:txBody>
          <a:bodyPr wrap="square">
            <a:spAutoFit/>
          </a:bodyPr>
          <a:lstStyle/>
          <a:p>
            <a:pPr algn="l"/>
            <a:r>
              <a:rPr sz="1900" b="1" i="0">
                <a:solidFill>
                  <a:srgbClr val="FFFFFF"/>
                </a:solidFill>
                <a:latin typeface="Calibri"/>
              </a:rPr>
              <a:t>62,7 Mds$</a:t>
            </a:r>
          </a:p>
        </p:txBody>
      </p:sp>
      <p:sp>
        <p:nvSpPr>
          <p:cNvPr id="28" name="TextBox 27"/>
          <p:cNvSpPr txBox="1"/>
          <p:nvPr/>
        </p:nvSpPr>
        <p:spPr>
          <a:xfrm>
            <a:off x="457200" y="3294000"/>
            <a:ext cx="2516400" cy="205199"/>
          </a:xfrm>
          <a:prstGeom prst="rect">
            <a:avLst/>
          </a:prstGeom>
          <a:noFill/>
        </p:spPr>
        <p:txBody>
          <a:bodyPr wrap="square">
            <a:spAutoFit/>
          </a:bodyPr>
          <a:lstStyle/>
          <a:p>
            <a:pPr algn="l"/>
            <a:r>
              <a:rPr sz="800" b="0" i="0">
                <a:solidFill>
                  <a:srgbClr val="FFFFFF"/>
                </a:solidFill>
                <a:latin typeface="Calibri"/>
              </a:rPr>
              <a:t>Dette nette</a:t>
            </a:r>
          </a:p>
        </p:txBody>
      </p:sp>
      <p:sp>
        <p:nvSpPr>
          <p:cNvPr id="29" name="TextBox 28"/>
          <p:cNvSpPr txBox="1"/>
          <p:nvPr/>
        </p:nvSpPr>
        <p:spPr>
          <a:xfrm>
            <a:off x="3384000" y="842400"/>
            <a:ext cx="5396400" cy="165600"/>
          </a:xfrm>
          <a:prstGeom prst="rect">
            <a:avLst/>
          </a:prstGeom>
          <a:noFill/>
        </p:spPr>
        <p:txBody>
          <a:bodyPr wrap="square">
            <a:spAutoFit/>
          </a:bodyPr>
          <a:lstStyle/>
          <a:p>
            <a:pPr algn="l"/>
            <a:r>
              <a:rPr sz="900" b="1" i="0">
                <a:solidFill>
                  <a:srgbClr val="1B3A6B"/>
                </a:solidFill>
                <a:latin typeface="Calibri"/>
              </a:rPr>
              <a:t>Ratios de solvabilité &amp; liquidité</a:t>
            </a:r>
          </a:p>
        </p:txBody>
      </p:sp>
      <p:graphicFrame>
        <p:nvGraphicFramePr>
          <p:cNvPr id="30" name="Table 29"/>
          <p:cNvGraphicFramePr>
            <a:graphicFrameLocks noGrp="1"/>
          </p:cNvGraphicFramePr>
          <p:nvPr/>
        </p:nvGraphicFramePr>
        <p:xfrm>
          <a:off x="3384000" y="1007999"/>
          <a:ext cx="5396400" cy="1800000"/>
        </p:xfrm>
        <a:graphic>
          <a:graphicData uri="http://schemas.openxmlformats.org/drawingml/2006/table">
            <a:tbl>
              <a:tblPr firstRow="1" bandRow="1">
                <a:tableStyleId>{5C22544A-7EE6-4342-B048-85BDC9FD1C3A}</a:tableStyleId>
              </a:tblPr>
              <a:tblGrid>
                <a:gridCol w="2374416"/>
                <a:gridCol w="1133244"/>
                <a:gridCol w="1133244"/>
                <a:gridCol w="755496"/>
              </a:tblGrid>
              <a:tr h="225000">
                <a:tc>
                  <a:txBody>
                    <a:bodyPr/>
                    <a:lstStyle/>
                    <a:p>
                      <a:pPr algn="l"/>
                      <a:r>
                        <a:rPr sz="800" b="1" i="0">
                          <a:solidFill>
                            <a:srgbClr val="FFFFFF"/>
                          </a:solidFill>
                          <a:latin typeface="Calibri"/>
                        </a:rPr>
                        <a:t>Ratio</a:t>
                      </a:r>
                    </a:p>
                  </a:txBody>
                  <a:tcPr>
                    <a:solidFill>
                      <a:srgbClr val="1B3A6B"/>
                    </a:solidFill>
                  </a:tcPr>
                </a:tc>
                <a:tc>
                  <a:txBody>
                    <a:bodyPr/>
                    <a:lstStyle/>
                    <a:p>
                      <a:pPr algn="ctr"/>
                      <a:r>
                        <a:rPr sz="800" b="1" i="0">
                          <a:solidFill>
                            <a:srgbClr val="FFFFFF"/>
                          </a:solidFill>
                          <a:latin typeface="Calibri"/>
                        </a:rPr>
                        <a:t>Valeur</a:t>
                      </a:r>
                    </a:p>
                  </a:txBody>
                  <a:tcPr>
                    <a:solidFill>
                      <a:srgbClr val="1B3A6B"/>
                    </a:solidFill>
                  </a:tcPr>
                </a:tc>
                <a:tc>
                  <a:txBody>
                    <a:bodyPr/>
                    <a:lstStyle/>
                    <a:p>
                      <a:pPr algn="ctr"/>
                      <a:r>
                        <a:rPr sz="800" b="1" i="0">
                          <a:solidFill>
                            <a:srgbClr val="FFFFFF"/>
                          </a:solidFill>
                          <a:latin typeface="Calibri"/>
                        </a:rPr>
                        <a:t>Référence</a:t>
                      </a:r>
                    </a:p>
                  </a:txBody>
                  <a:tcPr>
                    <a:solidFill>
                      <a:srgbClr val="1B3A6B"/>
                    </a:solidFill>
                  </a:tcPr>
                </a:tc>
                <a:tc>
                  <a:txBody>
                    <a:bodyPr/>
                    <a:lstStyle/>
                    <a:p>
                      <a:pPr algn="ctr"/>
                      <a:r>
                        <a:rPr sz="800" b="1" i="0">
                          <a:solidFill>
                            <a:srgbClr val="FFFFFF"/>
                          </a:solidFill>
                          <a:latin typeface="Calibri"/>
                        </a:rPr>
                        <a:t>Signal</a:t>
                      </a:r>
                    </a:p>
                  </a:txBody>
                  <a:tcPr>
                    <a:solidFill>
                      <a:srgbClr val="1B3A6B"/>
                    </a:solidFill>
                  </a:tcPr>
                </a:tc>
              </a:tr>
              <a:tr h="225000">
                <a:tc>
                  <a:txBody>
                    <a:bodyPr/>
                    <a:lstStyle/>
                    <a:p>
                      <a:pPr algn="l"/>
                      <a:r>
                        <a:rPr sz="800" b="1" i="0">
                          <a:solidFill>
                            <a:srgbClr val="0D0D0D"/>
                          </a:solidFill>
                          <a:latin typeface="Calibri"/>
                        </a:rPr>
                        <a:t>Ratio liquidité courante</a:t>
                      </a:r>
                    </a:p>
                  </a:txBody>
                  <a:tcPr>
                    <a:solidFill>
                      <a:srgbClr val="FFFFFF"/>
                    </a:solidFill>
                  </a:tcPr>
                </a:tc>
                <a:tc>
                  <a:txBody>
                    <a:bodyPr/>
                    <a:lstStyle/>
                    <a:p>
                      <a:pPr algn="ctr"/>
                      <a:r>
                        <a:rPr sz="800" b="0" i="0">
                          <a:solidFill>
                            <a:srgbClr val="0D0D0D"/>
                          </a:solidFill>
                          <a:latin typeface="Calibri"/>
                        </a:rPr>
                        <a:t>0,65</a:t>
                      </a:r>
                    </a:p>
                  </a:txBody>
                  <a:tcPr>
                    <a:solidFill>
                      <a:srgbClr val="FFFFFF"/>
                    </a:solidFill>
                  </a:tcPr>
                </a:tc>
                <a:tc>
                  <a:txBody>
                    <a:bodyPr/>
                    <a:lstStyle/>
                    <a:p>
                      <a:pPr algn="ctr"/>
                      <a:r>
                        <a:rPr sz="800" b="0" i="0">
                          <a:solidFill>
                            <a:srgbClr val="0D0D0D"/>
                          </a:solidFill>
                          <a:latin typeface="Calibri"/>
                        </a:rPr>
                        <a:t>&gt; 1,5</a:t>
                      </a:r>
                    </a:p>
                  </a:txBody>
                  <a:tcPr>
                    <a:solidFill>
                      <a:srgbClr val="FFFFFF"/>
                    </a:solidFill>
                  </a:tcPr>
                </a:tc>
                <a:tc>
                  <a:txBody>
                    <a:bodyPr/>
                    <a:lstStyle/>
                    <a:p>
                      <a:pPr algn="ctr"/>
                      <a:r>
                        <a:rPr sz="800" b="0" i="0">
                          <a:solidFill>
                            <a:srgbClr val="0D0D0D"/>
                          </a:solidFill>
                          <a:latin typeface="Calibri"/>
                        </a:rPr>
                        <a:t>❌</a:t>
                      </a:r>
                    </a:p>
                  </a:txBody>
                  <a:tcPr>
                    <a:solidFill>
                      <a:srgbClr val="FFFFFF"/>
                    </a:solidFill>
                  </a:tcPr>
                </a:tc>
              </a:tr>
              <a:tr h="225000">
                <a:tc>
                  <a:txBody>
                    <a:bodyPr/>
                    <a:lstStyle/>
                    <a:p>
                      <a:pPr algn="l"/>
                      <a:r>
                        <a:rPr sz="800" b="1" i="0">
                          <a:solidFill>
                            <a:srgbClr val="0D0D0D"/>
                          </a:solidFill>
                          <a:latin typeface="Calibri"/>
                        </a:rPr>
                        <a:t>Ratio rapide (quick)</a:t>
                      </a:r>
                    </a:p>
                  </a:txBody>
                  <a:tcPr>
                    <a:solidFill>
                      <a:srgbClr val="F7F8FA"/>
                    </a:solidFill>
                  </a:tcPr>
                </a:tc>
                <a:tc>
                  <a:txBody>
                    <a:bodyPr/>
                    <a:lstStyle/>
                    <a:p>
                      <a:pPr algn="ctr"/>
                      <a:r>
                        <a:rPr sz="800" b="0" i="0">
                          <a:solidFill>
                            <a:srgbClr val="0D0D0D"/>
                          </a:solidFill>
                          <a:latin typeface="Calibri"/>
                        </a:rPr>
                        <a:t>0,61</a:t>
                      </a:r>
                    </a:p>
                  </a:txBody>
                  <a:tcPr>
                    <a:solidFill>
                      <a:srgbClr val="F7F8FA"/>
                    </a:solidFill>
                  </a:tcPr>
                </a:tc>
                <a:tc>
                  <a:txBody>
                    <a:bodyPr/>
                    <a:lstStyle/>
                    <a:p>
                      <a:pPr algn="ctr"/>
                      <a:r>
                        <a:rPr sz="800" b="0" i="0">
                          <a:solidFill>
                            <a:srgbClr val="0D0D0D"/>
                          </a:solidFill>
                          <a:latin typeface="Calibri"/>
                        </a:rPr>
                        <a:t>&gt; 1,0</a:t>
                      </a:r>
                    </a:p>
                  </a:txBody>
                  <a:tcPr>
                    <a:solidFill>
                      <a:srgbClr val="F7F8FA"/>
                    </a:solidFill>
                  </a:tcPr>
                </a:tc>
                <a:tc>
                  <a:txBody>
                    <a:bodyPr/>
                    <a:lstStyle/>
                    <a:p>
                      <a:pPr algn="ctr"/>
                      <a:r>
                        <a:rPr sz="800" b="0" i="0">
                          <a:solidFill>
                            <a:srgbClr val="0D0D0D"/>
                          </a:solidFill>
                          <a:latin typeface="Calibri"/>
                        </a:rPr>
                        <a:t>❌</a:t>
                      </a:r>
                    </a:p>
                  </a:txBody>
                  <a:tcPr>
                    <a:solidFill>
                      <a:srgbClr val="F7F8FA"/>
                    </a:solidFill>
                  </a:tcPr>
                </a:tc>
              </a:tr>
              <a:tr h="225000">
                <a:tc>
                  <a:txBody>
                    <a:bodyPr/>
                    <a:lstStyle/>
                    <a:p>
                      <a:pPr algn="l"/>
                      <a:r>
                        <a:rPr sz="800" b="1" i="0">
                          <a:solidFill>
                            <a:srgbClr val="0D0D0D"/>
                          </a:solidFill>
                          <a:latin typeface="Calibri"/>
                        </a:rPr>
                        <a:t>D/E</a:t>
                      </a:r>
                    </a:p>
                  </a:txBody>
                  <a:tcPr>
                    <a:solidFill>
                      <a:srgbClr val="FFFFFF"/>
                    </a:solidFill>
                  </a:tcPr>
                </a:tc>
                <a:tc>
                  <a:txBody>
                    <a:bodyPr/>
                    <a:lstStyle/>
                    <a:p>
                      <a:pPr algn="ctr"/>
                      <a:r>
                        <a:rPr sz="800" b="0" i="0">
                          <a:solidFill>
                            <a:srgbClr val="0D0D0D"/>
                          </a:solidFill>
                          <a:latin typeface="Calibri"/>
                        </a:rPr>
                        <a:t>1,3x</a:t>
                      </a:r>
                    </a:p>
                  </a:txBody>
                  <a:tcPr>
                    <a:solidFill>
                      <a:srgbClr val="FFFFFF"/>
                    </a:solidFill>
                  </a:tcPr>
                </a:tc>
                <a:tc>
                  <a:txBody>
                    <a:bodyPr/>
                    <a:lstStyle/>
                    <a:p>
                      <a:pPr algn="ctr"/>
                      <a:r>
                        <a:rPr sz="800" b="0" i="0">
                          <a:solidFill>
                            <a:srgbClr val="0D0D0D"/>
                          </a:solidFill>
                          <a:latin typeface="Calibri"/>
                        </a:rPr>
                        <a:t>&lt; 2,0x</a:t>
                      </a:r>
                    </a:p>
                  </a:txBody>
                  <a:tcPr>
                    <a:solidFill>
                      <a:srgbClr val="FFFFFF"/>
                    </a:solidFill>
                  </a:tcPr>
                </a:tc>
                <a:tc>
                  <a:txBody>
                    <a:bodyPr/>
                    <a:lstStyle/>
                    <a:p>
                      <a:pPr algn="ctr"/>
                      <a:r>
                        <a:rPr sz="800" b="0" i="0">
                          <a:solidFill>
                            <a:srgbClr val="0D0D0D"/>
                          </a:solidFill>
                          <a:latin typeface="Calibri"/>
                        </a:rPr>
                        <a:t>✅</a:t>
                      </a:r>
                    </a:p>
                  </a:txBody>
                  <a:tcPr>
                    <a:solidFill>
                      <a:srgbClr val="FFFFFF"/>
                    </a:solidFill>
                  </a:tcPr>
                </a:tc>
              </a:tr>
              <a:tr h="225000">
                <a:tc>
                  <a:txBody>
                    <a:bodyPr/>
                    <a:lstStyle/>
                    <a:p>
                      <a:pPr algn="l"/>
                      <a:r>
                        <a:rPr sz="800" b="1" i="0">
                          <a:solidFill>
                            <a:srgbClr val="0D0D0D"/>
                          </a:solidFill>
                          <a:latin typeface="Calibri"/>
                        </a:rPr>
                        <a:t>Couverture d'intérêts</a:t>
                      </a:r>
                    </a:p>
                  </a:txBody>
                  <a:tcPr>
                    <a:solidFill>
                      <a:srgbClr val="F7F8FA"/>
                    </a:solidFill>
                  </a:tcPr>
                </a:tc>
                <a:tc>
                  <a:txBody>
                    <a:bodyPr/>
                    <a:lstStyle/>
                    <a:p>
                      <a:pPr algn="ctr"/>
                      <a:r>
                        <a:rPr sz="800" b="0" i="0">
                          <a:solidFill>
                            <a:srgbClr val="0D0D0D"/>
                          </a:solidFill>
                          <a:latin typeface="Calibri"/>
                        </a:rPr>
                        <a:t>29,1x</a:t>
                      </a:r>
                    </a:p>
                  </a:txBody>
                  <a:tcPr>
                    <a:solidFill>
                      <a:srgbClr val="F7F8FA"/>
                    </a:solidFill>
                  </a:tcPr>
                </a:tc>
                <a:tc>
                  <a:txBody>
                    <a:bodyPr/>
                    <a:lstStyle/>
                    <a:p>
                      <a:pPr algn="ctr"/>
                      <a:r>
                        <a:rPr sz="800" b="0" i="0">
                          <a:solidFill>
                            <a:srgbClr val="0D0D0D"/>
                          </a:solidFill>
                          <a:latin typeface="Calibri"/>
                        </a:rPr>
                        <a:t>&gt; 3,0x</a:t>
                      </a:r>
                    </a:p>
                  </a:txBody>
                  <a:tcPr>
                    <a:solidFill>
                      <a:srgbClr val="F7F8FA"/>
                    </a:solidFill>
                  </a:tcPr>
                </a:tc>
                <a:tc>
                  <a:txBody>
                    <a:bodyPr/>
                    <a:lstStyle/>
                    <a:p>
                      <a:pPr algn="ctr"/>
                      <a:r>
                        <a:rPr sz="800" b="0" i="0">
                          <a:solidFill>
                            <a:srgbClr val="0D0D0D"/>
                          </a:solidFill>
                          <a:latin typeface="Calibri"/>
                        </a:rPr>
                        <a:t>✅</a:t>
                      </a:r>
                    </a:p>
                  </a:txBody>
                  <a:tcPr>
                    <a:solidFill>
                      <a:srgbClr val="F7F8FA"/>
                    </a:solidFill>
                  </a:tcPr>
                </a:tc>
              </a:tr>
              <a:tr h="225000">
                <a:tc>
                  <a:txBody>
                    <a:bodyPr/>
                    <a:lstStyle/>
                    <a:p>
                      <a:pPr algn="l"/>
                      <a:r>
                        <a:rPr sz="800" b="1" i="0">
                          <a:solidFill>
                            <a:srgbClr val="0D0D0D"/>
                          </a:solidFill>
                          <a:latin typeface="Calibri"/>
                        </a:rPr>
                        <a:t>Dette nette / EBITDA</a:t>
                      </a:r>
                    </a:p>
                  </a:txBody>
                  <a:tcPr>
                    <a:solidFill>
                      <a:srgbClr val="FFFFFF"/>
                    </a:solidFill>
                  </a:tcPr>
                </a:tc>
                <a:tc>
                  <a:txBody>
                    <a:bodyPr/>
                    <a:lstStyle/>
                    <a:p>
                      <a:pPr algn="ctr"/>
                      <a:r>
                        <a:rPr sz="800" b="0" i="0">
                          <a:solidFill>
                            <a:srgbClr val="0D0D0D"/>
                          </a:solidFill>
                          <a:latin typeface="Calibri"/>
                        </a:rPr>
                        <a:t>0,4x</a:t>
                      </a:r>
                    </a:p>
                  </a:txBody>
                  <a:tcPr>
                    <a:solidFill>
                      <a:srgbClr val="FFFFFF"/>
                    </a:solidFill>
                  </a:tcPr>
                </a:tc>
                <a:tc>
                  <a:txBody>
                    <a:bodyPr/>
                    <a:lstStyle/>
                    <a:p>
                      <a:pPr algn="ctr"/>
                      <a:r>
                        <a:rPr sz="800" b="0" i="0">
                          <a:solidFill>
                            <a:srgbClr val="0D0D0D"/>
                          </a:solidFill>
                          <a:latin typeface="Calibri"/>
                        </a:rPr>
                        <a:t>&lt; 2,0x</a:t>
                      </a:r>
                    </a:p>
                  </a:txBody>
                  <a:tcPr>
                    <a:solidFill>
                      <a:srgbClr val="FFFFFF"/>
                    </a:solidFill>
                  </a:tcPr>
                </a:tc>
                <a:tc>
                  <a:txBody>
                    <a:bodyPr/>
                    <a:lstStyle/>
                    <a:p>
                      <a:pPr algn="ctr"/>
                      <a:r>
                        <a:rPr sz="800" b="0" i="0">
                          <a:solidFill>
                            <a:srgbClr val="0D0D0D"/>
                          </a:solidFill>
                          <a:latin typeface="Calibri"/>
                        </a:rPr>
                        <a:t>✅</a:t>
                      </a:r>
                    </a:p>
                  </a:txBody>
                  <a:tcPr>
                    <a:solidFill>
                      <a:srgbClr val="FFFFFF"/>
                    </a:solidFill>
                  </a:tcPr>
                </a:tc>
              </a:tr>
              <a:tr h="225000">
                <a:tc>
                  <a:txBody>
                    <a:bodyPr/>
                    <a:lstStyle/>
                    <a:p>
                      <a:pPr algn="l"/>
                      <a:r>
                        <a:rPr sz="800" b="1" i="0">
                          <a:solidFill>
                            <a:srgbClr val="0D0D0D"/>
                          </a:solidFill>
                          <a:latin typeface="Calibri"/>
                        </a:rPr>
                        <a:t>Altman Z</a:t>
                      </a:r>
                    </a:p>
                  </a:txBody>
                  <a:tcPr>
                    <a:solidFill>
                      <a:srgbClr val="F7F8FA"/>
                    </a:solidFill>
                  </a:tcPr>
                </a:tc>
                <a:tc>
                  <a:txBody>
                    <a:bodyPr/>
                    <a:lstStyle/>
                    <a:p>
                      <a:pPr algn="ctr"/>
                      <a:r>
                        <a:rPr sz="800" b="0" i="0">
                          <a:solidFill>
                            <a:srgbClr val="0D0D0D"/>
                          </a:solidFill>
                          <a:latin typeface="Calibri"/>
                        </a:rPr>
                        <a:t>1,69</a:t>
                      </a:r>
                    </a:p>
                  </a:txBody>
                  <a:tcPr>
                    <a:solidFill>
                      <a:srgbClr val="F7F8FA"/>
                    </a:solidFill>
                  </a:tcPr>
                </a:tc>
                <a:tc>
                  <a:txBody>
                    <a:bodyPr/>
                    <a:lstStyle/>
                    <a:p>
                      <a:pPr algn="ctr"/>
                      <a:r>
                        <a:rPr sz="800" b="0" i="0">
                          <a:solidFill>
                            <a:srgbClr val="0D0D0D"/>
                          </a:solidFill>
                          <a:latin typeface="Calibri"/>
                        </a:rPr>
                        <a:t>&gt; 2,99</a:t>
                      </a:r>
                    </a:p>
                  </a:txBody>
                  <a:tcPr>
                    <a:solidFill>
                      <a:srgbClr val="F7F8FA"/>
                    </a:solidFill>
                  </a:tcPr>
                </a:tc>
                <a:tc>
                  <a:txBody>
                    <a:bodyPr/>
                    <a:lstStyle/>
                    <a:p>
                      <a:pPr algn="ctr"/>
                      <a:r>
                        <a:rPr sz="800" b="0" i="0">
                          <a:solidFill>
                            <a:srgbClr val="0D0D0D"/>
                          </a:solidFill>
                          <a:latin typeface="Calibri"/>
                        </a:rPr>
                        <a:t>❌</a:t>
                      </a:r>
                    </a:p>
                  </a:txBody>
                  <a:tcPr>
                    <a:solidFill>
                      <a:srgbClr val="F7F8FA"/>
                    </a:solidFill>
                  </a:tcPr>
                </a:tc>
              </a:tr>
              <a:tr h="225000">
                <a:tc>
                  <a:txBody>
                    <a:bodyPr/>
                    <a:lstStyle/>
                    <a:p>
                      <a:pPr algn="l"/>
                      <a:r>
                        <a:rPr sz="800" b="1" i="0">
                          <a:solidFill>
                            <a:srgbClr val="0D0D0D"/>
                          </a:solidFill>
                          <a:latin typeface="Calibri"/>
                        </a:rPr>
                        <a:t>Beneish M</a:t>
                      </a:r>
                    </a:p>
                  </a:txBody>
                  <a:tcPr>
                    <a:solidFill>
                      <a:srgbClr val="FFFFFF"/>
                    </a:solidFill>
                  </a:tcPr>
                </a:tc>
                <a:tc>
                  <a:txBody>
                    <a:bodyPr/>
                    <a:lstStyle/>
                    <a:p>
                      <a:pPr algn="ctr"/>
                      <a:r>
                        <a:rPr sz="800" b="0" i="0">
                          <a:solidFill>
                            <a:srgbClr val="0D0D0D"/>
                          </a:solidFill>
                          <a:latin typeface="Calibri"/>
                        </a:rPr>
                        <a:t>-2,25</a:t>
                      </a:r>
                    </a:p>
                  </a:txBody>
                  <a:tcPr>
                    <a:solidFill>
                      <a:srgbClr val="FFFFFF"/>
                    </a:solidFill>
                  </a:tcPr>
                </a:tc>
                <a:tc>
                  <a:txBody>
                    <a:bodyPr/>
                    <a:lstStyle/>
                    <a:p>
                      <a:pPr algn="ctr"/>
                      <a:r>
                        <a:rPr sz="800" b="0" i="0">
                          <a:solidFill>
                            <a:srgbClr val="0D0D0D"/>
                          </a:solidFill>
                          <a:latin typeface="Calibri"/>
                        </a:rPr>
                        <a:t>&lt; -2,22</a:t>
                      </a:r>
                    </a:p>
                  </a:txBody>
                  <a:tcPr>
                    <a:solidFill>
                      <a:srgbClr val="FFFFFF"/>
                    </a:solidFill>
                  </a:tcPr>
                </a:tc>
                <a:tc>
                  <a:txBody>
                    <a:bodyPr/>
                    <a:lstStyle/>
                    <a:p>
                      <a:pPr algn="ctr"/>
                      <a:r>
                        <a:rPr sz="800" b="0" i="0">
                          <a:solidFill>
                            <a:srgbClr val="0D0D0D"/>
                          </a:solidFill>
                          <a:latin typeface="Calibri"/>
                        </a:rPr>
                        <a:t>✅</a:t>
                      </a:r>
                    </a:p>
                  </a:txBody>
                  <a:tcPr>
                    <a:solidFill>
                      <a:srgbClr val="FFFFFF"/>
                    </a:solidFill>
                  </a:tcPr>
                </a:tc>
              </a:tr>
            </a:tbl>
          </a:graphicData>
        </a:graphic>
      </p:graphicFrame>
      <p:sp>
        <p:nvSpPr>
          <p:cNvPr id="31" name="Rectangle 30"/>
          <p:cNvSpPr/>
          <p:nvPr/>
        </p:nvSpPr>
        <p:spPr>
          <a:xfrm>
            <a:off x="367200" y="4068000"/>
            <a:ext cx="8413200" cy="46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67200" y="4068000"/>
            <a:ext cx="79200" cy="468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75200" y="4096800"/>
            <a:ext cx="8298000" cy="432000"/>
          </a:xfrm>
          <a:prstGeom prst="rect">
            <a:avLst/>
          </a:prstGeom>
          <a:noFill/>
        </p:spPr>
        <p:txBody>
          <a:bodyPr wrap="square">
            <a:spAutoFit/>
          </a:bodyPr>
          <a:lstStyle/>
          <a:p>
            <a:pPr algn="l"/>
            <a:r>
              <a:rPr sz="850" b="0" i="0">
                <a:solidFill>
                  <a:srgbClr val="555555"/>
                </a:solidFill>
                <a:latin typeface="Calibri"/>
              </a:rPr>
              <a:t>Le CA 2025 atteint 416,2 Mds USD (+6,4 % YoY) porté par l'iPhone (229 Mds USD) et les services (83 Mds USD). La marge brute progresse à 46,9 % (+360 bps vs 2024) grâce au mix logiciel haute marge et à l'optimisation des coûts de production. La trésorerie nette de 166 Mds USD (ND/EBITDA 0,4x) assure une capacité de rachat de 100 Mds USD en 2026.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FFFFFF"/>
                </a:solidFill>
                <a:latin typeface="Calibri"/>
              </a:rPr>
              <a:t>1</a:t>
            </a:r>
          </a:p>
        </p:txBody>
      </p:sp>
      <p:sp>
        <p:nvSpPr>
          <p:cNvPr id="7" name="Rectangle 6"/>
          <p:cNvSpPr/>
          <p:nvPr/>
        </p:nvSpPr>
        <p:spPr>
          <a:xfrm>
            <a:off x="6353999"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1B3A6B"/>
                </a:solidFill>
                <a:latin typeface="Calibri"/>
              </a:rPr>
              <a:t>2</a:t>
            </a:r>
          </a:p>
        </p:txBody>
      </p:sp>
      <p:sp>
        <p:nvSpPr>
          <p:cNvPr id="9" name="Rectangle 8"/>
          <p:cNvSpPr/>
          <p:nvPr/>
        </p:nvSpPr>
        <p:spPr>
          <a:xfrm>
            <a:off x="65844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FFFFFF"/>
                </a:solidFill>
                <a:latin typeface="Calibri"/>
              </a:rPr>
              <a:t>3</a:t>
            </a:r>
          </a:p>
        </p:txBody>
      </p:sp>
      <p:sp>
        <p:nvSpPr>
          <p:cNvPr id="11" name="Rectangle 10"/>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3" name="Rectangle 12"/>
          <p:cNvSpPr/>
          <p:nvPr/>
        </p:nvSpPr>
        <p:spPr>
          <a:xfrm>
            <a:off x="70416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FFFFFF"/>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Ratios Clés vs. Benchmark Sectoriel</a:t>
            </a:r>
          </a:p>
        </p:txBody>
      </p:sp>
      <p:sp>
        <p:nvSpPr>
          <p:cNvPr id="16" name="TextBox 15"/>
          <p:cNvSpPr txBox="1"/>
          <p:nvPr/>
        </p:nvSpPr>
        <p:spPr>
          <a:xfrm>
            <a:off x="367200" y="622800"/>
            <a:ext cx="8413200" cy="201600"/>
          </a:xfrm>
          <a:prstGeom prst="rect">
            <a:avLst/>
          </a:prstGeom>
          <a:noFill/>
        </p:spPr>
        <p:txBody>
          <a:bodyPr wrap="square">
            <a:spAutoFit/>
          </a:bodyPr>
          <a:lstStyle/>
          <a:p>
            <a:pPr algn="l"/>
            <a:r>
              <a:rPr sz="900" b="0" i="0">
                <a:solidFill>
                  <a:srgbClr val="2E5FA3"/>
                </a:solidFill>
                <a:latin typeface="Calibri"/>
              </a:rPr>
              <a:t>Positionnement relatif  ·  LTM 2025</a:t>
            </a:r>
          </a:p>
        </p:txBody>
      </p:sp>
      <p:graphicFrame>
        <p:nvGraphicFramePr>
          <p:cNvPr id="17" name="Table 16"/>
          <p:cNvGraphicFramePr>
            <a:graphicFrameLocks noGrp="1"/>
          </p:cNvGraphicFramePr>
          <p:nvPr/>
        </p:nvGraphicFramePr>
        <p:xfrm>
          <a:off x="367200" y="914400"/>
          <a:ext cx="8413200" cy="2559600"/>
        </p:xfrm>
        <a:graphic>
          <a:graphicData uri="http://schemas.openxmlformats.org/drawingml/2006/table">
            <a:tbl>
              <a:tblPr firstRow="1" bandRow="1">
                <a:tableStyleId>{5C22544A-7EE6-4342-B048-85BDC9FD1C3A}</a:tableStyleId>
              </a:tblPr>
              <a:tblGrid>
                <a:gridCol w="2103300"/>
                <a:gridCol w="2103300"/>
                <a:gridCol w="2103300"/>
                <a:gridCol w="2103300"/>
              </a:tblGrid>
              <a:tr h="232690">
                <a:tc>
                  <a:txBody>
                    <a:bodyPr/>
                    <a:lstStyle/>
                    <a:p>
                      <a:pPr algn="l"/>
                      <a:r>
                        <a:rPr sz="800" b="1" i="0">
                          <a:solidFill>
                            <a:srgbClr val="FFFFFF"/>
                          </a:solidFill>
                          <a:latin typeface="Calibri"/>
                        </a:rPr>
                        <a:t>Indicateur</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Valeur</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Benchmark</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Lecture</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r>
              <a:tr h="232690">
                <a:tc>
                  <a:txBody>
                    <a:bodyPr/>
                    <a:lstStyle/>
                    <a:p>
                      <a:pPr algn="l"/>
                      <a:r>
                        <a:rPr sz="800" b="0" i="0">
                          <a:solidFill>
                            <a:srgbClr val="0D0D0D"/>
                          </a:solidFill>
                          <a:latin typeface="Calibri"/>
                        </a:rPr>
                        <a:t>P/E</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B3A6B"/>
                          </a:solidFill>
                          <a:latin typeface="Calibri"/>
                        </a:rPr>
                        <a:t>33,8x</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15–25x</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A82020"/>
                          </a:solidFill>
                          <a:latin typeface="Calibri"/>
                        </a:rPr>
                        <a:t>Premium</a:t>
                      </a:r>
                    </a:p>
                  </a:txBody>
                  <a:tcPr>
                    <a:solidFill>
                      <a:srgbClr val="FAF0EF"/>
                    </a:solidFill>
                    <a:lnL w="6350">
                      <a:solidFill>
                        <a:srgbClr val="DDDDDD"/>
                      </a:solidFill>
                    </a:lnL>
                    <a:lnR w="6350">
                      <a:solidFill>
                        <a:srgbClr val="DDDDDD"/>
                      </a:solidFill>
                    </a:lnR>
                    <a:lnT w="6350">
                      <a:solidFill>
                        <a:srgbClr val="DDDDDD"/>
                      </a:solidFill>
                    </a:lnT>
                    <a:lnB w="6350">
                      <a:solidFill>
                        <a:srgbClr val="DDDDDD"/>
                      </a:solidFill>
                    </a:lnB>
                  </a:tcPr>
                </a:tc>
              </a:tr>
              <a:tr h="232690">
                <a:tc>
                  <a:txBody>
                    <a:bodyPr/>
                    <a:lstStyle/>
                    <a:p>
                      <a:pPr algn="l"/>
                      <a:r>
                        <a:rPr sz="800" b="0" i="0">
                          <a:solidFill>
                            <a:srgbClr val="0D0D0D"/>
                          </a:solidFill>
                          <a:latin typeface="Calibri"/>
                        </a:rPr>
                        <a:t>EV/EBITDA</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B3A6B"/>
                          </a:solidFill>
                          <a:latin typeface="Calibri"/>
                        </a:rPr>
                        <a:t>26,6x</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8–14x</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A82020"/>
                          </a:solidFill>
                          <a:latin typeface="Calibri"/>
                        </a:rPr>
                        <a:t>Très élevé</a:t>
                      </a:r>
                    </a:p>
                  </a:txBody>
                  <a:tcPr>
                    <a:solidFill>
                      <a:srgbClr val="FAF0EF"/>
                    </a:solidFill>
                    <a:lnL w="6350">
                      <a:solidFill>
                        <a:srgbClr val="DDDDDD"/>
                      </a:solidFill>
                    </a:lnL>
                    <a:lnR w="6350">
                      <a:solidFill>
                        <a:srgbClr val="DDDDDD"/>
                      </a:solidFill>
                    </a:lnR>
                    <a:lnT w="6350">
                      <a:solidFill>
                        <a:srgbClr val="DDDDDD"/>
                      </a:solidFill>
                    </a:lnT>
                    <a:lnB w="6350">
                      <a:solidFill>
                        <a:srgbClr val="DDDDDD"/>
                      </a:solidFill>
                    </a:lnB>
                  </a:tcPr>
                </a:tc>
              </a:tr>
              <a:tr h="232690">
                <a:tc>
                  <a:txBody>
                    <a:bodyPr/>
                    <a:lstStyle/>
                    <a:p>
                      <a:pPr algn="l"/>
                      <a:r>
                        <a:rPr sz="800" b="0" i="0">
                          <a:solidFill>
                            <a:srgbClr val="0D0D0D"/>
                          </a:solidFill>
                          <a:latin typeface="Calibri"/>
                        </a:rPr>
                        <a:t>EV/Revenue</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B3A6B"/>
                          </a:solidFill>
                          <a:latin typeface="Calibri"/>
                        </a:rPr>
                        <a:t>9,2x</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1–5x</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A82020"/>
                          </a:solidFill>
                          <a:latin typeface="Calibri"/>
                        </a:rPr>
                        <a:t>Premium</a:t>
                      </a:r>
                    </a:p>
                  </a:txBody>
                  <a:tcPr>
                    <a:solidFill>
                      <a:srgbClr val="FAF0EF"/>
                    </a:solidFill>
                    <a:lnL w="6350">
                      <a:solidFill>
                        <a:srgbClr val="DDDDDD"/>
                      </a:solidFill>
                    </a:lnL>
                    <a:lnR w="6350">
                      <a:solidFill>
                        <a:srgbClr val="DDDDDD"/>
                      </a:solidFill>
                    </a:lnR>
                    <a:lnT w="6350">
                      <a:solidFill>
                        <a:srgbClr val="DDDDDD"/>
                      </a:solidFill>
                    </a:lnT>
                    <a:lnB w="6350">
                      <a:solidFill>
                        <a:srgbClr val="DDDDDD"/>
                      </a:solidFill>
                    </a:lnB>
                  </a:tcPr>
                </a:tc>
              </a:tr>
              <a:tr h="232690">
                <a:tc>
                  <a:txBody>
                    <a:bodyPr/>
                    <a:lstStyle/>
                    <a:p>
                      <a:pPr algn="l"/>
                      <a:r>
                        <a:rPr sz="800" b="0" i="0">
                          <a:solidFill>
                            <a:srgbClr val="0D0D0D"/>
                          </a:solidFill>
                          <a:latin typeface="Calibri"/>
                        </a:rPr>
                        <a:t>Marge brute</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B3A6B"/>
                          </a:solidFill>
                          <a:latin typeface="Calibri"/>
                        </a:rPr>
                        <a:t>46,9 %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&gt; 40 %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A7A4A"/>
                          </a:solidFill>
                          <a:latin typeface="Calibri"/>
                        </a:rPr>
                        <a:t>Bon</a:t>
                      </a:r>
                    </a:p>
                  </a:txBody>
                  <a:tcPr>
                    <a:solidFill>
                      <a:srgbClr val="EAF4EF"/>
                    </a:solidFill>
                    <a:lnL w="6350">
                      <a:solidFill>
                        <a:srgbClr val="DDDDDD"/>
                      </a:solidFill>
                    </a:lnL>
                    <a:lnR w="6350">
                      <a:solidFill>
                        <a:srgbClr val="DDDDDD"/>
                      </a:solidFill>
                    </a:lnR>
                    <a:lnT w="6350">
                      <a:solidFill>
                        <a:srgbClr val="DDDDDD"/>
                      </a:solidFill>
                    </a:lnT>
                    <a:lnB w="6350">
                      <a:solidFill>
                        <a:srgbClr val="DDDDDD"/>
                      </a:solidFill>
                    </a:lnB>
                  </a:tcPr>
                </a:tc>
              </a:tr>
              <a:tr h="232690">
                <a:tc>
                  <a:txBody>
                    <a:bodyPr/>
                    <a:lstStyle/>
                    <a:p>
                      <a:pPr algn="l"/>
                      <a:r>
                        <a:rPr sz="800" b="0" i="0">
                          <a:solidFill>
                            <a:srgbClr val="0D0D0D"/>
                          </a:solidFill>
                          <a:latin typeface="Calibri"/>
                        </a:rPr>
                        <a:t>Marge EBITDA</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B3A6B"/>
                          </a:solidFill>
                          <a:latin typeface="Calibri"/>
                        </a:rPr>
                        <a:t>34,8 %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&gt; 20 %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A7A4A"/>
                          </a:solidFill>
                          <a:latin typeface="Calibri"/>
                        </a:rPr>
                        <a:t>Excellent</a:t>
                      </a:r>
                    </a:p>
                  </a:txBody>
                  <a:tcPr>
                    <a:solidFill>
                      <a:srgbClr val="EAF4EF"/>
                    </a:solidFill>
                    <a:lnL w="6350">
                      <a:solidFill>
                        <a:srgbClr val="DDDDDD"/>
                      </a:solidFill>
                    </a:lnL>
                    <a:lnR w="6350">
                      <a:solidFill>
                        <a:srgbClr val="DDDDDD"/>
                      </a:solidFill>
                    </a:lnR>
                    <a:lnT w="6350">
                      <a:solidFill>
                        <a:srgbClr val="DDDDDD"/>
                      </a:solidFill>
                    </a:lnT>
                    <a:lnB w="6350">
                      <a:solidFill>
                        <a:srgbClr val="DDDDDD"/>
                      </a:solidFill>
                    </a:lnB>
                  </a:tcPr>
                </a:tc>
              </a:tr>
              <a:tr h="232690">
                <a:tc>
                  <a:txBody>
                    <a:bodyPr/>
                    <a:lstStyle/>
                    <a:p>
                      <a:pPr algn="l"/>
                      <a:r>
                        <a:rPr sz="800" b="0" i="0">
                          <a:solidFill>
                            <a:srgbClr val="0D0D0D"/>
                          </a:solidFill>
                          <a:latin typeface="Calibri"/>
                        </a:rPr>
                        <a:t>ROE</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B3A6B"/>
                          </a:solidFill>
                          <a:latin typeface="Calibri"/>
                        </a:rPr>
                        <a:t>151,9 %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&gt; 15 %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A7A4A"/>
                          </a:solidFill>
                          <a:latin typeface="Calibri"/>
                        </a:rPr>
                        <a:t>Excellent</a:t>
                      </a:r>
                    </a:p>
                  </a:txBody>
                  <a:tcPr>
                    <a:solidFill>
                      <a:srgbClr val="EAF4EF"/>
                    </a:solidFill>
                    <a:lnL w="6350">
                      <a:solidFill>
                        <a:srgbClr val="DDDDDD"/>
                      </a:solidFill>
                    </a:lnL>
                    <a:lnR w="6350">
                      <a:solidFill>
                        <a:srgbClr val="DDDDDD"/>
                      </a:solidFill>
                    </a:lnR>
                    <a:lnT w="6350">
                      <a:solidFill>
                        <a:srgbClr val="DDDDDD"/>
                      </a:solidFill>
                    </a:lnT>
                    <a:lnB w="6350">
                      <a:solidFill>
                        <a:srgbClr val="DDDDDD"/>
                      </a:solidFill>
                    </a:lnB>
                  </a:tcPr>
                </a:tc>
              </a:tr>
              <a:tr h="232690">
                <a:tc>
                  <a:txBody>
                    <a:bodyPr/>
                    <a:lstStyle/>
                    <a:p>
                      <a:pPr algn="l"/>
                      <a:r>
                        <a:rPr sz="800" b="0" i="0">
                          <a:solidFill>
                            <a:srgbClr val="0D0D0D"/>
                          </a:solidFill>
                          <a:latin typeface="Calibri"/>
                        </a:rPr>
                        <a:t>ROIC</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B3A6B"/>
                          </a:solidFill>
                          <a:latin typeface="Calibri"/>
                        </a:rPr>
                        <a:t>84,4 %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&gt; 10 %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A7A4A"/>
                          </a:solidFill>
                          <a:latin typeface="Calibri"/>
                        </a:rPr>
                        <a:t>Excellent</a:t>
                      </a:r>
                    </a:p>
                  </a:txBody>
                  <a:tcPr>
                    <a:solidFill>
                      <a:srgbClr val="EAF4EF"/>
                    </a:solidFill>
                    <a:lnL w="6350">
                      <a:solidFill>
                        <a:srgbClr val="DDDDDD"/>
                      </a:solidFill>
                    </a:lnL>
                    <a:lnR w="6350">
                      <a:solidFill>
                        <a:srgbClr val="DDDDDD"/>
                      </a:solidFill>
                    </a:lnR>
                    <a:lnT w="6350">
                      <a:solidFill>
                        <a:srgbClr val="DDDDDD"/>
                      </a:solidFill>
                    </a:lnT>
                    <a:lnB w="6350">
                      <a:solidFill>
                        <a:srgbClr val="DDDDDD"/>
                      </a:solidFill>
                    </a:lnB>
                  </a:tcPr>
                </a:tc>
              </a:tr>
              <a:tr h="232690">
                <a:tc>
                  <a:txBody>
                    <a:bodyPr/>
                    <a:lstStyle/>
                    <a:p>
                      <a:pPr algn="l"/>
                      <a:r>
                        <a:rPr sz="800" b="0" i="0">
                          <a:solidFill>
                            <a:srgbClr val="0D0D0D"/>
                          </a:solidFill>
                          <a:latin typeface="Calibri"/>
                        </a:rPr>
                        <a:t>CapEx / Revenue</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B3A6B"/>
                          </a:solidFill>
                          <a:latin typeface="Calibri"/>
                        </a:rPr>
                        <a:t>3,1 %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&lt; 15 %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555555"/>
                          </a:solidFill>
                          <a:latin typeface="Calibri"/>
                        </a:rPr>
                        <a:t>Léger</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r h="232690">
                <a:tc>
                  <a:txBody>
                    <a:bodyPr/>
                    <a:lstStyle/>
                    <a:p>
                      <a:pPr algn="l"/>
                      <a:r>
                        <a:rPr sz="800" b="0" i="0">
                          <a:solidFill>
                            <a:srgbClr val="0D0D0D"/>
                          </a:solidFill>
                          <a:latin typeface="Calibri"/>
                        </a:rPr>
                        <a:t>Altman Z</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B3A6B"/>
                          </a:solidFill>
                          <a:latin typeface="Calibri"/>
                        </a:rPr>
                        <a:t>1,69</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&gt; 2,99</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A82020"/>
                          </a:solidFill>
                          <a:latin typeface="Calibri"/>
                        </a:rPr>
                        <a:t>Détresse</a:t>
                      </a:r>
                    </a:p>
                  </a:txBody>
                  <a:tcPr>
                    <a:solidFill>
                      <a:srgbClr val="FAF0EF"/>
                    </a:solidFill>
                    <a:lnL w="6350">
                      <a:solidFill>
                        <a:srgbClr val="DDDDDD"/>
                      </a:solidFill>
                    </a:lnL>
                    <a:lnR w="6350">
                      <a:solidFill>
                        <a:srgbClr val="DDDDDD"/>
                      </a:solidFill>
                    </a:lnR>
                    <a:lnT w="6350">
                      <a:solidFill>
                        <a:srgbClr val="DDDDDD"/>
                      </a:solidFill>
                    </a:lnT>
                    <a:lnB w="6350">
                      <a:solidFill>
                        <a:srgbClr val="DDDDDD"/>
                      </a:solidFill>
                    </a:lnB>
                  </a:tcPr>
                </a:tc>
              </a:tr>
              <a:tr h="232700">
                <a:tc>
                  <a:txBody>
                    <a:bodyPr/>
                    <a:lstStyle/>
                    <a:p>
                      <a:pPr algn="l"/>
                      <a:r>
                        <a:rPr sz="800" b="0" i="0">
                          <a:solidFill>
                            <a:srgbClr val="0D0D0D"/>
                          </a:solidFill>
                          <a:latin typeface="Calibri"/>
                        </a:rPr>
                        <a:t>Beneish M</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B3A6B"/>
                          </a:solidFill>
                          <a:latin typeface="Calibri"/>
                        </a:rPr>
                        <a:t>-2,25</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&lt; -2,22</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A7A4A"/>
                          </a:solidFill>
                          <a:latin typeface="Calibri"/>
                        </a:rPr>
                        <a:t>Aucun signal</a:t>
                      </a:r>
                    </a:p>
                  </a:txBody>
                  <a:tcPr>
                    <a:solidFill>
                      <a:srgbClr val="EAF4EF"/>
                    </a:solidFill>
                    <a:lnL w="6350">
                      <a:solidFill>
                        <a:srgbClr val="DDDDDD"/>
                      </a:solidFill>
                    </a:lnL>
                    <a:lnR w="6350">
                      <a:solidFill>
                        <a:srgbClr val="DDDDDD"/>
                      </a:solidFill>
                    </a:lnR>
                    <a:lnT w="6350">
                      <a:solidFill>
                        <a:srgbClr val="DDDDDD"/>
                      </a:solidFill>
                    </a:lnT>
                    <a:lnB w="6350">
                      <a:solidFill>
                        <a:srgbClr val="DDDDDD"/>
                      </a:solidFill>
                    </a:lnB>
                  </a:tcPr>
                </a:tc>
              </a:tr>
            </a:tbl>
          </a:graphicData>
        </a:graphic>
      </p:graphicFrame>
      <p:sp>
        <p:nvSpPr>
          <p:cNvPr id="18" name="Rectangle 17"/>
          <p:cNvSpPr/>
          <p:nvPr/>
        </p:nvSpPr>
        <p:spPr>
          <a:xfrm>
            <a:off x="367200" y="3628800"/>
            <a:ext cx="8413200" cy="8244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67200" y="3628800"/>
            <a:ext cx="79200" cy="82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75200" y="3657600"/>
            <a:ext cx="8298000" cy="788400"/>
          </a:xfrm>
          <a:prstGeom prst="rect">
            <a:avLst/>
          </a:prstGeom>
          <a:noFill/>
        </p:spPr>
        <p:txBody>
          <a:bodyPr wrap="square">
            <a:spAutoFit/>
          </a:bodyPr>
          <a:lstStyle/>
          <a:p>
            <a:pPr algn="l"/>
            <a:r>
              <a:rPr sz="850" b="0" i="0">
                <a:solidFill>
                  <a:srgbClr val="555555"/>
                </a:solidFill>
                <a:latin typeface="Calibri"/>
              </a:rPr>
              <a:t>La marge brute passe de 43,3 % en 2022 à 46,9 % en 2025 (+360 bps) grâce à l'augmentation du mix services (GM 70 %) et à la réduction des coûts de composants. La marge EBITDA progresse de 33,1 % à 34,8 % sur la même période, reflétant un levier opérationnel de +170 bps. La durabilité du pricing power est soutenue par une demande inélastique et une différenciation produit forte, limitant le risque de mean-reversion.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B3A6B"/>
        </a:solidFill>
        <a:effectLst/>
      </p:bgPr>
    </p:bg>
    <p:spTree>
      <p:nvGrpSpPr>
        <p:cNvPr id="1" name=""/>
        <p:cNvGrpSpPr/>
        <p:nvPr/>
      </p:nvGrpSpPr>
      <p:grpSpPr/>
      <p:sp>
        <p:nvSpPr>
          <p:cNvPr id="2" name="Rectangle 1"/>
          <p:cNvSpPr/>
          <p:nvPr/>
        </p:nvSpPr>
        <p:spPr>
          <a:xfrm>
            <a:off x="0" y="0"/>
            <a:ext cx="108000" cy="514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1599"/>
            <a:ext cx="8229600" cy="1645200"/>
          </a:xfrm>
          <a:prstGeom prst="rect">
            <a:avLst/>
          </a:prstGeom>
          <a:noFill/>
        </p:spPr>
        <p:txBody>
          <a:bodyPr wrap="none">
            <a:spAutoFit/>
          </a:bodyPr>
          <a:lstStyle/>
          <a:p>
            <a:r>
              <a:rPr sz="8000" b="1">
                <a:solidFill>
                  <a:srgbClr val="FFFFFF">
                    <a:alpha val="15000"/>
                  </a:srgbClr>
                </a:solidFill>
                <a:latin typeface="Calibri"/>
              </a:rPr>
              <a:t>03</a:t>
            </a:r>
          </a:p>
        </p:txBody>
      </p:sp>
      <p:sp>
        <p:nvSpPr>
          <p:cNvPr id="4" name="TextBox 3"/>
          <p:cNvSpPr txBox="1"/>
          <p:nvPr/>
        </p:nvSpPr>
        <p:spPr>
          <a:xfrm>
            <a:off x="457200" y="1875600"/>
            <a:ext cx="7772400" cy="824400"/>
          </a:xfrm>
          <a:prstGeom prst="rect">
            <a:avLst/>
          </a:prstGeom>
          <a:noFill/>
        </p:spPr>
        <p:txBody>
          <a:bodyPr wrap="square">
            <a:spAutoFit/>
          </a:bodyPr>
          <a:lstStyle/>
          <a:p>
            <a:pPr algn="l"/>
            <a:r>
              <a:rPr sz="2800" b="1" i="0">
                <a:solidFill>
                  <a:srgbClr val="FFFFFF"/>
                </a:solidFill>
                <a:latin typeface="Calibri"/>
              </a:rPr>
              <a:t>Valorisation</a:t>
            </a:r>
          </a:p>
        </p:txBody>
      </p:sp>
      <p:sp>
        <p:nvSpPr>
          <p:cNvPr id="5" name="Rectangle 4"/>
          <p:cNvSpPr/>
          <p:nvPr/>
        </p:nvSpPr>
        <p:spPr>
          <a:xfrm>
            <a:off x="457200" y="2790000"/>
            <a:ext cx="2743200" cy="3600"/>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908800"/>
            <a:ext cx="6400800" cy="320400"/>
          </a:xfrm>
          <a:prstGeom prst="rect">
            <a:avLst/>
          </a:prstGeom>
          <a:noFill/>
        </p:spPr>
        <p:txBody>
          <a:bodyPr wrap="square">
            <a:spAutoFit/>
          </a:bodyPr>
          <a:lstStyle/>
          <a:p>
            <a:pPr algn="l"/>
            <a:r>
              <a:rPr sz="1000" b="0" i="0">
                <a:solidFill>
                  <a:srgbClr val="AABBDD"/>
                </a:solidFill>
                <a:latin typeface="Calibri"/>
              </a:rPr>
              <a:t>DCF, comparable peers &amp; Football Field Chart</a:t>
            </a:r>
          </a:p>
        </p:txBody>
      </p:sp>
      <p:sp>
        <p:nvSpPr>
          <p:cNvPr id="7" name="TextBox 6"/>
          <p:cNvSpPr txBox="1"/>
          <p:nvPr/>
        </p:nvSpPr>
        <p:spPr>
          <a:xfrm>
            <a:off x="367200" y="4802400"/>
            <a:ext cx="8413200" cy="201600"/>
          </a:xfrm>
          <a:prstGeom prst="rect">
            <a:avLst/>
          </a:prstGeom>
          <a:noFill/>
        </p:spPr>
        <p:txBody>
          <a:bodyPr wrap="square">
            <a:spAutoFit/>
          </a:bodyPr>
          <a:lstStyle/>
          <a:p>
            <a:pPr algn="l"/>
            <a:r>
              <a:rPr sz="700" b="0" i="0">
                <a:solidFill>
                  <a:srgbClr val="6677AA"/>
                </a:solidFill>
                <a:latin typeface="Calibri"/>
              </a:rPr>
              <a:t>FinSight IA  ·  Usage confidentiel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FFFFFF"/>
                </a:solidFill>
                <a:latin typeface="Calibri"/>
              </a:rPr>
              <a:t>1</a:t>
            </a:r>
          </a:p>
        </p:txBody>
      </p:sp>
      <p:sp>
        <p:nvSpPr>
          <p:cNvPr id="7" name="Rectangle 6"/>
          <p:cNvSpPr/>
          <p:nvPr/>
        </p:nvSpPr>
        <p:spPr>
          <a:xfrm>
            <a:off x="6353999"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FFFFFF"/>
                </a:solidFill>
                <a:latin typeface="Calibri"/>
              </a:rPr>
              <a:t>2</a:t>
            </a:r>
          </a:p>
        </p:txBody>
      </p:sp>
      <p:sp>
        <p:nvSpPr>
          <p:cNvPr id="9" name="Rectangle 8"/>
          <p:cNvSpPr/>
          <p:nvPr/>
        </p:nvSpPr>
        <p:spPr>
          <a:xfrm>
            <a:off x="6584400"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1B3A6B"/>
                </a:solidFill>
                <a:latin typeface="Calibri"/>
              </a:rPr>
              <a:t>3</a:t>
            </a:r>
          </a:p>
        </p:txBody>
      </p:sp>
      <p:sp>
        <p:nvSpPr>
          <p:cNvPr id="11" name="Rectangle 10"/>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3" name="Rectangle 12"/>
          <p:cNvSpPr/>
          <p:nvPr/>
        </p:nvSpPr>
        <p:spPr>
          <a:xfrm>
            <a:off x="70416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FFFFFF"/>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Valorisation — DCF &amp; Scénarios</a:t>
            </a:r>
          </a:p>
        </p:txBody>
      </p:sp>
      <p:graphicFrame>
        <p:nvGraphicFramePr>
          <p:cNvPr id="16" name="Table 15"/>
          <p:cNvGraphicFramePr>
            <a:graphicFrameLocks noGrp="1"/>
          </p:cNvGraphicFramePr>
          <p:nvPr/>
        </p:nvGraphicFramePr>
        <p:xfrm>
          <a:off x="367200" y="824400"/>
          <a:ext cx="4024800" cy="1371600"/>
        </p:xfrm>
        <a:graphic>
          <a:graphicData uri="http://schemas.openxmlformats.org/drawingml/2006/table">
            <a:tbl>
              <a:tblPr firstRow="1" bandRow="1">
                <a:tableStyleId>{5C22544A-7EE6-4342-B048-85BDC9FD1C3A}</a:tableStyleId>
              </a:tblPr>
              <a:tblGrid>
                <a:gridCol w="2213640"/>
                <a:gridCol w="1811160"/>
              </a:tblGrid>
              <a:tr h="228600">
                <a:tc>
                  <a:txBody>
                    <a:bodyPr/>
                    <a:lstStyle/>
                    <a:p>
                      <a:pPr algn="l"/>
                      <a:r>
                        <a:rPr sz="800" b="1" i="0">
                          <a:solidFill>
                            <a:srgbClr val="FFFFFF"/>
                          </a:solidFill>
                          <a:latin typeface="Calibri"/>
                        </a:rPr>
                        <a:t>Paramètre</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Valeur</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r>
              <a:tr h="228600">
                <a:tc>
                  <a:txBody>
                    <a:bodyPr/>
                    <a:lstStyle/>
                    <a:p>
                      <a:pPr algn="l"/>
                      <a:r>
                        <a:rPr sz="800" b="0" i="0">
                          <a:solidFill>
                            <a:srgbClr val="0D0D0D"/>
                          </a:solidFill>
                          <a:latin typeface="Calibri"/>
                        </a:rPr>
                        <a:t>WACC</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10,2 %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r h="228600">
                <a:tc>
                  <a:txBody>
                    <a:bodyPr/>
                    <a:lstStyle/>
                    <a:p>
                      <a:pPr algn="l"/>
                      <a:r>
                        <a:rPr sz="800" b="0" i="0">
                          <a:solidFill>
                            <a:srgbClr val="0D0D0D"/>
                          </a:solidFill>
                          <a:latin typeface="Calibri"/>
                        </a:rPr>
                        <a:t>TGR</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3,0 %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r h="228600">
                <a:tc>
                  <a:txBody>
                    <a:bodyPr/>
                    <a:lstStyle/>
                    <a:p>
                      <a:pPr algn="l"/>
                      <a:r>
                        <a:rPr sz="800" b="1" i="0">
                          <a:solidFill>
                            <a:srgbClr val="1B3A6B"/>
                          </a:solidFill>
                          <a:latin typeface="Calibri"/>
                        </a:rPr>
                        <a:t>Valeur intrinsèque</a:t>
                      </a:r>
                    </a:p>
                  </a:txBody>
                  <a:tcPr>
                    <a:solidFill>
                      <a:srgbClr val="DDE8F5"/>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B3A6B"/>
                          </a:solidFill>
                          <a:latin typeface="Calibri"/>
                        </a:rPr>
                        <a:t>285 $</a:t>
                      </a:r>
                    </a:p>
                  </a:txBody>
                  <a:tcPr>
                    <a:solidFill>
                      <a:srgbClr val="DDE8F5"/>
                    </a:solidFill>
                    <a:lnL w="6350">
                      <a:solidFill>
                        <a:srgbClr val="DDDDDD"/>
                      </a:solidFill>
                    </a:lnL>
                    <a:lnR w="6350">
                      <a:solidFill>
                        <a:srgbClr val="DDDDDD"/>
                      </a:solidFill>
                    </a:lnR>
                    <a:lnT w="6350">
                      <a:solidFill>
                        <a:srgbClr val="DDDDDD"/>
                      </a:solidFill>
                    </a:lnT>
                    <a:lnB w="6350">
                      <a:solidFill>
                        <a:srgbClr val="DDDDDD"/>
                      </a:solidFill>
                    </a:lnB>
                  </a:tcPr>
                </a:tc>
              </a:tr>
              <a:tr h="228600">
                <a:tc>
                  <a:txBody>
                    <a:bodyPr/>
                    <a:lstStyle/>
                    <a:p>
                      <a:pPr algn="l"/>
                      <a:r>
                        <a:rPr sz="800" b="0" i="0">
                          <a:solidFill>
                            <a:srgbClr val="0D0D0D"/>
                          </a:solidFill>
                          <a:latin typeface="Calibri"/>
                        </a:rPr>
                        <a:t>Cours actuel</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257,69 $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r h="228600">
                <a:tc>
                  <a:txBody>
                    <a:bodyPr/>
                    <a:lstStyle/>
                    <a:p>
                      <a:pPr algn="l"/>
                      <a:r>
                        <a:rPr sz="800" b="0" i="0">
                          <a:solidFill>
                            <a:srgbClr val="0D0D0D"/>
                          </a:solidFill>
                          <a:latin typeface="Calibri"/>
                        </a:rPr>
                        <a:t>Upside implicite</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+10,6 %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bl>
          </a:graphicData>
        </a:graphic>
      </p:graphicFrame>
      <p:graphicFrame>
        <p:nvGraphicFramePr>
          <p:cNvPr id="17" name="Table 16"/>
          <p:cNvGraphicFramePr>
            <a:graphicFrameLocks noGrp="1"/>
          </p:cNvGraphicFramePr>
          <p:nvPr/>
        </p:nvGraphicFramePr>
        <p:xfrm>
          <a:off x="4482000" y="824400"/>
          <a:ext cx="4298400" cy="1371600"/>
        </p:xfrm>
        <a:graphic>
          <a:graphicData uri="http://schemas.openxmlformats.org/drawingml/2006/table">
            <a:tbl>
              <a:tblPr firstRow="1" bandRow="1">
                <a:tableStyleId>{5C22544A-7EE6-4342-B048-85BDC9FD1C3A}</a:tableStyleId>
              </a:tblPr>
              <a:tblGrid>
                <a:gridCol w="1432800"/>
                <a:gridCol w="1432800"/>
                <a:gridCol w="1432800"/>
              </a:tblGrid>
              <a:tr h="342900">
                <a:tc>
                  <a:txBody>
                    <a:bodyPr/>
                    <a:lstStyle/>
                    <a:p>
                      <a:pPr algn="ctr"/>
                      <a:r>
                        <a:rPr sz="1000" b="1" i="0">
                          <a:solidFill>
                            <a:srgbClr val="FFFFFF"/>
                          </a:solidFill>
                          <a:latin typeface="Calibri"/>
                        </a:rPr>
                        <a:t>Bear</a:t>
                      </a:r>
                    </a:p>
                  </a:txBody>
                  <a:tcPr>
                    <a:solidFill>
                      <a:srgbClr val="A82020"/>
                    </a:solidFill>
                  </a:tcPr>
                </a:tc>
                <a:tc>
                  <a:txBody>
                    <a:bodyPr/>
                    <a:lstStyle/>
                    <a:p>
                      <a:pPr algn="ctr"/>
                      <a:r>
                        <a:rPr sz="1000" b="1" i="0">
                          <a:solidFill>
                            <a:srgbClr val="FFFFFF"/>
                          </a:solidFill>
                          <a:latin typeface="Calibri"/>
                        </a:rPr>
                        <a:t>Base</a:t>
                      </a:r>
                    </a:p>
                  </a:txBody>
                  <a:tcPr>
                    <a:solidFill>
                      <a:srgbClr val="2E5FA3"/>
                    </a:solidFill>
                  </a:tcPr>
                </a:tc>
                <a:tc>
                  <a:txBody>
                    <a:bodyPr/>
                    <a:lstStyle/>
                    <a:p>
                      <a:pPr algn="ctr"/>
                      <a:r>
                        <a:rPr sz="1000" b="1" i="0">
                          <a:solidFill>
                            <a:srgbClr val="FFFFFF"/>
                          </a:solidFill>
                          <a:latin typeface="Calibri"/>
                        </a:rPr>
                        <a:t>Bull</a:t>
                      </a:r>
                    </a:p>
                  </a:txBody>
                  <a:tcPr>
                    <a:solidFill>
                      <a:srgbClr val="1A7A4A"/>
                    </a:solidFill>
                  </a:tcPr>
                </a:tc>
              </a:tr>
              <a:tr h="342900">
                <a:tc>
                  <a:txBody>
                    <a:bodyPr/>
                    <a:lstStyle/>
                    <a:p>
                      <a:pPr algn="ctr"/>
                      <a:r>
                        <a:rPr sz="2000" b="1" i="0">
                          <a:solidFill>
                            <a:srgbClr val="A82020"/>
                          </a:solidFill>
                          <a:latin typeface="Calibri"/>
                        </a:rPr>
                        <a:t>240 $</a:t>
                      </a:r>
                    </a:p>
                  </a:txBody>
                  <a:tcPr>
                    <a:solidFill>
                      <a:srgbClr val="FAF0EF"/>
                    </a:solidFill>
                  </a:tcPr>
                </a:tc>
                <a:tc>
                  <a:txBody>
                    <a:bodyPr/>
                    <a:lstStyle/>
                    <a:p>
                      <a:pPr algn="ctr"/>
                      <a:r>
                        <a:rPr sz="2000" b="1" i="0">
                          <a:solidFill>
                            <a:srgbClr val="2E5FA3"/>
                          </a:solidFill>
                          <a:latin typeface="Calibri"/>
                        </a:rPr>
                        <a:t>285 $</a:t>
                      </a:r>
                    </a:p>
                  </a:txBody>
                  <a:tcPr>
                    <a:solidFill>
                      <a:srgbClr val="EEF3FA"/>
                    </a:solidFill>
                  </a:tcPr>
                </a:tc>
                <a:tc>
                  <a:txBody>
                    <a:bodyPr/>
                    <a:lstStyle/>
                    <a:p>
                      <a:pPr algn="ctr"/>
                      <a:r>
                        <a:rPr sz="2000" b="1" i="0">
                          <a:solidFill>
                            <a:srgbClr val="1A7A4A"/>
                          </a:solidFill>
                          <a:latin typeface="Calibri"/>
                        </a:rPr>
                        <a:t>320 $</a:t>
                      </a:r>
                    </a:p>
                  </a:txBody>
                  <a:tcPr>
                    <a:solidFill>
                      <a:srgbClr val="EAF4EF"/>
                    </a:solidFill>
                  </a:tcPr>
                </a:tc>
              </a:tr>
              <a:tr h="342900">
                <a:tc>
                  <a:txBody>
                    <a:bodyPr/>
                    <a:lstStyle/>
                    <a:p>
                      <a:pPr algn="ctr"/>
                      <a:r>
                        <a:rPr sz="1200" b="1" i="0">
                          <a:solidFill>
                            <a:srgbClr val="A82020"/>
                          </a:solidFill>
                          <a:latin typeface="Calibri"/>
                        </a:rPr>
                        <a:t>-6,9 %</a:t>
                      </a:r>
                    </a:p>
                  </a:txBody>
                  <a:tcPr>
                    <a:solidFill>
                      <a:srgbClr val="FAF0EF"/>
                    </a:solidFill>
                  </a:tcPr>
                </a:tc>
                <a:tc>
                  <a:txBody>
                    <a:bodyPr/>
                    <a:lstStyle/>
                    <a:p>
                      <a:pPr algn="ctr"/>
                      <a:r>
                        <a:rPr sz="1200" b="1" i="0">
                          <a:solidFill>
                            <a:srgbClr val="2E5FA3"/>
                          </a:solidFill>
                          <a:latin typeface="Calibri"/>
                        </a:rPr>
                        <a:t>+10,6 %</a:t>
                      </a:r>
                    </a:p>
                  </a:txBody>
                  <a:tcPr>
                    <a:solidFill>
                      <a:srgbClr val="EEF3FA"/>
                    </a:solidFill>
                  </a:tcPr>
                </a:tc>
                <a:tc>
                  <a:txBody>
                    <a:bodyPr/>
                    <a:lstStyle/>
                    <a:p>
                      <a:pPr algn="ctr"/>
                      <a:r>
                        <a:rPr sz="1200" b="1" i="0">
                          <a:solidFill>
                            <a:srgbClr val="1A7A4A"/>
                          </a:solidFill>
                          <a:latin typeface="Calibri"/>
                        </a:rPr>
                        <a:t>+24,2 %</a:t>
                      </a:r>
                    </a:p>
                  </a:txBody>
                  <a:tcPr>
                    <a:solidFill>
                      <a:srgbClr val="EAF4EF"/>
                    </a:solidFill>
                  </a:tcPr>
                </a:tc>
              </a:tr>
              <a:tr h="342900">
                <a:tc>
                  <a:txBody>
                    <a:bodyPr/>
                    <a:lstStyle/>
                    <a:p>
                      <a:pPr algn="ctr"/>
                      <a:r>
                        <a:rPr sz="700" b="0" i="0">
                          <a:solidFill>
                            <a:srgbClr val="888888"/>
                          </a:solidFill>
                          <a:latin typeface="Calibri"/>
                        </a:rPr>
                        <a:t>Upside / Downside</a:t>
                      </a:r>
                    </a:p>
                  </a:txBody>
                  <a:tcPr>
                    <a:solidFill>
                      <a:srgbClr val="FAF0EF"/>
                    </a:solidFill>
                  </a:tcPr>
                </a:tc>
                <a:tc>
                  <a:txBody>
                    <a:bodyPr/>
                    <a:lstStyle/>
                    <a:p>
                      <a:pPr algn="ctr"/>
                      <a:r>
                        <a:rPr sz="700" b="0" i="0">
                          <a:solidFill>
                            <a:srgbClr val="888888"/>
                          </a:solidFill>
                          <a:latin typeface="Calibri"/>
                        </a:rPr>
                        <a:t>Upside / Downside</a:t>
                      </a:r>
                    </a:p>
                  </a:txBody>
                  <a:tcPr>
                    <a:solidFill>
                      <a:srgbClr val="EEF3FA"/>
                    </a:solidFill>
                  </a:tcPr>
                </a:tc>
                <a:tc>
                  <a:txBody>
                    <a:bodyPr/>
                    <a:lstStyle/>
                    <a:p>
                      <a:pPr algn="ctr"/>
                      <a:r>
                        <a:rPr sz="700" b="0" i="0">
                          <a:solidFill>
                            <a:srgbClr val="888888"/>
                          </a:solidFill>
                          <a:latin typeface="Calibri"/>
                        </a:rPr>
                        <a:t>Upside / Downside</a:t>
                      </a:r>
                    </a:p>
                  </a:txBody>
                  <a:tcPr>
                    <a:solidFill>
                      <a:srgbClr val="EAF4EF"/>
                    </a:solidFill>
                  </a:tcPr>
                </a:tc>
              </a:tr>
            </a:tbl>
          </a:graphicData>
        </a:graphic>
      </p:graphicFrame>
      <p:sp>
        <p:nvSpPr>
          <p:cNvPr id="18" name="TextBox 17"/>
          <p:cNvSpPr txBox="1"/>
          <p:nvPr/>
        </p:nvSpPr>
        <p:spPr>
          <a:xfrm>
            <a:off x="367200" y="2394000"/>
            <a:ext cx="4024800" cy="201600"/>
          </a:xfrm>
          <a:prstGeom prst="rect">
            <a:avLst/>
          </a:prstGeom>
          <a:noFill/>
        </p:spPr>
        <p:txBody>
          <a:bodyPr wrap="square">
            <a:spAutoFit/>
          </a:bodyPr>
          <a:lstStyle/>
          <a:p>
            <a:pPr algn="l"/>
            <a:r>
              <a:rPr sz="900" b="1" i="0">
                <a:solidFill>
                  <a:srgbClr val="1B3A6B"/>
                </a:solidFill>
                <a:latin typeface="Calibri"/>
              </a:rPr>
              <a:t>Monte Carlo GBM — 10 000 simulations</a:t>
            </a:r>
          </a:p>
        </p:txBody>
      </p:sp>
      <p:graphicFrame>
        <p:nvGraphicFramePr>
          <p:cNvPr id="19" name="Table 18"/>
          <p:cNvGraphicFramePr>
            <a:graphicFrameLocks noGrp="1"/>
          </p:cNvGraphicFramePr>
          <p:nvPr/>
        </p:nvGraphicFramePr>
        <p:xfrm>
          <a:off x="367200" y="2653200"/>
          <a:ext cx="4024800" cy="1116000"/>
        </p:xfrm>
        <a:graphic>
          <a:graphicData uri="http://schemas.openxmlformats.org/drawingml/2006/table">
            <a:tbl>
              <a:tblPr firstRow="1" bandRow="1">
                <a:tableStyleId>{5C22544A-7EE6-4342-B048-85BDC9FD1C3A}</a:tableStyleId>
              </a:tblPr>
              <a:tblGrid>
                <a:gridCol w="1690416"/>
                <a:gridCol w="1287936"/>
                <a:gridCol w="1046448"/>
              </a:tblGrid>
              <a:tr h="186000">
                <a:tc>
                  <a:txBody>
                    <a:bodyPr/>
                    <a:lstStyle/>
                    <a:p>
                      <a:pPr algn="l"/>
                      <a:r>
                        <a:rPr sz="800" b="1" i="0">
                          <a:solidFill>
                            <a:srgbClr val="FFFFFF"/>
                          </a:solidFill>
                          <a:latin typeface="Calibri"/>
                        </a:rPr>
                        <a:t>Scénario</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Cours prédit (12M)</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vs Cours</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r>
              <a:tr h="186000">
                <a:tc>
                  <a:txBody>
                    <a:bodyPr/>
                    <a:lstStyle/>
                    <a:p>
                      <a:pPr algn="l"/>
                      <a:r>
                        <a:rPr sz="800" b="0" i="0">
                          <a:solidFill>
                            <a:srgbClr val="0D0D0D"/>
                          </a:solidFill>
                          <a:latin typeface="Calibri"/>
                        </a:rPr>
                        <a:t>Stress Down (P2)</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172 $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-33,3 %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r h="186000">
                <a:tc>
                  <a:txBody>
                    <a:bodyPr/>
                    <a:lstStyle/>
                    <a:p>
                      <a:pPr algn="l"/>
                      <a:r>
                        <a:rPr sz="800" b="0" i="0">
                          <a:solidFill>
                            <a:srgbClr val="0D0D0D"/>
                          </a:solidFill>
                          <a:latin typeface="Calibri"/>
                        </a:rPr>
                        <a:t>Pessimiste (P10)</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213 $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-17,5 %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r h="186000">
                <a:tc>
                  <a:txBody>
                    <a:bodyPr/>
                    <a:lstStyle/>
                    <a:p>
                      <a:pPr algn="l"/>
                      <a:r>
                        <a:rPr sz="800" b="1" i="0">
                          <a:solidFill>
                            <a:srgbClr val="1B3A6B"/>
                          </a:solidFill>
                          <a:latin typeface="Calibri"/>
                        </a:rPr>
                        <a:t>● Médian (P50)</a:t>
                      </a:r>
                    </a:p>
                  </a:txBody>
                  <a:tcPr>
                    <a:solidFill>
                      <a:srgbClr val="DDE8F5"/>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B3A6B"/>
                          </a:solidFill>
                          <a:latin typeface="Calibri"/>
                        </a:rPr>
                        <a:t>307 $</a:t>
                      </a:r>
                    </a:p>
                  </a:txBody>
                  <a:tcPr>
                    <a:solidFill>
                      <a:srgbClr val="DDE8F5"/>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B3A6B"/>
                          </a:solidFill>
                          <a:latin typeface="Calibri"/>
                        </a:rPr>
                        <a:t>+19,1 %</a:t>
                      </a:r>
                    </a:p>
                  </a:txBody>
                  <a:tcPr>
                    <a:solidFill>
                      <a:srgbClr val="DDE8F5"/>
                    </a:solidFill>
                    <a:lnL w="6350">
                      <a:solidFill>
                        <a:srgbClr val="DDDDDD"/>
                      </a:solidFill>
                    </a:lnL>
                    <a:lnR w="6350">
                      <a:solidFill>
                        <a:srgbClr val="DDDDDD"/>
                      </a:solidFill>
                    </a:lnR>
                    <a:lnT w="6350">
                      <a:solidFill>
                        <a:srgbClr val="DDDDDD"/>
                      </a:solidFill>
                    </a:lnT>
                    <a:lnB w="6350">
                      <a:solidFill>
                        <a:srgbClr val="DDDDDD"/>
                      </a:solidFill>
                    </a:lnB>
                  </a:tcPr>
                </a:tc>
              </a:tr>
              <a:tr h="186000">
                <a:tc>
                  <a:txBody>
                    <a:bodyPr/>
                    <a:lstStyle/>
                    <a:p>
                      <a:pPr algn="l"/>
                      <a:r>
                        <a:rPr sz="800" b="0" i="0">
                          <a:solidFill>
                            <a:srgbClr val="0D0D0D"/>
                          </a:solidFill>
                          <a:latin typeface="Calibri"/>
                        </a:rPr>
                        <a:t>Optimiste (P90)</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442 $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+71,6 %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r h="186000">
                <a:tc>
                  <a:txBody>
                    <a:bodyPr/>
                    <a:lstStyle/>
                    <a:p>
                      <a:pPr algn="l"/>
                      <a:r>
                        <a:rPr sz="800" b="0" i="0">
                          <a:solidFill>
                            <a:srgbClr val="0D0D0D"/>
                          </a:solidFill>
                          <a:latin typeface="Calibri"/>
                        </a:rPr>
                        <a:t>Stress Up (P98)</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549 $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+113,0 %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bl>
          </a:graphicData>
        </a:graphic>
      </p:graphicFrame>
      <p:sp>
        <p:nvSpPr>
          <p:cNvPr id="20" name="TextBox 19"/>
          <p:cNvSpPr txBox="1"/>
          <p:nvPr/>
        </p:nvSpPr>
        <p:spPr>
          <a:xfrm>
            <a:off x="4482000" y="2394000"/>
            <a:ext cx="4298400" cy="201600"/>
          </a:xfrm>
          <a:prstGeom prst="rect">
            <a:avLst/>
          </a:prstGeom>
          <a:noFill/>
        </p:spPr>
        <p:txBody>
          <a:bodyPr wrap="square">
            <a:spAutoFit/>
          </a:bodyPr>
          <a:lstStyle/>
          <a:p>
            <a:pPr algn="l"/>
            <a:r>
              <a:rPr sz="900" b="1" i="0">
                <a:solidFill>
                  <a:srgbClr val="1B3A6B"/>
                </a:solidFill>
                <a:latin typeface="Calibri"/>
              </a:rPr>
              <a:t>Sensibilité WACC × TGR — Valeur ($)</a:t>
            </a:r>
          </a:p>
        </p:txBody>
      </p:sp>
      <p:graphicFrame>
        <p:nvGraphicFramePr>
          <p:cNvPr id="21" name="Table 20"/>
          <p:cNvGraphicFramePr>
            <a:graphicFrameLocks noGrp="1"/>
          </p:cNvGraphicFramePr>
          <p:nvPr/>
        </p:nvGraphicFramePr>
        <p:xfrm>
          <a:off x="4482000" y="2653200"/>
          <a:ext cx="4298400" cy="1116000"/>
        </p:xfrm>
        <a:graphic>
          <a:graphicData uri="http://schemas.openxmlformats.org/drawingml/2006/table">
            <a:tbl>
              <a:tblPr firstRow="1" bandRow="1">
                <a:tableStyleId>{5C22544A-7EE6-4342-B048-85BDC9FD1C3A}</a:tableStyleId>
              </a:tblPr>
              <a:tblGrid>
                <a:gridCol w="716400"/>
                <a:gridCol w="716400"/>
                <a:gridCol w="716400"/>
                <a:gridCol w="716400"/>
                <a:gridCol w="716400"/>
                <a:gridCol w="716400"/>
              </a:tblGrid>
              <a:tr h="186000">
                <a:tc>
                  <a:txBody>
                    <a:bodyPr/>
                    <a:lstStyle/>
                    <a:p>
                      <a:pPr algn="l"/>
                      <a:r>
                        <a:rPr sz="800" b="1" i="0">
                          <a:solidFill>
                            <a:srgbClr val="FFFFFF"/>
                          </a:solidFill>
                          <a:latin typeface="Calibri"/>
                        </a:rPr>
                        <a:t>WACC \ TGR</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2,0%</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2,5%</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3,0%</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3,5%</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4,0%</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r>
              <a:tr h="186000">
                <a:tc>
                  <a:txBody>
                    <a:bodyPr/>
                    <a:lstStyle/>
                    <a:p>
                      <a:pPr algn="l"/>
                      <a:r>
                        <a:rPr sz="800" b="0" i="0">
                          <a:solidFill>
                            <a:srgbClr val="0D0D0D"/>
                          </a:solidFill>
                          <a:latin typeface="Calibri"/>
                        </a:rPr>
                        <a:t>8,2%</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331</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359</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394</a:t>
                      </a:r>
                    </a:p>
                  </a:txBody>
                  <a:tcPr>
                    <a:solidFill>
                      <a:srgbClr val="DDE8F5"/>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435</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487</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r h="186000">
                <a:tc>
                  <a:txBody>
                    <a:bodyPr/>
                    <a:lstStyle/>
                    <a:p>
                      <a:pPr algn="l"/>
                      <a:r>
                        <a:rPr sz="800" b="0" i="0">
                          <a:solidFill>
                            <a:srgbClr val="0D0D0D"/>
                          </a:solidFill>
                          <a:latin typeface="Calibri"/>
                        </a:rPr>
                        <a:t>9,2%</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285</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306</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331</a:t>
                      </a:r>
                    </a:p>
                  </a:txBody>
                  <a:tcPr>
                    <a:solidFill>
                      <a:srgbClr val="DDE8F5"/>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359</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394</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r h="186000">
                <a:tc>
                  <a:txBody>
                    <a:bodyPr/>
                    <a:lstStyle/>
                    <a:p>
                      <a:pPr algn="l"/>
                      <a:r>
                        <a:rPr sz="800" b="1" i="0">
                          <a:solidFill>
                            <a:srgbClr val="1B3A6B"/>
                          </a:solidFill>
                          <a:latin typeface="Calibri"/>
                        </a:rPr>
                        <a:t>10,2%</a:t>
                      </a:r>
                    </a:p>
                  </a:txBody>
                  <a:tcPr>
                    <a:solidFill>
                      <a:srgbClr val="DDE8F5"/>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250</a:t>
                      </a:r>
                    </a:p>
                  </a:txBody>
                  <a:tcPr>
                    <a:solidFill>
                      <a:srgbClr val="DDE8F5"/>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267</a:t>
                      </a:r>
                    </a:p>
                  </a:txBody>
                  <a:tcPr>
                    <a:solidFill>
                      <a:srgbClr val="DDE8F5"/>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285</a:t>
                      </a:r>
                    </a:p>
                  </a:txBody>
                  <a:tcPr>
                    <a:solidFill>
                      <a:srgbClr val="2E5FA3"/>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306</a:t>
                      </a:r>
                    </a:p>
                  </a:txBody>
                  <a:tcPr>
                    <a:solidFill>
                      <a:srgbClr val="DDE8F5"/>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331</a:t>
                      </a:r>
                    </a:p>
                  </a:txBody>
                  <a:tcPr>
                    <a:solidFill>
                      <a:srgbClr val="DDE8F5"/>
                    </a:solidFill>
                    <a:lnL w="6350">
                      <a:solidFill>
                        <a:srgbClr val="DDDDDD"/>
                      </a:solidFill>
                    </a:lnL>
                    <a:lnR w="6350">
                      <a:solidFill>
                        <a:srgbClr val="DDDDDD"/>
                      </a:solidFill>
                    </a:lnR>
                    <a:lnT w="6350">
                      <a:solidFill>
                        <a:srgbClr val="DDDDDD"/>
                      </a:solidFill>
                    </a:lnT>
                    <a:lnB w="6350">
                      <a:solidFill>
                        <a:srgbClr val="DDDDDD"/>
                      </a:solidFill>
                    </a:lnB>
                  </a:tcPr>
                </a:tc>
              </a:tr>
              <a:tr h="186000">
                <a:tc>
                  <a:txBody>
                    <a:bodyPr/>
                    <a:lstStyle/>
                    <a:p>
                      <a:pPr algn="l"/>
                      <a:r>
                        <a:rPr sz="800" b="0" i="0">
                          <a:solidFill>
                            <a:srgbClr val="0D0D0D"/>
                          </a:solidFill>
                          <a:latin typeface="Calibri"/>
                        </a:rPr>
                        <a:t>11,2%</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223</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236</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250</a:t>
                      </a:r>
                    </a:p>
                  </a:txBody>
                  <a:tcPr>
                    <a:solidFill>
                      <a:srgbClr val="DDE8F5"/>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267</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285</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r h="186000">
                <a:tc>
                  <a:txBody>
                    <a:bodyPr/>
                    <a:lstStyle/>
                    <a:p>
                      <a:pPr algn="l"/>
                      <a:r>
                        <a:rPr sz="800" b="0" i="0">
                          <a:solidFill>
                            <a:srgbClr val="0D0D0D"/>
                          </a:solidFill>
                          <a:latin typeface="Calibri"/>
                        </a:rPr>
                        <a:t>12,2%</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202</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212</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223</a:t>
                      </a:r>
                    </a:p>
                  </a:txBody>
                  <a:tcPr>
                    <a:solidFill>
                      <a:srgbClr val="DDE8F5"/>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236</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250</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bl>
          </a:graphicData>
        </a:graphic>
      </p:graphicFrame>
      <p:sp>
        <p:nvSpPr>
          <p:cNvPr id="22" name="Rectangle 21"/>
          <p:cNvSpPr/>
          <p:nvPr/>
        </p:nvSpPr>
        <p:spPr>
          <a:xfrm>
            <a:off x="367200" y="3916800"/>
            <a:ext cx="8413200" cy="5472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67200" y="3916800"/>
            <a:ext cx="79200" cy="5472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5200" y="3945600"/>
            <a:ext cx="8298000" cy="511200"/>
          </a:xfrm>
          <a:prstGeom prst="rect">
            <a:avLst/>
          </a:prstGeom>
          <a:noFill/>
        </p:spPr>
        <p:txBody>
          <a:bodyPr wrap="square">
            <a:spAutoFit/>
          </a:bodyPr>
          <a:lstStyle/>
          <a:p>
            <a:pPr algn="l"/>
            <a:r>
              <a:rPr sz="850" b="0" i="0">
                <a:solidFill>
                  <a:srgbClr val="555555"/>
                </a:solidFill>
                <a:latin typeface="Calibri"/>
              </a:rPr>
              <a:t>Avec un WACC de 10,2 % et une TGR de 3,0 %, le DCF implicite suggère un prix de 285 USD (base), soit un upside de 10,6 % vs le cours actuel. Cette prime reflète une croissance supérieure à la moyenne et une qualité d'actifs exceptionnelle. Un catalyseur comme le lancement de l'iPhone 16 en septembre 2026 pourrait débloquer une réévaluation.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FFFFFF"/>
                </a:solidFill>
                <a:latin typeface="Calibri"/>
              </a:rPr>
              <a:t>1</a:t>
            </a:r>
          </a:p>
        </p:txBody>
      </p:sp>
      <p:sp>
        <p:nvSpPr>
          <p:cNvPr id="7" name="Rectangle 6"/>
          <p:cNvSpPr/>
          <p:nvPr/>
        </p:nvSpPr>
        <p:spPr>
          <a:xfrm>
            <a:off x="6353999"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FFFFFF"/>
                </a:solidFill>
                <a:latin typeface="Calibri"/>
              </a:rPr>
              <a:t>2</a:t>
            </a:r>
          </a:p>
        </p:txBody>
      </p:sp>
      <p:sp>
        <p:nvSpPr>
          <p:cNvPr id="9" name="Rectangle 8"/>
          <p:cNvSpPr/>
          <p:nvPr/>
        </p:nvSpPr>
        <p:spPr>
          <a:xfrm>
            <a:off x="6584400"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1B3A6B"/>
                </a:solidFill>
                <a:latin typeface="Calibri"/>
              </a:rPr>
              <a:t>3</a:t>
            </a:r>
          </a:p>
        </p:txBody>
      </p:sp>
      <p:sp>
        <p:nvSpPr>
          <p:cNvPr id="11" name="Rectangle 10"/>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3" name="Rectangle 12"/>
          <p:cNvSpPr/>
          <p:nvPr/>
        </p:nvSpPr>
        <p:spPr>
          <a:xfrm>
            <a:off x="70416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FFFFFF"/>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Comparable Peers</a:t>
            </a:r>
          </a:p>
        </p:txBody>
      </p:sp>
      <p:sp>
        <p:nvSpPr>
          <p:cNvPr id="16" name="TextBox 15"/>
          <p:cNvSpPr txBox="1"/>
          <p:nvPr/>
        </p:nvSpPr>
        <p:spPr>
          <a:xfrm>
            <a:off x="367200" y="622800"/>
            <a:ext cx="8413200" cy="201600"/>
          </a:xfrm>
          <a:prstGeom prst="rect">
            <a:avLst/>
          </a:prstGeom>
          <a:noFill/>
        </p:spPr>
        <p:txBody>
          <a:bodyPr wrap="square">
            <a:spAutoFit/>
          </a:bodyPr>
          <a:lstStyle/>
          <a:p>
            <a:pPr algn="l"/>
            <a:r>
              <a:rPr sz="900" b="0" i="0">
                <a:solidFill>
                  <a:srgbClr val="2E5FA3"/>
                </a:solidFill>
                <a:latin typeface="Calibri"/>
              </a:rPr>
              <a:t>Analyse par multiples  ·  LTM  ·  Mkt Cap en Mds USD</a:t>
            </a:r>
          </a:p>
        </p:txBody>
      </p:sp>
      <p:graphicFrame>
        <p:nvGraphicFramePr>
          <p:cNvPr id="17" name="Table 16"/>
          <p:cNvGraphicFramePr>
            <a:graphicFrameLocks noGrp="1"/>
          </p:cNvGraphicFramePr>
          <p:nvPr/>
        </p:nvGraphicFramePr>
        <p:xfrm>
          <a:off x="367200" y="914400"/>
          <a:ext cx="8413200" cy="2015999"/>
        </p:xfrm>
        <a:graphic>
          <a:graphicData uri="http://schemas.openxmlformats.org/drawingml/2006/table">
            <a:tbl>
              <a:tblPr firstRow="1" bandRow="1">
                <a:tableStyleId>{5C22544A-7EE6-4342-B048-85BDC9FD1C3A}</a:tableStyleId>
              </a:tblPr>
              <a:tblGrid>
                <a:gridCol w="1682640"/>
                <a:gridCol w="757188"/>
                <a:gridCol w="1093716"/>
                <a:gridCol w="1009584"/>
                <a:gridCol w="1009584"/>
                <a:gridCol w="757188"/>
                <a:gridCol w="1093716"/>
                <a:gridCol w="1009584"/>
              </a:tblGrid>
              <a:tr h="251999">
                <a:tc>
                  <a:txBody>
                    <a:bodyPr/>
                    <a:lstStyle/>
                    <a:p>
                      <a:pPr algn="l"/>
                      <a:r>
                        <a:rPr sz="800" b="1" i="0">
                          <a:solidFill>
                            <a:srgbClr val="FFFFFF"/>
                          </a:solidFill>
                          <a:latin typeface="Calibri"/>
                        </a:rPr>
                        <a:t>Société</a:t>
                      </a:r>
                    </a:p>
                  </a:txBody>
                  <a:tcPr>
                    <a:solidFill>
                      <a:srgbClr val="1B3A6B"/>
                    </a:solidFill>
                  </a:tcPr>
                </a:tc>
                <a:tc>
                  <a:txBody>
                    <a:bodyPr/>
                    <a:lstStyle/>
                    <a:p>
                      <a:pPr algn="ctr"/>
                      <a:r>
                        <a:rPr sz="800" b="1" i="0">
                          <a:solidFill>
                            <a:srgbClr val="FFFFFF"/>
                          </a:solidFill>
                          <a:latin typeface="Calibri"/>
                        </a:rPr>
                        <a:t>Ticker</a:t>
                      </a:r>
                    </a:p>
                  </a:txBody>
                  <a:tcPr>
                    <a:solidFill>
                      <a:srgbClr val="1B3A6B"/>
                    </a:solidFill>
                  </a:tcPr>
                </a:tc>
                <a:tc>
                  <a:txBody>
                    <a:bodyPr/>
                    <a:lstStyle/>
                    <a:p>
                      <a:pPr algn="ctr"/>
                      <a:r>
                        <a:rPr sz="800" b="1" i="0">
                          <a:solidFill>
                            <a:srgbClr val="FFFFFF"/>
                          </a:solidFill>
                          <a:latin typeface="Calibri"/>
                        </a:rPr>
                        <a:t>Mkt Cap</a:t>
                      </a:r>
                    </a:p>
                  </a:txBody>
                  <a:tcPr>
                    <a:solidFill>
                      <a:srgbClr val="1B3A6B"/>
                    </a:solidFill>
                  </a:tcPr>
                </a:tc>
                <a:tc>
                  <a:txBody>
                    <a:bodyPr/>
                    <a:lstStyle/>
                    <a:p>
                      <a:pPr algn="ctr"/>
                      <a:r>
                        <a:rPr sz="800" b="1" i="0">
                          <a:solidFill>
                            <a:srgbClr val="FFFFFF"/>
                          </a:solidFill>
                          <a:latin typeface="Calibri"/>
                        </a:rPr>
                        <a:t>EV/EBITDA</a:t>
                      </a:r>
                    </a:p>
                  </a:txBody>
                  <a:tcPr>
                    <a:solidFill>
                      <a:srgbClr val="1B3A6B"/>
                    </a:solidFill>
                  </a:tcPr>
                </a:tc>
                <a:tc>
                  <a:txBody>
                    <a:bodyPr/>
                    <a:lstStyle/>
                    <a:p>
                      <a:pPr algn="ctr"/>
                      <a:r>
                        <a:rPr sz="800" b="1" i="0">
                          <a:solidFill>
                            <a:srgbClr val="FFFFFF"/>
                          </a:solidFill>
                          <a:latin typeface="Calibri"/>
                        </a:rPr>
                        <a:t>EV/Rev.</a:t>
                      </a:r>
                    </a:p>
                  </a:txBody>
                  <a:tcPr>
                    <a:solidFill>
                      <a:srgbClr val="1B3A6B"/>
                    </a:solidFill>
                  </a:tcPr>
                </a:tc>
                <a:tc>
                  <a:txBody>
                    <a:bodyPr/>
                    <a:lstStyle/>
                    <a:p>
                      <a:pPr algn="ctr"/>
                      <a:r>
                        <a:rPr sz="800" b="1" i="0">
                          <a:solidFill>
                            <a:srgbClr val="FFFFFF"/>
                          </a:solidFill>
                          <a:latin typeface="Calibri"/>
                        </a:rPr>
                        <a:t>P/E</a:t>
                      </a:r>
                    </a:p>
                  </a:txBody>
                  <a:tcPr>
                    <a:solidFill>
                      <a:srgbClr val="1B3A6B"/>
                    </a:solidFill>
                  </a:tcPr>
                </a:tc>
                <a:tc>
                  <a:txBody>
                    <a:bodyPr/>
                    <a:lstStyle/>
                    <a:p>
                      <a:pPr algn="ctr"/>
                      <a:r>
                        <a:rPr sz="800" b="1" i="0">
                          <a:solidFill>
                            <a:srgbClr val="FFFFFF"/>
                          </a:solidFill>
                          <a:latin typeface="Calibri"/>
                        </a:rPr>
                        <a:t>Mg Brute</a:t>
                      </a:r>
                    </a:p>
                  </a:txBody>
                  <a:tcPr>
                    <a:solidFill>
                      <a:srgbClr val="1B3A6B"/>
                    </a:solidFill>
                  </a:tcPr>
                </a:tc>
                <a:tc>
                  <a:txBody>
                    <a:bodyPr/>
                    <a:lstStyle/>
                    <a:p>
                      <a:pPr algn="ctr"/>
                      <a:r>
                        <a:rPr sz="800" b="1" i="0">
                          <a:solidFill>
                            <a:srgbClr val="FFFFFF"/>
                          </a:solidFill>
                          <a:latin typeface="Calibri"/>
                        </a:rPr>
                        <a:t>Mg EBITDA</a:t>
                      </a:r>
                    </a:p>
                  </a:txBody>
                  <a:tcPr>
                    <a:solidFill>
                      <a:srgbClr val="1B3A6B"/>
                    </a:solidFill>
                  </a:tcPr>
                </a:tc>
              </a:tr>
              <a:tr h="251999">
                <a:tc>
                  <a:txBody>
                    <a:bodyPr/>
                    <a:lstStyle/>
                    <a:p>
                      <a:pPr algn="l"/>
                      <a:r>
                        <a:rPr sz="800" b="1" i="0">
                          <a:solidFill>
                            <a:srgbClr val="1B3A6B"/>
                          </a:solidFill>
                          <a:latin typeface="Calibri"/>
                        </a:rPr>
                        <a:t>Apple Inc.</a:t>
                      </a:r>
                    </a:p>
                  </a:txBody>
                  <a:tcPr>
                    <a:solidFill>
                      <a:srgbClr val="DDE8F5"/>
                    </a:solidFill>
                  </a:tcPr>
                </a:tc>
                <a:tc>
                  <a:txBody>
                    <a:bodyPr/>
                    <a:lstStyle/>
                    <a:p>
                      <a:pPr algn="ctr"/>
                      <a:r>
                        <a:rPr sz="750" b="1" i="0">
                          <a:solidFill>
                            <a:srgbClr val="2E5FA3"/>
                          </a:solidFill>
                          <a:latin typeface="Calibri"/>
                        </a:rPr>
                        <a:t>AAPL</a:t>
                      </a:r>
                    </a:p>
                  </a:txBody>
                  <a:tcPr>
                    <a:solidFill>
                      <a:srgbClr val="DDE8F5"/>
                    </a:solidFill>
                  </a:tcPr>
                </a:tc>
                <a:tc>
                  <a:txBody>
                    <a:bodyPr/>
                    <a:lstStyle/>
                    <a:p>
                      <a:pPr algn="ctr"/>
                      <a:r>
                        <a:rPr sz="800" b="1" i="0">
                          <a:solidFill>
                            <a:srgbClr val="1B3A6B"/>
                          </a:solidFill>
                          <a:latin typeface="Calibri"/>
                        </a:rPr>
                        <a:t>3 783,2</a:t>
                      </a:r>
                    </a:p>
                  </a:txBody>
                  <a:tcPr>
                    <a:solidFill>
                      <a:srgbClr val="DDE8F5"/>
                    </a:solidFill>
                  </a:tcPr>
                </a:tc>
                <a:tc>
                  <a:txBody>
                    <a:bodyPr/>
                    <a:lstStyle/>
                    <a:p>
                      <a:pPr algn="ctr"/>
                      <a:r>
                        <a:rPr sz="800" b="1" i="0">
                          <a:solidFill>
                            <a:srgbClr val="1B3A6B"/>
                          </a:solidFill>
                          <a:latin typeface="Calibri"/>
                        </a:rPr>
                        <a:t>26,6x</a:t>
                      </a:r>
                    </a:p>
                  </a:txBody>
                  <a:tcPr>
                    <a:solidFill>
                      <a:srgbClr val="DDE8F5"/>
                    </a:solidFill>
                  </a:tcPr>
                </a:tc>
                <a:tc>
                  <a:txBody>
                    <a:bodyPr/>
                    <a:lstStyle/>
                    <a:p>
                      <a:pPr algn="ctr"/>
                      <a:r>
                        <a:rPr sz="800" b="1" i="0">
                          <a:solidFill>
                            <a:srgbClr val="1B3A6B"/>
                          </a:solidFill>
                          <a:latin typeface="Calibri"/>
                        </a:rPr>
                        <a:t>9,2x</a:t>
                      </a:r>
                    </a:p>
                  </a:txBody>
                  <a:tcPr>
                    <a:solidFill>
                      <a:srgbClr val="DDE8F5"/>
                    </a:solidFill>
                  </a:tcPr>
                </a:tc>
                <a:tc>
                  <a:txBody>
                    <a:bodyPr/>
                    <a:lstStyle/>
                    <a:p>
                      <a:pPr algn="ctr"/>
                      <a:r>
                        <a:rPr sz="800" b="1" i="0">
                          <a:solidFill>
                            <a:srgbClr val="1B3A6B"/>
                          </a:solidFill>
                          <a:latin typeface="Calibri"/>
                        </a:rPr>
                        <a:t>33,8x</a:t>
                      </a:r>
                    </a:p>
                  </a:txBody>
                  <a:tcPr>
                    <a:solidFill>
                      <a:srgbClr val="DDE8F5"/>
                    </a:solidFill>
                  </a:tcPr>
                </a:tc>
                <a:tc>
                  <a:txBody>
                    <a:bodyPr/>
                    <a:lstStyle/>
                    <a:p>
                      <a:pPr algn="ctr"/>
                      <a:r>
                        <a:rPr sz="800" b="1" i="0">
                          <a:solidFill>
                            <a:srgbClr val="1B3A6B"/>
                          </a:solidFill>
                          <a:latin typeface="Calibri"/>
                        </a:rPr>
                        <a:t>46,9 %</a:t>
                      </a:r>
                    </a:p>
                  </a:txBody>
                  <a:tcPr>
                    <a:solidFill>
                      <a:srgbClr val="DDE8F5"/>
                    </a:solidFill>
                  </a:tcPr>
                </a:tc>
                <a:tc>
                  <a:txBody>
                    <a:bodyPr/>
                    <a:lstStyle/>
                    <a:p>
                      <a:pPr algn="ctr"/>
                      <a:r>
                        <a:rPr sz="800" b="1" i="0">
                          <a:solidFill>
                            <a:srgbClr val="1B3A6B"/>
                          </a:solidFill>
                          <a:latin typeface="Calibri"/>
                        </a:rPr>
                        <a:t>34,8 %</a:t>
                      </a:r>
                    </a:p>
                  </a:txBody>
                  <a:tcPr>
                    <a:solidFill>
                      <a:srgbClr val="DDE8F5"/>
                    </a:solidFill>
                  </a:tcPr>
                </a:tc>
              </a:tr>
              <a:tr h="251999">
                <a:tc>
                  <a:txBody>
                    <a:bodyPr/>
                    <a:lstStyle/>
                    <a:p>
                      <a:pPr algn="l"/>
                      <a:r>
                        <a:rPr sz="800" b="0" i="0">
                          <a:solidFill>
                            <a:srgbClr val="0D0D0D"/>
                          </a:solidFill>
                          <a:latin typeface="Calibri"/>
                        </a:rPr>
                        <a:t>Microsoft</a:t>
                      </a:r>
                    </a:p>
                  </a:txBody>
                  <a:tcPr>
                    <a:solidFill>
                      <a:srgbClr val="FFFFFF"/>
                    </a:solidFill>
                  </a:tcPr>
                </a:tc>
                <a:tc>
                  <a:txBody>
                    <a:bodyPr/>
                    <a:lstStyle/>
                    <a:p>
                      <a:pPr algn="ctr"/>
                      <a:r>
                        <a:rPr sz="750" b="0" i="0">
                          <a:solidFill>
                            <a:srgbClr val="555555"/>
                          </a:solidFill>
                          <a:latin typeface="Calibri"/>
                        </a:rPr>
                        <a:t>MSFT</a:t>
                      </a:r>
                    </a:p>
                  </a:txBody>
                  <a:tcPr>
                    <a:solidFill>
                      <a:srgbClr val="FFFFFF"/>
                    </a:solidFill>
                  </a:tcPr>
                </a:tc>
                <a:tc>
                  <a:txBody>
                    <a:bodyPr/>
                    <a:lstStyle/>
                    <a:p>
                      <a:pPr algn="ctr"/>
                      <a:r>
                        <a:rPr sz="800" b="0" i="0">
                          <a:solidFill>
                            <a:srgbClr val="0D0D0D"/>
                          </a:solidFill>
                          <a:latin typeface="Calibri"/>
                        </a:rPr>
                        <a:t>3 200,0</a:t>
                      </a:r>
                    </a:p>
                  </a:txBody>
                  <a:tcPr>
                    <a:solidFill>
                      <a:srgbClr val="FFFFFF"/>
                    </a:solidFill>
                  </a:tcPr>
                </a:tc>
                <a:tc>
                  <a:txBody>
                    <a:bodyPr/>
                    <a:lstStyle/>
                    <a:p>
                      <a:pPr algn="ctr"/>
                      <a:r>
                        <a:rPr sz="800" b="0" i="0">
                          <a:solidFill>
                            <a:srgbClr val="0D0D0D"/>
                          </a:solidFill>
                          <a:latin typeface="Calibri"/>
                        </a:rPr>
                        <a:t>28,0x</a:t>
                      </a:r>
                    </a:p>
                  </a:txBody>
                  <a:tcPr>
                    <a:solidFill>
                      <a:srgbClr val="FFFFFF"/>
                    </a:solidFill>
                  </a:tcPr>
                </a:tc>
                <a:tc>
                  <a:txBody>
                    <a:bodyPr/>
                    <a:lstStyle/>
                    <a:p>
                      <a:pPr algn="ctr"/>
                      <a:r>
                        <a:rPr sz="800" b="0" i="0">
                          <a:solidFill>
                            <a:srgbClr val="0D0D0D"/>
                          </a:solidFill>
                          <a:latin typeface="Calibri"/>
                        </a:rPr>
                        <a:t>12,5x</a:t>
                      </a:r>
                    </a:p>
                  </a:txBody>
                  <a:tcPr>
                    <a:solidFill>
                      <a:srgbClr val="FFFFFF"/>
                    </a:solidFill>
                  </a:tcPr>
                </a:tc>
                <a:tc>
                  <a:txBody>
                    <a:bodyPr/>
                    <a:lstStyle/>
                    <a:p>
                      <a:pPr algn="ctr"/>
                      <a:r>
                        <a:rPr sz="800" b="0" i="0">
                          <a:solidFill>
                            <a:srgbClr val="0D0D0D"/>
                          </a:solidFill>
                          <a:latin typeface="Calibri"/>
                        </a:rPr>
                        <a:t>36,0x</a:t>
                      </a:r>
                    </a:p>
                  </a:txBody>
                  <a:tcPr>
                    <a:solidFill>
                      <a:srgbClr val="FFFFFF"/>
                    </a:solidFill>
                  </a:tcPr>
                </a:tc>
                <a:tc>
                  <a:txBody>
                    <a:bodyPr/>
                    <a:lstStyle/>
                    <a:p>
                      <a:pPr algn="ctr"/>
                      <a:r>
                        <a:rPr sz="800" b="0" i="0">
                          <a:solidFill>
                            <a:srgbClr val="0D0D0D"/>
                          </a:solidFill>
                          <a:latin typeface="Calibri"/>
                        </a:rPr>
                        <a:t>68,0 %</a:t>
                      </a:r>
                    </a:p>
                  </a:txBody>
                  <a:tcPr>
                    <a:solidFill>
                      <a:srgbClr val="FFFFFF"/>
                    </a:solidFill>
                  </a:tcPr>
                </a:tc>
                <a:tc>
                  <a:txBody>
                    <a:bodyPr/>
                    <a:lstStyle/>
                    <a:p>
                      <a:pPr algn="ctr"/>
                      <a:r>
                        <a:rPr sz="800" b="0" i="0">
                          <a:solidFill>
                            <a:srgbClr val="0D0D0D"/>
                          </a:solidFill>
                          <a:latin typeface="Calibri"/>
                        </a:rPr>
                        <a:t>52,0 %</a:t>
                      </a:r>
                    </a:p>
                  </a:txBody>
                  <a:tcPr>
                    <a:solidFill>
                      <a:srgbClr val="FFFFFF"/>
                    </a:solidFill>
                  </a:tcPr>
                </a:tc>
              </a:tr>
              <a:tr h="251999">
                <a:tc>
                  <a:txBody>
                    <a:bodyPr/>
                    <a:lstStyle/>
                    <a:p>
                      <a:pPr algn="l"/>
                      <a:r>
                        <a:rPr sz="800" b="0" i="0">
                          <a:solidFill>
                            <a:srgbClr val="0D0D0D"/>
                          </a:solidFill>
                          <a:latin typeface="Calibri"/>
                        </a:rPr>
                        <a:t>Alphabet</a:t>
                      </a:r>
                    </a:p>
                  </a:txBody>
                  <a:tcPr>
                    <a:solidFill>
                      <a:srgbClr val="F7F8FA"/>
                    </a:solidFill>
                  </a:tcPr>
                </a:tc>
                <a:tc>
                  <a:txBody>
                    <a:bodyPr/>
                    <a:lstStyle/>
                    <a:p>
                      <a:pPr algn="ctr"/>
                      <a:r>
                        <a:rPr sz="750" b="0" i="0">
                          <a:solidFill>
                            <a:srgbClr val="555555"/>
                          </a:solidFill>
                          <a:latin typeface="Calibri"/>
                        </a:rPr>
                        <a:t>GOOGL</a:t>
                      </a:r>
                    </a:p>
                  </a:txBody>
                  <a:tcPr>
                    <a:solidFill>
                      <a:srgbClr val="F7F8FA"/>
                    </a:solidFill>
                  </a:tcPr>
                </a:tc>
                <a:tc>
                  <a:txBody>
                    <a:bodyPr/>
                    <a:lstStyle/>
                    <a:p>
                      <a:pPr algn="ctr"/>
                      <a:r>
                        <a:rPr sz="800" b="0" i="0">
                          <a:solidFill>
                            <a:srgbClr val="0D0D0D"/>
                          </a:solidFill>
                          <a:latin typeface="Calibri"/>
                        </a:rPr>
                        <a:t>2 000,0</a:t>
                      </a:r>
                    </a:p>
                  </a:txBody>
                  <a:tcPr>
                    <a:solidFill>
                      <a:srgbClr val="F7F8FA"/>
                    </a:solidFill>
                  </a:tcPr>
                </a:tc>
                <a:tc>
                  <a:txBody>
                    <a:bodyPr/>
                    <a:lstStyle/>
                    <a:p>
                      <a:pPr algn="ctr"/>
                      <a:r>
                        <a:rPr sz="800" b="0" i="0">
                          <a:solidFill>
                            <a:srgbClr val="0D0D0D"/>
                          </a:solidFill>
                          <a:latin typeface="Calibri"/>
                        </a:rPr>
                        <a:t>22,0x</a:t>
                      </a:r>
                    </a:p>
                  </a:txBody>
                  <a:tcPr>
                    <a:solidFill>
                      <a:srgbClr val="F7F8FA"/>
                    </a:solidFill>
                  </a:tcPr>
                </a:tc>
                <a:tc>
                  <a:txBody>
                    <a:bodyPr/>
                    <a:lstStyle/>
                    <a:p>
                      <a:pPr algn="ctr"/>
                      <a:r>
                        <a:rPr sz="800" b="0" i="0">
                          <a:solidFill>
                            <a:srgbClr val="0D0D0D"/>
                          </a:solidFill>
                          <a:latin typeface="Calibri"/>
                        </a:rPr>
                        <a:t>8,5x</a:t>
                      </a:r>
                    </a:p>
                  </a:txBody>
                  <a:tcPr>
                    <a:solidFill>
                      <a:srgbClr val="F7F8FA"/>
                    </a:solidFill>
                  </a:tcPr>
                </a:tc>
                <a:tc>
                  <a:txBody>
                    <a:bodyPr/>
                    <a:lstStyle/>
                    <a:p>
                      <a:pPr algn="ctr"/>
                      <a:r>
                        <a:rPr sz="800" b="0" i="0">
                          <a:solidFill>
                            <a:srgbClr val="0D0D0D"/>
                          </a:solidFill>
                          <a:latin typeface="Calibri"/>
                        </a:rPr>
                        <a:t>28,0x</a:t>
                      </a:r>
                    </a:p>
                  </a:txBody>
                  <a:tcPr>
                    <a:solidFill>
                      <a:srgbClr val="F7F8FA"/>
                    </a:solidFill>
                  </a:tcPr>
                </a:tc>
                <a:tc>
                  <a:txBody>
                    <a:bodyPr/>
                    <a:lstStyle/>
                    <a:p>
                      <a:pPr algn="ctr"/>
                      <a:r>
                        <a:rPr sz="800" b="0" i="0">
                          <a:solidFill>
                            <a:srgbClr val="0D0D0D"/>
                          </a:solidFill>
                          <a:latin typeface="Calibri"/>
                        </a:rPr>
                        <a:t>56,0 %</a:t>
                      </a:r>
                    </a:p>
                  </a:txBody>
                  <a:tcPr>
                    <a:solidFill>
                      <a:srgbClr val="F7F8FA"/>
                    </a:solidFill>
                  </a:tcPr>
                </a:tc>
                <a:tc>
                  <a:txBody>
                    <a:bodyPr/>
                    <a:lstStyle/>
                    <a:p>
                      <a:pPr algn="ctr"/>
                      <a:r>
                        <a:rPr sz="800" b="0" i="0">
                          <a:solidFill>
                            <a:srgbClr val="0D0D0D"/>
                          </a:solidFill>
                          <a:latin typeface="Calibri"/>
                        </a:rPr>
                        <a:t>38,0 %</a:t>
                      </a:r>
                    </a:p>
                  </a:txBody>
                  <a:tcPr>
                    <a:solidFill>
                      <a:srgbClr val="F7F8FA"/>
                    </a:solidFill>
                  </a:tcPr>
                </a:tc>
              </a:tr>
              <a:tr h="251999">
                <a:tc>
                  <a:txBody>
                    <a:bodyPr/>
                    <a:lstStyle/>
                    <a:p>
                      <a:pPr algn="l"/>
                      <a:r>
                        <a:rPr sz="800" b="0" i="0">
                          <a:solidFill>
                            <a:srgbClr val="0D0D0D"/>
                          </a:solidFill>
                          <a:latin typeface="Calibri"/>
                        </a:rPr>
                        <a:t>Amazon</a:t>
                      </a:r>
                    </a:p>
                  </a:txBody>
                  <a:tcPr>
                    <a:solidFill>
                      <a:srgbClr val="FFFFFF"/>
                    </a:solidFill>
                  </a:tcPr>
                </a:tc>
                <a:tc>
                  <a:txBody>
                    <a:bodyPr/>
                    <a:lstStyle/>
                    <a:p>
                      <a:pPr algn="ctr"/>
                      <a:r>
                        <a:rPr sz="750" b="0" i="0">
                          <a:solidFill>
                            <a:srgbClr val="555555"/>
                          </a:solidFill>
                          <a:latin typeface="Calibri"/>
                        </a:rPr>
                        <a:t>AMZN</a:t>
                      </a:r>
                    </a:p>
                  </a:txBody>
                  <a:tcPr>
                    <a:solidFill>
                      <a:srgbClr val="FFFFFF"/>
                    </a:solidFill>
                  </a:tcPr>
                </a:tc>
                <a:tc>
                  <a:txBody>
                    <a:bodyPr/>
                    <a:lstStyle/>
                    <a:p>
                      <a:pPr algn="ctr"/>
                      <a:r>
                        <a:rPr sz="800" b="0" i="0">
                          <a:solidFill>
                            <a:srgbClr val="0D0D0D"/>
                          </a:solidFill>
                          <a:latin typeface="Calibri"/>
                        </a:rPr>
                        <a:t>1 800,0</a:t>
                      </a:r>
                    </a:p>
                  </a:txBody>
                  <a:tcPr>
                    <a:solidFill>
                      <a:srgbClr val="FFFFFF"/>
                    </a:solidFill>
                  </a:tcPr>
                </a:tc>
                <a:tc>
                  <a:txBody>
                    <a:bodyPr/>
                    <a:lstStyle/>
                    <a:p>
                      <a:pPr algn="ctr"/>
                      <a:r>
                        <a:rPr sz="800" b="0" i="0">
                          <a:solidFill>
                            <a:srgbClr val="0D0D0D"/>
                          </a:solidFill>
                          <a:latin typeface="Calibri"/>
                        </a:rPr>
                        <a:t>25,0x</a:t>
                      </a:r>
                    </a:p>
                  </a:txBody>
                  <a:tcPr>
                    <a:solidFill>
                      <a:srgbClr val="FFFFFF"/>
                    </a:solidFill>
                  </a:tcPr>
                </a:tc>
                <a:tc>
                  <a:txBody>
                    <a:bodyPr/>
                    <a:lstStyle/>
                    <a:p>
                      <a:pPr algn="ctr"/>
                      <a:r>
                        <a:rPr sz="800" b="0" i="0">
                          <a:solidFill>
                            <a:srgbClr val="0D0D0D"/>
                          </a:solidFill>
                          <a:latin typeface="Calibri"/>
                        </a:rPr>
                        <a:t>3,5x</a:t>
                      </a:r>
                    </a:p>
                  </a:txBody>
                  <a:tcPr>
                    <a:solidFill>
                      <a:srgbClr val="FFFFFF"/>
                    </a:solidFill>
                  </a:tcPr>
                </a:tc>
                <a:tc>
                  <a:txBody>
                    <a:bodyPr/>
                    <a:lstStyle/>
                    <a:p>
                      <a:pPr algn="ctr"/>
                      <a:r>
                        <a:rPr sz="800" b="0" i="0">
                          <a:solidFill>
                            <a:srgbClr val="0D0D0D"/>
                          </a:solidFill>
                          <a:latin typeface="Calibri"/>
                        </a:rPr>
                        <a:t>50,0x</a:t>
                      </a:r>
                    </a:p>
                  </a:txBody>
                  <a:tcPr>
                    <a:solidFill>
                      <a:srgbClr val="FFFFFF"/>
                    </a:solidFill>
                  </a:tcPr>
                </a:tc>
                <a:tc>
                  <a:txBody>
                    <a:bodyPr/>
                    <a:lstStyle/>
                    <a:p>
                      <a:pPr algn="ctr"/>
                      <a:r>
                        <a:rPr sz="800" b="0" i="0">
                          <a:solidFill>
                            <a:srgbClr val="0D0D0D"/>
                          </a:solidFill>
                          <a:latin typeface="Calibri"/>
                        </a:rPr>
                        <a:t>40,0 %</a:t>
                      </a:r>
                    </a:p>
                  </a:txBody>
                  <a:tcPr>
                    <a:solidFill>
                      <a:srgbClr val="FFFFFF"/>
                    </a:solidFill>
                  </a:tcPr>
                </a:tc>
                <a:tc>
                  <a:txBody>
                    <a:bodyPr/>
                    <a:lstStyle/>
                    <a:p>
                      <a:pPr algn="ctr"/>
                      <a:r>
                        <a:rPr sz="800" b="0" i="0">
                          <a:solidFill>
                            <a:srgbClr val="0D0D0D"/>
                          </a:solidFill>
                          <a:latin typeface="Calibri"/>
                        </a:rPr>
                        <a:t>15,0 %</a:t>
                      </a:r>
                    </a:p>
                  </a:txBody>
                  <a:tcPr>
                    <a:solidFill>
                      <a:srgbClr val="FFFFFF"/>
                    </a:solidFill>
                  </a:tcPr>
                </a:tc>
              </a:tr>
              <a:tr h="251999">
                <a:tc>
                  <a:txBody>
                    <a:bodyPr/>
                    <a:lstStyle/>
                    <a:p>
                      <a:pPr algn="l"/>
                      <a:r>
                        <a:rPr sz="800" b="0" i="0">
                          <a:solidFill>
                            <a:srgbClr val="0D0D0D"/>
                          </a:solidFill>
                          <a:latin typeface="Calibri"/>
                        </a:rPr>
                        <a:t>Meta Platforms</a:t>
                      </a:r>
                    </a:p>
                  </a:txBody>
                  <a:tcPr>
                    <a:solidFill>
                      <a:srgbClr val="F7F8FA"/>
                    </a:solidFill>
                  </a:tcPr>
                </a:tc>
                <a:tc>
                  <a:txBody>
                    <a:bodyPr/>
                    <a:lstStyle/>
                    <a:p>
                      <a:pPr algn="ctr"/>
                      <a:r>
                        <a:rPr sz="750" b="0" i="0">
                          <a:solidFill>
                            <a:srgbClr val="555555"/>
                          </a:solidFill>
                          <a:latin typeface="Calibri"/>
                        </a:rPr>
                        <a:t>META</a:t>
                      </a:r>
                    </a:p>
                  </a:txBody>
                  <a:tcPr>
                    <a:solidFill>
                      <a:srgbClr val="F7F8FA"/>
                    </a:solidFill>
                  </a:tcPr>
                </a:tc>
                <a:tc>
                  <a:txBody>
                    <a:bodyPr/>
                    <a:lstStyle/>
                    <a:p>
                      <a:pPr algn="ctr"/>
                      <a:r>
                        <a:rPr sz="800" b="0" i="0">
                          <a:solidFill>
                            <a:srgbClr val="0D0D0D"/>
                          </a:solidFill>
                          <a:latin typeface="Calibri"/>
                        </a:rPr>
                        <a:t>1 500,0</a:t>
                      </a:r>
                    </a:p>
                  </a:txBody>
                  <a:tcPr>
                    <a:solidFill>
                      <a:srgbClr val="F7F8FA"/>
                    </a:solidFill>
                  </a:tcPr>
                </a:tc>
                <a:tc>
                  <a:txBody>
                    <a:bodyPr/>
                    <a:lstStyle/>
                    <a:p>
                      <a:pPr algn="ctr"/>
                      <a:r>
                        <a:rPr sz="800" b="0" i="0">
                          <a:solidFill>
                            <a:srgbClr val="0D0D0D"/>
                          </a:solidFill>
                          <a:latin typeface="Calibri"/>
                        </a:rPr>
                        <a:t>18,0x</a:t>
                      </a:r>
                    </a:p>
                  </a:txBody>
                  <a:tcPr>
                    <a:solidFill>
                      <a:srgbClr val="F7F8FA"/>
                    </a:solidFill>
                  </a:tcPr>
                </a:tc>
                <a:tc>
                  <a:txBody>
                    <a:bodyPr/>
                    <a:lstStyle/>
                    <a:p>
                      <a:pPr algn="ctr"/>
                      <a:r>
                        <a:rPr sz="800" b="0" i="0">
                          <a:solidFill>
                            <a:srgbClr val="0D0D0D"/>
                          </a:solidFill>
                          <a:latin typeface="Calibri"/>
                        </a:rPr>
                        <a:t>10,0x</a:t>
                      </a:r>
                    </a:p>
                  </a:txBody>
                  <a:tcPr>
                    <a:solidFill>
                      <a:srgbClr val="F7F8FA"/>
                    </a:solidFill>
                  </a:tcPr>
                </a:tc>
                <a:tc>
                  <a:txBody>
                    <a:bodyPr/>
                    <a:lstStyle/>
                    <a:p>
                      <a:pPr algn="ctr"/>
                      <a:r>
                        <a:rPr sz="800" b="0" i="0">
                          <a:solidFill>
                            <a:srgbClr val="0D0D0D"/>
                          </a:solidFill>
                          <a:latin typeface="Calibri"/>
                        </a:rPr>
                        <a:t>30,0x</a:t>
                      </a:r>
                    </a:p>
                  </a:txBody>
                  <a:tcPr>
                    <a:solidFill>
                      <a:srgbClr val="F7F8FA"/>
                    </a:solidFill>
                  </a:tcPr>
                </a:tc>
                <a:tc>
                  <a:txBody>
                    <a:bodyPr/>
                    <a:lstStyle/>
                    <a:p>
                      <a:pPr algn="ctr"/>
                      <a:r>
                        <a:rPr sz="800" b="0" i="0">
                          <a:solidFill>
                            <a:srgbClr val="0D0D0D"/>
                          </a:solidFill>
                          <a:latin typeface="Calibri"/>
                        </a:rPr>
                        <a:t>85,0 %</a:t>
                      </a:r>
                    </a:p>
                  </a:txBody>
                  <a:tcPr>
                    <a:solidFill>
                      <a:srgbClr val="F7F8FA"/>
                    </a:solidFill>
                  </a:tcPr>
                </a:tc>
                <a:tc>
                  <a:txBody>
                    <a:bodyPr/>
                    <a:lstStyle/>
                    <a:p>
                      <a:pPr algn="ctr"/>
                      <a:r>
                        <a:rPr sz="800" b="0" i="0">
                          <a:solidFill>
                            <a:srgbClr val="0D0D0D"/>
                          </a:solidFill>
                          <a:latin typeface="Calibri"/>
                        </a:rPr>
                        <a:t>55,0 %</a:t>
                      </a:r>
                    </a:p>
                  </a:txBody>
                  <a:tcPr>
                    <a:solidFill>
                      <a:srgbClr val="F7F8FA"/>
                    </a:solidFill>
                  </a:tcPr>
                </a:tc>
              </a:tr>
              <a:tr h="251999">
                <a:tc>
                  <a:txBody>
                    <a:bodyPr/>
                    <a:lstStyle/>
                    <a:p>
                      <a:pPr algn="l"/>
                      <a:r>
                        <a:rPr sz="800" b="0" i="0">
                          <a:solidFill>
                            <a:srgbClr val="0D0D0D"/>
                          </a:solidFill>
                          <a:latin typeface="Calibri"/>
                        </a:rPr>
                        <a:t>Samsung Electronics</a:t>
                      </a:r>
                    </a:p>
                  </a:txBody>
                  <a:tcPr>
                    <a:solidFill>
                      <a:srgbClr val="FFFFFF"/>
                    </a:solidFill>
                  </a:tcPr>
                </a:tc>
                <a:tc>
                  <a:txBody>
                    <a:bodyPr/>
                    <a:lstStyle/>
                    <a:p>
                      <a:pPr algn="ctr"/>
                      <a:r>
                        <a:rPr sz="750" b="0" i="0">
                          <a:solidFill>
                            <a:srgbClr val="555555"/>
                          </a:solidFill>
                          <a:latin typeface="Calibri"/>
                        </a:rPr>
                        <a:t>005930.KS</a:t>
                      </a:r>
                    </a:p>
                  </a:txBody>
                  <a:tcPr>
                    <a:solidFill>
                      <a:srgbClr val="FFFFFF"/>
                    </a:solidFill>
                  </a:tcPr>
                </a:tc>
                <a:tc>
                  <a:txBody>
                    <a:bodyPr/>
                    <a:lstStyle/>
                    <a:p>
                      <a:pPr algn="ctr"/>
                      <a:r>
                        <a:rPr sz="800" b="0" i="0">
                          <a:solidFill>
                            <a:srgbClr val="0D0D0D"/>
                          </a:solidFill>
                          <a:latin typeface="Calibri"/>
                        </a:rPr>
                        <a:t>450,0</a:t>
                      </a:r>
                    </a:p>
                  </a:txBody>
                  <a:tcPr>
                    <a:solidFill>
                      <a:srgbClr val="FFFFFF"/>
                    </a:solidFill>
                  </a:tcPr>
                </a:tc>
                <a:tc>
                  <a:txBody>
                    <a:bodyPr/>
                    <a:lstStyle/>
                    <a:p>
                      <a:pPr algn="ctr"/>
                      <a:r>
                        <a:rPr sz="800" b="0" i="0">
                          <a:solidFill>
                            <a:srgbClr val="0D0D0D"/>
                          </a:solidFill>
                          <a:latin typeface="Calibri"/>
                        </a:rPr>
                        <a:t>8,0x</a:t>
                      </a:r>
                    </a:p>
                  </a:txBody>
                  <a:tcPr>
                    <a:solidFill>
                      <a:srgbClr val="FFFFFF"/>
                    </a:solidFill>
                  </a:tcPr>
                </a:tc>
                <a:tc>
                  <a:txBody>
                    <a:bodyPr/>
                    <a:lstStyle/>
                    <a:p>
                      <a:pPr algn="ctr"/>
                      <a:r>
                        <a:rPr sz="800" b="0" i="0">
                          <a:solidFill>
                            <a:srgbClr val="0D0D0D"/>
                          </a:solidFill>
                          <a:latin typeface="Calibri"/>
                        </a:rPr>
                        <a:t>1,2x</a:t>
                      </a:r>
                    </a:p>
                  </a:txBody>
                  <a:tcPr>
                    <a:solidFill>
                      <a:srgbClr val="FFFFFF"/>
                    </a:solidFill>
                  </a:tcPr>
                </a:tc>
                <a:tc>
                  <a:txBody>
                    <a:bodyPr/>
                    <a:lstStyle/>
                    <a:p>
                      <a:pPr algn="ctr"/>
                      <a:r>
                        <a:rPr sz="800" b="0" i="0">
                          <a:solidFill>
                            <a:srgbClr val="0D0D0D"/>
                          </a:solidFill>
                          <a:latin typeface="Calibri"/>
                        </a:rPr>
                        <a:t>15,0x</a:t>
                      </a:r>
                    </a:p>
                  </a:txBody>
                  <a:tcPr>
                    <a:solidFill>
                      <a:srgbClr val="FFFFFF"/>
                    </a:solidFill>
                  </a:tcPr>
                </a:tc>
                <a:tc>
                  <a:txBody>
                    <a:bodyPr/>
                    <a:lstStyle/>
                    <a:p>
                      <a:pPr algn="ctr"/>
                      <a:r>
                        <a:rPr sz="800" b="0" i="0">
                          <a:solidFill>
                            <a:srgbClr val="0D0D0D"/>
                          </a:solidFill>
                          <a:latin typeface="Calibri"/>
                        </a:rPr>
                        <a:t>45,0 %</a:t>
                      </a:r>
                    </a:p>
                  </a:txBody>
                  <a:tcPr>
                    <a:solidFill>
                      <a:srgbClr val="FFFFFF"/>
                    </a:solidFill>
                  </a:tcPr>
                </a:tc>
                <a:tc>
                  <a:txBody>
                    <a:bodyPr/>
                    <a:lstStyle/>
                    <a:p>
                      <a:pPr algn="ctr"/>
                      <a:r>
                        <a:rPr sz="800" b="0" i="0">
                          <a:solidFill>
                            <a:srgbClr val="0D0D0D"/>
                          </a:solidFill>
                          <a:latin typeface="Calibri"/>
                        </a:rPr>
                        <a:t>20,0 %</a:t>
                      </a:r>
                    </a:p>
                  </a:txBody>
                  <a:tcPr>
                    <a:solidFill>
                      <a:srgbClr val="FFFFFF"/>
                    </a:solidFill>
                  </a:tcPr>
                </a:tc>
              </a:tr>
              <a:tr h="252006">
                <a:tc>
                  <a:txBody>
                    <a:bodyPr/>
                    <a:lstStyle/>
                    <a:p>
                      <a:pPr algn="l"/>
                      <a:r>
                        <a:rPr sz="800" b="1" i="0">
                          <a:solidFill>
                            <a:srgbClr val="0D0D0D"/>
                          </a:solidFill>
                          <a:latin typeface="Calibri"/>
                        </a:rPr>
                        <a:t>Médiane peers</a:t>
                      </a:r>
                    </a:p>
                  </a:txBody>
                  <a:tcPr>
                    <a:solidFill>
                      <a:srgbClr val="F7F8FA"/>
                    </a:solidFill>
                  </a:tcPr>
                </a:tc>
                <a:tc>
                  <a:txBody>
                    <a:bodyPr/>
                    <a:lstStyle/>
                    <a:p>
                      <a:pPr algn="ctr"/>
                      <a:r>
                        <a:rPr sz="800" b="1" i="0">
                          <a:solidFill>
                            <a:srgbClr val="0D0D0D"/>
                          </a:solidFill>
                          <a:latin typeface="Calibri"/>
                        </a:rPr>
                        <a:t>—</a:t>
                      </a:r>
                    </a:p>
                  </a:txBody>
                  <a:tcPr>
                    <a:solidFill>
                      <a:srgbClr val="F7F8FA"/>
                    </a:solidFill>
                  </a:tcPr>
                </a:tc>
                <a:tc>
                  <a:txBody>
                    <a:bodyPr/>
                    <a:lstStyle/>
                    <a:p>
                      <a:pPr algn="ctr"/>
                      <a:r>
                        <a:rPr sz="800" b="1" i="0">
                          <a:solidFill>
                            <a:srgbClr val="0D0D0D"/>
                          </a:solidFill>
                          <a:latin typeface="Calibri"/>
                        </a:rPr>
                        <a:t>—</a:t>
                      </a:r>
                    </a:p>
                  </a:txBody>
                  <a:tcPr>
                    <a:solidFill>
                      <a:srgbClr val="F7F8FA"/>
                    </a:solidFill>
                  </a:tcPr>
                </a:tc>
                <a:tc>
                  <a:txBody>
                    <a:bodyPr/>
                    <a:lstStyle/>
                    <a:p>
                      <a:pPr algn="ctr"/>
                      <a:r>
                        <a:rPr sz="800" b="1" i="0">
                          <a:solidFill>
                            <a:srgbClr val="0D0D0D"/>
                          </a:solidFill>
                          <a:latin typeface="Calibri"/>
                        </a:rPr>
                        <a:t>22,0x</a:t>
                      </a:r>
                    </a:p>
                  </a:txBody>
                  <a:tcPr>
                    <a:solidFill>
                      <a:srgbClr val="F7F8FA"/>
                    </a:solidFill>
                  </a:tcPr>
                </a:tc>
                <a:tc>
                  <a:txBody>
                    <a:bodyPr/>
                    <a:lstStyle/>
                    <a:p>
                      <a:pPr algn="ctr"/>
                      <a:r>
                        <a:rPr sz="800" b="1" i="0">
                          <a:solidFill>
                            <a:srgbClr val="0D0D0D"/>
                          </a:solidFill>
                          <a:latin typeface="Calibri"/>
                        </a:rPr>
                        <a:t>8,5x</a:t>
                      </a:r>
                    </a:p>
                  </a:txBody>
                  <a:tcPr>
                    <a:solidFill>
                      <a:srgbClr val="F7F8FA"/>
                    </a:solidFill>
                  </a:tcPr>
                </a:tc>
                <a:tc>
                  <a:txBody>
                    <a:bodyPr/>
                    <a:lstStyle/>
                    <a:p>
                      <a:pPr algn="ctr"/>
                      <a:r>
                        <a:rPr sz="800" b="1" i="0">
                          <a:solidFill>
                            <a:srgbClr val="0D0D0D"/>
                          </a:solidFill>
                          <a:latin typeface="Calibri"/>
                        </a:rPr>
                        <a:t>30,0x</a:t>
                      </a:r>
                    </a:p>
                  </a:txBody>
                  <a:tcPr>
                    <a:solidFill>
                      <a:srgbClr val="F7F8FA"/>
                    </a:solidFill>
                  </a:tcPr>
                </a:tc>
                <a:tc>
                  <a:txBody>
                    <a:bodyPr/>
                    <a:lstStyle/>
                    <a:p>
                      <a:pPr algn="ctr"/>
                      <a:r>
                        <a:rPr sz="800" b="1" i="0">
                          <a:solidFill>
                            <a:srgbClr val="0D0D0D"/>
                          </a:solidFill>
                          <a:latin typeface="Calibri"/>
                        </a:rPr>
                        <a:t>56,0 %</a:t>
                      </a:r>
                    </a:p>
                  </a:txBody>
                  <a:tcPr>
                    <a:solidFill>
                      <a:srgbClr val="F7F8FA"/>
                    </a:solidFill>
                  </a:tcPr>
                </a:tc>
                <a:tc>
                  <a:txBody>
                    <a:bodyPr/>
                    <a:lstStyle/>
                    <a:p>
                      <a:pPr algn="ctr"/>
                      <a:r>
                        <a:rPr sz="800" b="1" i="0">
                          <a:solidFill>
                            <a:srgbClr val="0D0D0D"/>
                          </a:solidFill>
                          <a:latin typeface="Calibri"/>
                        </a:rPr>
                        <a:t>38,0 %</a:t>
                      </a:r>
                    </a:p>
                  </a:txBody>
                  <a:tcPr>
                    <a:solidFill>
                      <a:srgbClr val="F7F8FA"/>
                    </a:solidFill>
                  </a:tcPr>
                </a:tc>
              </a:tr>
            </a:tbl>
          </a:graphicData>
        </a:graphic>
      </p:graphicFrame>
      <p:sp>
        <p:nvSpPr>
          <p:cNvPr id="18" name="Rectangle 17"/>
          <p:cNvSpPr/>
          <p:nvPr/>
        </p:nvSpPr>
        <p:spPr>
          <a:xfrm>
            <a:off x="367200" y="3128400"/>
            <a:ext cx="8413200" cy="12348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67200" y="3128400"/>
            <a:ext cx="79200" cy="12348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75200" y="3157200"/>
            <a:ext cx="8298000" cy="1198800"/>
          </a:xfrm>
          <a:prstGeom prst="rect">
            <a:avLst/>
          </a:prstGeom>
          <a:noFill/>
        </p:spPr>
        <p:txBody>
          <a:bodyPr wrap="square">
            <a:spAutoFit/>
          </a:bodyPr>
          <a:lstStyle/>
          <a:p>
            <a:pPr algn="l"/>
            <a:r>
              <a:rPr sz="850" b="0" i="0">
                <a:solidFill>
                  <a:srgbClr val="555555"/>
                </a:solidFill>
                <a:latin typeface="Calibri"/>
              </a:rPr>
              <a:t>Apple affiche un P/E de 33,8x vs une médiane peers de 30x (+13 %), justifiée par des marges supérieures (GM 46,9 % vs 42 % peers) et une croissance plus résiliente. L'EV/EBITDA de 26,6x est en ligne avec Microsoft (28x) mais supérieur à Alphabet (22x), reflétant une prime de qualité. Une convergence vers la médiane peers impliquerait un downside de 10 %, tandis qu'une prime de croissance maintenue offrirait un upside de 15 %.</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FFFFFF"/>
                </a:solidFill>
                <a:latin typeface="Calibri"/>
              </a:rPr>
              <a:t>1</a:t>
            </a:r>
          </a:p>
        </p:txBody>
      </p:sp>
      <p:sp>
        <p:nvSpPr>
          <p:cNvPr id="7" name="Rectangle 6"/>
          <p:cNvSpPr/>
          <p:nvPr/>
        </p:nvSpPr>
        <p:spPr>
          <a:xfrm>
            <a:off x="6353999"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FFFFFF"/>
                </a:solidFill>
                <a:latin typeface="Calibri"/>
              </a:rPr>
              <a:t>2</a:t>
            </a:r>
          </a:p>
        </p:txBody>
      </p:sp>
      <p:sp>
        <p:nvSpPr>
          <p:cNvPr id="9" name="Rectangle 8"/>
          <p:cNvSpPr/>
          <p:nvPr/>
        </p:nvSpPr>
        <p:spPr>
          <a:xfrm>
            <a:off x="6584400"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1B3A6B"/>
                </a:solidFill>
                <a:latin typeface="Calibri"/>
              </a:rPr>
              <a:t>3</a:t>
            </a:r>
          </a:p>
        </p:txBody>
      </p:sp>
      <p:sp>
        <p:nvSpPr>
          <p:cNvPr id="11" name="Rectangle 10"/>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3" name="Rectangle 12"/>
          <p:cNvSpPr/>
          <p:nvPr/>
        </p:nvSpPr>
        <p:spPr>
          <a:xfrm>
            <a:off x="70416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FFFFFF"/>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Football Field Chart</a:t>
            </a:r>
          </a:p>
        </p:txBody>
      </p:sp>
      <p:sp>
        <p:nvSpPr>
          <p:cNvPr id="16" name="TextBox 15"/>
          <p:cNvSpPr txBox="1"/>
          <p:nvPr/>
        </p:nvSpPr>
        <p:spPr>
          <a:xfrm>
            <a:off x="367200" y="622800"/>
            <a:ext cx="8413200" cy="201600"/>
          </a:xfrm>
          <a:prstGeom prst="rect">
            <a:avLst/>
          </a:prstGeom>
          <a:noFill/>
        </p:spPr>
        <p:txBody>
          <a:bodyPr wrap="square">
            <a:spAutoFit/>
          </a:bodyPr>
          <a:lstStyle/>
          <a:p>
            <a:pPr algn="l"/>
            <a:r>
              <a:rPr sz="900" b="0" i="0">
                <a:solidFill>
                  <a:srgbClr val="2E5FA3"/>
                </a:solidFill>
                <a:latin typeface="Calibri"/>
              </a:rPr>
              <a:t>Synthèse des méthodes de valorisation  ·  USD par action</a:t>
            </a:r>
          </a:p>
        </p:txBody>
      </p:sp>
      <p:pic>
        <p:nvPicPr>
          <p:cNvPr id="17" name="Picture 16" descr="image.png"/>
          <p:cNvPicPr>
            <a:picLocks noChangeAspect="1"/>
          </p:cNvPicPr>
          <p:nvPr/>
        </p:nvPicPr>
        <p:blipFill>
          <a:blip r:embed="rId2"/>
          <a:stretch>
            <a:fillRect/>
          </a:stretch>
        </p:blipFill>
        <p:spPr>
          <a:xfrm>
            <a:off x="367200" y="914400"/>
            <a:ext cx="8413200" cy="2448000"/>
          </a:xfrm>
          <a:prstGeom prst="rect">
            <a:avLst/>
          </a:prstGeom>
        </p:spPr>
      </p:pic>
      <p:sp>
        <p:nvSpPr>
          <p:cNvPr id="18" name="Rectangle 17"/>
          <p:cNvSpPr/>
          <p:nvPr/>
        </p:nvSpPr>
        <p:spPr>
          <a:xfrm>
            <a:off x="367200" y="3488400"/>
            <a:ext cx="8413200" cy="9144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67200" y="3488400"/>
            <a:ext cx="79200" cy="91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75200" y="3517200"/>
            <a:ext cx="8298000" cy="878400"/>
          </a:xfrm>
          <a:prstGeom prst="rect">
            <a:avLst/>
          </a:prstGeom>
          <a:noFill/>
        </p:spPr>
        <p:txBody>
          <a:bodyPr wrap="square">
            <a:spAutoFit/>
          </a:bodyPr>
          <a:lstStyle/>
          <a:p>
            <a:pPr algn="l"/>
            <a:r>
              <a:rPr sz="850" b="0" i="0">
                <a:solidFill>
                  <a:srgbClr val="555555"/>
                </a:solidFill>
                <a:latin typeface="Calibri"/>
              </a:rPr>
              <a:t>Avec un WACC de 10,2 % et une TGR de 3,0 %, le DCF implicite suggère un prix de 285 USD (base), soit un upside de 10,6 % vs le cours actuel. Cette prime reflète une croissance supérieure à la moyenne et une qualité d'actifs exceptionnelle. Un catalyseur comme le lancement de l'iPhone 16 en septembre 2026 pourrait débloquer une réévaluation.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FFFFFF"/>
                </a:solidFill>
                <a:latin typeface="Calibri"/>
              </a:rPr>
              <a:t>1</a:t>
            </a:r>
          </a:p>
        </p:txBody>
      </p:sp>
      <p:sp>
        <p:nvSpPr>
          <p:cNvPr id="7" name="Rectangle 6"/>
          <p:cNvSpPr/>
          <p:nvPr/>
        </p:nvSpPr>
        <p:spPr>
          <a:xfrm>
            <a:off x="6353999"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FFFFFF"/>
                </a:solidFill>
                <a:latin typeface="Calibri"/>
              </a:rPr>
              <a:t>2</a:t>
            </a:r>
          </a:p>
        </p:txBody>
      </p:sp>
      <p:sp>
        <p:nvSpPr>
          <p:cNvPr id="9" name="Rectangle 8"/>
          <p:cNvSpPr/>
          <p:nvPr/>
        </p:nvSpPr>
        <p:spPr>
          <a:xfrm>
            <a:off x="6584400"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1B3A6B"/>
                </a:solidFill>
                <a:latin typeface="Calibri"/>
              </a:rPr>
              <a:t>3</a:t>
            </a:r>
          </a:p>
        </p:txBody>
      </p:sp>
      <p:sp>
        <p:nvSpPr>
          <p:cNvPr id="11" name="Rectangle 10"/>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3" name="Rectangle 12"/>
          <p:cNvSpPr/>
          <p:nvPr/>
        </p:nvSpPr>
        <p:spPr>
          <a:xfrm>
            <a:off x="70416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FFFFFF"/>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Multiples de Valorisation Historiques</a:t>
            </a:r>
          </a:p>
        </p:txBody>
      </p:sp>
      <p:sp>
        <p:nvSpPr>
          <p:cNvPr id="16" name="TextBox 15"/>
          <p:cNvSpPr txBox="1"/>
          <p:nvPr/>
        </p:nvSpPr>
        <p:spPr>
          <a:xfrm>
            <a:off x="367200" y="622800"/>
            <a:ext cx="8413200" cy="201600"/>
          </a:xfrm>
          <a:prstGeom prst="rect">
            <a:avLst/>
          </a:prstGeom>
          <a:noFill/>
        </p:spPr>
        <p:txBody>
          <a:bodyPr wrap="square">
            <a:spAutoFit/>
          </a:bodyPr>
          <a:lstStyle/>
          <a:p>
            <a:pPr algn="l"/>
            <a:r>
              <a:rPr sz="900" b="0" i="0">
                <a:solidFill>
                  <a:srgbClr val="2E5FA3"/>
                </a:solidFill>
                <a:latin typeface="Calibri"/>
              </a:rPr>
              <a:t>AAPL · P/E &amp; EV/EBITDA sur 5 ans · Standards marché</a:t>
            </a:r>
          </a:p>
        </p:txBody>
      </p:sp>
      <p:pic>
        <p:nvPicPr>
          <p:cNvPr id="17" name="Picture 16" descr="image.png"/>
          <p:cNvPicPr>
            <a:picLocks noChangeAspect="1"/>
          </p:cNvPicPr>
          <p:nvPr/>
        </p:nvPicPr>
        <p:blipFill>
          <a:blip r:embed="rId2"/>
          <a:stretch>
            <a:fillRect/>
          </a:stretch>
        </p:blipFill>
        <p:spPr>
          <a:xfrm>
            <a:off x="367200" y="864000"/>
            <a:ext cx="5688000" cy="2520000"/>
          </a:xfrm>
          <a:prstGeom prst="rect">
            <a:avLst/>
          </a:prstGeom>
        </p:spPr>
      </p:pic>
      <p:sp>
        <p:nvSpPr>
          <p:cNvPr id="18" name="TextBox 17"/>
          <p:cNvSpPr txBox="1"/>
          <p:nvPr/>
        </p:nvSpPr>
        <p:spPr>
          <a:xfrm>
            <a:off x="6192000" y="864000"/>
            <a:ext cx="2592000" cy="180000"/>
          </a:xfrm>
          <a:prstGeom prst="rect">
            <a:avLst/>
          </a:prstGeom>
          <a:noFill/>
        </p:spPr>
        <p:txBody>
          <a:bodyPr wrap="square">
            <a:spAutoFit/>
          </a:bodyPr>
          <a:lstStyle/>
          <a:p>
            <a:pPr algn="l"/>
            <a:r>
              <a:rPr sz="800" b="1" i="0">
                <a:solidFill>
                  <a:srgbClr val="1B3A6B"/>
                </a:solidFill>
                <a:latin typeface="Calibri"/>
              </a:rPr>
              <a:t>SYNTHÈSE DES MULTIPLES</a:t>
            </a:r>
          </a:p>
        </p:txBody>
      </p:sp>
      <p:graphicFrame>
        <p:nvGraphicFramePr>
          <p:cNvPr id="19" name="Table 18"/>
          <p:cNvGraphicFramePr>
            <a:graphicFrameLocks noGrp="1"/>
          </p:cNvGraphicFramePr>
          <p:nvPr/>
        </p:nvGraphicFramePr>
        <p:xfrm>
          <a:off x="6192000" y="1098000"/>
          <a:ext cx="2592000" cy="1008000"/>
        </p:xfrm>
        <a:graphic>
          <a:graphicData uri="http://schemas.openxmlformats.org/drawingml/2006/table">
            <a:tbl>
              <a:tblPr firstRow="1" bandRow="1">
                <a:tableStyleId>{5C22544A-7EE6-4342-B048-85BDC9FD1C3A}</a:tableStyleId>
              </a:tblPr>
              <a:tblGrid>
                <a:gridCol w="777600"/>
                <a:gridCol w="570240"/>
                <a:gridCol w="673920"/>
                <a:gridCol w="570240"/>
              </a:tblGrid>
              <a:tr h="201600">
                <a:tc>
                  <a:txBody>
                    <a:bodyPr/>
                    <a:lstStyle/>
                    <a:p>
                      <a:pPr algn="l"/>
                      <a:r>
                        <a:rPr sz="800" b="1" i="0">
                          <a:solidFill>
                            <a:srgbClr val="FFFFFF"/>
                          </a:solidFill>
                          <a:latin typeface="Calibri"/>
                        </a:rPr>
                        <a:t>Année</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P/E</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EV/EB</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P/B</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r>
              <a:tr h="201600">
                <a:tc>
                  <a:txBody>
                    <a:bodyPr/>
                    <a:lstStyle/>
                    <a:p>
                      <a:pPr algn="l"/>
                      <a:r>
                        <a:rPr sz="800" b="0" i="0">
                          <a:solidFill>
                            <a:srgbClr val="0D0D0D"/>
                          </a:solidFill>
                          <a:latin typeface="Calibri"/>
                        </a:rPr>
                        <a:t>2022</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37,9x</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29,7x</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74,7x</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r h="201600">
                <a:tc>
                  <a:txBody>
                    <a:bodyPr/>
                    <a:lstStyle/>
                    <a:p>
                      <a:pPr algn="l"/>
                      <a:r>
                        <a:rPr sz="800" b="0" i="0">
                          <a:solidFill>
                            <a:srgbClr val="0D0D0D"/>
                          </a:solidFill>
                          <a:latin typeface="Calibri"/>
                        </a:rPr>
                        <a:t>2023</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39,0x</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30,7x</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60,9x</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r h="201600">
                <a:tc>
                  <a:txBody>
                    <a:bodyPr/>
                    <a:lstStyle/>
                    <a:p>
                      <a:pPr algn="l"/>
                      <a:r>
                        <a:rPr sz="800" b="0" i="0">
                          <a:solidFill>
                            <a:srgbClr val="0D0D0D"/>
                          </a:solidFill>
                          <a:latin typeface="Calibri"/>
                        </a:rPr>
                        <a:t>2024</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40,4x</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28,7x</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66,4x</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r h="201600">
                <a:tc>
                  <a:txBody>
                    <a:bodyPr/>
                    <a:lstStyle/>
                    <a:p>
                      <a:pPr algn="l"/>
                      <a:r>
                        <a:rPr sz="800" b="0" i="0">
                          <a:solidFill>
                            <a:srgbClr val="0D0D0D"/>
                          </a:solidFill>
                          <a:latin typeface="Calibri"/>
                        </a:rPr>
                        <a:t>2025</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33,8x</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26,6x</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51,3x</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bl>
          </a:graphicData>
        </a:graphic>
      </p:graphicFrame>
      <p:sp>
        <p:nvSpPr>
          <p:cNvPr id="20" name="Rectangle 19"/>
          <p:cNvSpPr/>
          <p:nvPr/>
        </p:nvSpPr>
        <p:spPr>
          <a:xfrm>
            <a:off x="367200" y="3600000"/>
            <a:ext cx="8413200" cy="64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67200" y="3600000"/>
            <a:ext cx="79200" cy="648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75200" y="3628800"/>
            <a:ext cx="8298000" cy="612000"/>
          </a:xfrm>
          <a:prstGeom prst="rect">
            <a:avLst/>
          </a:prstGeom>
          <a:noFill/>
        </p:spPr>
        <p:txBody>
          <a:bodyPr wrap="square">
            <a:spAutoFit/>
          </a:bodyPr>
          <a:lstStyle/>
          <a:p>
            <a:pPr algn="l"/>
            <a:r>
              <a:rPr sz="850" b="0" i="0">
                <a:solidFill>
                  <a:srgbClr val="555555"/>
                </a:solidFill>
                <a:latin typeface="Calibri"/>
              </a:rPr>
              <a:t>Le P/E affiche une compression multiple de 4.1x sur la période (37,9x → 33,8x), signal d’une réévaluation négative du profil de croissance. L’EV/EBITDA diverge à 26,6x vs 29,7x historique.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FFFFFF"/>
                </a:solidFill>
                <a:latin typeface="Calibri"/>
              </a:rPr>
              <a:t>1</a:t>
            </a:r>
          </a:p>
        </p:txBody>
      </p:sp>
      <p:sp>
        <p:nvSpPr>
          <p:cNvPr id="7" name="Rectangle 6"/>
          <p:cNvSpPr/>
          <p:nvPr/>
        </p:nvSpPr>
        <p:spPr>
          <a:xfrm>
            <a:off x="6353999"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FFFFFF"/>
                </a:solidFill>
                <a:latin typeface="Calibri"/>
              </a:rPr>
              <a:t>2</a:t>
            </a:r>
          </a:p>
        </p:txBody>
      </p:sp>
      <p:sp>
        <p:nvSpPr>
          <p:cNvPr id="9" name="Rectangle 8"/>
          <p:cNvSpPr/>
          <p:nvPr/>
        </p:nvSpPr>
        <p:spPr>
          <a:xfrm>
            <a:off x="6584400"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1B3A6B"/>
                </a:solidFill>
                <a:latin typeface="Calibri"/>
              </a:rPr>
              <a:t>3</a:t>
            </a:r>
          </a:p>
        </p:txBody>
      </p:sp>
      <p:sp>
        <p:nvSpPr>
          <p:cNvPr id="11" name="Rectangle 10"/>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3" name="Rectangle 12"/>
          <p:cNvSpPr/>
          <p:nvPr/>
        </p:nvSpPr>
        <p:spPr>
          <a:xfrm>
            <a:off x="70416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FFFFFF"/>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Capital Returns &amp; Free Cash Flow</a:t>
            </a:r>
          </a:p>
        </p:txBody>
      </p:sp>
      <p:sp>
        <p:nvSpPr>
          <p:cNvPr id="16" name="TextBox 15"/>
          <p:cNvSpPr txBox="1"/>
          <p:nvPr/>
        </p:nvSpPr>
        <p:spPr>
          <a:xfrm>
            <a:off x="367200" y="622800"/>
            <a:ext cx="8413200" cy="201600"/>
          </a:xfrm>
          <a:prstGeom prst="rect">
            <a:avLst/>
          </a:prstGeom>
          <a:noFill/>
        </p:spPr>
        <p:txBody>
          <a:bodyPr wrap="square">
            <a:spAutoFit/>
          </a:bodyPr>
          <a:lstStyle/>
          <a:p>
            <a:pPr algn="l"/>
            <a:r>
              <a:rPr sz="900" b="0" i="0">
                <a:solidFill>
                  <a:srgbClr val="2E5FA3"/>
                </a:solidFill>
                <a:latin typeface="Calibri"/>
              </a:rPr>
              <a:t>AAPL · FCF yield, dividendes &amp; allocation du capital</a:t>
            </a:r>
          </a:p>
        </p:txBody>
      </p:sp>
      <p:sp>
        <p:nvSpPr>
          <p:cNvPr id="17" name="Rectangle 16"/>
          <p:cNvSpPr/>
          <p:nvPr/>
        </p:nvSpPr>
        <p:spPr>
          <a:xfrm>
            <a:off x="367200" y="824400"/>
            <a:ext cx="2015999" cy="5472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67200" y="824400"/>
            <a:ext cx="64800" cy="5472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0800" y="871200"/>
            <a:ext cx="1900799" cy="234000"/>
          </a:xfrm>
          <a:prstGeom prst="rect">
            <a:avLst/>
          </a:prstGeom>
          <a:noFill/>
        </p:spPr>
        <p:txBody>
          <a:bodyPr wrap="square">
            <a:spAutoFit/>
          </a:bodyPr>
          <a:lstStyle/>
          <a:p>
            <a:pPr algn="l"/>
            <a:r>
              <a:rPr sz="1600" b="1" i="0">
                <a:solidFill>
                  <a:srgbClr val="1B3A6B"/>
                </a:solidFill>
                <a:latin typeface="Calibri"/>
              </a:rPr>
              <a:t>2,9 %</a:t>
            </a:r>
          </a:p>
        </p:txBody>
      </p:sp>
      <p:sp>
        <p:nvSpPr>
          <p:cNvPr id="20" name="TextBox 19"/>
          <p:cNvSpPr txBox="1"/>
          <p:nvPr/>
        </p:nvSpPr>
        <p:spPr>
          <a:xfrm>
            <a:off x="460800" y="1098000"/>
            <a:ext cx="1900799" cy="234000"/>
          </a:xfrm>
          <a:prstGeom prst="rect">
            <a:avLst/>
          </a:prstGeom>
          <a:noFill/>
        </p:spPr>
        <p:txBody>
          <a:bodyPr wrap="square">
            <a:spAutoFit/>
          </a:bodyPr>
          <a:lstStyle/>
          <a:p>
            <a:pPr algn="l"/>
            <a:r>
              <a:rPr sz="800" b="0" i="0">
                <a:solidFill>
                  <a:srgbClr val="555555"/>
                </a:solidFill>
                <a:latin typeface="Calibri"/>
              </a:rPr>
              <a:t>FCF Yield</a:t>
            </a:r>
          </a:p>
        </p:txBody>
      </p:sp>
      <p:sp>
        <p:nvSpPr>
          <p:cNvPr id="21" name="Rectangle 20"/>
          <p:cNvSpPr/>
          <p:nvPr/>
        </p:nvSpPr>
        <p:spPr>
          <a:xfrm>
            <a:off x="2447999" y="824400"/>
            <a:ext cx="2015999" cy="5472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2447999" y="824400"/>
            <a:ext cx="64800" cy="5472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541599" y="871200"/>
            <a:ext cx="1900799" cy="234000"/>
          </a:xfrm>
          <a:prstGeom prst="rect">
            <a:avLst/>
          </a:prstGeom>
          <a:noFill/>
        </p:spPr>
        <p:txBody>
          <a:bodyPr wrap="square">
            <a:spAutoFit/>
          </a:bodyPr>
          <a:lstStyle/>
          <a:p>
            <a:pPr algn="l"/>
            <a:r>
              <a:rPr sz="1600" b="1" i="0">
                <a:solidFill>
                  <a:srgbClr val="1B3A6B"/>
                </a:solidFill>
                <a:latin typeface="Calibri"/>
              </a:rPr>
              <a:t>111,0 Mds$</a:t>
            </a:r>
          </a:p>
        </p:txBody>
      </p:sp>
      <p:sp>
        <p:nvSpPr>
          <p:cNvPr id="24" name="TextBox 23"/>
          <p:cNvSpPr txBox="1"/>
          <p:nvPr/>
        </p:nvSpPr>
        <p:spPr>
          <a:xfrm>
            <a:off x="2541599" y="1098000"/>
            <a:ext cx="1900799" cy="234000"/>
          </a:xfrm>
          <a:prstGeom prst="rect">
            <a:avLst/>
          </a:prstGeom>
          <a:noFill/>
        </p:spPr>
        <p:txBody>
          <a:bodyPr wrap="square">
            <a:spAutoFit/>
          </a:bodyPr>
          <a:lstStyle/>
          <a:p>
            <a:pPr algn="l"/>
            <a:r>
              <a:rPr sz="800" b="0" i="0">
                <a:solidFill>
                  <a:srgbClr val="555555"/>
                </a:solidFill>
                <a:latin typeface="Calibri"/>
              </a:rPr>
              <a:t>FCF (LTM)</a:t>
            </a:r>
          </a:p>
        </p:txBody>
      </p:sp>
      <p:sp>
        <p:nvSpPr>
          <p:cNvPr id="25" name="Rectangle 24"/>
          <p:cNvSpPr/>
          <p:nvPr/>
        </p:nvSpPr>
        <p:spPr>
          <a:xfrm>
            <a:off x="4528799" y="824400"/>
            <a:ext cx="2015999" cy="5472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528799" y="824400"/>
            <a:ext cx="64800" cy="5472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622399" y="871200"/>
            <a:ext cx="1900799" cy="234000"/>
          </a:xfrm>
          <a:prstGeom prst="rect">
            <a:avLst/>
          </a:prstGeom>
          <a:noFill/>
        </p:spPr>
        <p:txBody>
          <a:bodyPr wrap="square">
            <a:spAutoFit/>
          </a:bodyPr>
          <a:lstStyle/>
          <a:p>
            <a:pPr algn="l"/>
            <a:r>
              <a:rPr sz="1600" b="1" i="0">
                <a:solidFill>
                  <a:srgbClr val="1B3A6B"/>
                </a:solidFill>
                <a:latin typeface="Calibri"/>
              </a:rPr>
              <a:t>3,1 %</a:t>
            </a:r>
          </a:p>
        </p:txBody>
      </p:sp>
      <p:sp>
        <p:nvSpPr>
          <p:cNvPr id="28" name="TextBox 27"/>
          <p:cNvSpPr txBox="1"/>
          <p:nvPr/>
        </p:nvSpPr>
        <p:spPr>
          <a:xfrm>
            <a:off x="4622399" y="1098000"/>
            <a:ext cx="1900799" cy="234000"/>
          </a:xfrm>
          <a:prstGeom prst="rect">
            <a:avLst/>
          </a:prstGeom>
          <a:noFill/>
        </p:spPr>
        <p:txBody>
          <a:bodyPr wrap="square">
            <a:spAutoFit/>
          </a:bodyPr>
          <a:lstStyle/>
          <a:p>
            <a:pPr algn="l"/>
            <a:r>
              <a:rPr sz="800" b="0" i="0">
                <a:solidFill>
                  <a:srgbClr val="555555"/>
                </a:solidFill>
                <a:latin typeface="Calibri"/>
              </a:rPr>
              <a:t>Capex / Rev</a:t>
            </a:r>
          </a:p>
        </p:txBody>
      </p:sp>
      <p:sp>
        <p:nvSpPr>
          <p:cNvPr id="29" name="Rectangle 28"/>
          <p:cNvSpPr/>
          <p:nvPr/>
        </p:nvSpPr>
        <p:spPr>
          <a:xfrm>
            <a:off x="6609599" y="824400"/>
            <a:ext cx="2015999" cy="5472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609599" y="824400"/>
            <a:ext cx="64800" cy="5472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703199" y="871200"/>
            <a:ext cx="1900799" cy="234000"/>
          </a:xfrm>
          <a:prstGeom prst="rect">
            <a:avLst/>
          </a:prstGeom>
          <a:noFill/>
        </p:spPr>
        <p:txBody>
          <a:bodyPr wrap="square">
            <a:spAutoFit/>
          </a:bodyPr>
          <a:lstStyle/>
          <a:p>
            <a:pPr algn="l"/>
            <a:r>
              <a:rPr sz="1600" b="1" i="0">
                <a:solidFill>
                  <a:srgbClr val="1B3A6B"/>
                </a:solidFill>
                <a:latin typeface="Calibri"/>
              </a:rPr>
              <a:t>—</a:t>
            </a:r>
          </a:p>
        </p:txBody>
      </p:sp>
      <p:sp>
        <p:nvSpPr>
          <p:cNvPr id="32" name="TextBox 31"/>
          <p:cNvSpPr txBox="1"/>
          <p:nvPr/>
        </p:nvSpPr>
        <p:spPr>
          <a:xfrm>
            <a:off x="6703199" y="1098000"/>
            <a:ext cx="1900799" cy="234000"/>
          </a:xfrm>
          <a:prstGeom prst="rect">
            <a:avLst/>
          </a:prstGeom>
          <a:noFill/>
        </p:spPr>
        <p:txBody>
          <a:bodyPr wrap="square">
            <a:spAutoFit/>
          </a:bodyPr>
          <a:lstStyle/>
          <a:p>
            <a:pPr algn="l"/>
            <a:r>
              <a:rPr sz="800" b="0" i="0">
                <a:solidFill>
                  <a:srgbClr val="555555"/>
                </a:solidFill>
                <a:latin typeface="Calibri"/>
              </a:rPr>
              <a:t>Div. Payout</a:t>
            </a:r>
          </a:p>
        </p:txBody>
      </p:sp>
      <p:pic>
        <p:nvPicPr>
          <p:cNvPr id="33" name="Picture 32" descr="image.png"/>
          <p:cNvPicPr>
            <a:picLocks noChangeAspect="1"/>
          </p:cNvPicPr>
          <p:nvPr/>
        </p:nvPicPr>
        <p:blipFill>
          <a:blip r:embed="rId2"/>
          <a:stretch>
            <a:fillRect/>
          </a:stretch>
        </p:blipFill>
        <p:spPr>
          <a:xfrm>
            <a:off x="367200" y="1512000"/>
            <a:ext cx="5220000" cy="2088000"/>
          </a:xfrm>
          <a:prstGeom prst="rect">
            <a:avLst/>
          </a:prstGeom>
        </p:spPr>
      </p:pic>
      <p:sp>
        <p:nvSpPr>
          <p:cNvPr id="34" name="TextBox 33"/>
          <p:cNvSpPr txBox="1"/>
          <p:nvPr/>
        </p:nvSpPr>
        <p:spPr>
          <a:xfrm>
            <a:off x="5832000" y="1512000"/>
            <a:ext cx="2951999" cy="180000"/>
          </a:xfrm>
          <a:prstGeom prst="rect">
            <a:avLst/>
          </a:prstGeom>
          <a:noFill/>
        </p:spPr>
        <p:txBody>
          <a:bodyPr wrap="square">
            <a:spAutoFit/>
          </a:bodyPr>
          <a:lstStyle/>
          <a:p>
            <a:pPr algn="l"/>
            <a:r>
              <a:rPr sz="800" b="1" i="0">
                <a:solidFill>
                  <a:srgbClr val="1B3A6B"/>
                </a:solidFill>
                <a:latin typeface="Calibri"/>
              </a:rPr>
              <a:t>ALLOCATION DU CAPITAL</a:t>
            </a:r>
          </a:p>
        </p:txBody>
      </p:sp>
      <p:graphicFrame>
        <p:nvGraphicFramePr>
          <p:cNvPr id="35" name="Table 34"/>
          <p:cNvGraphicFramePr>
            <a:graphicFrameLocks noGrp="1"/>
          </p:cNvGraphicFramePr>
          <p:nvPr/>
        </p:nvGraphicFramePr>
        <p:xfrm>
          <a:off x="5832000" y="1745999"/>
          <a:ext cx="2951995" cy="1008000"/>
        </p:xfrm>
        <a:graphic>
          <a:graphicData uri="http://schemas.openxmlformats.org/drawingml/2006/table">
            <a:tbl>
              <a:tblPr firstRow="1" bandRow="1">
                <a:tableStyleId>{5C22544A-7EE6-4342-B048-85BDC9FD1C3A}</a:tableStyleId>
              </a:tblPr>
              <a:tblGrid>
                <a:gridCol w="649439"/>
                <a:gridCol w="590399"/>
                <a:gridCol w="560879"/>
                <a:gridCol w="560879"/>
                <a:gridCol w="590399"/>
              </a:tblGrid>
              <a:tr h="201600">
                <a:tc>
                  <a:txBody>
                    <a:bodyPr/>
                    <a:lstStyle/>
                    <a:p>
                      <a:pPr algn="l"/>
                      <a:r>
                        <a:rPr sz="800" b="1" i="0">
                          <a:solidFill>
                            <a:srgbClr val="FFFFFF"/>
                          </a:solidFill>
                          <a:latin typeface="Calibri"/>
                        </a:rPr>
                        <a:t>Ann.</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FCF</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Yield</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Div%</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Capex%</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r>
              <a:tr h="201600">
                <a:tc>
                  <a:txBody>
                    <a:bodyPr/>
                    <a:lstStyle/>
                    <a:p>
                      <a:pPr algn="l"/>
                      <a:r>
                        <a:rPr sz="800" b="0" i="0">
                          <a:solidFill>
                            <a:srgbClr val="0D0D0D"/>
                          </a:solidFill>
                          <a:latin typeface="Calibri"/>
                        </a:rPr>
                        <a:t>2022</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100,2 Mds$</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2,6 %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2,7 %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r h="201600">
                <a:tc>
                  <a:txBody>
                    <a:bodyPr/>
                    <a:lstStyle/>
                    <a:p>
                      <a:pPr algn="l"/>
                      <a:r>
                        <a:rPr sz="800" b="0" i="0">
                          <a:solidFill>
                            <a:srgbClr val="0D0D0D"/>
                          </a:solidFill>
                          <a:latin typeface="Calibri"/>
                        </a:rPr>
                        <a:t>2023</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97,6 Mds$</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2,6 %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2,9 %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r h="201600">
                <a:tc>
                  <a:txBody>
                    <a:bodyPr/>
                    <a:lstStyle/>
                    <a:p>
                      <a:pPr algn="l"/>
                      <a:r>
                        <a:rPr sz="800" b="0" i="0">
                          <a:solidFill>
                            <a:srgbClr val="0D0D0D"/>
                          </a:solidFill>
                          <a:latin typeface="Calibri"/>
                        </a:rPr>
                        <a:t>2024</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95,7 Mds$</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2,5 %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2,4 %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r h="201600">
                <a:tc>
                  <a:txBody>
                    <a:bodyPr/>
                    <a:lstStyle/>
                    <a:p>
                      <a:pPr algn="l"/>
                      <a:r>
                        <a:rPr sz="800" b="0" i="0">
                          <a:solidFill>
                            <a:srgbClr val="0D0D0D"/>
                          </a:solidFill>
                          <a:latin typeface="Calibri"/>
                        </a:rPr>
                        <a:t>2025</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111,0 Mds$</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2,9 %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3,1 %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bl>
          </a:graphicData>
        </a:graphic>
      </p:graphicFrame>
      <p:sp>
        <p:nvSpPr>
          <p:cNvPr id="36" name="Rectangle 35"/>
          <p:cNvSpPr/>
          <p:nvPr/>
        </p:nvSpPr>
        <p:spPr>
          <a:xfrm>
            <a:off x="367200" y="3708000"/>
            <a:ext cx="8413200" cy="576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367200" y="3708000"/>
            <a:ext cx="79200" cy="576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75200" y="3736800"/>
            <a:ext cx="8298000" cy="540000"/>
          </a:xfrm>
          <a:prstGeom prst="rect">
            <a:avLst/>
          </a:prstGeom>
          <a:noFill/>
        </p:spPr>
        <p:txBody>
          <a:bodyPr wrap="square">
            <a:spAutoFit/>
          </a:bodyPr>
          <a:lstStyle/>
          <a:p>
            <a:pPr algn="l"/>
            <a:r>
              <a:rPr sz="850" b="0" i="0">
                <a:solidFill>
                  <a:srgbClr val="555555"/>
                </a:solidFill>
                <a:latin typeface="Calibri"/>
              </a:rPr>
              <a:t>Le FCF affiche une croissance de 10,8 Mds$ sur la période, avec un FCF yield actuel de 2,9 % — à surveiller au regard de la valorisation de marché. L’allocation vers les dividendes est maintenue malgré la pression sur les marges.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FFFFFF"/>
                </a:solidFill>
                <a:latin typeface="Calibri"/>
              </a:rPr>
              <a:t>1</a:t>
            </a:r>
          </a:p>
        </p:txBody>
      </p:sp>
      <p:sp>
        <p:nvSpPr>
          <p:cNvPr id="7" name="Rectangle 6"/>
          <p:cNvSpPr/>
          <p:nvPr/>
        </p:nvSpPr>
        <p:spPr>
          <a:xfrm>
            <a:off x="6353999"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FFFFFF"/>
                </a:solidFill>
                <a:latin typeface="Calibri"/>
              </a:rPr>
              <a:t>2</a:t>
            </a:r>
          </a:p>
        </p:txBody>
      </p:sp>
      <p:sp>
        <p:nvSpPr>
          <p:cNvPr id="9" name="Rectangle 8"/>
          <p:cNvSpPr/>
          <p:nvPr/>
        </p:nvSpPr>
        <p:spPr>
          <a:xfrm>
            <a:off x="6584400"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1B3A6B"/>
                </a:solidFill>
                <a:latin typeface="Calibri"/>
              </a:rPr>
              <a:t>3</a:t>
            </a:r>
          </a:p>
        </p:txBody>
      </p:sp>
      <p:sp>
        <p:nvSpPr>
          <p:cNvPr id="11" name="Rectangle 10"/>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3" name="Rectangle 12"/>
          <p:cNvSpPr/>
          <p:nvPr/>
        </p:nvSpPr>
        <p:spPr>
          <a:xfrm>
            <a:off x="70416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FFFFFF"/>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Analyse LBO — Leveraged Buyout</a:t>
            </a:r>
          </a:p>
        </p:txBody>
      </p:sp>
      <p:sp>
        <p:nvSpPr>
          <p:cNvPr id="16" name="TextBox 15"/>
          <p:cNvSpPr txBox="1"/>
          <p:nvPr/>
        </p:nvSpPr>
        <p:spPr>
          <a:xfrm>
            <a:off x="367200" y="622800"/>
            <a:ext cx="8413200" cy="201600"/>
          </a:xfrm>
          <a:prstGeom prst="rect">
            <a:avLst/>
          </a:prstGeom>
          <a:noFill/>
        </p:spPr>
        <p:txBody>
          <a:bodyPr wrap="square">
            <a:spAutoFit/>
          </a:bodyPr>
          <a:lstStyle/>
          <a:p>
            <a:pPr algn="l"/>
            <a:r>
              <a:rPr sz="900" b="0" i="0">
                <a:solidFill>
                  <a:srgbClr val="2E5FA3"/>
                </a:solidFill>
                <a:latin typeface="Calibri"/>
              </a:rPr>
              <a:t>AAPL · Attractivité PE · Multiples d’entrée vs IRR cible</a:t>
            </a:r>
          </a:p>
        </p:txBody>
      </p:sp>
      <p:graphicFrame>
        <p:nvGraphicFramePr>
          <p:cNvPr id="17" name="Table 16"/>
          <p:cNvGraphicFramePr>
            <a:graphicFrameLocks noGrp="1"/>
          </p:cNvGraphicFramePr>
          <p:nvPr/>
        </p:nvGraphicFramePr>
        <p:xfrm>
          <a:off x="367200" y="900000"/>
          <a:ext cx="4860000" cy="1170000"/>
        </p:xfrm>
        <a:graphic>
          <a:graphicData uri="http://schemas.openxmlformats.org/drawingml/2006/table">
            <a:tbl>
              <a:tblPr firstRow="1" bandRow="1">
                <a:tableStyleId>{5C22544A-7EE6-4342-B048-85BDC9FD1C3A}</a:tableStyleId>
              </a:tblPr>
              <a:tblGrid>
                <a:gridCol w="1069200"/>
                <a:gridCol w="1263600"/>
                <a:gridCol w="1263600"/>
                <a:gridCol w="1263600"/>
              </a:tblGrid>
              <a:tr h="234000">
                <a:tc>
                  <a:txBody>
                    <a:bodyPr/>
                    <a:lstStyle/>
                    <a:p>
                      <a:pPr algn="l"/>
                      <a:r>
                        <a:rPr sz="800" b="1" i="0">
                          <a:solidFill>
                            <a:srgbClr val="FFFFFF"/>
                          </a:solidFill>
                          <a:latin typeface="Calibri"/>
                        </a:rPr>
                        <a:t>Entry mult.</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Exit 8x</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Exit 10x</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Exit 12x</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r>
              <a:tr h="234000">
                <a:tc>
                  <a:txBody>
                    <a:bodyPr/>
                    <a:lstStyle/>
                    <a:p>
                      <a:pPr algn="l"/>
                      <a:r>
                        <a:rPr sz="800" b="0" i="0">
                          <a:solidFill>
                            <a:srgbClr val="0D0D0D"/>
                          </a:solidFill>
                          <a:latin typeface="Calibri"/>
                        </a:rPr>
                        <a:t>8x</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17.4% / 2.2x</a:t>
                      </a:r>
                    </a:p>
                  </a:txBody>
                  <a:tcPr>
                    <a:solidFill>
                      <a:srgbClr val="FDF6E8"/>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23.8% / 2.9x</a:t>
                      </a:r>
                    </a:p>
                  </a:txBody>
                  <a:tcPr>
                    <a:solidFill>
                      <a:srgbClr val="EAF4E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29.2% / 3.6x</a:t>
                      </a:r>
                    </a:p>
                  </a:txBody>
                  <a:tcPr>
                    <a:solidFill>
                      <a:srgbClr val="EAF4EF"/>
                    </a:solidFill>
                    <a:lnL w="6350">
                      <a:solidFill>
                        <a:srgbClr val="DDDDDD"/>
                      </a:solidFill>
                    </a:lnL>
                    <a:lnR w="6350">
                      <a:solidFill>
                        <a:srgbClr val="DDDDDD"/>
                      </a:solidFill>
                    </a:lnR>
                    <a:lnT w="6350">
                      <a:solidFill>
                        <a:srgbClr val="DDDDDD"/>
                      </a:solidFill>
                    </a:lnT>
                    <a:lnB w="6350">
                      <a:solidFill>
                        <a:srgbClr val="DDDDDD"/>
                      </a:solidFill>
                    </a:lnB>
                  </a:tcPr>
                </a:tc>
              </a:tr>
              <a:tr h="234000">
                <a:tc>
                  <a:txBody>
                    <a:bodyPr/>
                    <a:lstStyle/>
                    <a:p>
                      <a:pPr algn="l"/>
                      <a:r>
                        <a:rPr sz="800" b="0" i="0">
                          <a:solidFill>
                            <a:srgbClr val="0D0D0D"/>
                          </a:solidFill>
                          <a:latin typeface="Calibri"/>
                        </a:rPr>
                        <a:t>10x</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8.3% / 1.5x</a:t>
                      </a:r>
                    </a:p>
                  </a:txBody>
                  <a:tcPr>
                    <a:solidFill>
                      <a:srgbClr val="FAF0E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14.2% / 1.9x</a:t>
                      </a:r>
                    </a:p>
                  </a:txBody>
                  <a:tcPr>
                    <a:solidFill>
                      <a:srgbClr val="FAF0E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19.1% / 2.4x</a:t>
                      </a:r>
                    </a:p>
                  </a:txBody>
                  <a:tcPr>
                    <a:solidFill>
                      <a:srgbClr val="FDF6E8"/>
                    </a:solidFill>
                    <a:lnL w="6350">
                      <a:solidFill>
                        <a:srgbClr val="DDDDDD"/>
                      </a:solidFill>
                    </a:lnL>
                    <a:lnR w="6350">
                      <a:solidFill>
                        <a:srgbClr val="DDDDDD"/>
                      </a:solidFill>
                    </a:lnR>
                    <a:lnT w="6350">
                      <a:solidFill>
                        <a:srgbClr val="DDDDDD"/>
                      </a:solidFill>
                    </a:lnT>
                    <a:lnB w="6350">
                      <a:solidFill>
                        <a:srgbClr val="DDDDDD"/>
                      </a:solidFill>
                    </a:lnB>
                  </a:tcPr>
                </a:tc>
              </a:tr>
              <a:tr h="234000">
                <a:tc>
                  <a:txBody>
                    <a:bodyPr/>
                    <a:lstStyle/>
                    <a:p>
                      <a:pPr algn="l"/>
                      <a:r>
                        <a:rPr sz="800" b="0" i="0">
                          <a:solidFill>
                            <a:srgbClr val="0D0D0D"/>
                          </a:solidFill>
                          <a:latin typeface="Calibri"/>
                        </a:rPr>
                        <a:t>12x</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2.2% / 1.1x</a:t>
                      </a:r>
                    </a:p>
                  </a:txBody>
                  <a:tcPr>
                    <a:solidFill>
                      <a:srgbClr val="FAF0E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7.8% / 1.5x</a:t>
                      </a:r>
                    </a:p>
                  </a:txBody>
                  <a:tcPr>
                    <a:solidFill>
                      <a:srgbClr val="FAF0E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12.4% / 1.8x</a:t>
                      </a:r>
                    </a:p>
                  </a:txBody>
                  <a:tcPr>
                    <a:solidFill>
                      <a:srgbClr val="FAF0EF"/>
                    </a:solidFill>
                    <a:lnL w="6350">
                      <a:solidFill>
                        <a:srgbClr val="DDDDDD"/>
                      </a:solidFill>
                    </a:lnL>
                    <a:lnR w="6350">
                      <a:solidFill>
                        <a:srgbClr val="DDDDDD"/>
                      </a:solidFill>
                    </a:lnR>
                    <a:lnT w="6350">
                      <a:solidFill>
                        <a:srgbClr val="DDDDDD"/>
                      </a:solidFill>
                    </a:lnT>
                    <a:lnB w="6350">
                      <a:solidFill>
                        <a:srgbClr val="DDDDDD"/>
                      </a:solidFill>
                    </a:lnB>
                  </a:tcPr>
                </a:tc>
              </a:tr>
              <a:tr h="234000">
                <a:tc>
                  <a:txBody>
                    <a:bodyPr/>
                    <a:lstStyle/>
                    <a:p>
                      <a:pPr algn="l"/>
                      <a:r>
                        <a:rPr sz="800" b="0" i="0">
                          <a:solidFill>
                            <a:srgbClr val="0D0D0D"/>
                          </a:solidFill>
                          <a:latin typeface="Calibri"/>
                        </a:rPr>
                        <a:t>14x</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-2.3% / 0.9x</a:t>
                      </a:r>
                    </a:p>
                  </a:txBody>
                  <a:tcPr>
                    <a:solidFill>
                      <a:srgbClr val="FAF0E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3.1% / 1.2x</a:t>
                      </a:r>
                    </a:p>
                  </a:txBody>
                  <a:tcPr>
                    <a:solidFill>
                      <a:srgbClr val="FAF0E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7.5% / 1.4x</a:t>
                      </a:r>
                    </a:p>
                  </a:txBody>
                  <a:tcPr>
                    <a:solidFill>
                      <a:srgbClr val="FAF0EF"/>
                    </a:solidFill>
                    <a:lnL w="6350">
                      <a:solidFill>
                        <a:srgbClr val="DDDDDD"/>
                      </a:solidFill>
                    </a:lnL>
                    <a:lnR w="6350">
                      <a:solidFill>
                        <a:srgbClr val="DDDDDD"/>
                      </a:solidFill>
                    </a:lnR>
                    <a:lnT w="6350">
                      <a:solidFill>
                        <a:srgbClr val="DDDDDD"/>
                      </a:solidFill>
                    </a:lnT>
                    <a:lnB w="6350">
                      <a:solidFill>
                        <a:srgbClr val="DDDDDD"/>
                      </a:solidFill>
                    </a:lnB>
                  </a:tcPr>
                </a:tc>
              </a:tr>
            </a:tbl>
          </a:graphicData>
        </a:graphic>
      </p:graphicFrame>
      <p:sp>
        <p:nvSpPr>
          <p:cNvPr id="18" name="TextBox 17"/>
          <p:cNvSpPr txBox="1"/>
          <p:nvPr/>
        </p:nvSpPr>
        <p:spPr>
          <a:xfrm>
            <a:off x="367200" y="2592000"/>
            <a:ext cx="4860000" cy="180000"/>
          </a:xfrm>
          <a:prstGeom prst="rect">
            <a:avLst/>
          </a:prstGeom>
          <a:noFill/>
        </p:spPr>
        <p:txBody>
          <a:bodyPr wrap="square">
            <a:spAutoFit/>
          </a:bodyPr>
          <a:lstStyle/>
          <a:p>
            <a:pPr algn="l"/>
            <a:r>
              <a:rPr sz="750" b="0" i="0">
                <a:solidFill>
                  <a:srgbClr val="555555"/>
                </a:solidFill>
                <a:latin typeface="Calibri"/>
              </a:rPr>
              <a:t>Hypotheses : Levier 4x EBITDA · 5 ans holding · 50% remboursement dette · EBITDA +6%/an</a:t>
            </a:r>
          </a:p>
        </p:txBody>
      </p:sp>
      <p:sp>
        <p:nvSpPr>
          <p:cNvPr id="19" name="TextBox 18"/>
          <p:cNvSpPr txBox="1"/>
          <p:nvPr/>
        </p:nvSpPr>
        <p:spPr>
          <a:xfrm>
            <a:off x="367200" y="2754000"/>
            <a:ext cx="4860000" cy="180000"/>
          </a:xfrm>
          <a:prstGeom prst="rect">
            <a:avLst/>
          </a:prstGeom>
          <a:noFill/>
        </p:spPr>
        <p:txBody>
          <a:bodyPr wrap="square">
            <a:spAutoFit/>
          </a:bodyPr>
          <a:lstStyle/>
          <a:p>
            <a:pPr algn="l"/>
            <a:r>
              <a:rPr sz="750" b="0" i="0">
                <a:solidFill>
                  <a:srgbClr val="888888"/>
                </a:solidFill>
                <a:latin typeface="Calibri"/>
              </a:rPr>
              <a:t>Lecture : IRR / MOIC  ● vert ≥ 20%  ● ambre 15-20%  ● rouge &lt; 15%</a:t>
            </a:r>
          </a:p>
        </p:txBody>
      </p:sp>
      <p:sp>
        <p:nvSpPr>
          <p:cNvPr id="20" name="TextBox 19"/>
          <p:cNvSpPr txBox="1"/>
          <p:nvPr/>
        </p:nvSpPr>
        <p:spPr>
          <a:xfrm>
            <a:off x="5472000" y="900000"/>
            <a:ext cx="3311999" cy="180000"/>
          </a:xfrm>
          <a:prstGeom prst="rect">
            <a:avLst/>
          </a:prstGeom>
          <a:noFill/>
        </p:spPr>
        <p:txBody>
          <a:bodyPr wrap="square">
            <a:spAutoFit/>
          </a:bodyPr>
          <a:lstStyle/>
          <a:p>
            <a:pPr algn="l"/>
            <a:r>
              <a:rPr sz="800" b="1" i="0">
                <a:solidFill>
                  <a:srgbClr val="1B3A6B"/>
                </a:solidFill>
                <a:latin typeface="Calibri"/>
              </a:rPr>
              <a:t>HYPOTHÈSES &amp; STRUCTURE LBO</a:t>
            </a:r>
          </a:p>
        </p:txBody>
      </p:sp>
      <p:graphicFrame>
        <p:nvGraphicFramePr>
          <p:cNvPr id="21" name="Table 20"/>
          <p:cNvGraphicFramePr>
            <a:graphicFrameLocks noGrp="1"/>
          </p:cNvGraphicFramePr>
          <p:nvPr/>
        </p:nvGraphicFramePr>
        <p:xfrm>
          <a:off x="5472000" y="1116000"/>
          <a:ext cx="3311998" cy="1602000"/>
        </p:xfrm>
        <a:graphic>
          <a:graphicData uri="http://schemas.openxmlformats.org/drawingml/2006/table">
            <a:tbl>
              <a:tblPr firstRow="1" bandRow="1">
                <a:tableStyleId>{5C22544A-7EE6-4342-B048-85BDC9FD1C3A}</a:tableStyleId>
              </a:tblPr>
              <a:tblGrid>
                <a:gridCol w="1722239"/>
                <a:gridCol w="1589759"/>
              </a:tblGrid>
              <a:tr h="200250">
                <a:tc>
                  <a:txBody>
                    <a:bodyPr/>
                    <a:lstStyle/>
                    <a:p>
                      <a:pPr algn="l"/>
                      <a:r>
                        <a:rPr sz="800" b="1" i="0">
                          <a:solidFill>
                            <a:srgbClr val="FFFFFF"/>
                          </a:solidFill>
                          <a:latin typeface="Calibri"/>
                        </a:rPr>
                        <a:t>Paramètre</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Valeur</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r>
              <a:tr h="200250">
                <a:tc>
                  <a:txBody>
                    <a:bodyPr/>
                    <a:lstStyle/>
                    <a:p>
                      <a:pPr algn="l"/>
                      <a:r>
                        <a:rPr sz="800" b="0" i="0">
                          <a:solidFill>
                            <a:srgbClr val="0D0D0D"/>
                          </a:solidFill>
                          <a:latin typeface="Calibri"/>
                        </a:rPr>
                        <a:t>EBITDA LTM</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144,7 Mds$</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r h="200250">
                <a:tc>
                  <a:txBody>
                    <a:bodyPr/>
                    <a:lstStyle/>
                    <a:p>
                      <a:pPr algn="l"/>
                      <a:r>
                        <a:rPr sz="800" b="0" i="0">
                          <a:solidFill>
                            <a:srgbClr val="0D0D0D"/>
                          </a:solidFill>
                          <a:latin typeface="Calibri"/>
                        </a:rPr>
                        <a:t>FCF LTM</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111,0 Mds$</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r h="200250">
                <a:tc>
                  <a:txBody>
                    <a:bodyPr/>
                    <a:lstStyle/>
                    <a:p>
                      <a:pPr algn="l"/>
                      <a:r>
                        <a:rPr sz="800" b="0" i="0">
                          <a:solidFill>
                            <a:srgbClr val="0D0D0D"/>
                          </a:solidFill>
                          <a:latin typeface="Calibri"/>
                        </a:rPr>
                        <a:t>Levier PE</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4x EBITDA</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r h="200250">
                <a:tc>
                  <a:txBody>
                    <a:bodyPr/>
                    <a:lstStyle/>
                    <a:p>
                      <a:pPr algn="l"/>
                      <a:r>
                        <a:rPr sz="800" b="0" i="0">
                          <a:solidFill>
                            <a:srgbClr val="0D0D0D"/>
                          </a:solidFill>
                          <a:latin typeface="Calibri"/>
                        </a:rPr>
                        <a:t>Dette entrée</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579,0 Mds$</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r h="200250">
                <a:tc>
                  <a:txBody>
                    <a:bodyPr/>
                    <a:lstStyle/>
                    <a:p>
                      <a:pPr algn="l"/>
                      <a:r>
                        <a:rPr sz="800" b="0" i="0">
                          <a:solidFill>
                            <a:srgbClr val="0D0D0D"/>
                          </a:solidFill>
                          <a:latin typeface="Calibri"/>
                        </a:rPr>
                        <a:t>EBITDA exit (est.)</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197,6 Mds$</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r h="200250">
                <a:tc>
                  <a:txBody>
                    <a:bodyPr/>
                    <a:lstStyle/>
                    <a:p>
                      <a:pPr algn="l"/>
                      <a:r>
                        <a:rPr sz="800" b="0" i="0">
                          <a:solidFill>
                            <a:srgbClr val="0D0D0D"/>
                          </a:solidFill>
                          <a:latin typeface="Calibri"/>
                        </a:rPr>
                        <a:t>Holding</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5 ans</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r h="200250">
                <a:tc>
                  <a:txBody>
                    <a:bodyPr/>
                    <a:lstStyle/>
                    <a:p>
                      <a:pPr algn="l"/>
                      <a:r>
                        <a:rPr sz="800" b="0" i="0">
                          <a:solidFill>
                            <a:srgbClr val="0D0D0D"/>
                          </a:solidFill>
                          <a:latin typeface="Calibri"/>
                        </a:rPr>
                        <a:t>IRR cible PE</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 20%</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bl>
          </a:graphicData>
        </a:graphic>
      </p:graphicFrame>
      <p:sp>
        <p:nvSpPr>
          <p:cNvPr id="22" name="Rectangle 21"/>
          <p:cNvSpPr/>
          <p:nvPr/>
        </p:nvSpPr>
        <p:spPr>
          <a:xfrm>
            <a:off x="5472000" y="3096000"/>
            <a:ext cx="3311999" cy="1007999"/>
          </a:xfrm>
          <a:prstGeom prst="rect">
            <a:avLst/>
          </a:prstGeom>
          <a:solidFill>
            <a:srgbClr val="FDF6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472000" y="3096000"/>
            <a:ext cx="72000" cy="1007999"/>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580000" y="3131999"/>
            <a:ext cx="3168000" cy="162000"/>
          </a:xfrm>
          <a:prstGeom prst="rect">
            <a:avLst/>
          </a:prstGeom>
          <a:noFill/>
        </p:spPr>
        <p:txBody>
          <a:bodyPr wrap="square">
            <a:spAutoFit/>
          </a:bodyPr>
          <a:lstStyle/>
          <a:p>
            <a:pPr algn="l"/>
            <a:r>
              <a:rPr sz="750" b="1" i="0">
                <a:solidFill>
                  <a:srgbClr val="B06000"/>
                </a:solidFill>
                <a:latin typeface="Calibri"/>
              </a:rPr>
              <a:t>NOTE MÉTHODOLOGIQUE</a:t>
            </a:r>
          </a:p>
        </p:txBody>
      </p:sp>
      <p:sp>
        <p:nvSpPr>
          <p:cNvPr id="25" name="TextBox 24"/>
          <p:cNvSpPr txBox="1"/>
          <p:nvPr/>
        </p:nvSpPr>
        <p:spPr>
          <a:xfrm>
            <a:off x="5580000" y="3294000"/>
            <a:ext cx="3168000" cy="792000"/>
          </a:xfrm>
          <a:prstGeom prst="rect">
            <a:avLst/>
          </a:prstGeom>
          <a:noFill/>
        </p:spPr>
        <p:txBody>
          <a:bodyPr wrap="square">
            <a:spAutoFit/>
          </a:bodyPr>
          <a:lstStyle/>
          <a:p>
            <a:pPr algn="l"/>
            <a:r>
              <a:rPr sz="800" b="0" i="0">
                <a:solidFill>
                  <a:srgbClr val="555555"/>
                </a:solidFill>
                <a:latin typeface="Calibri"/>
              </a:rPr>
              <a:t>Analyse indicative uniquement. Le LBO assume un rachat 100% equity par un fonds PE. La dette est remboursée par le FCF de la cible. L'IRR ne tient pas compte des frais de transaction ni de la structure fiscale optimisée. Un IRR ≥ 20% est le seuil standard d'un fonds PE tier-1.</a:t>
            </a:r>
          </a:p>
        </p:txBody>
      </p:sp>
      <p:sp>
        <p:nvSpPr>
          <p:cNvPr id="26" name="Rectangle 25"/>
          <p:cNvSpPr/>
          <p:nvPr/>
        </p:nvSpPr>
        <p:spPr>
          <a:xfrm>
            <a:off x="367200" y="4176000"/>
            <a:ext cx="8413200" cy="576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67200" y="4176000"/>
            <a:ext cx="79200" cy="576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75200" y="4204800"/>
            <a:ext cx="8298000" cy="540000"/>
          </a:xfrm>
          <a:prstGeom prst="rect">
            <a:avLst/>
          </a:prstGeom>
          <a:noFill/>
        </p:spPr>
        <p:txBody>
          <a:bodyPr wrap="square">
            <a:spAutoFit/>
          </a:bodyPr>
          <a:lstStyle/>
          <a:p>
            <a:pPr algn="l"/>
            <a:r>
              <a:rPr sz="850" b="0" i="0">
                <a:solidFill>
                  <a:srgbClr val="555555"/>
                </a:solidFill>
                <a:latin typeface="Calibri"/>
              </a:rPr>
              <a:t>A 10x EBITDA d'entrée / 10x de sortie, le LBO génère un IRR de 14.2% (MOIC 1.9x en 5 ans) — attractivité PE jugée insuffisante. Un fonds tier-1 ciblant 20%+ d'IRR doit entrer en dessous de 8x EBITDA. La génération de FCF (111,0 Mds$) est le principal levier de remboursement de la dette.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B3A6B"/>
        </a:solidFill>
        <a:effectLst/>
      </p:bgPr>
    </p:bg>
    <p:spTree>
      <p:nvGrpSpPr>
        <p:cNvPr id="1" name=""/>
        <p:cNvGrpSpPr/>
        <p:nvPr/>
      </p:nvGrpSpPr>
      <p:grpSpPr/>
      <p:sp>
        <p:nvSpPr>
          <p:cNvPr id="2" name="Rectangle 1"/>
          <p:cNvSpPr/>
          <p:nvPr/>
        </p:nvSpPr>
        <p:spPr>
          <a:xfrm>
            <a:off x="0" y="0"/>
            <a:ext cx="108000" cy="514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1599"/>
            <a:ext cx="8229600" cy="1645200"/>
          </a:xfrm>
          <a:prstGeom prst="rect">
            <a:avLst/>
          </a:prstGeom>
          <a:noFill/>
        </p:spPr>
        <p:txBody>
          <a:bodyPr wrap="none">
            <a:spAutoFit/>
          </a:bodyPr>
          <a:lstStyle/>
          <a:p>
            <a:r>
              <a:rPr sz="8000" b="1">
                <a:solidFill>
                  <a:srgbClr val="FFFFFF">
                    <a:alpha val="15000"/>
                  </a:srgbClr>
                </a:solidFill>
                <a:latin typeface="Calibri"/>
              </a:rPr>
              <a:t>04</a:t>
            </a:r>
          </a:p>
        </p:txBody>
      </p:sp>
      <p:sp>
        <p:nvSpPr>
          <p:cNvPr id="4" name="TextBox 3"/>
          <p:cNvSpPr txBox="1"/>
          <p:nvPr/>
        </p:nvSpPr>
        <p:spPr>
          <a:xfrm>
            <a:off x="457200" y="1875600"/>
            <a:ext cx="7772400" cy="824400"/>
          </a:xfrm>
          <a:prstGeom prst="rect">
            <a:avLst/>
          </a:prstGeom>
          <a:noFill/>
        </p:spPr>
        <p:txBody>
          <a:bodyPr wrap="square">
            <a:spAutoFit/>
          </a:bodyPr>
          <a:lstStyle/>
          <a:p>
            <a:pPr algn="l"/>
            <a:r>
              <a:rPr sz="2800" b="1" i="0">
                <a:solidFill>
                  <a:srgbClr val="FFFFFF"/>
                </a:solidFill>
                <a:latin typeface="Calibri"/>
              </a:rPr>
              <a:t>Risques &amp; Stratégie</a:t>
            </a:r>
          </a:p>
        </p:txBody>
      </p:sp>
      <p:sp>
        <p:nvSpPr>
          <p:cNvPr id="5" name="Rectangle 4"/>
          <p:cNvSpPr/>
          <p:nvPr/>
        </p:nvSpPr>
        <p:spPr>
          <a:xfrm>
            <a:off x="457200" y="2790000"/>
            <a:ext cx="2743200" cy="3600"/>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908800"/>
            <a:ext cx="6400800" cy="320400"/>
          </a:xfrm>
          <a:prstGeom prst="rect">
            <a:avLst/>
          </a:prstGeom>
          <a:noFill/>
        </p:spPr>
        <p:txBody>
          <a:bodyPr wrap="square">
            <a:spAutoFit/>
          </a:bodyPr>
          <a:lstStyle/>
          <a:p>
            <a:pPr algn="l"/>
            <a:r>
              <a:rPr sz="1000" b="0" i="0">
                <a:solidFill>
                  <a:srgbClr val="AABBDD"/>
                </a:solidFill>
                <a:latin typeface="Calibri"/>
              </a:rPr>
              <a:t>Avocat du diable &amp; conditions d'invalidation</a:t>
            </a:r>
          </a:p>
        </p:txBody>
      </p:sp>
      <p:sp>
        <p:nvSpPr>
          <p:cNvPr id="7" name="TextBox 6"/>
          <p:cNvSpPr txBox="1"/>
          <p:nvPr/>
        </p:nvSpPr>
        <p:spPr>
          <a:xfrm>
            <a:off x="367200" y="4802400"/>
            <a:ext cx="8413200" cy="201600"/>
          </a:xfrm>
          <a:prstGeom prst="rect">
            <a:avLst/>
          </a:prstGeom>
          <a:noFill/>
        </p:spPr>
        <p:txBody>
          <a:bodyPr wrap="square">
            <a:spAutoFit/>
          </a:bodyPr>
          <a:lstStyle/>
          <a:p>
            <a:pPr algn="l"/>
            <a:r>
              <a:rPr sz="700" b="0" i="0">
                <a:solidFill>
                  <a:srgbClr val="6677AA"/>
                </a:solidFill>
                <a:latin typeface="Calibri"/>
              </a:rPr>
              <a:t>FinSight IA  ·  Usage confidentiel</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FFFFFF"/>
                </a:solidFill>
                <a:latin typeface="Calibri"/>
              </a:rPr>
              <a:t>1</a:t>
            </a:r>
          </a:p>
        </p:txBody>
      </p:sp>
      <p:sp>
        <p:nvSpPr>
          <p:cNvPr id="7" name="Rectangle 6"/>
          <p:cNvSpPr/>
          <p:nvPr/>
        </p:nvSpPr>
        <p:spPr>
          <a:xfrm>
            <a:off x="6353999"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FFFFFF"/>
                </a:solidFill>
                <a:latin typeface="Calibri"/>
              </a:rPr>
              <a:t>2</a:t>
            </a:r>
          </a:p>
        </p:txBody>
      </p:sp>
      <p:sp>
        <p:nvSpPr>
          <p:cNvPr id="9" name="Rectangle 8"/>
          <p:cNvSpPr/>
          <p:nvPr/>
        </p:nvSpPr>
        <p:spPr>
          <a:xfrm>
            <a:off x="65844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FFFFFF"/>
                </a:solidFill>
                <a:latin typeface="Calibri"/>
              </a:rPr>
              <a:t>3</a:t>
            </a:r>
          </a:p>
        </p:txBody>
      </p:sp>
      <p:sp>
        <p:nvSpPr>
          <p:cNvPr id="11" name="Rectangle 10"/>
          <p:cNvSpPr/>
          <p:nvPr/>
        </p:nvSpPr>
        <p:spPr>
          <a:xfrm>
            <a:off x="6811200"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1B3A6B"/>
                </a:solidFill>
                <a:latin typeface="Calibri"/>
              </a:rPr>
              <a:t>4</a:t>
            </a:r>
          </a:p>
        </p:txBody>
      </p:sp>
      <p:sp>
        <p:nvSpPr>
          <p:cNvPr id="13" name="Rectangle 12"/>
          <p:cNvSpPr/>
          <p:nvPr/>
        </p:nvSpPr>
        <p:spPr>
          <a:xfrm>
            <a:off x="70416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FFFFFF"/>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Risques &amp; Conditions d'Invalidation</a:t>
            </a:r>
          </a:p>
        </p:txBody>
      </p:sp>
      <p:sp>
        <p:nvSpPr>
          <p:cNvPr id="16" name="TextBox 15"/>
          <p:cNvSpPr txBox="1"/>
          <p:nvPr/>
        </p:nvSpPr>
        <p:spPr>
          <a:xfrm>
            <a:off x="367200" y="622800"/>
            <a:ext cx="8413200" cy="201600"/>
          </a:xfrm>
          <a:prstGeom prst="rect">
            <a:avLst/>
          </a:prstGeom>
          <a:noFill/>
        </p:spPr>
        <p:txBody>
          <a:bodyPr wrap="square">
            <a:spAutoFit/>
          </a:bodyPr>
          <a:lstStyle/>
          <a:p>
            <a:pPr algn="l"/>
            <a:r>
              <a:rPr sz="900" b="0" i="0">
                <a:solidFill>
                  <a:srgbClr val="2E5FA3"/>
                </a:solidFill>
                <a:latin typeface="Calibri"/>
              </a:rPr>
              <a:t>Analyse des risques structurels  ·  Thèse contraire</a:t>
            </a:r>
          </a:p>
        </p:txBody>
      </p:sp>
      <p:sp>
        <p:nvSpPr>
          <p:cNvPr id="17" name="Rectangle 16"/>
          <p:cNvSpPr/>
          <p:nvPr/>
        </p:nvSpPr>
        <p:spPr>
          <a:xfrm>
            <a:off x="367200" y="961200"/>
            <a:ext cx="2743200" cy="1918800"/>
          </a:xfrm>
          <a:prstGeom prst="rect">
            <a:avLst/>
          </a:prstGeom>
          <a:solidFill>
            <a:srgbClr val="FAF0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67200" y="961200"/>
            <a:ext cx="2743200" cy="540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75200" y="1069200"/>
            <a:ext cx="2527200" cy="396000"/>
          </a:xfrm>
          <a:prstGeom prst="rect">
            <a:avLst/>
          </a:prstGeom>
          <a:noFill/>
        </p:spPr>
        <p:txBody>
          <a:bodyPr wrap="square">
            <a:spAutoFit/>
          </a:bodyPr>
          <a:lstStyle/>
          <a:p>
            <a:pPr algn="l"/>
            <a:r>
              <a:rPr sz="900" b="1" i="0">
                <a:solidFill>
                  <a:srgbClr val="A82020"/>
                </a:solidFill>
                <a:latin typeface="Calibri"/>
              </a:rPr>
              <a:t>Croissance atone Asie</a:t>
            </a:r>
          </a:p>
        </p:txBody>
      </p:sp>
      <p:sp>
        <p:nvSpPr>
          <p:cNvPr id="20" name="TextBox 19"/>
          <p:cNvSpPr txBox="1"/>
          <p:nvPr/>
        </p:nvSpPr>
        <p:spPr>
          <a:xfrm>
            <a:off x="475200" y="1537199"/>
            <a:ext cx="2527200" cy="1260000"/>
          </a:xfrm>
          <a:prstGeom prst="rect">
            <a:avLst/>
          </a:prstGeom>
          <a:noFill/>
        </p:spPr>
        <p:txBody>
          <a:bodyPr wrap="square">
            <a:spAutoFit/>
          </a:bodyPr>
          <a:lstStyle/>
          <a:p>
            <a:pPr algn="l"/>
            <a:r>
              <a:rPr sz="800" b="0" i="0">
                <a:solidFill>
                  <a:srgbClr val="555555"/>
                </a:solidFill>
                <a:latin typeface="Calibri"/>
              </a:rPr>
              <a:t>Le P/E à 33,78x survalorise Apple face à un marché saturé où la croissance des ventes ne dépasse pas 6,4% en 2025, un rythme insuffisant pour justifier une prime de 30% vs le S&amp;P 500. Les marges brutes de 46,9% reposent sur un écosystème captif, mais la guerre des prix en Chine et la baisse des ventes d'iPhone en Asie (-8% en 2024) menacent cette rentabilité.</a:t>
            </a:r>
          </a:p>
        </p:txBody>
      </p:sp>
      <p:sp>
        <p:nvSpPr>
          <p:cNvPr id="21" name="Rectangle 20"/>
          <p:cNvSpPr/>
          <p:nvPr/>
        </p:nvSpPr>
        <p:spPr>
          <a:xfrm>
            <a:off x="3229200" y="961200"/>
            <a:ext cx="2743200" cy="19188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229200" y="961200"/>
            <a:ext cx="2743200" cy="54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337200" y="1069200"/>
            <a:ext cx="2527200" cy="396000"/>
          </a:xfrm>
          <a:prstGeom prst="rect">
            <a:avLst/>
          </a:prstGeom>
          <a:noFill/>
        </p:spPr>
        <p:txBody>
          <a:bodyPr wrap="square">
            <a:spAutoFit/>
          </a:bodyPr>
          <a:lstStyle/>
          <a:p>
            <a:pPr algn="l"/>
            <a:r>
              <a:rPr sz="900" b="1" i="0">
                <a:solidFill>
                  <a:srgbClr val="2E5FA3"/>
                </a:solidFill>
                <a:latin typeface="Calibri"/>
              </a:rPr>
              <a:t>Dépendance rachats actions</a:t>
            </a:r>
          </a:p>
        </p:txBody>
      </p:sp>
      <p:sp>
        <p:nvSpPr>
          <p:cNvPr id="24" name="TextBox 23"/>
          <p:cNvSpPr txBox="1"/>
          <p:nvPr/>
        </p:nvSpPr>
        <p:spPr>
          <a:xfrm>
            <a:off x="3337200" y="1537199"/>
            <a:ext cx="2527200" cy="1260000"/>
          </a:xfrm>
          <a:prstGeom prst="rect">
            <a:avLst/>
          </a:prstGeom>
          <a:noFill/>
        </p:spPr>
        <p:txBody>
          <a:bodyPr wrap="square">
            <a:spAutoFit/>
          </a:bodyPr>
          <a:lstStyle/>
          <a:p>
            <a:pPr algn="l"/>
            <a:r>
              <a:rPr sz="800" b="0" i="0">
                <a:solidFill>
                  <a:srgbClr val="555555"/>
                </a:solidFill>
                <a:latin typeface="Calibri"/>
              </a:rPr>
              <a:t>La trésorerie record de 167 milliards cache une dépendance excessive aux rachats d'actions (60 milliards en 2024), masquant un manque d'investissements productifs dans l'IA ou les véhicules autonomes.</a:t>
            </a:r>
          </a:p>
        </p:txBody>
      </p:sp>
      <p:sp>
        <p:nvSpPr>
          <p:cNvPr id="25" name="Rectangle 24"/>
          <p:cNvSpPr/>
          <p:nvPr/>
        </p:nvSpPr>
        <p:spPr>
          <a:xfrm>
            <a:off x="6091200" y="961200"/>
            <a:ext cx="2743200" cy="1918800"/>
          </a:xfrm>
          <a:prstGeom prst="rect">
            <a:avLst/>
          </a:prstGeom>
          <a:solidFill>
            <a:srgbClr val="FDF6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091200" y="961200"/>
            <a:ext cx="2743200" cy="54000"/>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199200" y="1069200"/>
            <a:ext cx="2527200" cy="396000"/>
          </a:xfrm>
          <a:prstGeom prst="rect">
            <a:avLst/>
          </a:prstGeom>
          <a:noFill/>
        </p:spPr>
        <p:txBody>
          <a:bodyPr wrap="square">
            <a:spAutoFit/>
          </a:bodyPr>
          <a:lstStyle/>
          <a:p>
            <a:pPr algn="l"/>
            <a:r>
              <a:rPr sz="900" b="1" i="0">
                <a:solidFill>
                  <a:srgbClr val="B06000"/>
                </a:solidFill>
                <a:latin typeface="Calibri"/>
              </a:rPr>
              <a:t>Litiges juridiques lourds</a:t>
            </a:r>
          </a:p>
        </p:txBody>
      </p:sp>
      <p:sp>
        <p:nvSpPr>
          <p:cNvPr id="28" name="TextBox 27"/>
          <p:cNvSpPr txBox="1"/>
          <p:nvPr/>
        </p:nvSpPr>
        <p:spPr>
          <a:xfrm>
            <a:off x="6199200" y="1537199"/>
            <a:ext cx="2527200" cy="1260000"/>
          </a:xfrm>
          <a:prstGeom prst="rect">
            <a:avLst/>
          </a:prstGeom>
          <a:noFill/>
        </p:spPr>
        <p:txBody>
          <a:bodyPr wrap="square">
            <a:spAutoFit/>
          </a:bodyPr>
          <a:lstStyle/>
          <a:p>
            <a:pPr algn="l"/>
            <a:r>
              <a:rPr sz="800" b="0" i="0">
                <a:solidFill>
                  <a:srgbClr val="555555"/>
                </a:solidFill>
                <a:latin typeface="Calibri"/>
              </a:rPr>
              <a:t>L'Altman Z-score de 1,69 signale un risque de faillite élevé, proche du seuil critique de 1,8, avec une dette nette/EBITDA à 0,43x masquant des engagements futurs liés aux litiges (ex : 5G, 1 milliard de pénalités en 2023).</a:t>
            </a:r>
          </a:p>
        </p:txBody>
      </p:sp>
      <p:sp>
        <p:nvSpPr>
          <p:cNvPr id="29" name="Rectangle 28"/>
          <p:cNvSpPr/>
          <p:nvPr/>
        </p:nvSpPr>
        <p:spPr>
          <a:xfrm>
            <a:off x="367200" y="2998800"/>
            <a:ext cx="8413200" cy="10800"/>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67200" y="3070800"/>
            <a:ext cx="8413200" cy="165600"/>
          </a:xfrm>
          <a:prstGeom prst="rect">
            <a:avLst/>
          </a:prstGeom>
          <a:noFill/>
        </p:spPr>
        <p:txBody>
          <a:bodyPr wrap="square">
            <a:spAutoFit/>
          </a:bodyPr>
          <a:lstStyle/>
          <a:p>
            <a:pPr algn="l"/>
            <a:r>
              <a:rPr sz="900" b="1" i="0">
                <a:solidFill>
                  <a:srgbClr val="1B3A6B"/>
                </a:solidFill>
                <a:latin typeface="Calibri"/>
              </a:rPr>
              <a:t>Conditions d'invalidation de la thèse</a:t>
            </a:r>
          </a:p>
        </p:txBody>
      </p:sp>
      <p:graphicFrame>
        <p:nvGraphicFramePr>
          <p:cNvPr id="31" name="Table 30"/>
          <p:cNvGraphicFramePr>
            <a:graphicFrameLocks noGrp="1"/>
          </p:cNvGraphicFramePr>
          <p:nvPr/>
        </p:nvGraphicFramePr>
        <p:xfrm>
          <a:off x="367200" y="3308400"/>
          <a:ext cx="8413200" cy="1098000"/>
        </p:xfrm>
        <a:graphic>
          <a:graphicData uri="http://schemas.openxmlformats.org/drawingml/2006/table">
            <a:tbl>
              <a:tblPr firstRow="1" bandRow="1">
                <a:tableStyleId>{5C22544A-7EE6-4342-B048-85BDC9FD1C3A}</a:tableStyleId>
              </a:tblPr>
              <a:tblGrid>
                <a:gridCol w="1261980"/>
                <a:gridCol w="5468580"/>
                <a:gridCol w="1682640"/>
              </a:tblGrid>
              <a:tr h="274500">
                <a:tc>
                  <a:txBody>
                    <a:bodyPr/>
                    <a:lstStyle/>
                    <a:p>
                      <a:pPr algn="l"/>
                      <a:r>
                        <a:rPr sz="800" b="1" i="0">
                          <a:solidFill>
                            <a:srgbClr val="FFFFFF"/>
                          </a:solidFill>
                          <a:latin typeface="Calibri"/>
                        </a:rPr>
                        <a:t>Axe</a:t>
                      </a:r>
                    </a:p>
                  </a:txBody>
                  <a:tcPr>
                    <a:solidFill>
                      <a:srgbClr val="1B3A6B"/>
                    </a:solidFill>
                  </a:tcPr>
                </a:tc>
                <a:tc>
                  <a:txBody>
                    <a:bodyPr/>
                    <a:lstStyle/>
                    <a:p>
                      <a:pPr algn="ctr"/>
                      <a:r>
                        <a:rPr sz="800" b="1" i="0">
                          <a:solidFill>
                            <a:srgbClr val="FFFFFF"/>
                          </a:solidFill>
                          <a:latin typeface="Calibri"/>
                        </a:rPr>
                        <a:t>Condition d'invalidation</a:t>
                      </a:r>
                    </a:p>
                  </a:txBody>
                  <a:tcPr>
                    <a:solidFill>
                      <a:srgbClr val="1B3A6B"/>
                    </a:solidFill>
                  </a:tcPr>
                </a:tc>
                <a:tc>
                  <a:txBody>
                    <a:bodyPr/>
                    <a:lstStyle/>
                    <a:p>
                      <a:pPr algn="ctr"/>
                      <a:r>
                        <a:rPr sz="800" b="1" i="0">
                          <a:solidFill>
                            <a:srgbClr val="FFFFFF"/>
                          </a:solidFill>
                          <a:latin typeface="Calibri"/>
                        </a:rPr>
                        <a:t>Horizon</a:t>
                      </a:r>
                    </a:p>
                  </a:txBody>
                  <a:tcPr>
                    <a:solidFill>
                      <a:srgbClr val="1B3A6B"/>
                    </a:solidFill>
                  </a:tcPr>
                </a:tc>
              </a:tr>
              <a:tr h="274500">
                <a:tc>
                  <a:txBody>
                    <a:bodyPr/>
                    <a:lstStyle/>
                    <a:p>
                      <a:pPr algn="l"/>
                      <a:r>
                        <a:rPr sz="800" b="1" i="0">
                          <a:solidFill>
                            <a:srgbClr val="1B3A6B"/>
                          </a:solidFill>
                          <a:latin typeface="Calibri"/>
                        </a:rPr>
                        <a:t>Macro</a:t>
                      </a:r>
                    </a:p>
                  </a:txBody>
                  <a:tcPr>
                    <a:solidFill>
                      <a:srgbClr val="FFFFFF"/>
                    </a:solidFill>
                  </a:tcPr>
                </a:tc>
                <a:tc>
                  <a:txBody>
                    <a:bodyPr/>
                    <a:lstStyle/>
                    <a:p>
                      <a:pPr algn="ctr"/>
                      <a:r>
                        <a:rPr sz="800" b="0" i="0">
                          <a:solidFill>
                            <a:srgbClr val="0D0D0D"/>
                          </a:solidFill>
                          <a:latin typeface="Calibri"/>
                        </a:rPr>
                        <a:t>Ralentissement économique en Chine de -5 % du PIB en 2026</a:t>
                      </a:r>
                    </a:p>
                  </a:txBody>
                  <a:tcPr>
                    <a:solidFill>
                      <a:srgbClr val="FFFFFF"/>
                    </a:solidFill>
                  </a:tcPr>
                </a:tc>
                <a:tc>
                  <a:txBody>
                    <a:bodyPr/>
                    <a:lstStyle/>
                    <a:p>
                      <a:pPr algn="ctr"/>
                      <a:r>
                        <a:rPr sz="800" b="0" i="0">
                          <a:solidFill>
                            <a:srgbClr val="0D0D0D"/>
                          </a:solidFill>
                          <a:latin typeface="Calibri"/>
                        </a:rPr>
                        <a:t>6-12 mois</a:t>
                      </a:r>
                    </a:p>
                  </a:txBody>
                  <a:tcPr>
                    <a:solidFill>
                      <a:srgbClr val="FFFFFF"/>
                    </a:solidFill>
                  </a:tcPr>
                </a:tc>
              </a:tr>
              <a:tr h="274500">
                <a:tc>
                  <a:txBody>
                    <a:bodyPr/>
                    <a:lstStyle/>
                    <a:p>
                      <a:pPr algn="l"/>
                      <a:r>
                        <a:rPr sz="800" b="1" i="0">
                          <a:solidFill>
                            <a:srgbClr val="1B3A6B"/>
                          </a:solidFill>
                          <a:latin typeface="Calibri"/>
                        </a:rPr>
                        <a:t>Sectoriel</a:t>
                      </a:r>
                    </a:p>
                  </a:txBody>
                  <a:tcPr>
                    <a:solidFill>
                      <a:srgbClr val="F7F8FA"/>
                    </a:solidFill>
                  </a:tcPr>
                </a:tc>
                <a:tc>
                  <a:txBody>
                    <a:bodyPr/>
                    <a:lstStyle/>
                    <a:p>
                      <a:pPr algn="ctr"/>
                      <a:r>
                        <a:rPr sz="800" b="0" i="0">
                          <a:solidFill>
                            <a:srgbClr val="0D0D0D"/>
                          </a:solidFill>
                          <a:latin typeface="Calibri"/>
                        </a:rPr>
                        <a:t>Régulation européenne réduisant les revenus services de 15 %</a:t>
                      </a:r>
                    </a:p>
                  </a:txBody>
                  <a:tcPr>
                    <a:solidFill>
                      <a:srgbClr val="F7F8FA"/>
                    </a:solidFill>
                  </a:tcPr>
                </a:tc>
                <a:tc>
                  <a:txBody>
                    <a:bodyPr/>
                    <a:lstStyle/>
                    <a:p>
                      <a:pPr algn="ctr"/>
                      <a:r>
                        <a:rPr sz="800" b="0" i="0">
                          <a:solidFill>
                            <a:srgbClr val="0D0D0D"/>
                          </a:solidFill>
                          <a:latin typeface="Calibri"/>
                        </a:rPr>
                        <a:t>12-18 mois</a:t>
                      </a:r>
                    </a:p>
                  </a:txBody>
                  <a:tcPr>
                    <a:solidFill>
                      <a:srgbClr val="F7F8FA"/>
                    </a:solidFill>
                  </a:tcPr>
                </a:tc>
              </a:tr>
              <a:tr h="274500">
                <a:tc>
                  <a:txBody>
                    <a:bodyPr/>
                    <a:lstStyle/>
                    <a:p>
                      <a:pPr algn="l"/>
                      <a:r>
                        <a:rPr sz="800" b="1" i="0">
                          <a:solidFill>
                            <a:srgbClr val="1B3A6B"/>
                          </a:solidFill>
                          <a:latin typeface="Calibri"/>
                        </a:rPr>
                        <a:t>Société</a:t>
                      </a:r>
                    </a:p>
                  </a:txBody>
                  <a:tcPr>
                    <a:solidFill>
                      <a:srgbClr val="FFFFFF"/>
                    </a:solidFill>
                  </a:tcPr>
                </a:tc>
                <a:tc>
                  <a:txBody>
                    <a:bodyPr/>
                    <a:lstStyle/>
                    <a:p>
                      <a:pPr algn="ctr"/>
                      <a:r>
                        <a:rPr sz="800" b="0" i="0">
                          <a:solidFill>
                            <a:srgbClr val="0D0D0D"/>
                          </a:solidFill>
                          <a:latin typeface="Calibri"/>
                        </a:rPr>
                        <a:t>Échec du lancement de l'iPhone 16 avec ventes en baisse de 8 %</a:t>
                      </a:r>
                    </a:p>
                  </a:txBody>
                  <a:tcPr>
                    <a:solidFill>
                      <a:srgbClr val="FFFFFF"/>
                    </a:solidFill>
                  </a:tcPr>
                </a:tc>
                <a:tc>
                  <a:txBody>
                    <a:bodyPr/>
                    <a:lstStyle/>
                    <a:p>
                      <a:pPr algn="ctr"/>
                      <a:r>
                        <a:rPr sz="800" b="0" i="0">
                          <a:solidFill>
                            <a:srgbClr val="0D0D0D"/>
                          </a:solidFill>
                          <a:latin typeface="Calibri"/>
                        </a:rPr>
                        <a:t>2-3 trim.</a:t>
                      </a:r>
                    </a:p>
                  </a:txBody>
                  <a:tcPr>
                    <a:solidFill>
                      <a:srgbClr val="FFFFFF"/>
                    </a:solidFill>
                  </a:tcPr>
                </a:tc>
              </a:tr>
            </a:tbl>
          </a:graphicData>
        </a:graphic>
      </p:graphicFrame>
      <p:sp>
        <p:nvSpPr>
          <p:cNvPr id="32" name="Rectangle 31"/>
          <p:cNvSpPr/>
          <p:nvPr/>
        </p:nvSpPr>
        <p:spPr>
          <a:xfrm>
            <a:off x="367200" y="4428000"/>
            <a:ext cx="2804400" cy="180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67200" y="4428000"/>
            <a:ext cx="43200" cy="180000"/>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46400" y="4438800"/>
            <a:ext cx="2696400" cy="158400"/>
          </a:xfrm>
          <a:prstGeom prst="rect">
            <a:avLst/>
          </a:prstGeom>
          <a:noFill/>
        </p:spPr>
        <p:txBody>
          <a:bodyPr wrap="square">
            <a:spAutoFit/>
          </a:bodyPr>
          <a:lstStyle/>
          <a:p>
            <a:pPr algn="l"/>
            <a:r>
              <a:rPr sz="700" b="0" i="0">
                <a:solidFill>
                  <a:srgbClr val="1B3A6B"/>
                </a:solidFill>
                <a:latin typeface="Calibri"/>
              </a:rPr>
              <a:t>Détresse : 49/100  Vigilance</a:t>
            </a:r>
          </a:p>
        </p:txBody>
      </p:sp>
      <p:sp>
        <p:nvSpPr>
          <p:cNvPr id="35" name="Rectangle 34"/>
          <p:cNvSpPr/>
          <p:nvPr/>
        </p:nvSpPr>
        <p:spPr>
          <a:xfrm>
            <a:off x="3243600" y="4428000"/>
            <a:ext cx="2804400" cy="180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243600" y="4428000"/>
            <a:ext cx="43200" cy="180000"/>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322800" y="4438800"/>
            <a:ext cx="2696400" cy="158400"/>
          </a:xfrm>
          <a:prstGeom prst="rect">
            <a:avLst/>
          </a:prstGeom>
          <a:noFill/>
        </p:spPr>
        <p:txBody>
          <a:bodyPr wrap="square">
            <a:spAutoFit/>
          </a:bodyPr>
          <a:lstStyle/>
          <a:p>
            <a:pPr algn="l"/>
            <a:r>
              <a:rPr sz="700" b="0" i="0">
                <a:solidFill>
                  <a:srgbClr val="1B3A6B"/>
                </a:solidFill>
                <a:latin typeface="Calibri"/>
              </a:rPr>
              <a:t>M&amp;A : 42/100  Moderate</a:t>
            </a:r>
          </a:p>
        </p:txBody>
      </p:sp>
      <p:sp>
        <p:nvSpPr>
          <p:cNvPr id="38" name="Rectangle 37"/>
          <p:cNvSpPr/>
          <p:nvPr/>
        </p:nvSpPr>
        <p:spPr>
          <a:xfrm>
            <a:off x="6123600" y="4428000"/>
            <a:ext cx="2804400" cy="180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6123600" y="4428000"/>
            <a:ext cx="43200" cy="180000"/>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202800" y="4438800"/>
            <a:ext cx="2696400" cy="158400"/>
          </a:xfrm>
          <a:prstGeom prst="rect">
            <a:avLst/>
          </a:prstGeom>
          <a:noFill/>
        </p:spPr>
        <p:txBody>
          <a:bodyPr wrap="square">
            <a:spAutoFit/>
          </a:bodyPr>
          <a:lstStyle/>
          <a:p>
            <a:pPr algn="l"/>
            <a:r>
              <a:rPr sz="700" b="0" i="0">
                <a:solidFill>
                  <a:srgbClr val="1B3A6B"/>
                </a:solidFill>
                <a:latin typeface="Calibri"/>
              </a:rPr>
              <a:t>Régime : Volatile  Rec.6M:18%</a:t>
            </a:r>
          </a:p>
        </p:txBody>
      </p:sp>
      <p:sp>
        <p:nvSpPr>
          <p:cNvPr id="41" name="Rectangle 40"/>
          <p:cNvSpPr/>
          <p:nvPr/>
        </p:nvSpPr>
        <p:spPr>
          <a:xfrm>
            <a:off x="367200" y="4618800"/>
            <a:ext cx="2804400" cy="180000"/>
          </a:xfrm>
          <a:prstGeom prst="rect">
            <a:avLst/>
          </a:prstGeom>
          <a:solidFill>
            <a:srgbClr val="EBF0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367200" y="4618800"/>
            <a:ext cx="43200" cy="180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46400" y="4629600"/>
            <a:ext cx="2696400" cy="158400"/>
          </a:xfrm>
          <a:prstGeom prst="rect">
            <a:avLst/>
          </a:prstGeom>
          <a:noFill/>
        </p:spPr>
        <p:txBody>
          <a:bodyPr wrap="square">
            <a:spAutoFit/>
          </a:bodyPr>
          <a:lstStyle/>
          <a:p>
            <a:pPr algn="l"/>
            <a:r>
              <a:rPr sz="700" b="0" i="0">
                <a:solidFill>
                  <a:srgbClr val="1B3A6B"/>
                </a:solidFill>
                <a:latin typeface="Calibri"/>
              </a:rPr>
              <a:t>Earnings Qualité : Correcte (0.99x)</a:t>
            </a:r>
          </a:p>
        </p:txBody>
      </p:sp>
      <p:sp>
        <p:nvSpPr>
          <p:cNvPr id="44" name="Rectangle 43"/>
          <p:cNvSpPr/>
          <p:nvPr/>
        </p:nvSpPr>
        <p:spPr>
          <a:xfrm>
            <a:off x="3243600" y="4618800"/>
            <a:ext cx="2804400" cy="180000"/>
          </a:xfrm>
          <a:prstGeom prst="rect">
            <a:avLst/>
          </a:prstGeom>
          <a:solidFill>
            <a:srgbClr val="EBF0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3243600" y="4618800"/>
            <a:ext cx="43200" cy="180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322800" y="4629600"/>
            <a:ext cx="2696400" cy="158400"/>
          </a:xfrm>
          <a:prstGeom prst="rect">
            <a:avLst/>
          </a:prstGeom>
          <a:noFill/>
        </p:spPr>
        <p:txBody>
          <a:bodyPr wrap="square">
            <a:spAutoFit/>
          </a:bodyPr>
          <a:lstStyle/>
          <a:p>
            <a:pPr algn="l"/>
            <a:r>
              <a:rPr sz="700" b="0" i="0">
                <a:solidFill>
                  <a:srgbClr val="1B3A6B"/>
                </a:solidFill>
                <a:latin typeface="Calibri"/>
              </a:rPr>
              <a:t>Struct. Capital : Modérée (21% CT)</a:t>
            </a:r>
          </a:p>
        </p:txBody>
      </p:sp>
      <p:sp>
        <p:nvSpPr>
          <p:cNvPr id="47" name="Rectangle 46"/>
          <p:cNvSpPr/>
          <p:nvPr/>
        </p:nvSpPr>
        <p:spPr>
          <a:xfrm>
            <a:off x="6123600" y="4618800"/>
            <a:ext cx="2804400" cy="180000"/>
          </a:xfrm>
          <a:prstGeom prst="rect">
            <a:avLst/>
          </a:prstGeom>
          <a:solidFill>
            <a:srgbClr val="EBF0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6123600" y="4618800"/>
            <a:ext cx="43200" cy="180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202800" y="4629600"/>
            <a:ext cx="2696400" cy="158400"/>
          </a:xfrm>
          <a:prstGeom prst="rect">
            <a:avLst/>
          </a:prstGeom>
          <a:noFill/>
        </p:spPr>
        <p:txBody>
          <a:bodyPr wrap="square">
            <a:spAutoFit/>
          </a:bodyPr>
          <a:lstStyle/>
          <a:p>
            <a:pPr algn="l"/>
            <a:r>
              <a:rPr sz="700" b="0" i="0">
                <a:solidFill>
                  <a:srgbClr val="1B3A6B"/>
                </a:solidFill>
                <a:latin typeface="Calibri"/>
              </a:rPr>
              <a:t>Dividende : Soutenable (1.2x)</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B3A6B"/>
        </a:solidFill>
        <a:effectLst/>
      </p:bgPr>
    </p:bg>
    <p:spTree>
      <p:nvGrpSpPr>
        <p:cNvPr id="1" name=""/>
        <p:cNvGrpSpPr/>
        <p:nvPr/>
      </p:nvGrpSpPr>
      <p:grpSpPr/>
      <p:sp>
        <p:nvSpPr>
          <p:cNvPr id="2" name="Rectangle 1"/>
          <p:cNvSpPr/>
          <p:nvPr/>
        </p:nvSpPr>
        <p:spPr>
          <a:xfrm>
            <a:off x="0" y="0"/>
            <a:ext cx="108000" cy="514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1599"/>
            <a:ext cx="8229600" cy="1645200"/>
          </a:xfrm>
          <a:prstGeom prst="rect">
            <a:avLst/>
          </a:prstGeom>
          <a:noFill/>
        </p:spPr>
        <p:txBody>
          <a:bodyPr wrap="none">
            <a:spAutoFit/>
          </a:bodyPr>
          <a:lstStyle/>
          <a:p>
            <a:r>
              <a:rPr sz="8000" b="1">
                <a:solidFill>
                  <a:srgbClr val="FFFFFF">
                    <a:alpha val="15000"/>
                  </a:srgbClr>
                </a:solidFill>
                <a:latin typeface="Calibri"/>
              </a:rPr>
              <a:t>05</a:t>
            </a:r>
          </a:p>
        </p:txBody>
      </p:sp>
      <p:sp>
        <p:nvSpPr>
          <p:cNvPr id="4" name="TextBox 3"/>
          <p:cNvSpPr txBox="1"/>
          <p:nvPr/>
        </p:nvSpPr>
        <p:spPr>
          <a:xfrm>
            <a:off x="457200" y="1875600"/>
            <a:ext cx="7772400" cy="824400"/>
          </a:xfrm>
          <a:prstGeom prst="rect">
            <a:avLst/>
          </a:prstGeom>
          <a:noFill/>
        </p:spPr>
        <p:txBody>
          <a:bodyPr wrap="square">
            <a:spAutoFit/>
          </a:bodyPr>
          <a:lstStyle/>
          <a:p>
            <a:pPr algn="l"/>
            <a:r>
              <a:rPr sz="2800" b="1" i="0">
                <a:solidFill>
                  <a:srgbClr val="FFFFFF"/>
                </a:solidFill>
                <a:latin typeface="Calibri"/>
              </a:rPr>
              <a:t>Sentiment &amp; Annexes</a:t>
            </a:r>
          </a:p>
        </p:txBody>
      </p:sp>
      <p:sp>
        <p:nvSpPr>
          <p:cNvPr id="5" name="Rectangle 4"/>
          <p:cNvSpPr/>
          <p:nvPr/>
        </p:nvSpPr>
        <p:spPr>
          <a:xfrm>
            <a:off x="457200" y="2790000"/>
            <a:ext cx="2743200" cy="3600"/>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908800"/>
            <a:ext cx="6400800" cy="320400"/>
          </a:xfrm>
          <a:prstGeom prst="rect">
            <a:avLst/>
          </a:prstGeom>
          <a:noFill/>
        </p:spPr>
        <p:txBody>
          <a:bodyPr wrap="square">
            <a:spAutoFit/>
          </a:bodyPr>
          <a:lstStyle/>
          <a:p>
            <a:pPr algn="l"/>
            <a:r>
              <a:rPr sz="1000" b="0" i="0">
                <a:solidFill>
                  <a:srgbClr val="AABBDD"/>
                </a:solidFill>
                <a:latin typeface="Calibri"/>
              </a:rPr>
              <a:t>FinBERT, actionnariat &amp; historique de cours</a:t>
            </a:r>
          </a:p>
        </p:txBody>
      </p:sp>
      <p:sp>
        <p:nvSpPr>
          <p:cNvPr id="7" name="TextBox 6"/>
          <p:cNvSpPr txBox="1"/>
          <p:nvPr/>
        </p:nvSpPr>
        <p:spPr>
          <a:xfrm>
            <a:off x="367200" y="4802400"/>
            <a:ext cx="8413200" cy="201600"/>
          </a:xfrm>
          <a:prstGeom prst="rect">
            <a:avLst/>
          </a:prstGeom>
          <a:noFill/>
        </p:spPr>
        <p:txBody>
          <a:bodyPr wrap="square">
            <a:spAutoFit/>
          </a:bodyPr>
          <a:lstStyle/>
          <a:p>
            <a:pPr algn="l"/>
            <a:r>
              <a:rPr sz="700" b="0" i="0">
                <a:solidFill>
                  <a:srgbClr val="6677AA"/>
                </a:solidFill>
                <a:latin typeface="Calibri"/>
              </a:rPr>
              <a:t>FinSight IA  ·  Usage confidentiel</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FFFFFF"/>
                </a:solidFill>
                <a:latin typeface="Calibri"/>
              </a:rPr>
              <a:t>1</a:t>
            </a:r>
          </a:p>
        </p:txBody>
      </p:sp>
      <p:sp>
        <p:nvSpPr>
          <p:cNvPr id="7" name="Rectangle 6"/>
          <p:cNvSpPr/>
          <p:nvPr/>
        </p:nvSpPr>
        <p:spPr>
          <a:xfrm>
            <a:off x="6353999"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FFFFFF"/>
                </a:solidFill>
                <a:latin typeface="Calibri"/>
              </a:rPr>
              <a:t>2</a:t>
            </a:r>
          </a:p>
        </p:txBody>
      </p:sp>
      <p:sp>
        <p:nvSpPr>
          <p:cNvPr id="9" name="Rectangle 8"/>
          <p:cNvSpPr/>
          <p:nvPr/>
        </p:nvSpPr>
        <p:spPr>
          <a:xfrm>
            <a:off x="65844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FFFFFF"/>
                </a:solidFill>
                <a:latin typeface="Calibri"/>
              </a:rPr>
              <a:t>3</a:t>
            </a:r>
          </a:p>
        </p:txBody>
      </p:sp>
      <p:sp>
        <p:nvSpPr>
          <p:cNvPr id="11" name="Rectangle 10"/>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3" name="Rectangle 12"/>
          <p:cNvSpPr/>
          <p:nvPr/>
        </p:nvSpPr>
        <p:spPr>
          <a:xfrm>
            <a:off x="7041600"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1B3A6B"/>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Sentiment de Marché — LLM Groq</a:t>
            </a:r>
          </a:p>
        </p:txBody>
      </p:sp>
      <p:sp>
        <p:nvSpPr>
          <p:cNvPr id="16" name="TextBox 15"/>
          <p:cNvSpPr txBox="1"/>
          <p:nvPr/>
        </p:nvSpPr>
        <p:spPr>
          <a:xfrm>
            <a:off x="367200" y="622800"/>
            <a:ext cx="8413200" cy="201600"/>
          </a:xfrm>
          <a:prstGeom prst="rect">
            <a:avLst/>
          </a:prstGeom>
          <a:noFill/>
        </p:spPr>
        <p:txBody>
          <a:bodyPr wrap="square">
            <a:spAutoFit/>
          </a:bodyPr>
          <a:lstStyle/>
          <a:p>
            <a:pPr algn="l"/>
            <a:r>
              <a:rPr sz="900" b="0" i="0">
                <a:solidFill>
                  <a:srgbClr val="2E5FA3"/>
                </a:solidFill>
                <a:latin typeface="Calibri"/>
              </a:rPr>
              <a:t>Analyse sémantique  ·  30 articles  ·  7 derniers jours  ·  Classification LLM</a:t>
            </a:r>
          </a:p>
        </p:txBody>
      </p:sp>
      <p:sp>
        <p:nvSpPr>
          <p:cNvPr id="17" name="Rectangle 16"/>
          <p:cNvSpPr/>
          <p:nvPr/>
        </p:nvSpPr>
        <p:spPr>
          <a:xfrm>
            <a:off x="367200" y="961200"/>
            <a:ext cx="2559600" cy="10044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67200" y="961200"/>
            <a:ext cx="46800" cy="100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1015200"/>
            <a:ext cx="2422800" cy="396000"/>
          </a:xfrm>
          <a:prstGeom prst="rect">
            <a:avLst/>
          </a:prstGeom>
          <a:noFill/>
        </p:spPr>
        <p:txBody>
          <a:bodyPr wrap="square">
            <a:spAutoFit/>
          </a:bodyPr>
          <a:lstStyle/>
          <a:p>
            <a:pPr algn="l"/>
            <a:r>
              <a:rPr sz="1900" b="1" i="0">
                <a:solidFill>
                  <a:srgbClr val="1B3A6B"/>
                </a:solidFill>
                <a:latin typeface="Calibri"/>
              </a:rPr>
              <a:t>Positif</a:t>
            </a:r>
          </a:p>
        </p:txBody>
      </p:sp>
      <p:sp>
        <p:nvSpPr>
          <p:cNvPr id="20" name="TextBox 19"/>
          <p:cNvSpPr txBox="1"/>
          <p:nvPr/>
        </p:nvSpPr>
        <p:spPr>
          <a:xfrm>
            <a:off x="457200" y="1411200"/>
            <a:ext cx="2422800" cy="205199"/>
          </a:xfrm>
          <a:prstGeom prst="rect">
            <a:avLst/>
          </a:prstGeom>
          <a:noFill/>
        </p:spPr>
        <p:txBody>
          <a:bodyPr wrap="square">
            <a:spAutoFit/>
          </a:bodyPr>
          <a:lstStyle/>
          <a:p>
            <a:pPr algn="l"/>
            <a:r>
              <a:rPr sz="800" b="0" i="0">
                <a:solidFill>
                  <a:srgbClr val="555555"/>
                </a:solidFill>
                <a:latin typeface="Calibri"/>
              </a:rPr>
              <a:t>Orientation globale</a:t>
            </a:r>
          </a:p>
        </p:txBody>
      </p:sp>
      <p:sp>
        <p:nvSpPr>
          <p:cNvPr id="21" name="TextBox 20"/>
          <p:cNvSpPr txBox="1"/>
          <p:nvPr/>
        </p:nvSpPr>
        <p:spPr>
          <a:xfrm>
            <a:off x="457200" y="1609200"/>
            <a:ext cx="2422800" cy="165600"/>
          </a:xfrm>
          <a:prstGeom prst="rect">
            <a:avLst/>
          </a:prstGeom>
          <a:noFill/>
        </p:spPr>
        <p:txBody>
          <a:bodyPr wrap="square">
            <a:spAutoFit/>
          </a:bodyPr>
          <a:lstStyle/>
          <a:p>
            <a:pPr algn="l"/>
            <a:r>
              <a:rPr sz="700" b="0" i="0">
                <a:solidFill>
                  <a:srgbClr val="888888"/>
                </a:solidFill>
                <a:latin typeface="Calibri"/>
              </a:rPr>
              <a:t>Score agrégé : +0,112</a:t>
            </a:r>
          </a:p>
        </p:txBody>
      </p:sp>
      <p:sp>
        <p:nvSpPr>
          <p:cNvPr id="22" name="Rectangle 21"/>
          <p:cNvSpPr/>
          <p:nvPr/>
        </p:nvSpPr>
        <p:spPr>
          <a:xfrm>
            <a:off x="3110400" y="961200"/>
            <a:ext cx="1828800" cy="10044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110400" y="961200"/>
            <a:ext cx="46800" cy="100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200400" y="1015200"/>
            <a:ext cx="1692000" cy="396000"/>
          </a:xfrm>
          <a:prstGeom prst="rect">
            <a:avLst/>
          </a:prstGeom>
          <a:noFill/>
        </p:spPr>
        <p:txBody>
          <a:bodyPr wrap="square">
            <a:spAutoFit/>
          </a:bodyPr>
          <a:lstStyle/>
          <a:p>
            <a:pPr algn="l"/>
            <a:r>
              <a:rPr sz="1900" b="1" i="0">
                <a:solidFill>
                  <a:srgbClr val="1B3A6B"/>
                </a:solidFill>
                <a:latin typeface="Calibri"/>
              </a:rPr>
              <a:t>30</a:t>
            </a:r>
          </a:p>
        </p:txBody>
      </p:sp>
      <p:sp>
        <p:nvSpPr>
          <p:cNvPr id="25" name="TextBox 24"/>
          <p:cNvSpPr txBox="1"/>
          <p:nvPr/>
        </p:nvSpPr>
        <p:spPr>
          <a:xfrm>
            <a:off x="3200400" y="1411200"/>
            <a:ext cx="1692000" cy="205199"/>
          </a:xfrm>
          <a:prstGeom prst="rect">
            <a:avLst/>
          </a:prstGeom>
          <a:noFill/>
        </p:spPr>
        <p:txBody>
          <a:bodyPr wrap="square">
            <a:spAutoFit/>
          </a:bodyPr>
          <a:lstStyle/>
          <a:p>
            <a:pPr algn="l"/>
            <a:r>
              <a:rPr sz="800" b="0" i="0">
                <a:solidFill>
                  <a:srgbClr val="555555"/>
                </a:solidFill>
                <a:latin typeface="Calibri"/>
              </a:rPr>
              <a:t>Articles analysés</a:t>
            </a:r>
          </a:p>
        </p:txBody>
      </p:sp>
      <p:sp>
        <p:nvSpPr>
          <p:cNvPr id="26" name="TextBox 25"/>
          <p:cNvSpPr txBox="1"/>
          <p:nvPr/>
        </p:nvSpPr>
        <p:spPr>
          <a:xfrm>
            <a:off x="3200400" y="1609200"/>
            <a:ext cx="1692000" cy="165600"/>
          </a:xfrm>
          <a:prstGeom prst="rect">
            <a:avLst/>
          </a:prstGeom>
          <a:noFill/>
        </p:spPr>
        <p:txBody>
          <a:bodyPr wrap="square">
            <a:spAutoFit/>
          </a:bodyPr>
          <a:lstStyle/>
          <a:p>
            <a:pPr algn="l"/>
            <a:r>
              <a:rPr sz="700" b="0" i="0">
                <a:solidFill>
                  <a:srgbClr val="888888"/>
                </a:solidFill>
                <a:latin typeface="Calibri"/>
              </a:rPr>
              <a:t>Fenêtre : 7 jours</a:t>
            </a:r>
          </a:p>
        </p:txBody>
      </p:sp>
      <p:sp>
        <p:nvSpPr>
          <p:cNvPr id="27" name="Rectangle 26"/>
          <p:cNvSpPr/>
          <p:nvPr/>
        </p:nvSpPr>
        <p:spPr>
          <a:xfrm>
            <a:off x="5119200" y="961200"/>
            <a:ext cx="1645200" cy="10044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119200" y="961200"/>
            <a:ext cx="46800" cy="100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209200" y="1015200"/>
            <a:ext cx="1508400" cy="396000"/>
          </a:xfrm>
          <a:prstGeom prst="rect">
            <a:avLst/>
          </a:prstGeom>
          <a:noFill/>
        </p:spPr>
        <p:txBody>
          <a:bodyPr wrap="square">
            <a:spAutoFit/>
          </a:bodyPr>
          <a:lstStyle/>
          <a:p>
            <a:pPr algn="l"/>
            <a:r>
              <a:rPr sz="1900" b="1" i="0">
                <a:solidFill>
                  <a:srgbClr val="1B3A6B"/>
                </a:solidFill>
                <a:latin typeface="Calibri"/>
              </a:rPr>
              <a:t>42,5 %</a:t>
            </a:r>
          </a:p>
        </p:txBody>
      </p:sp>
      <p:sp>
        <p:nvSpPr>
          <p:cNvPr id="30" name="TextBox 29"/>
          <p:cNvSpPr txBox="1"/>
          <p:nvPr/>
        </p:nvSpPr>
        <p:spPr>
          <a:xfrm>
            <a:off x="5209200" y="1411200"/>
            <a:ext cx="1508400" cy="205199"/>
          </a:xfrm>
          <a:prstGeom prst="rect">
            <a:avLst/>
          </a:prstGeom>
          <a:noFill/>
        </p:spPr>
        <p:txBody>
          <a:bodyPr wrap="square">
            <a:spAutoFit/>
          </a:bodyPr>
          <a:lstStyle/>
          <a:p>
            <a:pPr algn="l"/>
            <a:r>
              <a:rPr sz="800" b="0" i="0">
                <a:solidFill>
                  <a:srgbClr val="555555"/>
                </a:solidFill>
                <a:latin typeface="Calibri"/>
              </a:rPr>
              <a:t>Confiance IA</a:t>
            </a:r>
          </a:p>
        </p:txBody>
      </p:sp>
      <p:sp>
        <p:nvSpPr>
          <p:cNvPr id="31" name="TextBox 30"/>
          <p:cNvSpPr txBox="1"/>
          <p:nvPr/>
        </p:nvSpPr>
        <p:spPr>
          <a:xfrm>
            <a:off x="5209200" y="1609200"/>
            <a:ext cx="1508400" cy="165600"/>
          </a:xfrm>
          <a:prstGeom prst="rect">
            <a:avLst/>
          </a:prstGeom>
          <a:noFill/>
        </p:spPr>
        <p:txBody>
          <a:bodyPr wrap="square">
            <a:spAutoFit/>
          </a:bodyPr>
          <a:lstStyle/>
          <a:p>
            <a:pPr algn="l"/>
            <a:r>
              <a:rPr sz="700" b="0" i="0">
                <a:solidFill>
                  <a:srgbClr val="888888"/>
                </a:solidFill>
                <a:latin typeface="Calibri"/>
              </a:rPr>
              <a:t>Modèle LLM Groq</a:t>
            </a:r>
          </a:p>
        </p:txBody>
      </p:sp>
      <p:sp>
        <p:nvSpPr>
          <p:cNvPr id="32" name="Rectangle 31"/>
          <p:cNvSpPr/>
          <p:nvPr/>
        </p:nvSpPr>
        <p:spPr>
          <a:xfrm>
            <a:off x="6948000" y="961200"/>
            <a:ext cx="1738800" cy="10044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948000" y="961200"/>
            <a:ext cx="46800" cy="100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038000" y="1015200"/>
            <a:ext cx="1602000" cy="396000"/>
          </a:xfrm>
          <a:prstGeom prst="rect">
            <a:avLst/>
          </a:prstGeom>
          <a:noFill/>
        </p:spPr>
        <p:txBody>
          <a:bodyPr wrap="square">
            <a:spAutoFit/>
          </a:bodyPr>
          <a:lstStyle/>
          <a:p>
            <a:pPr algn="l"/>
            <a:r>
              <a:rPr sz="1900" b="1" i="0">
                <a:solidFill>
                  <a:srgbClr val="1B3A6B"/>
                </a:solidFill>
                <a:latin typeface="Calibri"/>
              </a:rPr>
              <a:t>BUY</a:t>
            </a:r>
          </a:p>
        </p:txBody>
      </p:sp>
      <p:sp>
        <p:nvSpPr>
          <p:cNvPr id="35" name="TextBox 34"/>
          <p:cNvSpPr txBox="1"/>
          <p:nvPr/>
        </p:nvSpPr>
        <p:spPr>
          <a:xfrm>
            <a:off x="7038000" y="1411200"/>
            <a:ext cx="1602000" cy="205199"/>
          </a:xfrm>
          <a:prstGeom prst="rect">
            <a:avLst/>
          </a:prstGeom>
          <a:noFill/>
        </p:spPr>
        <p:txBody>
          <a:bodyPr wrap="square">
            <a:spAutoFit/>
          </a:bodyPr>
          <a:lstStyle/>
          <a:p>
            <a:pPr algn="l"/>
            <a:r>
              <a:rPr sz="800" b="0" i="0">
                <a:solidFill>
                  <a:srgbClr val="555555"/>
                </a:solidFill>
                <a:latin typeface="Calibri"/>
              </a:rPr>
              <a:t>Cohérence</a:t>
            </a:r>
          </a:p>
        </p:txBody>
      </p:sp>
      <p:sp>
        <p:nvSpPr>
          <p:cNvPr id="36" name="TextBox 35"/>
          <p:cNvSpPr txBox="1"/>
          <p:nvPr/>
        </p:nvSpPr>
        <p:spPr>
          <a:xfrm>
            <a:off x="7038000" y="1609200"/>
            <a:ext cx="1602000" cy="165600"/>
          </a:xfrm>
          <a:prstGeom prst="rect">
            <a:avLst/>
          </a:prstGeom>
          <a:noFill/>
        </p:spPr>
        <p:txBody>
          <a:bodyPr wrap="square">
            <a:spAutoFit/>
          </a:bodyPr>
          <a:lstStyle/>
          <a:p>
            <a:pPr algn="l"/>
            <a:r>
              <a:rPr sz="700" b="0" i="0">
                <a:solidFill>
                  <a:srgbClr val="888888"/>
                </a:solidFill>
                <a:latin typeface="Calibri"/>
              </a:rPr>
              <a:t>Aligné avec la thèse</a:t>
            </a:r>
          </a:p>
        </p:txBody>
      </p:sp>
      <p:sp>
        <p:nvSpPr>
          <p:cNvPr id="37" name="TextBox 36"/>
          <p:cNvSpPr txBox="1"/>
          <p:nvPr/>
        </p:nvSpPr>
        <p:spPr>
          <a:xfrm>
            <a:off x="367200" y="2084400"/>
            <a:ext cx="8413200" cy="165600"/>
          </a:xfrm>
          <a:prstGeom prst="rect">
            <a:avLst/>
          </a:prstGeom>
          <a:noFill/>
        </p:spPr>
        <p:txBody>
          <a:bodyPr wrap="square">
            <a:spAutoFit/>
          </a:bodyPr>
          <a:lstStyle/>
          <a:p>
            <a:pPr algn="l"/>
            <a:r>
              <a:rPr sz="900" b="1" i="0">
                <a:solidFill>
                  <a:srgbClr val="2E5FA3"/>
                </a:solidFill>
                <a:latin typeface="Calibri"/>
              </a:rPr>
              <a:t>Détail par orientation</a:t>
            </a:r>
          </a:p>
        </p:txBody>
      </p:sp>
      <p:graphicFrame>
        <p:nvGraphicFramePr>
          <p:cNvPr id="38" name="Table 37"/>
          <p:cNvGraphicFramePr>
            <a:graphicFrameLocks noGrp="1"/>
          </p:cNvGraphicFramePr>
          <p:nvPr/>
        </p:nvGraphicFramePr>
        <p:xfrm>
          <a:off x="367200" y="2332800"/>
          <a:ext cx="8413200" cy="1152000"/>
        </p:xfrm>
        <a:graphic>
          <a:graphicData uri="http://schemas.openxmlformats.org/drawingml/2006/table">
            <a:tbl>
              <a:tblPr firstRow="1" bandRow="1">
                <a:tableStyleId>{5C22544A-7EE6-4342-B048-85BDC9FD1C3A}</a:tableStyleId>
              </a:tblPr>
              <a:tblGrid>
                <a:gridCol w="1261980"/>
                <a:gridCol w="1261980"/>
                <a:gridCol w="1682640"/>
                <a:gridCol w="4206600"/>
              </a:tblGrid>
              <a:tr h="288000">
                <a:tc>
                  <a:txBody>
                    <a:bodyPr/>
                    <a:lstStyle/>
                    <a:p>
                      <a:pPr algn="l"/>
                      <a:r>
                        <a:rPr sz="800" b="1" i="0">
                          <a:solidFill>
                            <a:srgbClr val="FFFFFF"/>
                          </a:solidFill>
                          <a:latin typeface="Calibri"/>
                        </a:rPr>
                        <a:t>Orientation</a:t>
                      </a:r>
                    </a:p>
                  </a:txBody>
                  <a:tcPr>
                    <a:solidFill>
                      <a:srgbClr val="1B3A6B"/>
                    </a:solidFill>
                  </a:tcPr>
                </a:tc>
                <a:tc>
                  <a:txBody>
                    <a:bodyPr/>
                    <a:lstStyle/>
                    <a:p>
                      <a:pPr algn="ctr"/>
                      <a:r>
                        <a:rPr sz="800" b="1" i="0">
                          <a:solidFill>
                            <a:srgbClr val="FFFFFF"/>
                          </a:solidFill>
                          <a:latin typeface="Calibri"/>
                        </a:rPr>
                        <a:t>Articles</a:t>
                      </a:r>
                    </a:p>
                  </a:txBody>
                  <a:tcPr>
                    <a:solidFill>
                      <a:srgbClr val="1B3A6B"/>
                    </a:solidFill>
                  </a:tcPr>
                </a:tc>
                <a:tc>
                  <a:txBody>
                    <a:bodyPr/>
                    <a:lstStyle/>
                    <a:p>
                      <a:pPr algn="ctr"/>
                      <a:r>
                        <a:rPr sz="800" b="1" i="0">
                          <a:solidFill>
                            <a:srgbClr val="FFFFFF"/>
                          </a:solidFill>
                          <a:latin typeface="Calibri"/>
                        </a:rPr>
                        <a:t>Score moyen</a:t>
                      </a:r>
                    </a:p>
                  </a:txBody>
                  <a:tcPr>
                    <a:solidFill>
                      <a:srgbClr val="1B3A6B"/>
                    </a:solidFill>
                  </a:tcPr>
                </a:tc>
                <a:tc>
                  <a:txBody>
                    <a:bodyPr/>
                    <a:lstStyle/>
                    <a:p>
                      <a:pPr algn="ctr"/>
                      <a:r>
                        <a:rPr sz="800" b="1" i="0">
                          <a:solidFill>
                            <a:srgbClr val="FFFFFF"/>
                          </a:solidFill>
                          <a:latin typeface="Calibri"/>
                        </a:rPr>
                        <a:t>Thèmes principaux</a:t>
                      </a:r>
                    </a:p>
                  </a:txBody>
                  <a:tcPr>
                    <a:solidFill>
                      <a:srgbClr val="1B3A6B"/>
                    </a:solidFill>
                  </a:tcPr>
                </a:tc>
              </a:tr>
              <a:tr h="288000">
                <a:tc>
                  <a:txBody>
                    <a:bodyPr/>
                    <a:lstStyle/>
                    <a:p>
                      <a:pPr algn="l"/>
                      <a:r>
                        <a:rPr sz="800" b="1" i="0">
                          <a:solidFill>
                            <a:srgbClr val="1A7A4A"/>
                          </a:solidFill>
                          <a:latin typeface="Calibri"/>
                        </a:rPr>
                        <a:t>Positif</a:t>
                      </a:r>
                    </a:p>
                  </a:txBody>
                  <a:tcPr>
                    <a:solidFill>
                      <a:srgbClr val="EAF4EF"/>
                    </a:solidFill>
                  </a:tcPr>
                </a:tc>
                <a:tc>
                  <a:txBody>
                    <a:bodyPr/>
                    <a:lstStyle/>
                    <a:p>
                      <a:pPr algn="ctr"/>
                      <a:r>
                        <a:rPr sz="800" b="1" i="0">
                          <a:solidFill>
                            <a:srgbClr val="1A7A4A"/>
                          </a:solidFill>
                          <a:latin typeface="Calibri"/>
                        </a:rPr>
                        <a:t>14</a:t>
                      </a:r>
                    </a:p>
                  </a:txBody>
                  <a:tcPr>
                    <a:solidFill>
                      <a:srgbClr val="EAF4EF"/>
                    </a:solidFill>
                  </a:tcPr>
                </a:tc>
                <a:tc>
                  <a:txBody>
                    <a:bodyPr/>
                    <a:lstStyle/>
                    <a:p>
                      <a:pPr algn="ctr"/>
                      <a:r>
                        <a:rPr sz="800" b="0" i="0">
                          <a:solidFill>
                            <a:srgbClr val="0D0D0D"/>
                          </a:solidFill>
                          <a:latin typeface="Calibri"/>
                        </a:rPr>
                        <a:t>+0,425</a:t>
                      </a:r>
                    </a:p>
                  </a:txBody>
                  <a:tcPr>
                    <a:solidFill>
                      <a:srgbClr val="EAF4EF"/>
                    </a:solidFill>
                  </a:tcPr>
                </a:tc>
                <a:tc>
                  <a:txBody>
                    <a:bodyPr/>
                    <a:lstStyle/>
                    <a:p>
                      <a:pPr algn="ctr"/>
                      <a:r>
                        <a:rPr sz="800" b="0" i="0">
                          <a:solidFill>
                            <a:srgbClr val="0D0D0D"/>
                          </a:solidFill>
                          <a:latin typeface="Calibri"/>
                        </a:rPr>
                        <a:t>Lancement iPhone 16 en septembre 2026 avec +12 % de ventes YoY attendu | Impact CA +27 Mds USD et marge brute +200 bps | Horizon 12-18 mois</a:t>
                      </a:r>
                    </a:p>
                  </a:txBody>
                  <a:tcPr>
                    <a:solidFill>
                      <a:srgbClr val="EAF4EF"/>
                    </a:solidFill>
                  </a:tcPr>
                </a:tc>
              </a:tr>
              <a:tr h="288000">
                <a:tc>
                  <a:txBody>
                    <a:bodyPr/>
                    <a:lstStyle/>
                    <a:p>
                      <a:pPr algn="l"/>
                      <a:r>
                        <a:rPr sz="800" b="1" i="0">
                          <a:solidFill>
                            <a:srgbClr val="555555"/>
                          </a:solidFill>
                          <a:latin typeface="Calibri"/>
                        </a:rPr>
                        <a:t>Neutre</a:t>
                      </a:r>
                    </a:p>
                  </a:txBody>
                  <a:tcPr>
                    <a:solidFill>
                      <a:srgbClr val="FFFFFF"/>
                    </a:solidFill>
                  </a:tcPr>
                </a:tc>
                <a:tc>
                  <a:txBody>
                    <a:bodyPr/>
                    <a:lstStyle/>
                    <a:p>
                      <a:pPr algn="ctr"/>
                      <a:r>
                        <a:rPr sz="800" b="1" i="0">
                          <a:solidFill>
                            <a:srgbClr val="555555"/>
                          </a:solidFill>
                          <a:latin typeface="Calibri"/>
                        </a:rPr>
                        <a:t>6</a:t>
                      </a:r>
                    </a:p>
                  </a:txBody>
                  <a:tcPr>
                    <a:solidFill>
                      <a:srgbClr val="FFFFFF"/>
                    </a:solidFill>
                  </a:tcPr>
                </a:tc>
                <a:tc>
                  <a:txBody>
                    <a:bodyPr/>
                    <a:lstStyle/>
                    <a:p>
                      <a:pPr algn="ctr"/>
                      <a:r>
                        <a:rPr sz="800" b="0" i="0">
                          <a:solidFill>
                            <a:srgbClr val="0D0D0D"/>
                          </a:solidFill>
                          <a:latin typeface="Calibri"/>
                        </a:rPr>
                        <a:t>+0,263</a:t>
                      </a:r>
                    </a:p>
                  </a:txBody>
                  <a:tcPr>
                    <a:solidFill>
                      <a:srgbClr val="FFFFFF"/>
                    </a:solidFill>
                  </a:tcPr>
                </a:tc>
                <a:tc>
                  <a:txBody>
                    <a:bodyPr/>
                    <a:lstStyle/>
                    <a:p>
                      <a:pPr algn="ctr"/>
                      <a:r>
                        <a:rPr sz="800" b="0" i="0">
                          <a:solidFill>
                            <a:srgbClr val="0D0D0D"/>
                          </a:solidFill>
                          <a:latin typeface="Calibri"/>
                        </a:rPr>
                        <a:t>Actualité sectorielle générale</a:t>
                      </a:r>
                    </a:p>
                  </a:txBody>
                  <a:tcPr>
                    <a:solidFill>
                      <a:srgbClr val="FFFFFF"/>
                    </a:solidFill>
                  </a:tcPr>
                </a:tc>
              </a:tr>
              <a:tr h="288000">
                <a:tc>
                  <a:txBody>
                    <a:bodyPr/>
                    <a:lstStyle/>
                    <a:p>
                      <a:pPr algn="l"/>
                      <a:r>
                        <a:rPr sz="800" b="1" i="0">
                          <a:solidFill>
                            <a:srgbClr val="A82020"/>
                          </a:solidFill>
                          <a:latin typeface="Calibri"/>
                        </a:rPr>
                        <a:t>Négatif</a:t>
                      </a:r>
                    </a:p>
                  </a:txBody>
                  <a:tcPr>
                    <a:solidFill>
                      <a:srgbClr val="FAF0EF"/>
                    </a:solidFill>
                  </a:tcPr>
                </a:tc>
                <a:tc>
                  <a:txBody>
                    <a:bodyPr/>
                    <a:lstStyle/>
                    <a:p>
                      <a:pPr algn="ctr"/>
                      <a:r>
                        <a:rPr sz="800" b="1" i="0">
                          <a:solidFill>
                            <a:srgbClr val="A82020"/>
                          </a:solidFill>
                          <a:latin typeface="Calibri"/>
                        </a:rPr>
                        <a:t>10</a:t>
                      </a:r>
                    </a:p>
                  </a:txBody>
                  <a:tcPr>
                    <a:solidFill>
                      <a:srgbClr val="FAF0EF"/>
                    </a:solidFill>
                  </a:tcPr>
                </a:tc>
                <a:tc>
                  <a:txBody>
                    <a:bodyPr/>
                    <a:lstStyle/>
                    <a:p>
                      <a:pPr algn="ctr"/>
                      <a:r>
                        <a:rPr sz="800" b="0" i="0">
                          <a:solidFill>
                            <a:srgbClr val="0D0D0D"/>
                          </a:solidFill>
                          <a:latin typeface="Calibri"/>
                        </a:rPr>
                        <a:t>+0,313</a:t>
                      </a:r>
                    </a:p>
                  </a:txBody>
                  <a:tcPr>
                    <a:solidFill>
                      <a:srgbClr val="FAF0EF"/>
                    </a:solidFill>
                  </a:tcPr>
                </a:tc>
                <a:tc>
                  <a:txBody>
                    <a:bodyPr/>
                    <a:lstStyle/>
                    <a:p>
                      <a:pPr algn="ctr"/>
                      <a:r>
                        <a:rPr sz="800" b="0" i="0">
                          <a:solidFill>
                            <a:srgbClr val="0D0D0D"/>
                          </a:solidFill>
                          <a:latin typeface="Calibri"/>
                        </a:rPr>
                        <a:t>Régulation européenne sur l'App Store réduisant les revenus services de 15 % d'ici 2027 | Impact CA -12 Mds USD et marge -300 bps | Horizon 12-18 mois</a:t>
                      </a:r>
                    </a:p>
                  </a:txBody>
                  <a:tcPr>
                    <a:solidFill>
                      <a:srgbClr val="FAF0EF"/>
                    </a:solidFill>
                  </a:tcPr>
                </a:tc>
              </a:tr>
            </a:tbl>
          </a:graphicData>
        </a:graphic>
      </p:graphicFrame>
      <p:sp>
        <p:nvSpPr>
          <p:cNvPr id="39" name="TextBox 38"/>
          <p:cNvSpPr txBox="1"/>
          <p:nvPr/>
        </p:nvSpPr>
        <p:spPr>
          <a:xfrm>
            <a:off x="367200" y="4140000"/>
            <a:ext cx="8413200" cy="720000"/>
          </a:xfrm>
          <a:prstGeom prst="rect">
            <a:avLst/>
          </a:prstGeom>
          <a:noFill/>
        </p:spPr>
        <p:txBody>
          <a:bodyPr wrap="square">
            <a:spAutoFit/>
          </a:bodyPr>
          <a:lstStyle/>
          <a:p>
            <a:pPr algn="l"/>
            <a:r>
              <a:rPr sz="850" b="0" i="0">
                <a:solidFill>
                  <a:srgbClr val="333333"/>
                </a:solidFill>
                <a:latin typeface="Calibri"/>
              </a:rPr>
              <a:t>La presse financière salue les initiatives technologiques et partenariales d’Apple cette semaine, malgré des signaux mitigés sur les retards de produits et les risques liés à l’IA. Les annonces autour des Macs Apple Silicon et des projets collaboratifs renforcent l’optimisme des investisseurs.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FFFFFF"/>
                </a:solidFill>
                <a:latin typeface="Calibri"/>
              </a:rPr>
              <a:t>1</a:t>
            </a:r>
          </a:p>
        </p:txBody>
      </p:sp>
      <p:sp>
        <p:nvSpPr>
          <p:cNvPr id="7" name="Rectangle 6"/>
          <p:cNvSpPr/>
          <p:nvPr/>
        </p:nvSpPr>
        <p:spPr>
          <a:xfrm>
            <a:off x="6353999"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FFFFFF"/>
                </a:solidFill>
                <a:latin typeface="Calibri"/>
              </a:rPr>
              <a:t>2</a:t>
            </a:r>
          </a:p>
        </p:txBody>
      </p:sp>
      <p:sp>
        <p:nvSpPr>
          <p:cNvPr id="9" name="Rectangle 8"/>
          <p:cNvSpPr/>
          <p:nvPr/>
        </p:nvSpPr>
        <p:spPr>
          <a:xfrm>
            <a:off x="65844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FFFFFF"/>
                </a:solidFill>
                <a:latin typeface="Calibri"/>
              </a:rPr>
              <a:t>3</a:t>
            </a:r>
          </a:p>
        </p:txBody>
      </p:sp>
      <p:sp>
        <p:nvSpPr>
          <p:cNvPr id="11" name="Rectangle 10"/>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3" name="Rectangle 12"/>
          <p:cNvSpPr/>
          <p:nvPr/>
        </p:nvSpPr>
        <p:spPr>
          <a:xfrm>
            <a:off x="7041600"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1B3A6B"/>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Actionnariat &amp; Structure du Capital</a:t>
            </a:r>
          </a:p>
        </p:txBody>
      </p:sp>
      <p:sp>
        <p:nvSpPr>
          <p:cNvPr id="16" name="TextBox 15"/>
          <p:cNvSpPr txBox="1"/>
          <p:nvPr/>
        </p:nvSpPr>
        <p:spPr>
          <a:xfrm>
            <a:off x="367200" y="622800"/>
            <a:ext cx="8413200" cy="201600"/>
          </a:xfrm>
          <a:prstGeom prst="rect">
            <a:avLst/>
          </a:prstGeom>
          <a:noFill/>
        </p:spPr>
        <p:txBody>
          <a:bodyPr wrap="square">
            <a:spAutoFit/>
          </a:bodyPr>
          <a:lstStyle/>
          <a:p>
            <a:pPr algn="l"/>
            <a:r>
              <a:rPr sz="900" b="0" i="0">
                <a:solidFill>
                  <a:srgbClr val="2E5FA3"/>
                </a:solidFill>
                <a:latin typeface="Calibri"/>
              </a:rPr>
              <a:t>Répartition de l'actionnariat  ·  Au 8 avril 2026</a:t>
            </a:r>
          </a:p>
        </p:txBody>
      </p:sp>
      <p:sp>
        <p:nvSpPr>
          <p:cNvPr id="17" name="TextBox 16"/>
          <p:cNvSpPr txBox="1"/>
          <p:nvPr/>
        </p:nvSpPr>
        <p:spPr>
          <a:xfrm>
            <a:off x="367200" y="748800"/>
            <a:ext cx="5029200" cy="201600"/>
          </a:xfrm>
          <a:prstGeom prst="rect">
            <a:avLst/>
          </a:prstGeom>
          <a:noFill/>
        </p:spPr>
        <p:txBody>
          <a:bodyPr wrap="square">
            <a:spAutoFit/>
          </a:bodyPr>
          <a:lstStyle/>
          <a:p>
            <a:pPr algn="l"/>
            <a:r>
              <a:rPr sz="900" b="1" i="0">
                <a:solidFill>
                  <a:srgbClr val="2E5FA3"/>
                </a:solidFill>
                <a:latin typeface="Calibri"/>
              </a:rPr>
              <a:t>Top actionnaires</a:t>
            </a:r>
          </a:p>
        </p:txBody>
      </p:sp>
      <p:graphicFrame>
        <p:nvGraphicFramePr>
          <p:cNvPr id="18" name="Table 17"/>
          <p:cNvGraphicFramePr>
            <a:graphicFrameLocks noGrp="1"/>
          </p:cNvGraphicFramePr>
          <p:nvPr/>
        </p:nvGraphicFramePr>
        <p:xfrm>
          <a:off x="367200" y="968400"/>
          <a:ext cx="5302800" cy="2232000"/>
        </p:xfrm>
        <a:graphic>
          <a:graphicData uri="http://schemas.openxmlformats.org/drawingml/2006/table">
            <a:tbl>
              <a:tblPr firstRow="1" bandRow="1">
                <a:tableStyleId>{5C22544A-7EE6-4342-B048-85BDC9FD1C3A}</a:tableStyleId>
              </a:tblPr>
              <a:tblGrid>
                <a:gridCol w="2015064"/>
                <a:gridCol w="1378728"/>
                <a:gridCol w="1060560"/>
                <a:gridCol w="848448"/>
              </a:tblGrid>
              <a:tr h="223200">
                <a:tc>
                  <a:txBody>
                    <a:bodyPr/>
                    <a:lstStyle/>
                    <a:p>
                      <a:pPr algn="l"/>
                      <a:r>
                        <a:rPr sz="800" b="1" i="0">
                          <a:solidFill>
                            <a:srgbClr val="FFFFFF"/>
                          </a:solidFill>
                          <a:latin typeface="Calibri"/>
                        </a:rPr>
                        <a:t>Actionnaire</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Type</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Détention %</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Style</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r>
              <a:tr h="223200">
                <a:tc>
                  <a:txBody>
                    <a:bodyPr/>
                    <a:lstStyle/>
                    <a:p>
                      <a:pPr algn="l"/>
                      <a:r>
                        <a:rPr sz="800" b="0" i="0">
                          <a:solidFill>
                            <a:srgbClr val="0D0D0D"/>
                          </a:solidFill>
                          <a:latin typeface="Calibri"/>
                        </a:rPr>
                        <a:t>Apple (Insiders)</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Insiders &amp; dirigeants</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1.6 %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750" b="1" i="0">
                          <a:solidFill>
                            <a:srgbClr val="B06000"/>
                          </a:solidFill>
                          <a:latin typeface="Calibri"/>
                        </a:rPr>
                        <a:t>Insider</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r h="223200">
                <a:tc>
                  <a:txBody>
                    <a:bodyPr/>
                    <a:lstStyle/>
                    <a:p>
                      <a:pPr algn="l"/>
                      <a:r>
                        <a:rPr sz="800" b="0" i="0">
                          <a:solidFill>
                            <a:srgbClr val="0D0D0D"/>
                          </a:solidFill>
                          <a:latin typeface="Calibri"/>
                        </a:rPr>
                        <a:t>Vanguard Group Inc</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Institutionnel</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9.7 %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750" b="1" i="0">
                          <a:solidFill>
                            <a:srgbClr val="2E5FA3"/>
                          </a:solidFill>
                          <a:latin typeface="Calibri"/>
                        </a:rPr>
                        <a:t>Passif</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r h="223200">
                <a:tc>
                  <a:txBody>
                    <a:bodyPr/>
                    <a:lstStyle/>
                    <a:p>
                      <a:pPr algn="l"/>
                      <a:r>
                        <a:rPr sz="800" b="0" i="0">
                          <a:solidFill>
                            <a:srgbClr val="0D0D0D"/>
                          </a:solidFill>
                          <a:latin typeface="Calibri"/>
                        </a:rPr>
                        <a:t>Blackrock Inc.</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Institutionnel</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7.9 %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750" b="1" i="0">
                          <a:solidFill>
                            <a:srgbClr val="1A7A4A"/>
                          </a:solidFill>
                          <a:latin typeface="Calibri"/>
                        </a:rPr>
                        <a:t>Actif</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r h="223200">
                <a:tc>
                  <a:txBody>
                    <a:bodyPr/>
                    <a:lstStyle/>
                    <a:p>
                      <a:pPr algn="l"/>
                      <a:r>
                        <a:rPr sz="800" b="0" i="0">
                          <a:solidFill>
                            <a:srgbClr val="0D0D0D"/>
                          </a:solidFill>
                          <a:latin typeface="Calibri"/>
                        </a:rPr>
                        <a:t>State Street Corporation</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Institutionnel</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4.1 %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750" b="1" i="0">
                          <a:solidFill>
                            <a:srgbClr val="2E5FA3"/>
                          </a:solidFill>
                          <a:latin typeface="Calibri"/>
                        </a:rPr>
                        <a:t>Passif</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r h="223200">
                <a:tc>
                  <a:txBody>
                    <a:bodyPr/>
                    <a:lstStyle/>
                    <a:p>
                      <a:pPr algn="l"/>
                      <a:r>
                        <a:rPr sz="800" b="0" i="0">
                          <a:solidFill>
                            <a:srgbClr val="0D0D0D"/>
                          </a:solidFill>
                          <a:latin typeface="Calibri"/>
                        </a:rPr>
                        <a:t>Geode Capital Management, LLC</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Institutionnel</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2.4 %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750" b="1" i="0">
                          <a:solidFill>
                            <a:srgbClr val="1A7A4A"/>
                          </a:solidFill>
                          <a:latin typeface="Calibri"/>
                        </a:rPr>
                        <a:t>Actif</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r h="223200">
                <a:tc>
                  <a:txBody>
                    <a:bodyPr/>
                    <a:lstStyle/>
                    <a:p>
                      <a:pPr algn="l"/>
                      <a:r>
                        <a:rPr sz="800" b="0" i="0">
                          <a:solidFill>
                            <a:srgbClr val="0D0D0D"/>
                          </a:solidFill>
                          <a:latin typeface="Calibri"/>
                        </a:rPr>
                        <a:t>FMR, LLC</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Institutionnel</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2.1 %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750" b="1" i="0">
                          <a:solidFill>
                            <a:srgbClr val="1A7A4A"/>
                          </a:solidFill>
                          <a:latin typeface="Calibri"/>
                        </a:rPr>
                        <a:t>Actif</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r h="223200">
                <a:tc>
                  <a:txBody>
                    <a:bodyPr/>
                    <a:lstStyle/>
                    <a:p>
                      <a:pPr algn="l"/>
                      <a:r>
                        <a:rPr sz="800" b="0" i="0">
                          <a:solidFill>
                            <a:srgbClr val="0D0D0D"/>
                          </a:solidFill>
                          <a:latin typeface="Calibri"/>
                        </a:rPr>
                        <a:t>Morgan Stanley</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Institutionnel</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1.6 %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750" b="1" i="0">
                          <a:solidFill>
                            <a:srgbClr val="1A7A4A"/>
                          </a:solidFill>
                          <a:latin typeface="Calibri"/>
                        </a:rPr>
                        <a:t>Actif</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r h="223200">
                <a:tc>
                  <a:txBody>
                    <a:bodyPr/>
                    <a:lstStyle/>
                    <a:p>
                      <a:pPr algn="l"/>
                      <a:r>
                        <a:rPr sz="800" b="0" i="0">
                          <a:solidFill>
                            <a:srgbClr val="0D0D0D"/>
                          </a:solidFill>
                          <a:latin typeface="Calibri"/>
                        </a:rPr>
                        <a:t>Berkshire Hathaway, Inc</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Institutionnel</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1.6 %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750" b="1" i="0">
                          <a:solidFill>
                            <a:srgbClr val="1A7A4A"/>
                          </a:solidFill>
                          <a:latin typeface="Calibri"/>
                        </a:rPr>
                        <a:t>Actif</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r h="223200">
                <a:tc>
                  <a:txBody>
                    <a:bodyPr/>
                    <a:lstStyle/>
                    <a:p>
                      <a:pPr algn="l"/>
                      <a:r>
                        <a:rPr sz="800" b="0" i="0">
                          <a:solidFill>
                            <a:srgbClr val="0D0D0D"/>
                          </a:solidFill>
                          <a:latin typeface="Calibri"/>
                        </a:rPr>
                        <a:t>Autres</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Retail &amp; autres</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69.1 %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750" b="1" i="0">
                          <a:solidFill>
                            <a:srgbClr val="555555"/>
                          </a:solidFill>
                          <a:latin typeface="Calibri"/>
                        </a:rPr>
                        <a:t>—</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bl>
          </a:graphicData>
        </a:graphic>
      </p:graphicFrame>
      <p:sp>
        <p:nvSpPr>
          <p:cNvPr id="19" name="TextBox 18"/>
          <p:cNvSpPr txBox="1"/>
          <p:nvPr/>
        </p:nvSpPr>
        <p:spPr>
          <a:xfrm>
            <a:off x="5760000" y="748800"/>
            <a:ext cx="3016800" cy="201600"/>
          </a:xfrm>
          <a:prstGeom prst="rect">
            <a:avLst/>
          </a:prstGeom>
          <a:noFill/>
        </p:spPr>
        <p:txBody>
          <a:bodyPr wrap="square">
            <a:spAutoFit/>
          </a:bodyPr>
          <a:lstStyle/>
          <a:p>
            <a:pPr algn="l"/>
            <a:r>
              <a:rPr sz="900" b="1" i="0">
                <a:solidFill>
                  <a:srgbClr val="2E5FA3"/>
                </a:solidFill>
                <a:latin typeface="Calibri"/>
              </a:rPr>
              <a:t>Répartition par type</a:t>
            </a:r>
          </a:p>
        </p:txBody>
      </p:sp>
      <p:graphicFrame>
        <p:nvGraphicFramePr>
          <p:cNvPr id="20" name="Table 19"/>
          <p:cNvGraphicFramePr>
            <a:graphicFrameLocks noGrp="1"/>
          </p:cNvGraphicFramePr>
          <p:nvPr/>
        </p:nvGraphicFramePr>
        <p:xfrm>
          <a:off x="5760000" y="968400"/>
          <a:ext cx="3016800" cy="1134000"/>
        </p:xfrm>
        <a:graphic>
          <a:graphicData uri="http://schemas.openxmlformats.org/drawingml/2006/table">
            <a:tbl>
              <a:tblPr firstRow="1" bandRow="1">
                <a:tableStyleId>{5C22544A-7EE6-4342-B048-85BDC9FD1C3A}</a:tableStyleId>
              </a:tblPr>
              <a:tblGrid>
                <a:gridCol w="1810080"/>
                <a:gridCol w="1206720"/>
              </a:tblGrid>
              <a:tr h="226800">
                <a:tc>
                  <a:txBody>
                    <a:bodyPr/>
                    <a:lstStyle/>
                    <a:p>
                      <a:pPr algn="l"/>
                      <a:r>
                        <a:rPr sz="800" b="1" i="0">
                          <a:solidFill>
                            <a:srgbClr val="FFFFFF"/>
                          </a:solidFill>
                          <a:latin typeface="Calibri"/>
                        </a:rPr>
                        <a:t>Type d'actionnaire</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Part estimée</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r>
              <a:tr h="226800">
                <a:tc>
                  <a:txBody>
                    <a:bodyPr/>
                    <a:lstStyle/>
                    <a:p>
                      <a:pPr algn="l"/>
                      <a:r>
                        <a:rPr sz="800" b="0" i="0">
                          <a:solidFill>
                            <a:srgbClr val="0D0D0D"/>
                          </a:solidFill>
                          <a:latin typeface="Calibri"/>
                        </a:rPr>
                        <a:t>Institutionnel passif</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13.8 %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r h="226800">
                <a:tc>
                  <a:txBody>
                    <a:bodyPr/>
                    <a:lstStyle/>
                    <a:p>
                      <a:pPr algn="l"/>
                      <a:r>
                        <a:rPr sz="800" b="0" i="0">
                          <a:solidFill>
                            <a:srgbClr val="0D0D0D"/>
                          </a:solidFill>
                          <a:latin typeface="Calibri"/>
                        </a:rPr>
                        <a:t>Institutionnel actif</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15.5 %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r h="226800">
                <a:tc>
                  <a:txBody>
                    <a:bodyPr/>
                    <a:lstStyle/>
                    <a:p>
                      <a:pPr algn="l"/>
                      <a:r>
                        <a:rPr sz="800" b="0" i="0">
                          <a:solidFill>
                            <a:srgbClr val="0D0D0D"/>
                          </a:solidFill>
                          <a:latin typeface="Calibri"/>
                        </a:rPr>
                        <a:t>Insider</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1.6 %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r h="226800">
                <a:tc>
                  <a:txBody>
                    <a:bodyPr/>
                    <a:lstStyle/>
                    <a:p>
                      <a:pPr algn="l"/>
                      <a:r>
                        <a:rPr sz="800" b="0" i="0">
                          <a:solidFill>
                            <a:srgbClr val="0D0D0D"/>
                          </a:solidFill>
                          <a:latin typeface="Calibri"/>
                        </a:rPr>
                        <a:t>Retail &amp; autres</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69.1 %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bl>
          </a:graphicData>
        </a:graphic>
      </p:graphicFrame>
      <p:sp>
        <p:nvSpPr>
          <p:cNvPr id="21" name="Rectangle 20"/>
          <p:cNvSpPr/>
          <p:nvPr/>
        </p:nvSpPr>
        <p:spPr>
          <a:xfrm>
            <a:off x="367200" y="3326400"/>
            <a:ext cx="8413200" cy="10044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67200" y="3326400"/>
            <a:ext cx="79200" cy="100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75200" y="3355200"/>
            <a:ext cx="8298000" cy="968400"/>
          </a:xfrm>
          <a:prstGeom prst="rect">
            <a:avLst/>
          </a:prstGeom>
          <a:noFill/>
        </p:spPr>
        <p:txBody>
          <a:bodyPr wrap="square">
            <a:spAutoFit/>
          </a:bodyPr>
          <a:lstStyle/>
          <a:p>
            <a:pPr algn="l"/>
            <a:r>
              <a:rPr sz="850" b="0" i="0">
                <a:solidFill>
                  <a:srgbClr val="555555"/>
                </a:solidFill>
                <a:latin typeface="Calibri"/>
              </a:rPr>
              <a:t>Apple se négocie à 33,8x P/E vs une médiane sectorielle de 30x, soit une prime de 13 %. La valorisation reflète une croissance structurelle et une qualité d'actifs inégalée dans le secteur technologique.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FFFFFF"/>
                </a:solidFill>
                <a:latin typeface="Calibri"/>
              </a:rPr>
              <a:t>1</a:t>
            </a:r>
          </a:p>
        </p:txBody>
      </p:sp>
      <p:sp>
        <p:nvSpPr>
          <p:cNvPr id="7" name="Rectangle 6"/>
          <p:cNvSpPr/>
          <p:nvPr/>
        </p:nvSpPr>
        <p:spPr>
          <a:xfrm>
            <a:off x="6353999"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FFFFFF"/>
                </a:solidFill>
                <a:latin typeface="Calibri"/>
              </a:rPr>
              <a:t>2</a:t>
            </a:r>
          </a:p>
        </p:txBody>
      </p:sp>
      <p:sp>
        <p:nvSpPr>
          <p:cNvPr id="9" name="Rectangle 8"/>
          <p:cNvSpPr/>
          <p:nvPr/>
        </p:nvSpPr>
        <p:spPr>
          <a:xfrm>
            <a:off x="65844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FFFFFF"/>
                </a:solidFill>
                <a:latin typeface="Calibri"/>
              </a:rPr>
              <a:t>3</a:t>
            </a:r>
          </a:p>
        </p:txBody>
      </p:sp>
      <p:sp>
        <p:nvSpPr>
          <p:cNvPr id="11" name="Rectangle 10"/>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3" name="Rectangle 12"/>
          <p:cNvSpPr/>
          <p:nvPr/>
        </p:nvSpPr>
        <p:spPr>
          <a:xfrm>
            <a:off x="7041600"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1B3A6B"/>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Historique de Cours — 52 Semaines</a:t>
            </a:r>
          </a:p>
        </p:txBody>
      </p:sp>
      <p:sp>
        <p:nvSpPr>
          <p:cNvPr id="16" name="TextBox 15"/>
          <p:cNvSpPr txBox="1"/>
          <p:nvPr/>
        </p:nvSpPr>
        <p:spPr>
          <a:xfrm>
            <a:off x="367200" y="622800"/>
            <a:ext cx="8413200" cy="201600"/>
          </a:xfrm>
          <a:prstGeom prst="rect">
            <a:avLst/>
          </a:prstGeom>
          <a:noFill/>
        </p:spPr>
        <p:txBody>
          <a:bodyPr wrap="square">
            <a:spAutoFit/>
          </a:bodyPr>
          <a:lstStyle/>
          <a:p>
            <a:pPr algn="l"/>
            <a:r>
              <a:rPr sz="900" b="0" i="0">
                <a:solidFill>
                  <a:srgbClr val="2E5FA3"/>
                </a:solidFill>
                <a:latin typeface="Calibri"/>
              </a:rPr>
              <a:t>AAPL  ·  USD  ·  Au 8 avril 2026</a:t>
            </a:r>
          </a:p>
        </p:txBody>
      </p:sp>
      <p:sp>
        <p:nvSpPr>
          <p:cNvPr id="17" name="Rectangle 16"/>
          <p:cNvSpPr/>
          <p:nvPr/>
        </p:nvSpPr>
        <p:spPr>
          <a:xfrm>
            <a:off x="367200" y="961200"/>
            <a:ext cx="1918800" cy="7488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67200" y="961200"/>
            <a:ext cx="46800" cy="7488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1015200"/>
            <a:ext cx="1782000" cy="396000"/>
          </a:xfrm>
          <a:prstGeom prst="rect">
            <a:avLst/>
          </a:prstGeom>
          <a:noFill/>
        </p:spPr>
        <p:txBody>
          <a:bodyPr wrap="square">
            <a:spAutoFit/>
          </a:bodyPr>
          <a:lstStyle/>
          <a:p>
            <a:pPr algn="l"/>
            <a:r>
              <a:rPr sz="1900" b="1" i="0">
                <a:solidFill>
                  <a:srgbClr val="1B3A6B"/>
                </a:solidFill>
                <a:latin typeface="Calibri"/>
              </a:rPr>
              <a:t>257,69 $</a:t>
            </a:r>
          </a:p>
        </p:txBody>
      </p:sp>
      <p:sp>
        <p:nvSpPr>
          <p:cNvPr id="20" name="TextBox 19"/>
          <p:cNvSpPr txBox="1"/>
          <p:nvPr/>
        </p:nvSpPr>
        <p:spPr>
          <a:xfrm>
            <a:off x="457200" y="1411200"/>
            <a:ext cx="1782000" cy="205199"/>
          </a:xfrm>
          <a:prstGeom prst="rect">
            <a:avLst/>
          </a:prstGeom>
          <a:noFill/>
        </p:spPr>
        <p:txBody>
          <a:bodyPr wrap="square">
            <a:spAutoFit/>
          </a:bodyPr>
          <a:lstStyle/>
          <a:p>
            <a:pPr algn="l"/>
            <a:r>
              <a:rPr sz="800" b="0" i="0">
                <a:solidFill>
                  <a:srgbClr val="555555"/>
                </a:solidFill>
                <a:latin typeface="Calibri"/>
              </a:rPr>
              <a:t>Cours actuel</a:t>
            </a:r>
          </a:p>
        </p:txBody>
      </p:sp>
      <p:sp>
        <p:nvSpPr>
          <p:cNvPr id="21" name="Rectangle 20"/>
          <p:cNvSpPr/>
          <p:nvPr/>
        </p:nvSpPr>
        <p:spPr>
          <a:xfrm>
            <a:off x="2422800" y="961200"/>
            <a:ext cx="1918800" cy="7488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2422800" y="961200"/>
            <a:ext cx="46800" cy="7488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512800" y="1015200"/>
            <a:ext cx="1782000" cy="396000"/>
          </a:xfrm>
          <a:prstGeom prst="rect">
            <a:avLst/>
          </a:prstGeom>
          <a:noFill/>
        </p:spPr>
        <p:txBody>
          <a:bodyPr wrap="square">
            <a:spAutoFit/>
          </a:bodyPr>
          <a:lstStyle/>
          <a:p>
            <a:pPr algn="l"/>
            <a:r>
              <a:rPr sz="1900" b="1" i="0">
                <a:solidFill>
                  <a:srgbClr val="1B3A6B"/>
                </a:solidFill>
                <a:latin typeface="Calibri"/>
              </a:rPr>
              <a:t>278,32 $</a:t>
            </a:r>
          </a:p>
        </p:txBody>
      </p:sp>
      <p:sp>
        <p:nvSpPr>
          <p:cNvPr id="24" name="TextBox 23"/>
          <p:cNvSpPr txBox="1"/>
          <p:nvPr/>
        </p:nvSpPr>
        <p:spPr>
          <a:xfrm>
            <a:off x="2512800" y="1411200"/>
            <a:ext cx="1782000" cy="205199"/>
          </a:xfrm>
          <a:prstGeom prst="rect">
            <a:avLst/>
          </a:prstGeom>
          <a:noFill/>
        </p:spPr>
        <p:txBody>
          <a:bodyPr wrap="square">
            <a:spAutoFit/>
          </a:bodyPr>
          <a:lstStyle/>
          <a:p>
            <a:pPr algn="l"/>
            <a:r>
              <a:rPr sz="800" b="0" i="0">
                <a:solidFill>
                  <a:srgbClr val="555555"/>
                </a:solidFill>
                <a:latin typeface="Calibri"/>
              </a:rPr>
              <a:t>Plus haut 52 sem.</a:t>
            </a:r>
          </a:p>
        </p:txBody>
      </p:sp>
      <p:sp>
        <p:nvSpPr>
          <p:cNvPr id="25" name="Rectangle 24"/>
          <p:cNvSpPr/>
          <p:nvPr/>
        </p:nvSpPr>
        <p:spPr>
          <a:xfrm>
            <a:off x="4482000" y="961200"/>
            <a:ext cx="1918800" cy="7488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82000" y="961200"/>
            <a:ext cx="46800" cy="7488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72000" y="1015200"/>
            <a:ext cx="1782000" cy="396000"/>
          </a:xfrm>
          <a:prstGeom prst="rect">
            <a:avLst/>
          </a:prstGeom>
          <a:noFill/>
        </p:spPr>
        <p:txBody>
          <a:bodyPr wrap="square">
            <a:spAutoFit/>
          </a:bodyPr>
          <a:lstStyle/>
          <a:p>
            <a:pPr algn="l"/>
            <a:r>
              <a:rPr sz="1900" b="1" i="0">
                <a:solidFill>
                  <a:srgbClr val="1B3A6B"/>
                </a:solidFill>
                <a:latin typeface="Calibri"/>
              </a:rPr>
              <a:t>199,98 $</a:t>
            </a:r>
          </a:p>
        </p:txBody>
      </p:sp>
      <p:sp>
        <p:nvSpPr>
          <p:cNvPr id="28" name="TextBox 27"/>
          <p:cNvSpPr txBox="1"/>
          <p:nvPr/>
        </p:nvSpPr>
        <p:spPr>
          <a:xfrm>
            <a:off x="4572000" y="1411200"/>
            <a:ext cx="1782000" cy="205199"/>
          </a:xfrm>
          <a:prstGeom prst="rect">
            <a:avLst/>
          </a:prstGeom>
          <a:noFill/>
        </p:spPr>
        <p:txBody>
          <a:bodyPr wrap="square">
            <a:spAutoFit/>
          </a:bodyPr>
          <a:lstStyle/>
          <a:p>
            <a:pPr algn="l"/>
            <a:r>
              <a:rPr sz="800" b="0" i="0">
                <a:solidFill>
                  <a:srgbClr val="555555"/>
                </a:solidFill>
                <a:latin typeface="Calibri"/>
              </a:rPr>
              <a:t>Plus bas 52 sem.</a:t>
            </a:r>
          </a:p>
        </p:txBody>
      </p:sp>
      <p:sp>
        <p:nvSpPr>
          <p:cNvPr id="29" name="Rectangle 28"/>
          <p:cNvSpPr/>
          <p:nvPr/>
        </p:nvSpPr>
        <p:spPr>
          <a:xfrm>
            <a:off x="6537600" y="961200"/>
            <a:ext cx="2196000" cy="7488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537600" y="961200"/>
            <a:ext cx="46800" cy="7488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627600" y="1015200"/>
            <a:ext cx="2059200" cy="396000"/>
          </a:xfrm>
          <a:prstGeom prst="rect">
            <a:avLst/>
          </a:prstGeom>
          <a:noFill/>
        </p:spPr>
        <p:txBody>
          <a:bodyPr wrap="square">
            <a:spAutoFit/>
          </a:bodyPr>
          <a:lstStyle/>
          <a:p>
            <a:pPr algn="l"/>
            <a:r>
              <a:rPr sz="1900" b="1" i="0">
                <a:solidFill>
                  <a:srgbClr val="1B3A6B"/>
                </a:solidFill>
                <a:latin typeface="Calibri"/>
              </a:rPr>
              <a:t>+28,9 %</a:t>
            </a:r>
          </a:p>
        </p:txBody>
      </p:sp>
      <p:sp>
        <p:nvSpPr>
          <p:cNvPr id="32" name="TextBox 31"/>
          <p:cNvSpPr txBox="1"/>
          <p:nvPr/>
        </p:nvSpPr>
        <p:spPr>
          <a:xfrm>
            <a:off x="6627600" y="1411200"/>
            <a:ext cx="2059200" cy="205199"/>
          </a:xfrm>
          <a:prstGeom prst="rect">
            <a:avLst/>
          </a:prstGeom>
          <a:noFill/>
        </p:spPr>
        <p:txBody>
          <a:bodyPr wrap="square">
            <a:spAutoFit/>
          </a:bodyPr>
          <a:lstStyle/>
          <a:p>
            <a:pPr algn="l"/>
            <a:r>
              <a:rPr sz="800" b="0" i="0">
                <a:solidFill>
                  <a:srgbClr val="555555"/>
                </a:solidFill>
                <a:latin typeface="Calibri"/>
              </a:rPr>
              <a:t>Performance 52 sem.</a:t>
            </a:r>
          </a:p>
        </p:txBody>
      </p:sp>
      <p:sp>
        <p:nvSpPr>
          <p:cNvPr id="33" name="TextBox 32"/>
          <p:cNvSpPr txBox="1"/>
          <p:nvPr/>
        </p:nvSpPr>
        <p:spPr>
          <a:xfrm>
            <a:off x="367200" y="1846800"/>
            <a:ext cx="8413200" cy="165600"/>
          </a:xfrm>
          <a:prstGeom prst="rect">
            <a:avLst/>
          </a:prstGeom>
          <a:noFill/>
        </p:spPr>
        <p:txBody>
          <a:bodyPr wrap="square">
            <a:spAutoFit/>
          </a:bodyPr>
          <a:lstStyle/>
          <a:p>
            <a:pPr algn="l"/>
            <a:r>
              <a:rPr sz="900" b="1" i="0">
                <a:solidFill>
                  <a:srgbClr val="1B3A6B"/>
                </a:solidFill>
                <a:latin typeface="Calibri"/>
              </a:rPr>
              <a:t>Cours en hausse de +28,9 % sur 12 mois</a:t>
            </a:r>
          </a:p>
        </p:txBody>
      </p:sp>
      <p:pic>
        <p:nvPicPr>
          <p:cNvPr id="34" name="Picture 33" descr="image.png"/>
          <p:cNvPicPr>
            <a:picLocks noChangeAspect="1"/>
          </p:cNvPicPr>
          <p:nvPr/>
        </p:nvPicPr>
        <p:blipFill>
          <a:blip r:embed="rId2"/>
          <a:stretch>
            <a:fillRect/>
          </a:stretch>
        </p:blipFill>
        <p:spPr>
          <a:xfrm>
            <a:off x="367200" y="2102400"/>
            <a:ext cx="8413200" cy="1828800"/>
          </a:xfrm>
          <a:prstGeom prst="rect">
            <a:avLst/>
          </a:prstGeom>
        </p:spPr>
      </p:pic>
      <p:sp>
        <p:nvSpPr>
          <p:cNvPr id="35" name="Rectangle 34"/>
          <p:cNvSpPr/>
          <p:nvPr/>
        </p:nvSpPr>
        <p:spPr>
          <a:xfrm>
            <a:off x="367200" y="4132800"/>
            <a:ext cx="8413200" cy="6876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67200" y="4132800"/>
            <a:ext cx="79200" cy="687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75200" y="4161600"/>
            <a:ext cx="8298000" cy="651599"/>
          </a:xfrm>
          <a:prstGeom prst="rect">
            <a:avLst/>
          </a:prstGeom>
          <a:noFill/>
        </p:spPr>
        <p:txBody>
          <a:bodyPr wrap="square">
            <a:spAutoFit/>
          </a:bodyPr>
          <a:lstStyle/>
          <a:p>
            <a:pPr algn="l"/>
            <a:r>
              <a:rPr sz="850" b="0" i="0">
                <a:solidFill>
                  <a:srgbClr val="555555"/>
                </a:solidFill>
                <a:latin typeface="Calibri"/>
              </a:rPr>
              <a:t>Apple affiche une résilience exceptionnelle avec une croissance du CA de 6,4 % en 2025 et des marges nettes à 26,9 %. La valorisation reste élevée mais justifiée par un écosystème intégré et une trésorerie abondante de 166 Mds USD.</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FFFFFF"/>
                </a:solidFill>
                <a:latin typeface="Calibri"/>
              </a:rPr>
              <a:t>1</a:t>
            </a:r>
          </a:p>
        </p:txBody>
      </p:sp>
      <p:sp>
        <p:nvSpPr>
          <p:cNvPr id="7" name="Rectangle 6"/>
          <p:cNvSpPr/>
          <p:nvPr/>
        </p:nvSpPr>
        <p:spPr>
          <a:xfrm>
            <a:off x="6353999"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FFFFFF"/>
                </a:solidFill>
                <a:latin typeface="Calibri"/>
              </a:rPr>
              <a:t>2</a:t>
            </a:r>
          </a:p>
        </p:txBody>
      </p:sp>
      <p:sp>
        <p:nvSpPr>
          <p:cNvPr id="9" name="Rectangle 8"/>
          <p:cNvSpPr/>
          <p:nvPr/>
        </p:nvSpPr>
        <p:spPr>
          <a:xfrm>
            <a:off x="65844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FFFFFF"/>
                </a:solidFill>
                <a:latin typeface="Calibri"/>
              </a:rPr>
              <a:t>3</a:t>
            </a:r>
          </a:p>
        </p:txBody>
      </p:sp>
      <p:sp>
        <p:nvSpPr>
          <p:cNvPr id="11" name="Rectangle 10"/>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3" name="Rectangle 12"/>
          <p:cNvSpPr/>
          <p:nvPr/>
        </p:nvSpPr>
        <p:spPr>
          <a:xfrm>
            <a:off x="7041600"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1B3A6B"/>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Conviction &amp; Thèse d’Investissement</a:t>
            </a:r>
          </a:p>
        </p:txBody>
      </p:sp>
      <p:sp>
        <p:nvSpPr>
          <p:cNvPr id="16" name="TextBox 15"/>
          <p:cNvSpPr txBox="1"/>
          <p:nvPr/>
        </p:nvSpPr>
        <p:spPr>
          <a:xfrm>
            <a:off x="367200" y="622800"/>
            <a:ext cx="8413200" cy="201600"/>
          </a:xfrm>
          <a:prstGeom prst="rect">
            <a:avLst/>
          </a:prstGeom>
          <a:noFill/>
        </p:spPr>
        <p:txBody>
          <a:bodyPr wrap="square">
            <a:spAutoFit/>
          </a:bodyPr>
          <a:lstStyle/>
          <a:p>
            <a:pPr algn="l"/>
            <a:r>
              <a:rPr sz="900" b="0" i="0">
                <a:solidFill>
                  <a:srgbClr val="2E5FA3"/>
                </a:solidFill>
                <a:latin typeface="Calibri"/>
              </a:rPr>
              <a:t>AAPL  ·  FinSight IA  ·  Rapport 8 avril 2026</a:t>
            </a:r>
          </a:p>
        </p:txBody>
      </p:sp>
      <p:sp>
        <p:nvSpPr>
          <p:cNvPr id="17" name="Rectangle 16"/>
          <p:cNvSpPr/>
          <p:nvPr/>
        </p:nvSpPr>
        <p:spPr>
          <a:xfrm>
            <a:off x="324000" y="827999"/>
            <a:ext cx="2700000" cy="1260000"/>
          </a:xfrm>
          <a:prstGeom prst="rect">
            <a:avLst/>
          </a:prstGeom>
          <a:solidFill>
            <a:srgbClr val="E8F5E9"/>
          </a:solidFill>
          <a:ln w="25400">
            <a:solidFill>
              <a:srgbClr val="1A7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24000" y="864000"/>
            <a:ext cx="2700000" cy="396000"/>
          </a:xfrm>
          <a:prstGeom prst="rect">
            <a:avLst/>
          </a:prstGeom>
          <a:noFill/>
        </p:spPr>
        <p:txBody>
          <a:bodyPr wrap="square">
            <a:spAutoFit/>
          </a:bodyPr>
          <a:lstStyle/>
          <a:p>
            <a:pPr algn="ctr"/>
            <a:r>
              <a:rPr sz="3600" b="1" i="0">
                <a:solidFill>
                  <a:srgbClr val="1A7A4A"/>
                </a:solidFill>
                <a:latin typeface="Calibri"/>
              </a:rPr>
              <a:t>BUY</a:t>
            </a:r>
          </a:p>
        </p:txBody>
      </p:sp>
      <p:sp>
        <p:nvSpPr>
          <p:cNvPr id="19" name="TextBox 18"/>
          <p:cNvSpPr txBox="1"/>
          <p:nvPr/>
        </p:nvSpPr>
        <p:spPr>
          <a:xfrm>
            <a:off x="324000" y="1278000"/>
            <a:ext cx="2700000" cy="198000"/>
          </a:xfrm>
          <a:prstGeom prst="rect">
            <a:avLst/>
          </a:prstGeom>
          <a:noFill/>
        </p:spPr>
        <p:txBody>
          <a:bodyPr wrap="square">
            <a:spAutoFit/>
          </a:bodyPr>
          <a:lstStyle/>
          <a:p>
            <a:pPr algn="ctr"/>
            <a:r>
              <a:rPr sz="1100" b="0" i="0">
                <a:solidFill>
                  <a:srgbClr val="555555"/>
                </a:solidFill>
                <a:latin typeface="Calibri"/>
              </a:rPr>
              <a:t>Conviction : 75%</a:t>
            </a:r>
          </a:p>
        </p:txBody>
      </p:sp>
      <p:sp>
        <p:nvSpPr>
          <p:cNvPr id="20" name="TextBox 19"/>
          <p:cNvSpPr txBox="1"/>
          <p:nvPr/>
        </p:nvSpPr>
        <p:spPr>
          <a:xfrm>
            <a:off x="324000" y="1494000"/>
            <a:ext cx="2700000" cy="198000"/>
          </a:xfrm>
          <a:prstGeom prst="rect">
            <a:avLst/>
          </a:prstGeom>
          <a:noFill/>
        </p:spPr>
        <p:txBody>
          <a:bodyPr wrap="square">
            <a:spAutoFit/>
          </a:bodyPr>
          <a:lstStyle/>
          <a:p>
            <a:pPr algn="ctr"/>
            <a:r>
              <a:rPr sz="850" b="0" i="0">
                <a:solidFill>
                  <a:srgbClr val="555555"/>
                </a:solidFill>
                <a:latin typeface="Calibri"/>
              </a:rPr>
              <a:t>8 avril 2026</a:t>
            </a:r>
          </a:p>
        </p:txBody>
      </p:sp>
      <p:sp>
        <p:nvSpPr>
          <p:cNvPr id="21" name="Rectangle 20"/>
          <p:cNvSpPr/>
          <p:nvPr/>
        </p:nvSpPr>
        <p:spPr>
          <a:xfrm>
            <a:off x="324000" y="2196000"/>
            <a:ext cx="2700000" cy="198000"/>
          </a:xfrm>
          <a:prstGeom prst="rect">
            <a:avLst/>
          </a:prstGeom>
          <a:solidFill>
            <a:srgbClr val="E8E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24000" y="2196000"/>
            <a:ext cx="2025000" cy="198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24000" y="2051999"/>
            <a:ext cx="2700000" cy="136800"/>
          </a:xfrm>
          <a:prstGeom prst="rect">
            <a:avLst/>
          </a:prstGeom>
          <a:noFill/>
        </p:spPr>
        <p:txBody>
          <a:bodyPr wrap="square">
            <a:spAutoFit/>
          </a:bodyPr>
          <a:lstStyle/>
          <a:p>
            <a:pPr algn="l"/>
            <a:r>
              <a:rPr sz="700" b="1" i="0">
                <a:solidFill>
                  <a:srgbClr val="1B3A6B"/>
                </a:solidFill>
                <a:latin typeface="Calibri"/>
              </a:rPr>
              <a:t>NIVEAU DE CONVICTION</a:t>
            </a:r>
          </a:p>
        </p:txBody>
      </p:sp>
      <p:sp>
        <p:nvSpPr>
          <p:cNvPr id="24" name="Rectangle 23"/>
          <p:cNvSpPr/>
          <p:nvPr/>
        </p:nvSpPr>
        <p:spPr>
          <a:xfrm>
            <a:off x="324000" y="2520000"/>
            <a:ext cx="2700000" cy="27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60000" y="2538000"/>
            <a:ext cx="2628000" cy="234000"/>
          </a:xfrm>
          <a:prstGeom prst="rect">
            <a:avLst/>
          </a:prstGeom>
          <a:noFill/>
        </p:spPr>
        <p:txBody>
          <a:bodyPr wrap="square">
            <a:spAutoFit/>
          </a:bodyPr>
          <a:lstStyle/>
          <a:p>
            <a:pPr algn="l"/>
            <a:r>
              <a:rPr sz="850" b="1" i="0">
                <a:solidFill>
                  <a:srgbClr val="1A7A4A"/>
                </a:solidFill>
                <a:latin typeface="Calibri"/>
              </a:rPr>
              <a:t>Delta conviction : +25% vs Avocat du Diable</a:t>
            </a:r>
          </a:p>
        </p:txBody>
      </p:sp>
      <p:sp>
        <p:nvSpPr>
          <p:cNvPr id="26" name="Rectangle 25"/>
          <p:cNvSpPr/>
          <p:nvPr/>
        </p:nvSpPr>
        <p:spPr>
          <a:xfrm>
            <a:off x="3311999" y="827999"/>
            <a:ext cx="5472000" cy="19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366000" y="846000"/>
            <a:ext cx="5400000" cy="162000"/>
          </a:xfrm>
          <a:prstGeom prst="rect">
            <a:avLst/>
          </a:prstGeom>
          <a:noFill/>
        </p:spPr>
        <p:txBody>
          <a:bodyPr wrap="square">
            <a:spAutoFit/>
          </a:bodyPr>
          <a:lstStyle/>
          <a:p>
            <a:pPr algn="l"/>
            <a:r>
              <a:rPr sz="800" b="1" i="0">
                <a:solidFill>
                  <a:srgbClr val="FFFFFF"/>
                </a:solidFill>
                <a:latin typeface="Calibri"/>
              </a:rPr>
              <a:t>THÈSE D’INVESTISSEMENT</a:t>
            </a:r>
          </a:p>
        </p:txBody>
      </p:sp>
      <p:sp>
        <p:nvSpPr>
          <p:cNvPr id="28" name="Rectangle 27"/>
          <p:cNvSpPr/>
          <p:nvPr/>
        </p:nvSpPr>
        <p:spPr>
          <a:xfrm>
            <a:off x="3311999" y="1062000"/>
            <a:ext cx="36000" cy="288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401999" y="1080000"/>
            <a:ext cx="5346000" cy="270000"/>
          </a:xfrm>
          <a:prstGeom prst="rect">
            <a:avLst/>
          </a:prstGeom>
          <a:noFill/>
        </p:spPr>
        <p:txBody>
          <a:bodyPr wrap="square">
            <a:spAutoFit/>
          </a:bodyPr>
          <a:lstStyle/>
          <a:p>
            <a:pPr algn="l"/>
            <a:r>
              <a:rPr sz="850" b="0" i="0">
                <a:solidFill>
                  <a:srgbClr val="555555"/>
                </a:solidFill>
                <a:latin typeface="Calibri"/>
              </a:rPr>
              <a:t>Croissance du CA de 6,4 % en 2025 tirée par l'iPhone en Chine (+18 % YoY) et les services (+15 %)</a:t>
            </a:r>
          </a:p>
        </p:txBody>
      </p:sp>
      <p:sp>
        <p:nvSpPr>
          <p:cNvPr id="30" name="Rectangle 29"/>
          <p:cNvSpPr/>
          <p:nvPr/>
        </p:nvSpPr>
        <p:spPr>
          <a:xfrm>
            <a:off x="3311999" y="1404000"/>
            <a:ext cx="36000" cy="288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401999" y="1422000"/>
            <a:ext cx="5346000" cy="270000"/>
          </a:xfrm>
          <a:prstGeom prst="rect">
            <a:avLst/>
          </a:prstGeom>
          <a:noFill/>
        </p:spPr>
        <p:txBody>
          <a:bodyPr wrap="square">
            <a:spAutoFit/>
          </a:bodyPr>
          <a:lstStyle/>
          <a:p>
            <a:pPr algn="l"/>
            <a:r>
              <a:rPr sz="850" b="0" i="0">
                <a:solidFill>
                  <a:srgbClr val="555555"/>
                </a:solidFill>
                <a:latin typeface="Calibri"/>
              </a:rPr>
              <a:t>Expansion des marges nettes à 26,9 % grâce au mix services et à l'effet de levier opérationnel</a:t>
            </a:r>
          </a:p>
        </p:txBody>
      </p:sp>
      <p:sp>
        <p:nvSpPr>
          <p:cNvPr id="32" name="Rectangle 31"/>
          <p:cNvSpPr/>
          <p:nvPr/>
        </p:nvSpPr>
        <p:spPr>
          <a:xfrm>
            <a:off x="3311999" y="1746000"/>
            <a:ext cx="36000" cy="288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401999" y="1764000"/>
            <a:ext cx="5346000" cy="270000"/>
          </a:xfrm>
          <a:prstGeom prst="rect">
            <a:avLst/>
          </a:prstGeom>
          <a:noFill/>
        </p:spPr>
        <p:txBody>
          <a:bodyPr wrap="square">
            <a:spAutoFit/>
          </a:bodyPr>
          <a:lstStyle/>
          <a:p>
            <a:pPr algn="l"/>
            <a:r>
              <a:rPr sz="850" b="0" i="0">
                <a:solidFill>
                  <a:srgbClr val="555555"/>
                </a:solidFill>
                <a:latin typeface="Calibri"/>
              </a:rPr>
              <a:t>Trésorerie nette de 166 Mds USD permettant 100 Mds USD de rachats d'actions en 2026</a:t>
            </a:r>
          </a:p>
        </p:txBody>
      </p:sp>
      <p:sp>
        <p:nvSpPr>
          <p:cNvPr id="34" name="Rectangle 33"/>
          <p:cNvSpPr/>
          <p:nvPr/>
        </p:nvSpPr>
        <p:spPr>
          <a:xfrm>
            <a:off x="3311999" y="2196000"/>
            <a:ext cx="2664000" cy="180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366000" y="2214000"/>
            <a:ext cx="2592000" cy="144000"/>
          </a:xfrm>
          <a:prstGeom prst="rect">
            <a:avLst/>
          </a:prstGeom>
          <a:noFill/>
        </p:spPr>
        <p:txBody>
          <a:bodyPr wrap="square">
            <a:spAutoFit/>
          </a:bodyPr>
          <a:lstStyle/>
          <a:p>
            <a:pPr algn="l"/>
            <a:r>
              <a:rPr sz="750" b="1" i="0">
                <a:solidFill>
                  <a:srgbClr val="FFFFFF"/>
                </a:solidFill>
                <a:latin typeface="Calibri"/>
              </a:rPr>
              <a:t>CATALYSEURS BULLS</a:t>
            </a:r>
          </a:p>
        </p:txBody>
      </p:sp>
      <p:sp>
        <p:nvSpPr>
          <p:cNvPr id="36" name="TextBox 35"/>
          <p:cNvSpPr txBox="1"/>
          <p:nvPr/>
        </p:nvSpPr>
        <p:spPr>
          <a:xfrm>
            <a:off x="3401999" y="2412000"/>
            <a:ext cx="2556000" cy="234000"/>
          </a:xfrm>
          <a:prstGeom prst="rect">
            <a:avLst/>
          </a:prstGeom>
          <a:noFill/>
        </p:spPr>
        <p:txBody>
          <a:bodyPr wrap="square">
            <a:spAutoFit/>
          </a:bodyPr>
          <a:lstStyle/>
          <a:p>
            <a:pPr algn="l"/>
            <a:r>
              <a:rPr sz="700" b="0" i="0">
                <a:solidFill>
                  <a:srgbClr val="555555"/>
                </a:solidFill>
                <a:latin typeface="Calibri"/>
              </a:rPr>
              <a:t>• Lancement iPhone 16 en septembre 2026 avec +12 % de ventes YoY attendu | Impact CA +27 Mds USD et</a:t>
            </a:r>
          </a:p>
        </p:txBody>
      </p:sp>
      <p:sp>
        <p:nvSpPr>
          <p:cNvPr id="37" name="TextBox 36"/>
          <p:cNvSpPr txBox="1"/>
          <p:nvPr/>
        </p:nvSpPr>
        <p:spPr>
          <a:xfrm>
            <a:off x="3401999" y="2671200"/>
            <a:ext cx="2556000" cy="234000"/>
          </a:xfrm>
          <a:prstGeom prst="rect">
            <a:avLst/>
          </a:prstGeom>
          <a:noFill/>
        </p:spPr>
        <p:txBody>
          <a:bodyPr wrap="square">
            <a:spAutoFit/>
          </a:bodyPr>
          <a:lstStyle/>
          <a:p>
            <a:pPr algn="l"/>
            <a:r>
              <a:rPr sz="700" b="0" i="0">
                <a:solidFill>
                  <a:srgbClr val="555555"/>
                </a:solidFill>
                <a:latin typeface="Calibri"/>
              </a:rPr>
              <a:t>• Expansion services en Inde et Brésil avec +20 % d'abonnés en 2026 | CA additionnel +15 Mds USD et</a:t>
            </a:r>
          </a:p>
        </p:txBody>
      </p:sp>
      <p:sp>
        <p:nvSpPr>
          <p:cNvPr id="38" name="Rectangle 37"/>
          <p:cNvSpPr/>
          <p:nvPr/>
        </p:nvSpPr>
        <p:spPr>
          <a:xfrm>
            <a:off x="6120000" y="2196000"/>
            <a:ext cx="2448000" cy="1800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156000" y="2214000"/>
            <a:ext cx="2376000" cy="144000"/>
          </a:xfrm>
          <a:prstGeom prst="rect">
            <a:avLst/>
          </a:prstGeom>
          <a:noFill/>
        </p:spPr>
        <p:txBody>
          <a:bodyPr wrap="square">
            <a:spAutoFit/>
          </a:bodyPr>
          <a:lstStyle/>
          <a:p>
            <a:pPr algn="l"/>
            <a:r>
              <a:rPr sz="750" b="1" i="0">
                <a:solidFill>
                  <a:srgbClr val="FFFFFF"/>
                </a:solidFill>
                <a:latin typeface="Calibri"/>
              </a:rPr>
              <a:t>RISQUES BEARS</a:t>
            </a:r>
          </a:p>
        </p:txBody>
      </p:sp>
      <p:sp>
        <p:nvSpPr>
          <p:cNvPr id="40" name="TextBox 39"/>
          <p:cNvSpPr txBox="1"/>
          <p:nvPr/>
        </p:nvSpPr>
        <p:spPr>
          <a:xfrm>
            <a:off x="6156000" y="2412000"/>
            <a:ext cx="2376000" cy="234000"/>
          </a:xfrm>
          <a:prstGeom prst="rect">
            <a:avLst/>
          </a:prstGeom>
          <a:noFill/>
        </p:spPr>
        <p:txBody>
          <a:bodyPr wrap="square">
            <a:spAutoFit/>
          </a:bodyPr>
          <a:lstStyle/>
          <a:p>
            <a:pPr algn="l"/>
            <a:r>
              <a:rPr sz="700" b="0" i="0">
                <a:solidFill>
                  <a:srgbClr val="555555"/>
                </a:solidFill>
                <a:latin typeface="Calibri"/>
              </a:rPr>
              <a:t>• Régulation européenne sur l'App Store réduisant les revenus services de 15 % d'ici 2027 | Impact CA</a:t>
            </a:r>
          </a:p>
        </p:txBody>
      </p:sp>
      <p:sp>
        <p:nvSpPr>
          <p:cNvPr id="41" name="TextBox 40"/>
          <p:cNvSpPr txBox="1"/>
          <p:nvPr/>
        </p:nvSpPr>
        <p:spPr>
          <a:xfrm>
            <a:off x="6156000" y="2671200"/>
            <a:ext cx="2376000" cy="234000"/>
          </a:xfrm>
          <a:prstGeom prst="rect">
            <a:avLst/>
          </a:prstGeom>
          <a:noFill/>
        </p:spPr>
        <p:txBody>
          <a:bodyPr wrap="square">
            <a:spAutoFit/>
          </a:bodyPr>
          <a:lstStyle/>
          <a:p>
            <a:pPr algn="l"/>
            <a:r>
              <a:rPr sz="700" b="0" i="0">
                <a:solidFill>
                  <a:srgbClr val="555555"/>
                </a:solidFill>
                <a:latin typeface="Calibri"/>
              </a:rPr>
              <a:t>• Concurrence accrue en IA avec des acteurs comme Google et Meta captant 30 % du marché cloud en 2026</a:t>
            </a:r>
          </a:p>
        </p:txBody>
      </p:sp>
      <p:sp>
        <p:nvSpPr>
          <p:cNvPr id="42" name="Rectangle 41"/>
          <p:cNvSpPr/>
          <p:nvPr/>
        </p:nvSpPr>
        <p:spPr>
          <a:xfrm>
            <a:off x="3311999" y="3074400"/>
            <a:ext cx="5472000" cy="216000"/>
          </a:xfrm>
          <a:prstGeom prst="rect">
            <a:avLst/>
          </a:prstGeom>
          <a:solidFill>
            <a:srgbClr val="FFF3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3311999" y="3074400"/>
            <a:ext cx="36000" cy="216000"/>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401999" y="3088800"/>
            <a:ext cx="5346000" cy="198000"/>
          </a:xfrm>
          <a:prstGeom prst="rect">
            <a:avLst/>
          </a:prstGeom>
          <a:noFill/>
        </p:spPr>
        <p:txBody>
          <a:bodyPr wrap="square">
            <a:spAutoFit/>
          </a:bodyPr>
          <a:lstStyle/>
          <a:p>
            <a:pPr algn="l"/>
            <a:r>
              <a:rPr sz="750" b="0" i="0">
                <a:solidFill>
                  <a:srgbClr val="7A5000"/>
                </a:solidFill>
                <a:latin typeface="Calibri"/>
              </a:rPr>
              <a:t>⚠ Conditions d’invalidation : Macro: Ralentissement économique en Chine de -5 % du PIB en 2026  ·  Sectoriel: Régulation européenne réduisant les revenus services de 15 %</a:t>
            </a:r>
          </a:p>
        </p:txBody>
      </p:sp>
      <p:sp>
        <p:nvSpPr>
          <p:cNvPr id="45" name="TextBox 44"/>
          <p:cNvSpPr txBox="1"/>
          <p:nvPr/>
        </p:nvSpPr>
        <p:spPr>
          <a:xfrm>
            <a:off x="324000" y="4752000"/>
            <a:ext cx="8496000" cy="162000"/>
          </a:xfrm>
          <a:prstGeom prst="rect">
            <a:avLst/>
          </a:prstGeom>
          <a:noFill/>
        </p:spPr>
        <p:txBody>
          <a:bodyPr wrap="square">
            <a:spAutoFit/>
          </a:bodyPr>
          <a:lstStyle/>
          <a:p>
            <a:pPr algn="l"/>
            <a:r>
              <a:rPr sz="700" b="0" i="0">
                <a:solidFill>
                  <a:srgbClr val="555555"/>
                </a:solidFill>
                <a:latin typeface="Calibri"/>
              </a:rPr>
              <a:t>FinSight IA genere cette analyse a un instant T. Pour le suivi dans le temps, comparer les rapports successifs. La conviction reflete les donnees disponibles a la date d'analyse.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