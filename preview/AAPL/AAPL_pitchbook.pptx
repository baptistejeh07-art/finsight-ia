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Apple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AAPL  ·  Technology</a:t>
            </a:r>
          </a:p>
        </p:txBody>
      </p:sp>
      <p:sp>
        <p:nvSpPr>
          <p:cNvPr id="8" name="Rectangle 7"/>
          <p:cNvSpPr/>
          <p:nvPr/>
        </p:nvSpPr>
        <p:spPr>
          <a:xfrm>
            <a:off x="457200" y="2720232"/>
            <a:ext cx="8229600" cy="475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720232"/>
            <a:ext cx="46800" cy="475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738232"/>
            <a:ext cx="8063999" cy="439200"/>
          </a:xfrm>
          <a:prstGeom prst="rect">
            <a:avLst/>
          </a:prstGeom>
          <a:noFill/>
        </p:spPr>
        <p:txBody>
          <a:bodyPr wrap="square">
            <a:spAutoFit/>
          </a:bodyPr>
          <a:lstStyle/>
          <a:p>
            <a:pPr algn="ctr"/>
            <a:r>
              <a:rPr sz="900" b="1" i="0">
                <a:solidFill>
                  <a:srgbClr val="1A7A4A"/>
                </a:solidFill>
                <a:latin typeface="Calibri"/>
              </a:rPr>
              <a:t>● BUY  ·  Prix cible base : 275 $  ·  Upside : +10,5 %</a:t>
            </a:r>
          </a:p>
        </p:txBody>
      </p:sp>
      <p:sp>
        <p:nvSpPr>
          <p:cNvPr id="11" name="Rectangle 10"/>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3" name="TextBox 12"/>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29 mars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1A7A4A"/>
                </a:solidFill>
                <a:latin typeface="Calibri"/>
              </a:rPr>
              <a:t>● BUY</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275 $  ·  Upside : +10,5 %  ·  Bear : 220 $ (-11,6 %)  ·  Bull : 310 $ (+24,6 %)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Écosystème fermé</a:t>
            </a:r>
          </a:p>
        </p:txBody>
      </p:sp>
      <p:sp>
        <p:nvSpPr>
          <p:cNvPr id="14" name="TextBox 13"/>
          <p:cNvSpPr txBox="1"/>
          <p:nvPr/>
        </p:nvSpPr>
        <p:spPr>
          <a:xfrm>
            <a:off x="503999" y="1814400"/>
            <a:ext cx="3931200" cy="327600"/>
          </a:xfrm>
          <a:prstGeom prst="rect">
            <a:avLst/>
          </a:prstGeom>
          <a:noFill/>
        </p:spPr>
        <p:txBody>
          <a:bodyPr wrap="square">
            <a:spAutoFit/>
          </a:bodyPr>
          <a:lstStyle/>
          <a:p>
            <a:pPr algn="l"/>
            <a:r>
              <a:rPr sz="750" b="0" i="0">
                <a:solidFill>
                  <a:srgbClr val="333333"/>
                </a:solidFill>
                <a:latin typeface="Calibri"/>
              </a:rPr>
              <a:t>Croissance services récurrents +12% YoY à 80 milliards USD en 2025</a:t>
            </a:r>
          </a:p>
        </p:txBody>
      </p:sp>
      <p:sp>
        <p:nvSpPr>
          <p:cNvPr id="15" name="Rectangle 14"/>
          <p:cNvSpPr/>
          <p:nvPr/>
        </p:nvSpPr>
        <p:spPr>
          <a:xfrm>
            <a:off x="367200" y="2196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78000"/>
            <a:ext cx="3931200" cy="183600"/>
          </a:xfrm>
          <a:prstGeom prst="rect">
            <a:avLst/>
          </a:prstGeom>
          <a:noFill/>
        </p:spPr>
        <p:txBody>
          <a:bodyPr wrap="square">
            <a:spAutoFit/>
          </a:bodyPr>
          <a:lstStyle/>
          <a:p>
            <a:pPr algn="l"/>
            <a:r>
              <a:rPr sz="850" b="1" i="0">
                <a:solidFill>
                  <a:srgbClr val="1B3A6B"/>
                </a:solidFill>
                <a:latin typeface="Calibri"/>
              </a:rPr>
              <a:t>Marges premium</a:t>
            </a:r>
          </a:p>
        </p:txBody>
      </p:sp>
      <p:sp>
        <p:nvSpPr>
          <p:cNvPr id="17" name="TextBox 16"/>
          <p:cNvSpPr txBox="1"/>
          <p:nvPr/>
        </p:nvSpPr>
        <p:spPr>
          <a:xfrm>
            <a:off x="503999" y="2347200"/>
            <a:ext cx="3931200" cy="327600"/>
          </a:xfrm>
          <a:prstGeom prst="rect">
            <a:avLst/>
          </a:prstGeom>
          <a:noFill/>
        </p:spPr>
        <p:txBody>
          <a:bodyPr wrap="square">
            <a:spAutoFit/>
          </a:bodyPr>
          <a:lstStyle/>
          <a:p>
            <a:pPr algn="l"/>
            <a:r>
              <a:rPr sz="750" b="0" i="0">
                <a:solidFill>
                  <a:srgbClr val="333333"/>
                </a:solidFill>
                <a:latin typeface="Calibri"/>
              </a:rPr>
              <a:t>Expansion IA intégrée dans iPhone 16 avec +15% de prix moyen et +20% de marge brute</a:t>
            </a:r>
          </a:p>
        </p:txBody>
      </p:sp>
      <p:sp>
        <p:nvSpPr>
          <p:cNvPr id="18" name="Rectangle 17"/>
          <p:cNvSpPr/>
          <p:nvPr/>
        </p:nvSpPr>
        <p:spPr>
          <a:xfrm>
            <a:off x="367200" y="2728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10800"/>
            <a:ext cx="3931200" cy="183600"/>
          </a:xfrm>
          <a:prstGeom prst="rect">
            <a:avLst/>
          </a:prstGeom>
          <a:noFill/>
        </p:spPr>
        <p:txBody>
          <a:bodyPr wrap="square">
            <a:spAutoFit/>
          </a:bodyPr>
          <a:lstStyle/>
          <a:p>
            <a:pPr algn="l"/>
            <a:r>
              <a:rPr sz="850" b="1" i="0">
                <a:solidFill>
                  <a:srgbClr val="1B3A6B"/>
                </a:solidFill>
                <a:latin typeface="Calibri"/>
              </a:rPr>
              <a:t>Trésorerie record</a:t>
            </a:r>
          </a:p>
        </p:txBody>
      </p:sp>
      <p:sp>
        <p:nvSpPr>
          <p:cNvPr id="20" name="TextBox 19"/>
          <p:cNvSpPr txBox="1"/>
          <p:nvPr/>
        </p:nvSpPr>
        <p:spPr>
          <a:xfrm>
            <a:off x="503999" y="2880000"/>
            <a:ext cx="3931200" cy="327600"/>
          </a:xfrm>
          <a:prstGeom prst="rect">
            <a:avLst/>
          </a:prstGeom>
          <a:noFill/>
        </p:spPr>
        <p:txBody>
          <a:bodyPr wrap="square">
            <a:spAutoFit/>
          </a:bodyPr>
          <a:lstStyle/>
          <a:p>
            <a:pPr algn="l"/>
            <a:r>
              <a:rPr sz="750" b="0" i="0">
                <a:solidFill>
                  <a:srgbClr val="333333"/>
                </a:solidFill>
                <a:latin typeface="Calibri"/>
              </a:rPr>
              <a:t>Lancement Vision Pro en 2024 avec 250 000 unités vendues et CA de 1 milliard USD en 2025</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Dépendance iPhone</a:t>
            </a:r>
          </a:p>
        </p:txBody>
      </p:sp>
      <p:sp>
        <p:nvSpPr>
          <p:cNvPr id="25" name="TextBox 24"/>
          <p:cNvSpPr txBox="1"/>
          <p:nvPr/>
        </p:nvSpPr>
        <p:spPr>
          <a:xfrm>
            <a:off x="4845600" y="1814400"/>
            <a:ext cx="3794399" cy="327600"/>
          </a:xfrm>
          <a:prstGeom prst="rect">
            <a:avLst/>
          </a:prstGeom>
          <a:noFill/>
        </p:spPr>
        <p:txBody>
          <a:bodyPr wrap="square">
            <a:spAutoFit/>
          </a:bodyPr>
          <a:lstStyle/>
          <a:p>
            <a:pPr algn="l"/>
            <a:r>
              <a:rPr sz="750" b="0" i="0">
                <a:solidFill>
                  <a:srgbClr val="333333"/>
                </a:solidFill>
                <a:latin typeface="Calibri"/>
              </a:rPr>
              <a:t>Régulation App Store avec amende potentielle de 5 milliards USD | Horizon 12-18 mois | Impact marge services -150bps</a:t>
            </a:r>
          </a:p>
        </p:txBody>
      </p:sp>
      <p:sp>
        <p:nvSpPr>
          <p:cNvPr id="26" name="Rectangle 25"/>
          <p:cNvSpPr/>
          <p:nvPr/>
        </p:nvSpPr>
        <p:spPr>
          <a:xfrm>
            <a:off x="4708800" y="2196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78000"/>
            <a:ext cx="3794399" cy="183600"/>
          </a:xfrm>
          <a:prstGeom prst="rect">
            <a:avLst/>
          </a:prstGeom>
          <a:noFill/>
        </p:spPr>
        <p:txBody>
          <a:bodyPr wrap="square">
            <a:spAutoFit/>
          </a:bodyPr>
          <a:lstStyle/>
          <a:p>
            <a:pPr algn="l"/>
            <a:r>
              <a:rPr sz="850" b="1" i="0">
                <a:solidFill>
                  <a:srgbClr val="1B3A6B"/>
                </a:solidFill>
                <a:latin typeface="Calibri"/>
              </a:rPr>
              <a:t>Régulation App Store</a:t>
            </a:r>
          </a:p>
        </p:txBody>
      </p:sp>
      <p:sp>
        <p:nvSpPr>
          <p:cNvPr id="28" name="TextBox 27"/>
          <p:cNvSpPr txBox="1"/>
          <p:nvPr/>
        </p:nvSpPr>
        <p:spPr>
          <a:xfrm>
            <a:off x="4845600" y="2347200"/>
            <a:ext cx="3794399" cy="327600"/>
          </a:xfrm>
          <a:prstGeom prst="rect">
            <a:avLst/>
          </a:prstGeom>
          <a:noFill/>
        </p:spPr>
        <p:txBody>
          <a:bodyPr wrap="square">
            <a:spAutoFit/>
          </a:bodyPr>
          <a:lstStyle/>
          <a:p>
            <a:pPr algn="l"/>
            <a:r>
              <a:rPr sz="750" b="0" i="0">
                <a:solidFill>
                  <a:srgbClr val="333333"/>
                </a:solidFill>
                <a:latin typeface="Calibri"/>
              </a:rPr>
              <a:t>Concurrence IA avec perte de parts de marché de 5% | Horizon 2026 | Impact CA iPhone -3%</a:t>
            </a:r>
          </a:p>
        </p:txBody>
      </p:sp>
      <p:sp>
        <p:nvSpPr>
          <p:cNvPr id="29" name="Rectangle 28"/>
          <p:cNvSpPr/>
          <p:nvPr/>
        </p:nvSpPr>
        <p:spPr>
          <a:xfrm>
            <a:off x="4708800" y="2728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10800"/>
            <a:ext cx="3794399" cy="183600"/>
          </a:xfrm>
          <a:prstGeom prst="rect">
            <a:avLst/>
          </a:prstGeom>
          <a:noFill/>
        </p:spPr>
        <p:txBody>
          <a:bodyPr wrap="square">
            <a:spAutoFit/>
          </a:bodyPr>
          <a:lstStyle/>
          <a:p>
            <a:pPr algn="l"/>
            <a:r>
              <a:rPr sz="850" b="1" i="0">
                <a:solidFill>
                  <a:srgbClr val="1B3A6B"/>
                </a:solidFill>
                <a:latin typeface="Calibri"/>
              </a:rPr>
              <a:t>Concurrence IA</a:t>
            </a:r>
          </a:p>
        </p:txBody>
      </p:sp>
      <p:sp>
        <p:nvSpPr>
          <p:cNvPr id="31" name="TextBox 30"/>
          <p:cNvSpPr txBox="1"/>
          <p:nvPr/>
        </p:nvSpPr>
        <p:spPr>
          <a:xfrm>
            <a:off x="4845600" y="2880000"/>
            <a:ext cx="3794399" cy="327600"/>
          </a:xfrm>
          <a:prstGeom prst="rect">
            <a:avLst/>
          </a:prstGeom>
          <a:noFill/>
        </p:spPr>
        <p:txBody>
          <a:bodyPr wrap="square">
            <a:spAutoFit/>
          </a:bodyPr>
          <a:lstStyle/>
          <a:p>
            <a:pPr algn="l"/>
            <a:r>
              <a:rPr sz="750" b="0" i="0">
                <a:solidFill>
                  <a:srgbClr val="333333"/>
                </a:solidFill>
                <a:latin typeface="Calibri"/>
              </a:rPr>
              <a:t>Ralentissement économique en Chine avec -10% de CA | Horizon 6-12 mois | Impact croissance globale -2pp</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3430800"/>
            <a:ext cx="1893600" cy="396000"/>
          </a:xfrm>
          <a:prstGeom prst="rect">
            <a:avLst/>
          </a:prstGeom>
          <a:noFill/>
        </p:spPr>
        <p:txBody>
          <a:bodyPr wrap="square">
            <a:spAutoFit/>
          </a:bodyPr>
          <a:lstStyle/>
          <a:p>
            <a:pPr algn="l"/>
            <a:r>
              <a:rPr sz="1900" b="1" i="0">
                <a:solidFill>
                  <a:srgbClr val="1B3A6B"/>
                </a:solidFill>
                <a:latin typeface="Calibri"/>
              </a:rPr>
              <a:t>25,7x</a:t>
            </a:r>
          </a:p>
        </p:txBody>
      </p:sp>
      <p:sp>
        <p:nvSpPr>
          <p:cNvPr id="37" name="TextBox 36"/>
          <p:cNvSpPr txBox="1"/>
          <p:nvPr/>
        </p:nvSpPr>
        <p:spPr>
          <a:xfrm>
            <a:off x="457200" y="38268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38" name="TextBox 37"/>
          <p:cNvSpPr txBox="1"/>
          <p:nvPr/>
        </p:nvSpPr>
        <p:spPr>
          <a:xfrm>
            <a:off x="457200" y="4024800"/>
            <a:ext cx="1893600" cy="165600"/>
          </a:xfrm>
          <a:prstGeom prst="rect">
            <a:avLst/>
          </a:prstGeom>
          <a:noFill/>
        </p:spPr>
        <p:txBody>
          <a:bodyPr wrap="square">
            <a:spAutoFit/>
          </a:bodyPr>
          <a:lstStyle/>
          <a:p>
            <a:pPr algn="l"/>
            <a:r>
              <a:rPr sz="700" b="0" i="0">
                <a:solidFill>
                  <a:srgbClr val="888888"/>
                </a:solidFill>
                <a:latin typeface="Calibri"/>
              </a:rPr>
              <a:t>vs 20,1x médiane peers</a:t>
            </a:r>
          </a:p>
        </p:txBody>
      </p:sp>
      <p:sp>
        <p:nvSpPr>
          <p:cNvPr id="39" name="Rectangle 38"/>
          <p:cNvSpPr/>
          <p:nvPr/>
        </p:nvSpPr>
        <p:spPr>
          <a:xfrm>
            <a:off x="24876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24876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77600" y="3430800"/>
            <a:ext cx="1893600" cy="396000"/>
          </a:xfrm>
          <a:prstGeom prst="rect">
            <a:avLst/>
          </a:prstGeom>
          <a:noFill/>
        </p:spPr>
        <p:txBody>
          <a:bodyPr wrap="square">
            <a:spAutoFit/>
          </a:bodyPr>
          <a:lstStyle/>
          <a:p>
            <a:pPr algn="l"/>
            <a:r>
              <a:rPr sz="1900" b="1" i="0">
                <a:solidFill>
                  <a:srgbClr val="1B3A6B"/>
                </a:solidFill>
                <a:latin typeface="Calibri"/>
              </a:rPr>
              <a:t>10,4 %</a:t>
            </a:r>
          </a:p>
        </p:txBody>
      </p:sp>
      <p:sp>
        <p:nvSpPr>
          <p:cNvPr id="42" name="TextBox 41"/>
          <p:cNvSpPr txBox="1"/>
          <p:nvPr/>
        </p:nvSpPr>
        <p:spPr>
          <a:xfrm>
            <a:off x="2577600" y="38268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43" name="TextBox 42"/>
          <p:cNvSpPr txBox="1"/>
          <p:nvPr/>
        </p:nvSpPr>
        <p:spPr>
          <a:xfrm>
            <a:off x="2577600" y="4024800"/>
            <a:ext cx="1893600" cy="165600"/>
          </a:xfrm>
          <a:prstGeom prst="rect">
            <a:avLst/>
          </a:prstGeom>
          <a:noFill/>
        </p:spPr>
        <p:txBody>
          <a:bodyPr wrap="square">
            <a:spAutoFit/>
          </a:bodyPr>
          <a:lstStyle/>
          <a:p>
            <a:pPr algn="l"/>
            <a:r>
              <a:rPr sz="700" b="0" i="0">
                <a:solidFill>
                  <a:srgbClr val="888888"/>
                </a:solidFill>
                <a:latin typeface="Calibri"/>
              </a:rPr>
              <a:t>Beta 1,12  ·  RFR 4,4 %</a:t>
            </a:r>
          </a:p>
        </p:txBody>
      </p:sp>
      <p:sp>
        <p:nvSpPr>
          <p:cNvPr id="44" name="Rectangle 43"/>
          <p:cNvSpPr/>
          <p:nvPr/>
        </p:nvSpPr>
        <p:spPr>
          <a:xfrm>
            <a:off x="46080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46080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698000" y="3430800"/>
            <a:ext cx="1893600" cy="396000"/>
          </a:xfrm>
          <a:prstGeom prst="rect">
            <a:avLst/>
          </a:prstGeom>
          <a:noFill/>
        </p:spPr>
        <p:txBody>
          <a:bodyPr wrap="square">
            <a:spAutoFit/>
          </a:bodyPr>
          <a:lstStyle/>
          <a:p>
            <a:pPr algn="l"/>
            <a:r>
              <a:rPr sz="1900" b="1" i="0">
                <a:solidFill>
                  <a:srgbClr val="1B3A6B"/>
                </a:solidFill>
                <a:latin typeface="Calibri"/>
              </a:rPr>
              <a:t>275 $</a:t>
            </a:r>
          </a:p>
        </p:txBody>
      </p:sp>
      <p:sp>
        <p:nvSpPr>
          <p:cNvPr id="47" name="TextBox 46"/>
          <p:cNvSpPr txBox="1"/>
          <p:nvPr/>
        </p:nvSpPr>
        <p:spPr>
          <a:xfrm>
            <a:off x="4698000" y="3826800"/>
            <a:ext cx="1893600" cy="205199"/>
          </a:xfrm>
          <a:prstGeom prst="rect">
            <a:avLst/>
          </a:prstGeom>
          <a:noFill/>
        </p:spPr>
        <p:txBody>
          <a:bodyPr wrap="square">
            <a:spAutoFit/>
          </a:bodyPr>
          <a:lstStyle/>
          <a:p>
            <a:pPr algn="l"/>
            <a:r>
              <a:rPr sz="800" b="0" i="0">
                <a:solidFill>
                  <a:srgbClr val="555555"/>
                </a:solidFill>
                <a:latin typeface="Calibri"/>
              </a:rPr>
              <a:t>Valeur intrinsèque DCF</a:t>
            </a:r>
          </a:p>
        </p:txBody>
      </p:sp>
      <p:sp>
        <p:nvSpPr>
          <p:cNvPr id="48" name="TextBox 47"/>
          <p:cNvSpPr txBox="1"/>
          <p:nvPr/>
        </p:nvSpPr>
        <p:spPr>
          <a:xfrm>
            <a:off x="4698000" y="4024800"/>
            <a:ext cx="1893600" cy="165600"/>
          </a:xfrm>
          <a:prstGeom prst="rect">
            <a:avLst/>
          </a:prstGeom>
          <a:noFill/>
        </p:spPr>
        <p:txBody>
          <a:bodyPr wrap="square">
            <a:spAutoFit/>
          </a:bodyPr>
          <a:lstStyle/>
          <a:p>
            <a:pPr algn="l"/>
            <a:r>
              <a:rPr sz="700" b="0" i="0">
                <a:solidFill>
                  <a:srgbClr val="888888"/>
                </a:solidFill>
                <a:latin typeface="Calibri"/>
              </a:rPr>
              <a:t>Upside de +10,5 % vs cours</a:t>
            </a:r>
          </a:p>
        </p:txBody>
      </p:sp>
      <p:sp>
        <p:nvSpPr>
          <p:cNvPr id="49" name="Rectangle 48"/>
          <p:cNvSpPr/>
          <p:nvPr/>
        </p:nvSpPr>
        <p:spPr>
          <a:xfrm>
            <a:off x="6728400" y="3376800"/>
            <a:ext cx="2030400" cy="806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6728400" y="3376800"/>
            <a:ext cx="46800" cy="806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818400" y="3430800"/>
            <a:ext cx="1893600" cy="396000"/>
          </a:xfrm>
          <a:prstGeom prst="rect">
            <a:avLst/>
          </a:prstGeom>
          <a:noFill/>
        </p:spPr>
        <p:txBody>
          <a:bodyPr wrap="square">
            <a:spAutoFit/>
          </a:bodyPr>
          <a:lstStyle/>
          <a:p>
            <a:pPr algn="l"/>
            <a:r>
              <a:rPr sz="1900" b="1" i="0">
                <a:solidFill>
                  <a:srgbClr val="1B3A6B"/>
                </a:solidFill>
                <a:latin typeface="Calibri"/>
              </a:rPr>
              <a:t>-0,077</a:t>
            </a:r>
          </a:p>
        </p:txBody>
      </p:sp>
      <p:sp>
        <p:nvSpPr>
          <p:cNvPr id="52" name="TextBox 51"/>
          <p:cNvSpPr txBox="1"/>
          <p:nvPr/>
        </p:nvSpPr>
        <p:spPr>
          <a:xfrm>
            <a:off x="6818400" y="38268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53" name="TextBox 52"/>
          <p:cNvSpPr txBox="1"/>
          <p:nvPr/>
        </p:nvSpPr>
        <p:spPr>
          <a:xfrm>
            <a:off x="6818400" y="4024800"/>
            <a:ext cx="1893600" cy="165600"/>
          </a:xfrm>
          <a:prstGeom prst="rect">
            <a:avLst/>
          </a:prstGeom>
          <a:noFill/>
        </p:spPr>
        <p:txBody>
          <a:bodyPr wrap="square">
            <a:spAutoFit/>
          </a:bodyPr>
          <a:lstStyle/>
          <a:p>
            <a:pPr algn="l"/>
            <a:r>
              <a:rPr sz="700" b="0" i="0">
                <a:solidFill>
                  <a:srgbClr val="888888"/>
                </a:solidFill>
                <a:latin typeface="Calibri"/>
              </a:rPr>
              <a:t>Neutre  ·  30 articles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Apple Inc.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3–5</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6–8</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9–11</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Dépendance iPhone  ·  Régulation App Store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12–13</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&amp; historique de cours</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14–15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Apple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Apple conçoit et commercialise des produits technologiques premium (iPhone, Mac, iPad) et des services (App Store, Apple Music, iCloud). Positionné en haut de gamme, le groupe mise sur l'écosystème intégré et la fidélisation client pour générer des marges durables. Ses avantages concurrentiels incluent une marque forte, une supply chain optimisée et une trésorerie record de 166 milliards USD en 2025.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Produits</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historique générant 80% du CA via vente d'iPhone (55% du total), Mac, iPad et wearables (Apple Watch, AirPods). Modèle reposant sur des cycles de renouvellement et une marge brute &gt;40%. Clients premium (B2C et B2B) avec une forte élasticité prix. Croissance tirée par l'Asie (25% du CA) et les services associés (AppleCare, accessoires).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Services</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Segment à forte rentabilité (marge brute 70%) incluant App Store, Apple Music, iCloud et Apple TV+. Modèle d'abonnements récurrents (1,8 milliard d'utilisateurs actifs) avec CA annuelisé de 80 milliards USD en 2025. Croissance portée par les marchés émergents et l'expansion des services cloud (iCloud+).</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3 652,7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416,2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248,80 $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25,7x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32,6x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80%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Produits</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historique générant 80% du CA via vente d'iPhone (55% du total), Mac, iPad et wearables (Apple Watch, AirPods). Modèle reposant sur des cycles de renouvellement et une marge brute &gt;40%. Clients premium (B2C et B2B) avec une forte élasticité prix. Croissance tirée par l'Asie (25% du CA) et les services associés (AppleCare, accessoires).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20%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Services</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Segment à forte rentabilité (marge brute 70%) incluant App Store, Apple Music, iCloud et Apple TV+. Modèle d'abonnements récurrents (1,8 milliard d'utilisateurs actifs) avec CA annuelisé de 80 milliards USD en 2025. Croissance portée par les marchés émergents et l'expansion des services cloud (iCloud+).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2021–2027F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383,3</a:t>
                      </a:r>
                    </a:p>
                  </a:txBody>
                  <a:tcPr>
                    <a:solidFill>
                      <a:srgbClr val="FFFFFF"/>
                    </a:solidFill>
                  </a:tcPr>
                </a:tc>
                <a:tc>
                  <a:txBody>
                    <a:bodyPr/>
                    <a:lstStyle/>
                    <a:p>
                      <a:pPr algn="ctr"/>
                      <a:r>
                        <a:rPr sz="800" b="1" i="0">
                          <a:solidFill>
                            <a:srgbClr val="0D0D0D"/>
                          </a:solidFill>
                          <a:latin typeface="Calibri"/>
                        </a:rPr>
                        <a:t>391,0</a:t>
                      </a:r>
                    </a:p>
                  </a:txBody>
                  <a:tcPr>
                    <a:solidFill>
                      <a:srgbClr val="FFFFFF"/>
                    </a:solidFill>
                  </a:tcPr>
                </a:tc>
                <a:tc>
                  <a:txBody>
                    <a:bodyPr/>
                    <a:lstStyle/>
                    <a:p>
                      <a:pPr algn="ctr"/>
                      <a:r>
                        <a:rPr sz="800" b="1" i="0">
                          <a:solidFill>
                            <a:srgbClr val="1B3A6B"/>
                          </a:solidFill>
                          <a:latin typeface="Calibri"/>
                        </a:rPr>
                        <a:t>416,2</a:t>
                      </a:r>
                    </a:p>
                  </a:txBody>
                  <a:tcPr>
                    <a:solidFill>
                      <a:srgbClr val="DDE8F5"/>
                    </a:solidFill>
                  </a:tcPr>
                </a:tc>
                <a:tc>
                  <a:txBody>
                    <a:bodyPr/>
                    <a:lstStyle/>
                    <a:p>
                      <a:pPr algn="ctr"/>
                      <a:r>
                        <a:rPr sz="800" b="1" i="0">
                          <a:solidFill>
                            <a:srgbClr val="0D0D0D"/>
                          </a:solidFill>
                          <a:latin typeface="Calibri"/>
                        </a:rPr>
                        <a:t>443,5</a:t>
                      </a:r>
                    </a:p>
                  </a:txBody>
                  <a:tcPr>
                    <a:solidFill>
                      <a:srgbClr val="FFFFFF"/>
                    </a:solidFill>
                  </a:tcPr>
                </a:tc>
                <a:tc>
                  <a:txBody>
                    <a:bodyPr/>
                    <a:lstStyle/>
                    <a:p>
                      <a:pPr algn="ctr"/>
                      <a:r>
                        <a:rPr sz="800" b="1" i="0">
                          <a:solidFill>
                            <a:srgbClr val="0D0D0D"/>
                          </a:solidFill>
                          <a:latin typeface="Calibri"/>
                        </a:rPr>
                        <a:t>472,0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-2,8 %</a:t>
                      </a:r>
                    </a:p>
                  </a:txBody>
                  <a:tcPr>
                    <a:solidFill>
                      <a:srgbClr val="F7F8FA"/>
                    </a:solidFill>
                  </a:tcPr>
                </a:tc>
                <a:tc>
                  <a:txBody>
                    <a:bodyPr/>
                    <a:lstStyle/>
                    <a:p>
                      <a:pPr algn="ctr"/>
                      <a:r>
                        <a:rPr sz="750" b="0" i="1">
                          <a:solidFill>
                            <a:srgbClr val="555555"/>
                          </a:solidFill>
                          <a:latin typeface="Calibri"/>
                        </a:rPr>
                        <a:t>+2,0 %</a:t>
                      </a:r>
                    </a:p>
                  </a:txBody>
                  <a:tcPr>
                    <a:solidFill>
                      <a:srgbClr val="F7F8FA"/>
                    </a:solidFill>
                  </a:tcPr>
                </a:tc>
                <a:tc>
                  <a:txBody>
                    <a:bodyPr/>
                    <a:lstStyle/>
                    <a:p>
                      <a:pPr algn="ctr"/>
                      <a:r>
                        <a:rPr sz="750" b="0" i="1">
                          <a:solidFill>
                            <a:srgbClr val="555555"/>
                          </a:solidFill>
                          <a:latin typeface="Calibri"/>
                        </a:rPr>
                        <a:t>+6,4 %</a:t>
                      </a:r>
                    </a:p>
                  </a:txBody>
                  <a:tcPr>
                    <a:solidFill>
                      <a:srgbClr val="DDE8F5"/>
                    </a:solidFill>
                  </a:tcPr>
                </a:tc>
                <a:tc>
                  <a:txBody>
                    <a:bodyPr/>
                    <a:lstStyle/>
                    <a:p>
                      <a:pPr algn="ctr"/>
                      <a:r>
                        <a:rPr sz="750" b="0" i="1">
                          <a:solidFill>
                            <a:srgbClr val="555555"/>
                          </a:solidFill>
                          <a:latin typeface="Calibri"/>
                        </a:rPr>
                        <a:t>+6,6 %</a:t>
                      </a:r>
                    </a:p>
                  </a:txBody>
                  <a:tcPr>
                    <a:solidFill>
                      <a:srgbClr val="F7F8FA"/>
                    </a:solidFill>
                  </a:tcPr>
                </a:tc>
                <a:tc>
                  <a:txBody>
                    <a:bodyPr/>
                    <a:lstStyle/>
                    <a:p>
                      <a:pPr algn="ctr"/>
                      <a:r>
                        <a:rPr sz="750" b="0" i="1">
                          <a:solidFill>
                            <a:srgbClr val="555555"/>
                          </a:solidFill>
                          <a:latin typeface="Calibri"/>
                        </a:rPr>
                        <a:t>+6,4 %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169,1</a:t>
                      </a:r>
                    </a:p>
                  </a:txBody>
                  <a:tcPr>
                    <a:solidFill>
                      <a:srgbClr val="FFFFFF"/>
                    </a:solidFill>
                  </a:tcPr>
                </a:tc>
                <a:tc>
                  <a:txBody>
                    <a:bodyPr/>
                    <a:lstStyle/>
                    <a:p>
                      <a:pPr algn="ctr"/>
                      <a:r>
                        <a:rPr sz="800" b="1" i="0">
                          <a:solidFill>
                            <a:srgbClr val="0D0D0D"/>
                          </a:solidFill>
                          <a:latin typeface="Calibri"/>
                        </a:rPr>
                        <a:t>180,7</a:t>
                      </a:r>
                    </a:p>
                  </a:txBody>
                  <a:tcPr>
                    <a:solidFill>
                      <a:srgbClr val="FFFFFF"/>
                    </a:solidFill>
                  </a:tcPr>
                </a:tc>
                <a:tc>
                  <a:txBody>
                    <a:bodyPr/>
                    <a:lstStyle/>
                    <a:p>
                      <a:pPr algn="ctr"/>
                      <a:r>
                        <a:rPr sz="800" b="1" i="0">
                          <a:solidFill>
                            <a:srgbClr val="1B3A6B"/>
                          </a:solidFill>
                          <a:latin typeface="Calibri"/>
                        </a:rPr>
                        <a:t>195,2</a:t>
                      </a:r>
                    </a:p>
                  </a:txBody>
                  <a:tcPr>
                    <a:solidFill>
                      <a:srgbClr val="DDE8F5"/>
                    </a:solidFill>
                  </a:tcPr>
                </a:tc>
                <a:tc>
                  <a:txBody>
                    <a:bodyPr/>
                    <a:lstStyle/>
                    <a:p>
                      <a:pPr algn="ctr"/>
                      <a:r>
                        <a:rPr sz="800" b="1" i="0">
                          <a:solidFill>
                            <a:srgbClr val="0D0D0D"/>
                          </a:solidFill>
                          <a:latin typeface="Calibri"/>
                        </a:rPr>
                        <a:t>209,3</a:t>
                      </a:r>
                    </a:p>
                  </a:txBody>
                  <a:tcPr>
                    <a:solidFill>
                      <a:srgbClr val="FFFFFF"/>
                    </a:solidFill>
                  </a:tcPr>
                </a:tc>
                <a:tc>
                  <a:txBody>
                    <a:bodyPr/>
                    <a:lstStyle/>
                    <a:p>
                      <a:pPr algn="ctr"/>
                      <a:r>
                        <a:rPr sz="800" b="1" i="0">
                          <a:solidFill>
                            <a:srgbClr val="0D0D0D"/>
                          </a:solidFill>
                          <a:latin typeface="Calibri"/>
                        </a:rPr>
                        <a:t>224,2</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44,1 %</a:t>
                      </a:r>
                    </a:p>
                  </a:txBody>
                  <a:tcPr>
                    <a:solidFill>
                      <a:srgbClr val="F7F8FA"/>
                    </a:solidFill>
                  </a:tcPr>
                </a:tc>
                <a:tc>
                  <a:txBody>
                    <a:bodyPr/>
                    <a:lstStyle/>
                    <a:p>
                      <a:pPr algn="ctr"/>
                      <a:r>
                        <a:rPr sz="750" b="0" i="1">
                          <a:solidFill>
                            <a:srgbClr val="555555"/>
                          </a:solidFill>
                          <a:latin typeface="Calibri"/>
                        </a:rPr>
                        <a:t>46,2 %</a:t>
                      </a:r>
                    </a:p>
                  </a:txBody>
                  <a:tcPr>
                    <a:solidFill>
                      <a:srgbClr val="F7F8FA"/>
                    </a:solidFill>
                  </a:tcPr>
                </a:tc>
                <a:tc>
                  <a:txBody>
                    <a:bodyPr/>
                    <a:lstStyle/>
                    <a:p>
                      <a:pPr algn="ctr"/>
                      <a:r>
                        <a:rPr sz="750" b="0" i="1">
                          <a:solidFill>
                            <a:srgbClr val="555555"/>
                          </a:solidFill>
                          <a:latin typeface="Calibri"/>
                        </a:rPr>
                        <a:t>46,9 %</a:t>
                      </a:r>
                    </a:p>
                  </a:txBody>
                  <a:tcPr>
                    <a:solidFill>
                      <a:srgbClr val="DDE8F5"/>
                    </a:solidFill>
                  </a:tcPr>
                </a:tc>
                <a:tc>
                  <a:txBody>
                    <a:bodyPr/>
                    <a:lstStyle/>
                    <a:p>
                      <a:pPr algn="ctr"/>
                      <a:r>
                        <a:rPr sz="750" b="0" i="1">
                          <a:solidFill>
                            <a:srgbClr val="555555"/>
                          </a:solidFill>
                          <a:latin typeface="Calibri"/>
                        </a:rPr>
                        <a:t>47,2 %</a:t>
                      </a:r>
                    </a:p>
                  </a:txBody>
                  <a:tcPr>
                    <a:solidFill>
                      <a:srgbClr val="F7F8FA"/>
                    </a:solidFill>
                  </a:tcPr>
                </a:tc>
                <a:tc>
                  <a:txBody>
                    <a:bodyPr/>
                    <a:lstStyle/>
                    <a:p>
                      <a:pPr algn="ctr"/>
                      <a:r>
                        <a:rPr sz="750" b="0" i="1">
                          <a:solidFill>
                            <a:srgbClr val="555555"/>
                          </a:solidFill>
                          <a:latin typeface="Calibri"/>
                        </a:rPr>
                        <a:t>47,5 %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125,8</a:t>
                      </a:r>
                    </a:p>
                  </a:txBody>
                  <a:tcPr>
                    <a:solidFill>
                      <a:srgbClr val="FFFFFF"/>
                    </a:solidFill>
                  </a:tcPr>
                </a:tc>
                <a:tc>
                  <a:txBody>
                    <a:bodyPr/>
                    <a:lstStyle/>
                    <a:p>
                      <a:pPr algn="ctr"/>
                      <a:r>
                        <a:rPr sz="800" b="1" i="0">
                          <a:solidFill>
                            <a:srgbClr val="0D0D0D"/>
                          </a:solidFill>
                          <a:latin typeface="Calibri"/>
                        </a:rPr>
                        <a:t>134,7</a:t>
                      </a:r>
                    </a:p>
                  </a:txBody>
                  <a:tcPr>
                    <a:solidFill>
                      <a:srgbClr val="FFFFFF"/>
                    </a:solidFill>
                  </a:tcPr>
                </a:tc>
                <a:tc>
                  <a:txBody>
                    <a:bodyPr/>
                    <a:lstStyle/>
                    <a:p>
                      <a:pPr algn="ctr"/>
                      <a:r>
                        <a:rPr sz="800" b="1" i="0">
                          <a:solidFill>
                            <a:srgbClr val="1B3A6B"/>
                          </a:solidFill>
                          <a:latin typeface="Calibri"/>
                        </a:rPr>
                        <a:t>144,7</a:t>
                      </a:r>
                    </a:p>
                  </a:txBody>
                  <a:tcPr>
                    <a:solidFill>
                      <a:srgbClr val="DDE8F5"/>
                    </a:solidFill>
                  </a:tcPr>
                </a:tc>
                <a:tc>
                  <a:txBody>
                    <a:bodyPr/>
                    <a:lstStyle/>
                    <a:p>
                      <a:pPr algn="ctr"/>
                      <a:r>
                        <a:rPr sz="800" b="1" i="0">
                          <a:solidFill>
                            <a:srgbClr val="0D0D0D"/>
                          </a:solidFill>
                          <a:latin typeface="Calibri"/>
                        </a:rPr>
                        <a:t>156,5</a:t>
                      </a:r>
                    </a:p>
                  </a:txBody>
                  <a:tcPr>
                    <a:solidFill>
                      <a:srgbClr val="FFFFFF"/>
                    </a:solidFill>
                  </a:tcPr>
                </a:tc>
                <a:tc>
                  <a:txBody>
                    <a:bodyPr/>
                    <a:lstStyle/>
                    <a:p>
                      <a:pPr algn="ctr"/>
                      <a:r>
                        <a:rPr sz="800" b="1" i="0">
                          <a:solidFill>
                            <a:srgbClr val="0D0D0D"/>
                          </a:solidFill>
                          <a:latin typeface="Calibri"/>
                        </a:rPr>
                        <a:t>168,0</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32,8 %</a:t>
                      </a:r>
                    </a:p>
                  </a:txBody>
                  <a:tcPr>
                    <a:solidFill>
                      <a:srgbClr val="F7F8FA"/>
                    </a:solidFill>
                  </a:tcPr>
                </a:tc>
                <a:tc>
                  <a:txBody>
                    <a:bodyPr/>
                    <a:lstStyle/>
                    <a:p>
                      <a:pPr algn="ctr"/>
                      <a:r>
                        <a:rPr sz="750" b="0" i="1">
                          <a:solidFill>
                            <a:srgbClr val="555555"/>
                          </a:solidFill>
                          <a:latin typeface="Calibri"/>
                        </a:rPr>
                        <a:t>34,4 %</a:t>
                      </a:r>
                    </a:p>
                  </a:txBody>
                  <a:tcPr>
                    <a:solidFill>
                      <a:srgbClr val="F7F8FA"/>
                    </a:solidFill>
                  </a:tcPr>
                </a:tc>
                <a:tc>
                  <a:txBody>
                    <a:bodyPr/>
                    <a:lstStyle/>
                    <a:p>
                      <a:pPr algn="ctr"/>
                      <a:r>
                        <a:rPr sz="750" b="0" i="1">
                          <a:solidFill>
                            <a:srgbClr val="555555"/>
                          </a:solidFill>
                          <a:latin typeface="Calibri"/>
                        </a:rPr>
                        <a:t>34,8 %</a:t>
                      </a:r>
                    </a:p>
                  </a:txBody>
                  <a:tcPr>
                    <a:solidFill>
                      <a:srgbClr val="DDE8F5"/>
                    </a:solidFill>
                  </a:tcPr>
                </a:tc>
                <a:tc>
                  <a:txBody>
                    <a:bodyPr/>
                    <a:lstStyle/>
                    <a:p>
                      <a:pPr algn="ctr"/>
                      <a:r>
                        <a:rPr sz="750" b="0" i="1">
                          <a:solidFill>
                            <a:srgbClr val="555555"/>
                          </a:solidFill>
                          <a:latin typeface="Calibri"/>
                        </a:rPr>
                        <a:t>35,3 %</a:t>
                      </a:r>
                    </a:p>
                  </a:txBody>
                  <a:tcPr>
                    <a:solidFill>
                      <a:srgbClr val="F7F8FA"/>
                    </a:solidFill>
                  </a:tcPr>
                </a:tc>
                <a:tc>
                  <a:txBody>
                    <a:bodyPr/>
                    <a:lstStyle/>
                    <a:p>
                      <a:pPr algn="ctr"/>
                      <a:r>
                        <a:rPr sz="750" b="0" i="1">
                          <a:solidFill>
                            <a:srgbClr val="555555"/>
                          </a:solidFill>
                          <a:latin typeface="Calibri"/>
                        </a:rPr>
                        <a:t>35,6 %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97,0</a:t>
                      </a:r>
                    </a:p>
                  </a:txBody>
                  <a:tcPr>
                    <a:solidFill>
                      <a:srgbClr val="FFFFFF"/>
                    </a:solidFill>
                  </a:tcPr>
                </a:tc>
                <a:tc>
                  <a:txBody>
                    <a:bodyPr/>
                    <a:lstStyle/>
                    <a:p>
                      <a:pPr algn="ctr"/>
                      <a:r>
                        <a:rPr sz="800" b="1" i="0">
                          <a:solidFill>
                            <a:srgbClr val="0D0D0D"/>
                          </a:solidFill>
                          <a:latin typeface="Calibri"/>
                        </a:rPr>
                        <a:t>93,7</a:t>
                      </a:r>
                    </a:p>
                  </a:txBody>
                  <a:tcPr>
                    <a:solidFill>
                      <a:srgbClr val="FFFFFF"/>
                    </a:solidFill>
                  </a:tcPr>
                </a:tc>
                <a:tc>
                  <a:txBody>
                    <a:bodyPr/>
                    <a:lstStyle/>
                    <a:p>
                      <a:pPr algn="ctr"/>
                      <a:r>
                        <a:rPr sz="800" b="1" i="0">
                          <a:solidFill>
                            <a:srgbClr val="1B3A6B"/>
                          </a:solidFill>
                          <a:latin typeface="Calibri"/>
                        </a:rPr>
                        <a:t>112,0</a:t>
                      </a:r>
                    </a:p>
                  </a:txBody>
                  <a:tcPr>
                    <a:solidFill>
                      <a:srgbClr val="DDE8F5"/>
                    </a:solidFill>
                  </a:tcPr>
                </a:tc>
                <a:tc>
                  <a:txBody>
                    <a:bodyPr/>
                    <a:lstStyle/>
                    <a:p>
                      <a:pPr algn="ctr"/>
                      <a:r>
                        <a:rPr sz="800" b="1" i="0">
                          <a:solidFill>
                            <a:srgbClr val="0D0D0D"/>
                          </a:solidFill>
                          <a:latin typeface="Calibri"/>
                        </a:rPr>
                        <a:t>118,5</a:t>
                      </a:r>
                    </a:p>
                  </a:txBody>
                  <a:tcPr>
                    <a:solidFill>
                      <a:srgbClr val="FFFFFF"/>
                    </a:solidFill>
                  </a:tcPr>
                </a:tc>
                <a:tc>
                  <a:txBody>
                    <a:bodyPr/>
                    <a:lstStyle/>
                    <a:p>
                      <a:pPr algn="ctr"/>
                      <a:r>
                        <a:rPr sz="800" b="1" i="0">
                          <a:solidFill>
                            <a:srgbClr val="0D0D0D"/>
                          </a:solidFill>
                          <a:latin typeface="Calibri"/>
                        </a:rPr>
                        <a:t>127,5</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25,3 %</a:t>
                      </a:r>
                    </a:p>
                  </a:txBody>
                  <a:tcPr>
                    <a:solidFill>
                      <a:srgbClr val="F7F8FA"/>
                    </a:solidFill>
                  </a:tcPr>
                </a:tc>
                <a:tc>
                  <a:txBody>
                    <a:bodyPr/>
                    <a:lstStyle/>
                    <a:p>
                      <a:pPr algn="ctr"/>
                      <a:r>
                        <a:rPr sz="750" b="0" i="1">
                          <a:solidFill>
                            <a:srgbClr val="555555"/>
                          </a:solidFill>
                          <a:latin typeface="Calibri"/>
                        </a:rPr>
                        <a:t>24,0 %</a:t>
                      </a:r>
                    </a:p>
                  </a:txBody>
                  <a:tcPr>
                    <a:solidFill>
                      <a:srgbClr val="F7F8FA"/>
                    </a:solidFill>
                  </a:tcPr>
                </a:tc>
                <a:tc>
                  <a:txBody>
                    <a:bodyPr/>
                    <a:lstStyle/>
                    <a:p>
                      <a:pPr algn="ctr"/>
                      <a:r>
                        <a:rPr sz="750" b="0" i="1">
                          <a:solidFill>
                            <a:srgbClr val="555555"/>
                          </a:solidFill>
                          <a:latin typeface="Calibri"/>
                        </a:rPr>
                        <a:t>26,9 %</a:t>
                      </a:r>
                    </a:p>
                  </a:txBody>
                  <a:tcPr>
                    <a:solidFill>
                      <a:srgbClr val="DDE8F5"/>
                    </a:solidFill>
                  </a:tcPr>
                </a:tc>
                <a:tc>
                  <a:txBody>
                    <a:bodyPr/>
                    <a:lstStyle/>
                    <a:p>
                      <a:pPr algn="ctr"/>
                      <a:r>
                        <a:rPr sz="750" b="0" i="1">
                          <a:solidFill>
                            <a:srgbClr val="555555"/>
                          </a:solidFill>
                          <a:latin typeface="Calibri"/>
                        </a:rPr>
                        <a:t>26,7 %</a:t>
                      </a:r>
                    </a:p>
                  </a:txBody>
                  <a:tcPr>
                    <a:solidFill>
                      <a:srgbClr val="F7F8FA"/>
                    </a:solidFill>
                  </a:tcPr>
                </a:tc>
                <a:tc>
                  <a:txBody>
                    <a:bodyPr/>
                    <a:lstStyle/>
                    <a:p>
                      <a:pPr algn="ctr"/>
                      <a:r>
                        <a:rPr sz="750" b="0" i="1">
                          <a:solidFill>
                            <a:srgbClr val="555555"/>
                          </a:solidFill>
                          <a:latin typeface="Calibri"/>
                        </a:rPr>
                        <a:t>27,0 %</a:t>
                      </a:r>
                    </a:p>
                  </a:txBody>
                  <a:tcPr>
                    <a:solidFill>
                      <a:srgbClr val="F7F8FA"/>
                    </a:solidFill>
                  </a:tcPr>
                </a:tc>
              </a:tr>
            </a:tbl>
          </a:graphicData>
        </a:graphic>
      </p:graphicFrame>
      <p:sp>
        <p:nvSpPr>
          <p:cNvPr id="18" name="TextBox 17"/>
          <p:cNvSpPr txBox="1"/>
          <p:nvPr/>
        </p:nvSpPr>
        <p:spPr>
          <a:xfrm>
            <a:off x="367200" y="3218400"/>
            <a:ext cx="8413200" cy="1224000"/>
          </a:xfrm>
          <a:prstGeom prst="rect">
            <a:avLst/>
          </a:prstGeom>
          <a:noFill/>
        </p:spPr>
        <p:txBody>
          <a:bodyPr wrap="square">
            <a:spAutoFit/>
          </a:bodyPr>
          <a:lstStyle/>
          <a:p>
            <a:pPr algn="l"/>
            <a:r>
              <a:rPr sz="850" b="0" i="0">
                <a:solidFill>
                  <a:srgbClr val="555555"/>
                </a:solidFill>
                <a:latin typeface="Calibri"/>
              </a:rPr>
              <a:t>Croissance CA +6.4% YoY en 2025 portée par services (+12%) et iPhone (+8%). Marges nettes en hausse de 290bps grâce au mix services et à la discipline des coûts (SG&amp;A stable à 15% du CA). ROIC à 84.4% illustre allocation capital optimale et génération de cash de 110 milliards USD en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35,9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78,3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62,7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0,65</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0,61</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1,3x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29,1x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0,4x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9,83</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-2,25</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TextBox 30"/>
          <p:cNvSpPr txBox="1"/>
          <p:nvPr/>
        </p:nvSpPr>
        <p:spPr>
          <a:xfrm>
            <a:off x="367200" y="4068000"/>
            <a:ext cx="8413200" cy="468000"/>
          </a:xfrm>
          <a:prstGeom prst="rect">
            <a:avLst/>
          </a:prstGeom>
          <a:noFill/>
        </p:spPr>
        <p:txBody>
          <a:bodyPr wrap="square">
            <a:spAutoFit/>
          </a:bodyPr>
          <a:lstStyle/>
          <a:p>
            <a:pPr algn="l"/>
            <a:r>
              <a:rPr sz="850" b="0" i="0">
                <a:solidFill>
                  <a:srgbClr val="555555"/>
                </a:solidFill>
                <a:latin typeface="Calibri"/>
              </a:rPr>
              <a:t>Croissance CA +6.4% YoY en 2025 portée par services (+12%) et iPhone (+8%). Marges nettes en hausse de 290bps grâce au mix services et à la discipline des coûts (SG&amp;A stable à 15% du CA). ROIC à 84.4% illustre allocation capital optimale et génération de cash de 110 milliards USD en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Bon</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84,4 %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3628800"/>
            <a:ext cx="8413200" cy="824400"/>
          </a:xfrm>
          <a:prstGeom prst="rect">
            <a:avLst/>
          </a:prstGeom>
          <a:noFill/>
        </p:spPr>
        <p:txBody>
          <a:bodyPr wrap="square">
            <a:spAutoFit/>
          </a:bodyPr>
          <a:lstStyle/>
          <a:p>
            <a:pPr algn="l"/>
            <a:r>
              <a:rPr sz="850" b="0" i="0">
                <a:solidFill>
                  <a:srgbClr val="555555"/>
                </a:solidFill>
                <a:latin typeface="Calibri"/>
              </a:rPr>
              <a:t>Marges nettes en progression de 290bps depuis 2023 (24.0% à 26.9%) grâce à la hausse des services (70% de marge brute) et à l'optimisation des coûts fixes. Levier opérationnel de 30% sur les services vs 15% sur les produits. Ces niveaux sont durables compte tenu du pricing power et de la fidélisation client, limitant les risques de compression.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220 $</a:t>
                      </a:r>
                    </a:p>
                  </a:txBody>
                  <a:tcPr>
                    <a:solidFill>
                      <a:srgbClr val="FAF0EF"/>
                    </a:solidFill>
                  </a:tcPr>
                </a:tc>
                <a:tc>
                  <a:txBody>
                    <a:bodyPr/>
                    <a:lstStyle/>
                    <a:p>
                      <a:pPr algn="ctr"/>
                      <a:r>
                        <a:rPr sz="2000" b="1" i="0">
                          <a:solidFill>
                            <a:srgbClr val="2E5FA3"/>
                          </a:solidFill>
                          <a:latin typeface="Calibri"/>
                        </a:rPr>
                        <a:t>275 $</a:t>
                      </a:r>
                    </a:p>
                  </a:txBody>
                  <a:tcPr>
                    <a:solidFill>
                      <a:srgbClr val="EEF3FA"/>
                    </a:solidFill>
                  </a:tcPr>
                </a:tc>
                <a:tc>
                  <a:txBody>
                    <a:bodyPr/>
                    <a:lstStyle/>
                    <a:p>
                      <a:pPr algn="ctr"/>
                      <a:r>
                        <a:rPr sz="2000" b="1" i="0">
                          <a:solidFill>
                            <a:srgbClr val="1A7A4A"/>
                          </a:solidFill>
                          <a:latin typeface="Calibri"/>
                        </a:rPr>
                        <a:t>310 $</a:t>
                      </a:r>
                    </a:p>
                  </a:txBody>
                  <a:tcPr>
                    <a:solidFill>
                      <a:srgbClr val="EAF4EF"/>
                    </a:solidFill>
                  </a:tcPr>
                </a:tc>
              </a:tr>
              <a:tr h="342900">
                <a:tc>
                  <a:txBody>
                    <a:bodyPr/>
                    <a:lstStyle/>
                    <a:p>
                      <a:pPr algn="ctr"/>
                      <a:r>
                        <a:rPr sz="1200" b="1" i="0">
                          <a:solidFill>
                            <a:srgbClr val="A82020"/>
                          </a:solidFill>
                          <a:latin typeface="Calibri"/>
                        </a:rPr>
                        <a:t>-11,6 %</a:t>
                      </a:r>
                    </a:p>
                  </a:txBody>
                  <a:tcPr>
                    <a:solidFill>
                      <a:srgbClr val="FAF0EF"/>
                    </a:solidFill>
                  </a:tcPr>
                </a:tc>
                <a:tc>
                  <a:txBody>
                    <a:bodyPr/>
                    <a:lstStyle/>
                    <a:p>
                      <a:pPr algn="ctr"/>
                      <a:r>
                        <a:rPr sz="1200" b="1" i="0">
                          <a:solidFill>
                            <a:srgbClr val="2E5FA3"/>
                          </a:solidFill>
                          <a:latin typeface="Calibri"/>
                        </a:rPr>
                        <a:t>+10,5 %</a:t>
                      </a:r>
                    </a:p>
                  </a:txBody>
                  <a:tcPr>
                    <a:solidFill>
                      <a:srgbClr val="EEF3FA"/>
                    </a:solidFill>
                  </a:tcPr>
                </a:tc>
                <a:tc>
                  <a:txBody>
                    <a:bodyPr/>
                    <a:lstStyle/>
                    <a:p>
                      <a:pPr algn="ctr"/>
                      <a:r>
                        <a:rPr sz="1200" b="1" i="0">
                          <a:solidFill>
                            <a:srgbClr val="1A7A4A"/>
                          </a:solidFill>
                          <a:latin typeface="Calibri"/>
                        </a:rPr>
                        <a:t>+24,6 %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8413200" cy="201600"/>
          </a:xfrm>
          <a:prstGeom prst="rect">
            <a:avLst/>
          </a:prstGeom>
          <a:noFill/>
        </p:spPr>
        <p:txBody>
          <a:bodyPr wrap="square">
            <a:spAutoFit/>
          </a:bodyPr>
          <a:lstStyle/>
          <a:p>
            <a:pPr algn="l"/>
            <a:r>
              <a:rPr sz="900" b="1" i="0">
                <a:solidFill>
                  <a:srgbClr val="1B3A6B"/>
                </a:solidFill>
                <a:latin typeface="Calibri"/>
              </a:rPr>
              <a:t>Table de sensibilité — Valeur intrinsèque ($)</a:t>
            </a:r>
          </a:p>
        </p:txBody>
      </p:sp>
      <p:graphicFrame>
        <p:nvGraphicFramePr>
          <p:cNvPr id="19" name="Table 18"/>
          <p:cNvGraphicFramePr>
            <a:graphicFrameLocks noGrp="1"/>
          </p:cNvGraphicFramePr>
          <p:nvPr/>
        </p:nvGraphicFramePr>
        <p:xfrm>
          <a:off x="367200" y="2653200"/>
          <a:ext cx="8413200" cy="1116000"/>
        </p:xfrm>
        <a:graphic>
          <a:graphicData uri="http://schemas.openxmlformats.org/drawingml/2006/table">
            <a:tbl>
              <a:tblPr firstRow="1" bandRow="1">
                <a:tableStyleId>{5C22544A-7EE6-4342-B048-85BDC9FD1C3A}</a:tableStyleId>
              </a:tblPr>
              <a:tblGrid>
                <a:gridCol w="1402200"/>
                <a:gridCol w="1402200"/>
                <a:gridCol w="1402200"/>
                <a:gridCol w="1402200"/>
                <a:gridCol w="1402200"/>
                <a:gridCol w="14022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10,4%</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275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916800"/>
            <a:ext cx="8413200" cy="547200"/>
          </a:xfrm>
          <a:prstGeom prst="rect">
            <a:avLst/>
          </a:prstGeom>
          <a:noFill/>
        </p:spPr>
        <p:txBody>
          <a:bodyPr wrap="square">
            <a:spAutoFit/>
          </a:bodyPr>
          <a:lstStyle/>
          <a:p>
            <a:pPr algn="l"/>
            <a:r>
              <a:rPr sz="850" b="0" i="0">
                <a:solidFill>
                  <a:srgbClr val="555555"/>
                </a:solidFill>
                <a:latin typeface="Calibri"/>
              </a:rPr>
              <a:t>WACC 10.4% et TGR 3.0% impliquent un prix implicite DCF de 285 USD vs cours de 248.8 USD (+14.6%). La prime reflète une sous-valorisation structurelle liée à la croissance des services et à la trésorerie sous-évaluée. Catalyseur clé : accélération des revenus IA intégrée dans les produits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Apple Inc.</a:t>
                      </a:r>
                    </a:p>
                  </a:txBody>
                  <a:tcPr>
                    <a:solidFill>
                      <a:srgbClr val="DDE8F5"/>
                    </a:solidFill>
                  </a:tcPr>
                </a:tc>
                <a:tc>
                  <a:txBody>
                    <a:bodyPr/>
                    <a:lstStyle/>
                    <a:p>
                      <a:pPr algn="ctr"/>
                      <a:r>
                        <a:rPr sz="750" b="1" i="0">
                          <a:solidFill>
                            <a:srgbClr val="2E5FA3"/>
                          </a:solidFill>
                          <a:latin typeface="Calibri"/>
                        </a:rPr>
                        <a:t>AAPL</a:t>
                      </a:r>
                    </a:p>
                  </a:txBody>
                  <a:tcPr>
                    <a:solidFill>
                      <a:srgbClr val="DDE8F5"/>
                    </a:solidFill>
                  </a:tcPr>
                </a:tc>
                <a:tc>
                  <a:txBody>
                    <a:bodyPr/>
                    <a:lstStyle/>
                    <a:p>
                      <a:pPr algn="ctr"/>
                      <a:r>
                        <a:rPr sz="800" b="1" i="0">
                          <a:solidFill>
                            <a:srgbClr val="1B3A6B"/>
                          </a:solidFill>
                          <a:latin typeface="Calibri"/>
                        </a:rPr>
                        <a:t>3 652,7</a:t>
                      </a:r>
                    </a:p>
                  </a:txBody>
                  <a:tcPr>
                    <a:solidFill>
                      <a:srgbClr val="DDE8F5"/>
                    </a:solidFill>
                  </a:tcPr>
                </a:tc>
                <a:tc>
                  <a:txBody>
                    <a:bodyPr/>
                    <a:lstStyle/>
                    <a:p>
                      <a:pPr algn="ctr"/>
                      <a:r>
                        <a:rPr sz="800" b="1" i="0">
                          <a:solidFill>
                            <a:srgbClr val="1B3A6B"/>
                          </a:solidFill>
                          <a:latin typeface="Calibri"/>
                        </a:rPr>
                        <a:t>25,7x</a:t>
                      </a:r>
                    </a:p>
                  </a:txBody>
                  <a:tcPr>
                    <a:solidFill>
                      <a:srgbClr val="DDE8F5"/>
                    </a:solidFill>
                  </a:tcPr>
                </a:tc>
                <a:tc>
                  <a:txBody>
                    <a:bodyPr/>
                    <a:lstStyle/>
                    <a:p>
                      <a:pPr algn="ctr"/>
                      <a:r>
                        <a:rPr sz="800" b="1" i="0">
                          <a:solidFill>
                            <a:srgbClr val="1B3A6B"/>
                          </a:solidFill>
                          <a:latin typeface="Calibri"/>
                        </a:rPr>
                        <a:t>8,9x</a:t>
                      </a:r>
                    </a:p>
                  </a:txBody>
                  <a:tcPr>
                    <a:solidFill>
                      <a:srgbClr val="DDE8F5"/>
                    </a:solidFill>
                  </a:tcPr>
                </a:tc>
                <a:tc>
                  <a:txBody>
                    <a:bodyPr/>
                    <a:lstStyle/>
                    <a:p>
                      <a:pPr algn="ctr"/>
                      <a:r>
                        <a:rPr sz="800" b="1" i="0">
                          <a:solidFill>
                            <a:srgbClr val="1B3A6B"/>
                          </a:solidFill>
                          <a:latin typeface="Calibri"/>
                        </a:rPr>
                        <a:t>32,6x</a:t>
                      </a:r>
                    </a:p>
                  </a:txBody>
                  <a:tcPr>
                    <a:solidFill>
                      <a:srgbClr val="DDE8F5"/>
                    </a:solidFill>
                  </a:tcPr>
                </a:tc>
                <a:tc>
                  <a:txBody>
                    <a:bodyPr/>
                    <a:lstStyle/>
                    <a:p>
                      <a:pPr algn="ctr"/>
                      <a:r>
                        <a:rPr sz="800" b="1" i="0">
                          <a:solidFill>
                            <a:srgbClr val="1B3A6B"/>
                          </a:solidFill>
                          <a:latin typeface="Calibri"/>
                        </a:rPr>
                        <a:t>46,9 %</a:t>
                      </a:r>
                    </a:p>
                  </a:txBody>
                  <a:tcPr>
                    <a:solidFill>
                      <a:srgbClr val="DDE8F5"/>
                    </a:solidFill>
                  </a:tcPr>
                </a:tc>
                <a:tc>
                  <a:txBody>
                    <a:bodyPr/>
                    <a:lstStyle/>
                    <a:p>
                      <a:pPr algn="ctr"/>
                      <a:r>
                        <a:rPr sz="800" b="1" i="0">
                          <a:solidFill>
                            <a:srgbClr val="1B3A6B"/>
                          </a:solidFill>
                          <a:latin typeface="Calibri"/>
                        </a:rPr>
                        <a:t>34,8 %</a:t>
                      </a:r>
                    </a:p>
                  </a:txBody>
                  <a:tcPr>
                    <a:solidFill>
                      <a:srgbClr val="DDE8F5"/>
                    </a:solidFill>
                  </a:tcPr>
                </a:tc>
              </a:tr>
              <a:tr h="251999">
                <a:tc>
                  <a:txBody>
                    <a:bodyPr/>
                    <a:lstStyle/>
                    <a:p>
                      <a:pPr algn="l"/>
                      <a:r>
                        <a:rPr sz="800" b="0" i="0">
                          <a:solidFill>
                            <a:srgbClr val="0D0D0D"/>
                          </a:solidFill>
                          <a:latin typeface="Calibri"/>
                        </a:rPr>
                        <a:t>Microsoft</a:t>
                      </a:r>
                    </a:p>
                  </a:txBody>
                  <a:tcPr>
                    <a:solidFill>
                      <a:srgbClr val="FFFFFF"/>
                    </a:solidFill>
                  </a:tcPr>
                </a:tc>
                <a:tc>
                  <a:txBody>
                    <a:bodyPr/>
                    <a:lstStyle/>
                    <a:p>
                      <a:pPr algn="ctr"/>
                      <a:r>
                        <a:rPr sz="750" b="0" i="0">
                          <a:solidFill>
                            <a:srgbClr val="555555"/>
                          </a:solidFill>
                          <a:latin typeface="Calibri"/>
                        </a:rPr>
                        <a:t>MSFT</a:t>
                      </a:r>
                    </a:p>
                  </a:txBody>
                  <a:tcPr>
                    <a:solidFill>
                      <a:srgbClr val="FFFFFF"/>
                    </a:solidFill>
                  </a:tcPr>
                </a:tc>
                <a:tc>
                  <a:txBody>
                    <a:bodyPr/>
                    <a:lstStyle/>
                    <a:p>
                      <a:pPr algn="ctr"/>
                      <a:r>
                        <a:rPr sz="800" b="0" i="0">
                          <a:solidFill>
                            <a:srgbClr val="0D0D0D"/>
                          </a:solidFill>
                          <a:latin typeface="Calibri"/>
                        </a:rPr>
                        <a:t>3 200,0</a:t>
                      </a:r>
                    </a:p>
                  </a:txBody>
                  <a:tcPr>
                    <a:solidFill>
                      <a:srgbClr val="FFFFFF"/>
                    </a:solidFill>
                  </a:tcPr>
                </a:tc>
                <a:tc>
                  <a:txBody>
                    <a:bodyPr/>
                    <a:lstStyle/>
                    <a:p>
                      <a:pPr algn="ctr"/>
                      <a:r>
                        <a:rPr sz="800" b="0" i="0">
                          <a:solidFill>
                            <a:srgbClr val="0D0D0D"/>
                          </a:solidFill>
                          <a:latin typeface="Calibri"/>
                        </a:rPr>
                        <a:t>22,5x</a:t>
                      </a:r>
                    </a:p>
                  </a:txBody>
                  <a:tcPr>
                    <a:solidFill>
                      <a:srgbClr val="FFFFFF"/>
                    </a:solidFill>
                  </a:tcPr>
                </a:tc>
                <a:tc>
                  <a:txBody>
                    <a:bodyPr/>
                    <a:lstStyle/>
                    <a:p>
                      <a:pPr algn="ctr"/>
                      <a:r>
                        <a:rPr sz="800" b="0" i="0">
                          <a:solidFill>
                            <a:srgbClr val="0D0D0D"/>
                          </a:solidFill>
                          <a:latin typeface="Calibri"/>
                        </a:rPr>
                        <a:t>11,8x</a:t>
                      </a:r>
                    </a:p>
                  </a:txBody>
                  <a:tcPr>
                    <a:solidFill>
                      <a:srgbClr val="FFFFFF"/>
                    </a:solidFill>
                  </a:tcPr>
                </a:tc>
                <a:tc>
                  <a:txBody>
                    <a:bodyPr/>
                    <a:lstStyle/>
                    <a:p>
                      <a:pPr algn="ctr"/>
                      <a:r>
                        <a:rPr sz="800" b="0" i="0">
                          <a:solidFill>
                            <a:srgbClr val="0D0D0D"/>
                          </a:solidFill>
                          <a:latin typeface="Calibri"/>
                        </a:rPr>
                        <a:t>38,2x</a:t>
                      </a:r>
                    </a:p>
                  </a:txBody>
                  <a:tcPr>
                    <a:solidFill>
                      <a:srgbClr val="FFFFFF"/>
                    </a:solidFill>
                  </a:tcPr>
                </a:tc>
                <a:tc>
                  <a:txBody>
                    <a:bodyPr/>
                    <a:lstStyle/>
                    <a:p>
                      <a:pPr algn="ctr"/>
                      <a:r>
                        <a:rPr sz="800" b="0" i="0">
                          <a:solidFill>
                            <a:srgbClr val="0D0D0D"/>
                          </a:solidFill>
                          <a:latin typeface="Calibri"/>
                        </a:rPr>
                        <a:t>6800,0 %</a:t>
                      </a:r>
                    </a:p>
                  </a:txBody>
                  <a:tcPr>
                    <a:solidFill>
                      <a:srgbClr val="FFFFFF"/>
                    </a:solidFill>
                  </a:tcPr>
                </a:tc>
                <a:tc>
                  <a:txBody>
                    <a:bodyPr/>
                    <a:lstStyle/>
                    <a:p>
                      <a:pPr algn="ctr"/>
                      <a:r>
                        <a:rPr sz="800" b="0" i="0">
                          <a:solidFill>
                            <a:srgbClr val="0D0D0D"/>
                          </a:solidFill>
                          <a:latin typeface="Calibri"/>
                        </a:rPr>
                        <a:t>5200,0 %</a:t>
                      </a:r>
                    </a:p>
                  </a:txBody>
                  <a:tcPr>
                    <a:solidFill>
                      <a:srgbClr val="FFFFFF"/>
                    </a:solidFill>
                  </a:tcPr>
                </a:tc>
              </a:tr>
              <a:tr h="251999">
                <a:tc>
                  <a:txBody>
                    <a:bodyPr/>
                    <a:lstStyle/>
                    <a:p>
                      <a:pPr algn="l"/>
                      <a:r>
                        <a:rPr sz="800" b="0" i="0">
                          <a:solidFill>
                            <a:srgbClr val="0D0D0D"/>
                          </a:solidFill>
                          <a:latin typeface="Calibri"/>
                        </a:rPr>
                        <a:t>Alphabet</a:t>
                      </a:r>
                    </a:p>
                  </a:txBody>
                  <a:tcPr>
                    <a:solidFill>
                      <a:srgbClr val="F7F8FA"/>
                    </a:solidFill>
                  </a:tcPr>
                </a:tc>
                <a:tc>
                  <a:txBody>
                    <a:bodyPr/>
                    <a:lstStyle/>
                    <a:p>
                      <a:pPr algn="ctr"/>
                      <a:r>
                        <a:rPr sz="750" b="0" i="0">
                          <a:solidFill>
                            <a:srgbClr val="555555"/>
                          </a:solidFill>
                          <a:latin typeface="Calibri"/>
                        </a:rPr>
                        <a:t>GOOGL</a:t>
                      </a:r>
                    </a:p>
                  </a:txBody>
                  <a:tcPr>
                    <a:solidFill>
                      <a:srgbClr val="F7F8FA"/>
                    </a:solidFill>
                  </a:tcPr>
                </a:tc>
                <a:tc>
                  <a:txBody>
                    <a:bodyPr/>
                    <a:lstStyle/>
                    <a:p>
                      <a:pPr algn="ctr"/>
                      <a:r>
                        <a:rPr sz="800" b="0" i="0">
                          <a:solidFill>
                            <a:srgbClr val="0D0D0D"/>
                          </a:solidFill>
                          <a:latin typeface="Calibri"/>
                        </a:rPr>
                        <a:t>2 100,0</a:t>
                      </a:r>
                    </a:p>
                  </a:txBody>
                  <a:tcPr>
                    <a:solidFill>
                      <a:srgbClr val="F7F8FA"/>
                    </a:solidFill>
                  </a:tcPr>
                </a:tc>
                <a:tc>
                  <a:txBody>
                    <a:bodyPr/>
                    <a:lstStyle/>
                    <a:p>
                      <a:pPr algn="ctr"/>
                      <a:r>
                        <a:rPr sz="800" b="0" i="0">
                          <a:solidFill>
                            <a:srgbClr val="0D0D0D"/>
                          </a:solidFill>
                          <a:latin typeface="Calibri"/>
                        </a:rPr>
                        <a:t>20,1x</a:t>
                      </a:r>
                    </a:p>
                  </a:txBody>
                  <a:tcPr>
                    <a:solidFill>
                      <a:srgbClr val="F7F8FA"/>
                    </a:solidFill>
                  </a:tcPr>
                </a:tc>
                <a:tc>
                  <a:txBody>
                    <a:bodyPr/>
                    <a:lstStyle/>
                    <a:p>
                      <a:pPr algn="ctr"/>
                      <a:r>
                        <a:rPr sz="800" b="0" i="0">
                          <a:solidFill>
                            <a:srgbClr val="0D0D0D"/>
                          </a:solidFill>
                          <a:latin typeface="Calibri"/>
                        </a:rPr>
                        <a:t>8,5x</a:t>
                      </a:r>
                    </a:p>
                  </a:txBody>
                  <a:tcPr>
                    <a:solidFill>
                      <a:srgbClr val="F7F8FA"/>
                    </a:solidFill>
                  </a:tcPr>
                </a:tc>
                <a:tc>
                  <a:txBody>
                    <a:bodyPr/>
                    <a:lstStyle/>
                    <a:p>
                      <a:pPr algn="ctr"/>
                      <a:r>
                        <a:rPr sz="800" b="0" i="0">
                          <a:solidFill>
                            <a:srgbClr val="0D0D0D"/>
                          </a:solidFill>
                          <a:latin typeface="Calibri"/>
                        </a:rPr>
                        <a:t>28,5x</a:t>
                      </a:r>
                    </a:p>
                  </a:txBody>
                  <a:tcPr>
                    <a:solidFill>
                      <a:srgbClr val="F7F8FA"/>
                    </a:solidFill>
                  </a:tcPr>
                </a:tc>
                <a:tc>
                  <a:txBody>
                    <a:bodyPr/>
                    <a:lstStyle/>
                    <a:p>
                      <a:pPr algn="ctr"/>
                      <a:r>
                        <a:rPr sz="800" b="0" i="0">
                          <a:solidFill>
                            <a:srgbClr val="0D0D0D"/>
                          </a:solidFill>
                          <a:latin typeface="Calibri"/>
                        </a:rPr>
                        <a:t>5600,0 %</a:t>
                      </a:r>
                    </a:p>
                  </a:txBody>
                  <a:tcPr>
                    <a:solidFill>
                      <a:srgbClr val="F7F8FA"/>
                    </a:solidFill>
                  </a:tcPr>
                </a:tc>
                <a:tc>
                  <a:txBody>
                    <a:bodyPr/>
                    <a:lstStyle/>
                    <a:p>
                      <a:pPr algn="ctr"/>
                      <a:r>
                        <a:rPr sz="800" b="0" i="0">
                          <a:solidFill>
                            <a:srgbClr val="0D0D0D"/>
                          </a:solidFill>
                          <a:latin typeface="Calibri"/>
                        </a:rPr>
                        <a:t>3500,0 %</a:t>
                      </a:r>
                    </a:p>
                  </a:txBody>
                  <a:tcPr>
                    <a:solidFill>
                      <a:srgbClr val="F7F8FA"/>
                    </a:solidFill>
                  </a:tcPr>
                </a:tc>
              </a:tr>
              <a:tr h="251999">
                <a:tc>
                  <a:txBody>
                    <a:bodyPr/>
                    <a:lstStyle/>
                    <a:p>
                      <a:pPr algn="l"/>
                      <a:r>
                        <a:rPr sz="800" b="0" i="0">
                          <a:solidFill>
                            <a:srgbClr val="0D0D0D"/>
                          </a:solidFill>
                          <a:latin typeface="Calibri"/>
                        </a:rPr>
                        <a:t>Samsung Electronics</a:t>
                      </a:r>
                    </a:p>
                  </a:txBody>
                  <a:tcPr>
                    <a:solidFill>
                      <a:srgbClr val="FFFFFF"/>
                    </a:solidFill>
                  </a:tcPr>
                </a:tc>
                <a:tc>
                  <a:txBody>
                    <a:bodyPr/>
                    <a:lstStyle/>
                    <a:p>
                      <a:pPr algn="ctr"/>
                      <a:r>
                        <a:rPr sz="750" b="0" i="0">
                          <a:solidFill>
                            <a:srgbClr val="555555"/>
                          </a:solidFill>
                          <a:latin typeface="Calibri"/>
                        </a:rPr>
                        <a:t>005930.KS</a:t>
                      </a:r>
                    </a:p>
                  </a:txBody>
                  <a:tcPr>
                    <a:solidFill>
                      <a:srgbClr val="FFFFFF"/>
                    </a:solidFill>
                  </a:tcPr>
                </a:tc>
                <a:tc>
                  <a:txBody>
                    <a:bodyPr/>
                    <a:lstStyle/>
                    <a:p>
                      <a:pPr algn="ctr"/>
                      <a:r>
                        <a:rPr sz="800" b="0" i="0">
                          <a:solidFill>
                            <a:srgbClr val="0D0D0D"/>
                          </a:solidFill>
                          <a:latin typeface="Calibri"/>
                        </a:rPr>
                        <a:t>450,0</a:t>
                      </a:r>
                    </a:p>
                  </a:txBody>
                  <a:tcPr>
                    <a:solidFill>
                      <a:srgbClr val="FFFFFF"/>
                    </a:solidFill>
                  </a:tcPr>
                </a:tc>
                <a:tc>
                  <a:txBody>
                    <a:bodyPr/>
                    <a:lstStyle/>
                    <a:p>
                      <a:pPr algn="ctr"/>
                      <a:r>
                        <a:rPr sz="800" b="0" i="0">
                          <a:solidFill>
                            <a:srgbClr val="0D0D0D"/>
                          </a:solidFill>
                          <a:latin typeface="Calibri"/>
                        </a:rPr>
                        <a:t>6,8x</a:t>
                      </a:r>
                    </a:p>
                  </a:txBody>
                  <a:tcPr>
                    <a:solidFill>
                      <a:srgbClr val="FFFFFF"/>
                    </a:solidFill>
                  </a:tcPr>
                </a:tc>
                <a:tc>
                  <a:txBody>
                    <a:bodyPr/>
                    <a:lstStyle/>
                    <a:p>
                      <a:pPr algn="ctr"/>
                      <a:r>
                        <a:rPr sz="800" b="0" i="0">
                          <a:solidFill>
                            <a:srgbClr val="0D0D0D"/>
                          </a:solidFill>
                          <a:latin typeface="Calibri"/>
                        </a:rPr>
                        <a:t>1,5x</a:t>
                      </a:r>
                    </a:p>
                  </a:txBody>
                  <a:tcPr>
                    <a:solidFill>
                      <a:srgbClr val="FFFFFF"/>
                    </a:solidFill>
                  </a:tcPr>
                </a:tc>
                <a:tc>
                  <a:txBody>
                    <a:bodyPr/>
                    <a:lstStyle/>
                    <a:p>
                      <a:pPr algn="ctr"/>
                      <a:r>
                        <a:rPr sz="800" b="0" i="0">
                          <a:solidFill>
                            <a:srgbClr val="0D0D0D"/>
                          </a:solidFill>
                          <a:latin typeface="Calibri"/>
                        </a:rPr>
                        <a:t>12,3x</a:t>
                      </a:r>
                    </a:p>
                  </a:txBody>
                  <a:tcPr>
                    <a:solidFill>
                      <a:srgbClr val="FFFFFF"/>
                    </a:solidFill>
                  </a:tcPr>
                </a:tc>
                <a:tc>
                  <a:txBody>
                    <a:bodyPr/>
                    <a:lstStyle/>
                    <a:p>
                      <a:pPr algn="ctr"/>
                      <a:r>
                        <a:rPr sz="800" b="0" i="0">
                          <a:solidFill>
                            <a:srgbClr val="0D0D0D"/>
                          </a:solidFill>
                          <a:latin typeface="Calibri"/>
                        </a:rPr>
                        <a:t>4200,0 %</a:t>
                      </a:r>
                    </a:p>
                  </a:txBody>
                  <a:tcPr>
                    <a:solidFill>
                      <a:srgbClr val="FFFFFF"/>
                    </a:solidFill>
                  </a:tcPr>
                </a:tc>
                <a:tc>
                  <a:txBody>
                    <a:bodyPr/>
                    <a:lstStyle/>
                    <a:p>
                      <a:pPr algn="ctr"/>
                      <a:r>
                        <a:rPr sz="800" b="0" i="0">
                          <a:solidFill>
                            <a:srgbClr val="0D0D0D"/>
                          </a:solidFill>
                          <a:latin typeface="Calibri"/>
                        </a:rPr>
                        <a:t>2200,0 %</a:t>
                      </a:r>
                    </a:p>
                  </a:txBody>
                  <a:tcPr>
                    <a:solidFill>
                      <a:srgbClr val="FFFFFF"/>
                    </a:solidFill>
                  </a:tcPr>
                </a:tc>
              </a:tr>
              <a:tr h="251999">
                <a:tc>
                  <a:txBody>
                    <a:bodyPr/>
                    <a:lstStyle/>
                    <a:p>
                      <a:pPr algn="l"/>
                      <a:r>
                        <a:rPr sz="800" b="0" i="0">
                          <a:solidFill>
                            <a:srgbClr val="0D0D0D"/>
                          </a:solidFill>
                          <a:latin typeface="Calibri"/>
                        </a:rPr>
                        <a:t>Meta Platforms</a:t>
                      </a:r>
                    </a:p>
                  </a:txBody>
                  <a:tcPr>
                    <a:solidFill>
                      <a:srgbClr val="F7F8FA"/>
                    </a:solidFill>
                  </a:tcPr>
                </a:tc>
                <a:tc>
                  <a:txBody>
                    <a:bodyPr/>
                    <a:lstStyle/>
                    <a:p>
                      <a:pPr algn="ctr"/>
                      <a:r>
                        <a:rPr sz="750" b="0" i="0">
                          <a:solidFill>
                            <a:srgbClr val="555555"/>
                          </a:solidFill>
                          <a:latin typeface="Calibri"/>
                        </a:rPr>
                        <a:t>META</a:t>
                      </a:r>
                    </a:p>
                  </a:txBody>
                  <a:tcPr>
                    <a:solidFill>
                      <a:srgbClr val="F7F8FA"/>
                    </a:solidFill>
                  </a:tcPr>
                </a:tc>
                <a:tc>
                  <a:txBody>
                    <a:bodyPr/>
                    <a:lstStyle/>
                    <a:p>
                      <a:pPr algn="ctr"/>
                      <a:r>
                        <a:rPr sz="800" b="0" i="0">
                          <a:solidFill>
                            <a:srgbClr val="0D0D0D"/>
                          </a:solidFill>
                          <a:latin typeface="Calibri"/>
                        </a:rPr>
                        <a:t>1 400,0</a:t>
                      </a:r>
                    </a:p>
                  </a:txBody>
                  <a:tcPr>
                    <a:solidFill>
                      <a:srgbClr val="F7F8FA"/>
                    </a:solidFill>
                  </a:tcPr>
                </a:tc>
                <a:tc>
                  <a:txBody>
                    <a:bodyPr/>
                    <a:lstStyle/>
                    <a:p>
                      <a:pPr algn="ctr"/>
                      <a:r>
                        <a:rPr sz="800" b="0" i="0">
                          <a:solidFill>
                            <a:srgbClr val="0D0D0D"/>
                          </a:solidFill>
                          <a:latin typeface="Calibri"/>
                        </a:rPr>
                        <a:t>18,2x</a:t>
                      </a:r>
                    </a:p>
                  </a:txBody>
                  <a:tcPr>
                    <a:solidFill>
                      <a:srgbClr val="F7F8FA"/>
                    </a:solidFill>
                  </a:tcPr>
                </a:tc>
                <a:tc>
                  <a:txBody>
                    <a:bodyPr/>
                    <a:lstStyle/>
                    <a:p>
                      <a:pPr algn="ctr"/>
                      <a:r>
                        <a:rPr sz="800" b="0" i="0">
                          <a:solidFill>
                            <a:srgbClr val="0D0D0D"/>
                          </a:solidFill>
                          <a:latin typeface="Calibri"/>
                        </a:rPr>
                        <a:t>10,5x</a:t>
                      </a:r>
                    </a:p>
                  </a:txBody>
                  <a:tcPr>
                    <a:solidFill>
                      <a:srgbClr val="F7F8FA"/>
                    </a:solidFill>
                  </a:tcPr>
                </a:tc>
                <a:tc>
                  <a:txBody>
                    <a:bodyPr/>
                    <a:lstStyle/>
                    <a:p>
                      <a:pPr algn="ctr"/>
                      <a:r>
                        <a:rPr sz="800" b="0" i="0">
                          <a:solidFill>
                            <a:srgbClr val="0D0D0D"/>
                          </a:solidFill>
                          <a:latin typeface="Calibri"/>
                        </a:rPr>
                        <a:t>32,1x</a:t>
                      </a:r>
                    </a:p>
                  </a:txBody>
                  <a:tcPr>
                    <a:solidFill>
                      <a:srgbClr val="F7F8FA"/>
                    </a:solidFill>
                  </a:tcPr>
                </a:tc>
                <a:tc>
                  <a:txBody>
                    <a:bodyPr/>
                    <a:lstStyle/>
                    <a:p>
                      <a:pPr algn="ctr"/>
                      <a:r>
                        <a:rPr sz="800" b="0" i="0">
                          <a:solidFill>
                            <a:srgbClr val="0D0D0D"/>
                          </a:solidFill>
                          <a:latin typeface="Calibri"/>
                        </a:rPr>
                        <a:t>8500,0 %</a:t>
                      </a:r>
                    </a:p>
                  </a:txBody>
                  <a:tcPr>
                    <a:solidFill>
                      <a:srgbClr val="F7F8FA"/>
                    </a:solidFill>
                  </a:tcPr>
                </a:tc>
                <a:tc>
                  <a:txBody>
                    <a:bodyPr/>
                    <a:lstStyle/>
                    <a:p>
                      <a:pPr algn="ctr"/>
                      <a:r>
                        <a:rPr sz="800" b="0" i="0">
                          <a:solidFill>
                            <a:srgbClr val="0D0D0D"/>
                          </a:solidFill>
                          <a:latin typeface="Calibri"/>
                        </a:rPr>
                        <a:t>5500,0 %</a:t>
                      </a:r>
                    </a:p>
                  </a:txBody>
                  <a:tcPr>
                    <a:solidFill>
                      <a:srgbClr val="F7F8FA"/>
                    </a:solidFill>
                  </a:tcPr>
                </a:tc>
              </a:tr>
              <a:tr h="251999">
                <a:tc>
                  <a:txBody>
                    <a:bodyPr/>
                    <a:lstStyle/>
                    <a:p>
                      <a:pPr algn="l"/>
                      <a:r>
                        <a:rPr sz="800" b="0" i="0">
                          <a:solidFill>
                            <a:srgbClr val="0D0D0D"/>
                          </a:solidFill>
                          <a:latin typeface="Calibri"/>
                        </a:rPr>
                        <a:t>NVIDIA</a:t>
                      </a:r>
                    </a:p>
                  </a:txBody>
                  <a:tcPr>
                    <a:solidFill>
                      <a:srgbClr val="FFFFFF"/>
                    </a:solidFill>
                  </a:tcPr>
                </a:tc>
                <a:tc>
                  <a:txBody>
                    <a:bodyPr/>
                    <a:lstStyle/>
                    <a:p>
                      <a:pPr algn="ctr"/>
                      <a:r>
                        <a:rPr sz="750" b="0" i="0">
                          <a:solidFill>
                            <a:srgbClr val="555555"/>
                          </a:solidFill>
                          <a:latin typeface="Calibri"/>
                        </a:rPr>
                        <a:t>NVDA</a:t>
                      </a:r>
                    </a:p>
                  </a:txBody>
                  <a:tcPr>
                    <a:solidFill>
                      <a:srgbClr val="FFFFFF"/>
                    </a:solidFill>
                  </a:tcPr>
                </a:tc>
                <a:tc>
                  <a:txBody>
                    <a:bodyPr/>
                    <a:lstStyle/>
                    <a:p>
                      <a:pPr algn="ctr"/>
                      <a:r>
                        <a:rPr sz="800" b="0" i="0">
                          <a:solidFill>
                            <a:srgbClr val="0D0D0D"/>
                          </a:solidFill>
                          <a:latin typeface="Calibri"/>
                        </a:rPr>
                        <a:t>2 300,0</a:t>
                      </a:r>
                    </a:p>
                  </a:txBody>
                  <a:tcPr>
                    <a:solidFill>
                      <a:srgbClr val="FFFFFF"/>
                    </a:solidFill>
                  </a:tcPr>
                </a:tc>
                <a:tc>
                  <a:txBody>
                    <a:bodyPr/>
                    <a:lstStyle/>
                    <a:p>
                      <a:pPr algn="ctr"/>
                      <a:r>
                        <a:rPr sz="800" b="0" i="0">
                          <a:solidFill>
                            <a:srgbClr val="0D0D0D"/>
                          </a:solidFill>
                          <a:latin typeface="Calibri"/>
                        </a:rPr>
                        <a:t>55,0x</a:t>
                      </a:r>
                    </a:p>
                  </a:txBody>
                  <a:tcPr>
                    <a:solidFill>
                      <a:srgbClr val="FFFFFF"/>
                    </a:solidFill>
                  </a:tcPr>
                </a:tc>
                <a:tc>
                  <a:txBody>
                    <a:bodyPr/>
                    <a:lstStyle/>
                    <a:p>
                      <a:pPr algn="ctr"/>
                      <a:r>
                        <a:rPr sz="800" b="0" i="0">
                          <a:solidFill>
                            <a:srgbClr val="0D0D0D"/>
                          </a:solidFill>
                          <a:latin typeface="Calibri"/>
                        </a:rPr>
                        <a:t>25,0x</a:t>
                      </a:r>
                    </a:p>
                  </a:txBody>
                  <a:tcPr>
                    <a:solidFill>
                      <a:srgbClr val="FFFFFF"/>
                    </a:solidFill>
                  </a:tcPr>
                </a:tc>
                <a:tc>
                  <a:txBody>
                    <a:bodyPr/>
                    <a:lstStyle/>
                    <a:p>
                      <a:pPr algn="ctr"/>
                      <a:r>
                        <a:rPr sz="800" b="0" i="0">
                          <a:solidFill>
                            <a:srgbClr val="0D0D0D"/>
                          </a:solidFill>
                          <a:latin typeface="Calibri"/>
                        </a:rPr>
                        <a:t>45,0x</a:t>
                      </a:r>
                    </a:p>
                  </a:txBody>
                  <a:tcPr>
                    <a:solidFill>
                      <a:srgbClr val="FFFFFF"/>
                    </a:solidFill>
                  </a:tcPr>
                </a:tc>
                <a:tc>
                  <a:txBody>
                    <a:bodyPr/>
                    <a:lstStyle/>
                    <a:p>
                      <a:pPr algn="ctr"/>
                      <a:r>
                        <a:rPr sz="800" b="0" i="0">
                          <a:solidFill>
                            <a:srgbClr val="0D0D0D"/>
                          </a:solidFill>
                          <a:latin typeface="Calibri"/>
                        </a:rPr>
                        <a:t>7500,0 %</a:t>
                      </a:r>
                    </a:p>
                  </a:txBody>
                  <a:tcPr>
                    <a:solidFill>
                      <a:srgbClr val="FFFFFF"/>
                    </a:solidFill>
                  </a:tcPr>
                </a:tc>
                <a:tc>
                  <a:txBody>
                    <a:bodyPr/>
                    <a:lstStyle/>
                    <a:p>
                      <a:pPr algn="ctr"/>
                      <a:r>
                        <a:rPr sz="800" b="0" i="0">
                          <a:solidFill>
                            <a:srgbClr val="0D0D0D"/>
                          </a:solidFill>
                          <a:latin typeface="Calibri"/>
                        </a:rPr>
                        <a:t>6500,0 %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20,1x</a:t>
                      </a:r>
                    </a:p>
                  </a:txBody>
                  <a:tcPr>
                    <a:solidFill>
                      <a:srgbClr val="F7F8FA"/>
                    </a:solidFill>
                  </a:tcPr>
                </a:tc>
                <a:tc>
                  <a:txBody>
                    <a:bodyPr/>
                    <a:lstStyle/>
                    <a:p>
                      <a:pPr algn="ctr"/>
                      <a:r>
                        <a:rPr sz="800" b="1" i="0">
                          <a:solidFill>
                            <a:srgbClr val="0D0D0D"/>
                          </a:solidFill>
                          <a:latin typeface="Calibri"/>
                        </a:rPr>
                        <a:t>10,5x</a:t>
                      </a:r>
                    </a:p>
                  </a:txBody>
                  <a:tcPr>
                    <a:solidFill>
                      <a:srgbClr val="F7F8FA"/>
                    </a:solidFill>
                  </a:tcPr>
                </a:tc>
                <a:tc>
                  <a:txBody>
                    <a:bodyPr/>
                    <a:lstStyle/>
                    <a:p>
                      <a:pPr algn="ctr"/>
                      <a:r>
                        <a:rPr sz="800" b="1" i="0">
                          <a:solidFill>
                            <a:srgbClr val="0D0D0D"/>
                          </a:solidFill>
                          <a:latin typeface="Calibri"/>
                        </a:rPr>
                        <a:t>32,1x</a:t>
                      </a:r>
                    </a:p>
                  </a:txBody>
                  <a:tcPr>
                    <a:solidFill>
                      <a:srgbClr val="F7F8FA"/>
                    </a:solidFill>
                  </a:tcPr>
                </a:tc>
                <a:tc>
                  <a:txBody>
                    <a:bodyPr/>
                    <a:lstStyle/>
                    <a:p>
                      <a:pPr algn="ctr"/>
                      <a:r>
                        <a:rPr sz="800" b="1" i="0">
                          <a:solidFill>
                            <a:srgbClr val="0D0D0D"/>
                          </a:solidFill>
                          <a:latin typeface="Calibri"/>
                        </a:rPr>
                        <a:t>6800,0 %</a:t>
                      </a:r>
                    </a:p>
                  </a:txBody>
                  <a:tcPr>
                    <a:solidFill>
                      <a:srgbClr val="F7F8FA"/>
                    </a:solidFill>
                  </a:tcPr>
                </a:tc>
                <a:tc>
                  <a:txBody>
                    <a:bodyPr/>
                    <a:lstStyle/>
                    <a:p>
                      <a:pPr algn="ctr"/>
                      <a:r>
                        <a:rPr sz="800" b="1" i="0">
                          <a:solidFill>
                            <a:srgbClr val="0D0D0D"/>
                          </a:solidFill>
                          <a:latin typeface="Calibri"/>
                        </a:rPr>
                        <a:t>5200,0 %</a:t>
                      </a:r>
                    </a:p>
                  </a:txBody>
                  <a:tcPr>
                    <a:solidFill>
                      <a:srgbClr val="F7F8FA"/>
                    </a:solidFill>
                  </a:tcPr>
                </a:tc>
              </a:tr>
            </a:tbl>
          </a:graphicData>
        </a:graphic>
      </p:graphicFrame>
      <p:sp>
        <p:nvSpPr>
          <p:cNvPr id="18" name="TextBox 17"/>
          <p:cNvSpPr txBox="1"/>
          <p:nvPr/>
        </p:nvSpPr>
        <p:spPr>
          <a:xfrm>
            <a:off x="367200" y="3128400"/>
            <a:ext cx="8413200" cy="1234800"/>
          </a:xfrm>
          <a:prstGeom prst="rect">
            <a:avLst/>
          </a:prstGeom>
          <a:noFill/>
        </p:spPr>
        <p:txBody>
          <a:bodyPr wrap="square">
            <a:spAutoFit/>
          </a:bodyPr>
          <a:lstStyle/>
          <a:p>
            <a:pPr algn="l"/>
            <a:r>
              <a:rPr sz="850" b="0" i="0">
                <a:solidFill>
                  <a:srgbClr val="555555"/>
                </a:solidFill>
                <a:latin typeface="Calibri"/>
              </a:rPr>
              <a:t>Apple affiche une prime de 18% sur P/E vs mediane peers (32.6x vs 27.5x) et une décote de 8% sur EV/EBITDA (25.7x vs 28x). Cette prime est justifiée par une croissance services supérieure (+12% vs +8% peers) et une trésorerie nette de 166 milliards USD. Une convergence vers la mediane peers offrirait un upside de 15% sur le multiple EV/EBITDA.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TextBox 17"/>
          <p:cNvSpPr txBox="1"/>
          <p:nvPr/>
        </p:nvSpPr>
        <p:spPr>
          <a:xfrm>
            <a:off x="367200" y="3488400"/>
            <a:ext cx="8413200" cy="914400"/>
          </a:xfrm>
          <a:prstGeom prst="rect">
            <a:avLst/>
          </a:prstGeom>
          <a:noFill/>
        </p:spPr>
        <p:txBody>
          <a:bodyPr wrap="square">
            <a:spAutoFit/>
          </a:bodyPr>
          <a:lstStyle/>
          <a:p>
            <a:pPr algn="l"/>
            <a:r>
              <a:rPr sz="850" b="0" i="0">
                <a:solidFill>
                  <a:srgbClr val="555555"/>
                </a:solidFill>
                <a:latin typeface="Calibri"/>
              </a:rPr>
              <a:t>WACC 10.4% et TGR 3.0% impliquent un prix implicite DCF de 285 USD vs cours de 248.8 USD (+14.6%). La prime reflète une sous-valorisation structurelle liée à la croissance des services et à la trésorerie sous-évaluée. Catalyseur clé : accélération des revenus IA intégrée dans les produits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255600"/>
          </a:xfrm>
          <a:prstGeom prst="rect">
            <a:avLst/>
          </a:prstGeom>
          <a:noFill/>
        </p:spPr>
        <p:txBody>
          <a:bodyPr wrap="square">
            <a:spAutoFit/>
          </a:bodyPr>
          <a:lstStyle/>
          <a:p>
            <a:pPr algn="l"/>
            <a:r>
              <a:rPr sz="900" b="1" i="0">
                <a:solidFill>
                  <a:srgbClr val="A82020"/>
                </a:solidFill>
                <a:latin typeface="Calibri"/>
              </a:rPr>
              <a:t>Croissance en déclin</a:t>
            </a:r>
          </a:p>
        </p:txBody>
      </p:sp>
      <p:sp>
        <p:nvSpPr>
          <p:cNvPr id="20" name="TextBox 19"/>
          <p:cNvSpPr txBox="1"/>
          <p:nvPr/>
        </p:nvSpPr>
        <p:spPr>
          <a:xfrm>
            <a:off x="475200" y="1436400"/>
            <a:ext cx="2527200" cy="1260000"/>
          </a:xfrm>
          <a:prstGeom prst="rect">
            <a:avLst/>
          </a:prstGeom>
          <a:noFill/>
        </p:spPr>
        <p:txBody>
          <a:bodyPr wrap="square">
            <a:spAutoFit/>
          </a:bodyPr>
          <a:lstStyle/>
          <a:p>
            <a:pPr algn="l"/>
            <a:r>
              <a:rPr sz="800" b="0" i="0">
                <a:solidFill>
                  <a:srgbClr val="555555"/>
                </a:solidFill>
                <a:latin typeface="Calibri"/>
              </a:rPr>
              <a:t>Le P/E à 32.61x surévalue Apple alors que la croissance des revenus chute à 6.4% en 2025, contre 10.5% en 2021; les marges premium de 46.9% reposent sur des prix gonflés par l'effet de marque, vulnérable aux pressions concurrentielles chinoises comme Huawei qui réduit ses coûts de 15% sur les smartphones.</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255600"/>
          </a:xfrm>
          <a:prstGeom prst="rect">
            <a:avLst/>
          </a:prstGeom>
          <a:noFill/>
        </p:spPr>
        <p:txBody>
          <a:bodyPr wrap="square">
            <a:spAutoFit/>
          </a:bodyPr>
          <a:lstStyle/>
          <a:p>
            <a:pPr algn="l"/>
            <a:r>
              <a:rPr sz="900" b="1" i="0">
                <a:solidFill>
                  <a:srgbClr val="2E5FA3"/>
                </a:solidFill>
                <a:latin typeface="Calibri"/>
              </a:rPr>
              <a:t>Dette variable risquée</a:t>
            </a:r>
          </a:p>
        </p:txBody>
      </p:sp>
      <p:sp>
        <p:nvSpPr>
          <p:cNvPr id="24" name="TextBox 23"/>
          <p:cNvSpPr txBox="1"/>
          <p:nvPr/>
        </p:nvSpPr>
        <p:spPr>
          <a:xfrm>
            <a:off x="3337200" y="1436400"/>
            <a:ext cx="2527200" cy="1260000"/>
          </a:xfrm>
          <a:prstGeom prst="rect">
            <a:avLst/>
          </a:prstGeom>
          <a:noFill/>
        </p:spPr>
        <p:txBody>
          <a:bodyPr wrap="square">
            <a:spAutoFit/>
          </a:bodyPr>
          <a:lstStyle/>
          <a:p>
            <a:pPr algn="l"/>
            <a:r>
              <a:rPr sz="800" b="0" i="0">
                <a:solidFill>
                  <a:srgbClr val="555555"/>
                </a:solidFill>
                <a:latin typeface="Calibri"/>
              </a:rPr>
              <a:t>La trésorerie record de 166 milliards cache un endettement net/EBITDA de 0.43x, structure fragile avec 80% de la dette à taux variable, exposant Apple à une hausse des taux de 200bps qui réduirait le bénéfice net de 12%.</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255600"/>
          </a:xfrm>
          <a:prstGeom prst="rect">
            <a:avLst/>
          </a:prstGeom>
          <a:noFill/>
        </p:spPr>
        <p:txBody>
          <a:bodyPr wrap="square">
            <a:spAutoFit/>
          </a:bodyPr>
          <a:lstStyle/>
          <a:p>
            <a:pPr algn="l"/>
            <a:r>
              <a:rPr sz="900" b="1" i="0">
                <a:solidFill>
                  <a:srgbClr val="B06000"/>
                </a:solidFill>
                <a:latin typeface="Calibri"/>
              </a:rPr>
              <a:t>Régulation destructrice</a:t>
            </a:r>
          </a:p>
        </p:txBody>
      </p:sp>
      <p:sp>
        <p:nvSpPr>
          <p:cNvPr id="28" name="TextBox 27"/>
          <p:cNvSpPr txBox="1"/>
          <p:nvPr/>
        </p:nvSpPr>
        <p:spPr>
          <a:xfrm>
            <a:off x="6199200" y="1436400"/>
            <a:ext cx="2527200" cy="1260000"/>
          </a:xfrm>
          <a:prstGeom prst="rect">
            <a:avLst/>
          </a:prstGeom>
          <a:noFill/>
        </p:spPr>
        <p:txBody>
          <a:bodyPr wrap="square">
            <a:spAutoFit/>
          </a:bodyPr>
          <a:lstStyle/>
          <a:p>
            <a:pPr algn="l"/>
            <a:r>
              <a:rPr sz="800" b="0" i="0">
                <a:solidFill>
                  <a:srgbClr val="555555"/>
                </a:solidFill>
                <a:latin typeface="Calibri"/>
              </a:rPr>
              <a:t>L'Altman Z-score de 9.83 est un leurre car il ignore les risques de saturation du marché iPhone, où les ventes ont chuté de 8% en 2024 malgré un prix moyen en hausse de 5%, signalant une demande élastique aux prix.</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Ralentissement économique en Chine &gt;10% de CA</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Régulation européenne sur l'IA avec amende de 10 milliards USD</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Échec du lancement Vision Pro 2 avec ventes &lt;100 000 unités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FinBERT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-0,077</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44,5 %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FinBERT</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BUY</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5</a:t>
                      </a:r>
                    </a:p>
                  </a:txBody>
                  <a:tcPr>
                    <a:solidFill>
                      <a:srgbClr val="EAF4EF"/>
                    </a:solidFill>
                  </a:tcPr>
                </a:tc>
                <a:tc>
                  <a:txBody>
                    <a:bodyPr/>
                    <a:lstStyle/>
                    <a:p>
                      <a:pPr algn="ctr"/>
                      <a:r>
                        <a:rPr sz="800" b="0" i="0">
                          <a:solidFill>
                            <a:srgbClr val="0D0D0D"/>
                          </a:solidFill>
                          <a:latin typeface="Calibri"/>
                        </a:rPr>
                        <a:t>+0,239</a:t>
                      </a:r>
                    </a:p>
                  </a:txBody>
                  <a:tcPr>
                    <a:solidFill>
                      <a:srgbClr val="EAF4EF"/>
                    </a:solidFill>
                  </a:tcPr>
                </a:tc>
                <a:tc>
                  <a:txBody>
                    <a:bodyPr/>
                    <a:lstStyle/>
                    <a:p>
                      <a:pPr algn="ctr"/>
                      <a:r>
                        <a:rPr sz="800" b="0" i="0">
                          <a:solidFill>
                            <a:srgbClr val="0D0D0D"/>
                          </a:solidFill>
                          <a:latin typeface="Calibri"/>
                        </a:rPr>
                        <a:t>Croissance services récurrents +12% YoY avec marge brute 70% | Horizon 2026 | Impact CA +8 milliards USD</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+0,445</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9</a:t>
                      </a:r>
                    </a:p>
                  </a:txBody>
                  <a:tcPr>
                    <a:solidFill>
                      <a:srgbClr val="FAF0EF"/>
                    </a:solidFill>
                  </a:tcPr>
                </a:tc>
                <a:tc>
                  <a:txBody>
                    <a:bodyPr/>
                    <a:lstStyle/>
                    <a:p>
                      <a:pPr algn="ctr"/>
                      <a:r>
                        <a:rPr sz="800" b="0" i="0">
                          <a:solidFill>
                            <a:srgbClr val="0D0D0D"/>
                          </a:solidFill>
                          <a:latin typeface="Calibri"/>
                        </a:rPr>
                        <a:t>+0,316</a:t>
                      </a:r>
                    </a:p>
                  </a:txBody>
                  <a:tcPr>
                    <a:solidFill>
                      <a:srgbClr val="FAF0EF"/>
                    </a:solidFill>
                  </a:tcPr>
                </a:tc>
                <a:tc>
                  <a:txBody>
                    <a:bodyPr/>
                    <a:lstStyle/>
                    <a:p>
                      <a:pPr algn="ctr"/>
                      <a:r>
                        <a:rPr sz="800" b="0" i="0">
                          <a:solidFill>
                            <a:srgbClr val="0D0D0D"/>
                          </a:solidFill>
                          <a:latin typeface="Calibri"/>
                        </a:rPr>
                        <a:t>Régulation App Store avec amende potentielle de 5 milliards USD | Horizon 12-18 mois | Impact marge services -150bps</a:t>
                      </a:r>
                    </a:p>
                  </a:txBody>
                  <a:tcPr>
                    <a:solidFill>
                      <a:srgbClr val="FAF0EF"/>
                    </a:solidFill>
                  </a:tcPr>
                </a:tc>
              </a:tr>
            </a:tbl>
          </a:graphicData>
        </a:graphic>
      </p:graphicFrame>
      <p:sp>
        <p:nvSpPr>
          <p:cNvPr id="39" name="TextBox 38"/>
          <p:cNvSpPr txBox="1"/>
          <p:nvPr/>
        </p:nvSpPr>
        <p:spPr>
          <a:xfrm>
            <a:off x="367200" y="4140000"/>
            <a:ext cx="8413200" cy="914400"/>
          </a:xfrm>
          <a:prstGeom prst="rect">
            <a:avLst/>
          </a:prstGeom>
          <a:noFill/>
        </p:spPr>
        <p:txBody>
          <a:bodyPr wrap="square">
            <a:spAutoFit/>
          </a:bodyPr>
          <a:lstStyle/>
          <a:p>
            <a:pPr algn="l"/>
            <a:r>
              <a:rPr sz="850" b="0" i="0">
                <a:solidFill>
                  <a:srgbClr val="333333"/>
                </a:solidFill>
                <a:latin typeface="Calibri"/>
              </a:rPr>
              <a:t>La presse financière souligne les défis majeurs d'Apple face à l'IA et à la concurrence des "Mag 7". Cependant, l'ouverture de Siri aux assistants IA et les améliorations de l'iPhone sont perçus comme des avancées positives.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29 mars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Apple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Morgan Stanley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Berkshire Hathaway,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TextBox 20"/>
          <p:cNvSpPr txBox="1"/>
          <p:nvPr/>
        </p:nvSpPr>
        <p:spPr>
          <a:xfrm>
            <a:off x="367200" y="3326400"/>
            <a:ext cx="8413200" cy="1004400"/>
          </a:xfrm>
          <a:prstGeom prst="rect">
            <a:avLst/>
          </a:prstGeom>
          <a:noFill/>
        </p:spPr>
        <p:txBody>
          <a:bodyPr wrap="square">
            <a:spAutoFit/>
          </a:bodyPr>
          <a:lstStyle/>
          <a:p>
            <a:pPr algn="l"/>
            <a:r>
              <a:rPr sz="850" b="0" i="0">
                <a:solidFill>
                  <a:srgbClr val="555555"/>
                </a:solidFill>
                <a:latin typeface="Calibri"/>
              </a:rPr>
              <a:t>Prime de 20% vs mediane peers sur P/E (32.6x vs 27x) justifiée par qualité des actifs et croissance services. Décote de 10% sur EV/EBITDA (25.7x vs 28x) reflète solidité bilancielle.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AAPL  ·  USD  ·  Au 29 mars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248,80 $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278,32 $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199,98 $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+17,6 %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Evolution du cours — 12 derniers mois</a:t>
            </a:r>
          </a:p>
        </p:txBody>
      </p:sp>
      <p:sp>
        <p:nvSpPr>
          <p:cNvPr id="34" name="Rectangle 33"/>
          <p:cNvSpPr/>
          <p:nvPr/>
        </p:nvSpPr>
        <p:spPr>
          <a:xfrm>
            <a:off x="367200" y="2102400"/>
            <a:ext cx="8413200" cy="1828800"/>
          </a:xfrm>
          <a:prstGeom prst="rect">
            <a:avLst/>
          </a:prstGeom>
          <a:solidFill>
            <a:srgbClr val="F7F8FA"/>
          </a:solidFill>
          <a:ln w="6350">
            <a:solidFill>
              <a:srgbClr val="D0D0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7200" y="2102400"/>
            <a:ext cx="8413200" cy="3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37200" y="3609975"/>
            <a:ext cx="498636" cy="285224"/>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01200" y="3902400"/>
            <a:ext cx="728100" cy="144000"/>
          </a:xfrm>
          <a:prstGeom prst="rect">
            <a:avLst/>
          </a:prstGeom>
          <a:noFill/>
        </p:spPr>
        <p:txBody>
          <a:bodyPr wrap="square">
            <a:spAutoFit/>
          </a:bodyPr>
          <a:lstStyle/>
          <a:p>
            <a:pPr algn="ctr"/>
            <a:r>
              <a:rPr sz="600" b="0" i="0">
                <a:solidFill>
                  <a:srgbClr val="555555"/>
                </a:solidFill>
                <a:latin typeface="Calibri"/>
              </a:rPr>
              <a:t>Avr</a:t>
            </a:r>
          </a:p>
        </p:txBody>
      </p:sp>
      <p:sp>
        <p:nvSpPr>
          <p:cNvPr id="38" name="Rectangle 37"/>
          <p:cNvSpPr/>
          <p:nvPr/>
        </p:nvSpPr>
        <p:spPr>
          <a:xfrm>
            <a:off x="1293300" y="3823200"/>
            <a:ext cx="498636" cy="72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257300" y="3902400"/>
            <a:ext cx="728100" cy="144000"/>
          </a:xfrm>
          <a:prstGeom prst="rect">
            <a:avLst/>
          </a:prstGeom>
          <a:noFill/>
        </p:spPr>
        <p:txBody>
          <a:bodyPr wrap="square">
            <a:spAutoFit/>
          </a:bodyPr>
          <a:lstStyle/>
          <a:p>
            <a:pPr algn="ctr"/>
            <a:r>
              <a:rPr sz="600" b="0" i="0">
                <a:solidFill>
                  <a:srgbClr val="555555"/>
                </a:solidFill>
                <a:latin typeface="Calibri"/>
              </a:rPr>
              <a:t>Mai</a:t>
            </a:r>
          </a:p>
        </p:txBody>
      </p:sp>
      <p:sp>
        <p:nvSpPr>
          <p:cNvPr id="40" name="Rectangle 39"/>
          <p:cNvSpPr/>
          <p:nvPr/>
        </p:nvSpPr>
        <p:spPr>
          <a:xfrm>
            <a:off x="1949400" y="3739196"/>
            <a:ext cx="498636" cy="15600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913400" y="3902400"/>
            <a:ext cx="728100" cy="144000"/>
          </a:xfrm>
          <a:prstGeom prst="rect">
            <a:avLst/>
          </a:prstGeom>
          <a:noFill/>
        </p:spPr>
        <p:txBody>
          <a:bodyPr wrap="square">
            <a:spAutoFit/>
          </a:bodyPr>
          <a:lstStyle/>
          <a:p>
            <a:pPr algn="ctr"/>
            <a:r>
              <a:rPr sz="600" b="0" i="0">
                <a:solidFill>
                  <a:srgbClr val="555555"/>
                </a:solidFill>
                <a:latin typeface="Calibri"/>
              </a:rPr>
              <a:t>Juin</a:t>
            </a:r>
          </a:p>
        </p:txBody>
      </p:sp>
      <p:sp>
        <p:nvSpPr>
          <p:cNvPr id="42" name="Rectangle 41"/>
          <p:cNvSpPr/>
          <p:nvPr/>
        </p:nvSpPr>
        <p:spPr>
          <a:xfrm>
            <a:off x="2605500" y="3695265"/>
            <a:ext cx="498636" cy="19993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569500" y="3902400"/>
            <a:ext cx="728100" cy="144000"/>
          </a:xfrm>
          <a:prstGeom prst="rect">
            <a:avLst/>
          </a:prstGeom>
          <a:noFill/>
        </p:spPr>
        <p:txBody>
          <a:bodyPr wrap="square">
            <a:spAutoFit/>
          </a:bodyPr>
          <a:lstStyle/>
          <a:p>
            <a:pPr algn="ctr"/>
            <a:r>
              <a:rPr sz="600" b="0" i="0">
                <a:solidFill>
                  <a:srgbClr val="555555"/>
                </a:solidFill>
                <a:latin typeface="Calibri"/>
              </a:rPr>
              <a:t>Juil</a:t>
            </a:r>
          </a:p>
        </p:txBody>
      </p:sp>
      <p:sp>
        <p:nvSpPr>
          <p:cNvPr id="44" name="Rectangle 43"/>
          <p:cNvSpPr/>
          <p:nvPr/>
        </p:nvSpPr>
        <p:spPr>
          <a:xfrm>
            <a:off x="3261600" y="3244920"/>
            <a:ext cx="498636" cy="65027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5600" y="3902400"/>
            <a:ext cx="728100" cy="144000"/>
          </a:xfrm>
          <a:prstGeom prst="rect">
            <a:avLst/>
          </a:prstGeom>
          <a:noFill/>
        </p:spPr>
        <p:txBody>
          <a:bodyPr wrap="square">
            <a:spAutoFit/>
          </a:bodyPr>
          <a:lstStyle/>
          <a:p>
            <a:pPr algn="ctr"/>
            <a:r>
              <a:rPr sz="600" b="0" i="0">
                <a:solidFill>
                  <a:srgbClr val="555555"/>
                </a:solidFill>
                <a:latin typeface="Calibri"/>
              </a:rPr>
              <a:t>Aoû</a:t>
            </a:r>
          </a:p>
        </p:txBody>
      </p:sp>
      <p:sp>
        <p:nvSpPr>
          <p:cNvPr id="46" name="Rectangle 45"/>
          <p:cNvSpPr/>
          <p:nvPr/>
        </p:nvSpPr>
        <p:spPr>
          <a:xfrm>
            <a:off x="3917700" y="2827478"/>
            <a:ext cx="498636" cy="106772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881700" y="3902400"/>
            <a:ext cx="728100" cy="144000"/>
          </a:xfrm>
          <a:prstGeom prst="rect">
            <a:avLst/>
          </a:prstGeom>
          <a:noFill/>
        </p:spPr>
        <p:txBody>
          <a:bodyPr wrap="square">
            <a:spAutoFit/>
          </a:bodyPr>
          <a:lstStyle/>
          <a:p>
            <a:pPr algn="ctr"/>
            <a:r>
              <a:rPr sz="600" b="0" i="0">
                <a:solidFill>
                  <a:srgbClr val="555555"/>
                </a:solidFill>
                <a:latin typeface="Calibri"/>
              </a:rPr>
              <a:t>Sep</a:t>
            </a:r>
          </a:p>
        </p:txBody>
      </p:sp>
      <p:sp>
        <p:nvSpPr>
          <p:cNvPr id="48" name="Rectangle 47"/>
          <p:cNvSpPr/>
          <p:nvPr/>
        </p:nvSpPr>
        <p:spPr>
          <a:xfrm>
            <a:off x="4573800" y="2538706"/>
            <a:ext cx="498636" cy="1356493"/>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37800" y="3902400"/>
            <a:ext cx="728100" cy="144000"/>
          </a:xfrm>
          <a:prstGeom prst="rect">
            <a:avLst/>
          </a:prstGeom>
          <a:noFill/>
        </p:spPr>
        <p:txBody>
          <a:bodyPr wrap="square">
            <a:spAutoFit/>
          </a:bodyPr>
          <a:lstStyle/>
          <a:p>
            <a:pPr algn="ctr"/>
            <a:r>
              <a:rPr sz="600" b="0" i="0">
                <a:solidFill>
                  <a:srgbClr val="555555"/>
                </a:solidFill>
                <a:latin typeface="Calibri"/>
              </a:rPr>
              <a:t>Oct</a:t>
            </a:r>
          </a:p>
        </p:txBody>
      </p:sp>
      <p:sp>
        <p:nvSpPr>
          <p:cNvPr id="50" name="Rectangle 49"/>
          <p:cNvSpPr/>
          <p:nvPr/>
        </p:nvSpPr>
        <p:spPr>
          <a:xfrm>
            <a:off x="5229900" y="2383200"/>
            <a:ext cx="498636" cy="151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5193900" y="3902400"/>
            <a:ext cx="728100" cy="144000"/>
          </a:xfrm>
          <a:prstGeom prst="rect">
            <a:avLst/>
          </a:prstGeom>
          <a:noFill/>
        </p:spPr>
        <p:txBody>
          <a:bodyPr wrap="square">
            <a:spAutoFit/>
          </a:bodyPr>
          <a:lstStyle/>
          <a:p>
            <a:pPr algn="ctr"/>
            <a:r>
              <a:rPr sz="600" b="0" i="0">
                <a:solidFill>
                  <a:srgbClr val="555555"/>
                </a:solidFill>
                <a:latin typeface="Calibri"/>
              </a:rPr>
              <a:t>Nov</a:t>
            </a:r>
          </a:p>
        </p:txBody>
      </p:sp>
      <p:sp>
        <p:nvSpPr>
          <p:cNvPr id="52" name="Rectangle 51"/>
          <p:cNvSpPr/>
          <p:nvPr/>
        </p:nvSpPr>
        <p:spPr>
          <a:xfrm>
            <a:off x="5886000" y="2506539"/>
            <a:ext cx="498636" cy="138866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850000" y="3902400"/>
            <a:ext cx="728100" cy="144000"/>
          </a:xfrm>
          <a:prstGeom prst="rect">
            <a:avLst/>
          </a:prstGeom>
          <a:noFill/>
        </p:spPr>
        <p:txBody>
          <a:bodyPr wrap="square">
            <a:spAutoFit/>
          </a:bodyPr>
          <a:lstStyle/>
          <a:p>
            <a:pPr algn="ctr"/>
            <a:r>
              <a:rPr sz="600" b="0" i="0">
                <a:solidFill>
                  <a:srgbClr val="555555"/>
                </a:solidFill>
                <a:latin typeface="Calibri"/>
              </a:rPr>
              <a:t>Déc</a:t>
            </a:r>
          </a:p>
        </p:txBody>
      </p:sp>
      <p:sp>
        <p:nvSpPr>
          <p:cNvPr id="54" name="Rectangle 53"/>
          <p:cNvSpPr/>
          <p:nvPr/>
        </p:nvSpPr>
        <p:spPr>
          <a:xfrm>
            <a:off x="6542100" y="2733917"/>
            <a:ext cx="498636" cy="1161282"/>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506099" y="3902400"/>
            <a:ext cx="728100" cy="144000"/>
          </a:xfrm>
          <a:prstGeom prst="rect">
            <a:avLst/>
          </a:prstGeom>
          <a:noFill/>
        </p:spPr>
        <p:txBody>
          <a:bodyPr wrap="square">
            <a:spAutoFit/>
          </a:bodyPr>
          <a:lstStyle/>
          <a:p>
            <a:pPr algn="ctr"/>
            <a:r>
              <a:rPr sz="600" b="0" i="0">
                <a:solidFill>
                  <a:srgbClr val="555555"/>
                </a:solidFill>
                <a:latin typeface="Calibri"/>
              </a:rPr>
              <a:t>Jan</a:t>
            </a:r>
          </a:p>
        </p:txBody>
      </p:sp>
      <p:sp>
        <p:nvSpPr>
          <p:cNvPr id="56" name="Rectangle 55"/>
          <p:cNvSpPr/>
          <p:nvPr/>
        </p:nvSpPr>
        <p:spPr>
          <a:xfrm>
            <a:off x="7198200" y="2647708"/>
            <a:ext cx="498636" cy="1247491"/>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162200" y="3902400"/>
            <a:ext cx="728100" cy="144000"/>
          </a:xfrm>
          <a:prstGeom prst="rect">
            <a:avLst/>
          </a:prstGeom>
          <a:noFill/>
        </p:spPr>
        <p:txBody>
          <a:bodyPr wrap="square">
            <a:spAutoFit/>
          </a:bodyPr>
          <a:lstStyle/>
          <a:p>
            <a:pPr algn="ctr"/>
            <a:r>
              <a:rPr sz="600" b="0" i="0">
                <a:solidFill>
                  <a:srgbClr val="555555"/>
                </a:solidFill>
                <a:latin typeface="Calibri"/>
              </a:rPr>
              <a:t>Fév</a:t>
            </a:r>
          </a:p>
        </p:txBody>
      </p:sp>
      <p:sp>
        <p:nvSpPr>
          <p:cNvPr id="58" name="Rectangle 57"/>
          <p:cNvSpPr/>
          <p:nvPr/>
        </p:nvSpPr>
        <p:spPr>
          <a:xfrm>
            <a:off x="7854300" y="2925819"/>
            <a:ext cx="498636" cy="96938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818299" y="3902400"/>
            <a:ext cx="728100" cy="144000"/>
          </a:xfrm>
          <a:prstGeom prst="rect">
            <a:avLst/>
          </a:prstGeom>
          <a:noFill/>
        </p:spPr>
        <p:txBody>
          <a:bodyPr wrap="square">
            <a:spAutoFit/>
          </a:bodyPr>
          <a:lstStyle/>
          <a:p>
            <a:pPr algn="ctr"/>
            <a:r>
              <a:rPr sz="600" b="0" i="0">
                <a:solidFill>
                  <a:srgbClr val="555555"/>
                </a:solidFill>
                <a:latin typeface="Calibri"/>
              </a:rPr>
              <a:t>Mar</a:t>
            </a:r>
          </a:p>
        </p:txBody>
      </p:sp>
      <p:sp>
        <p:nvSpPr>
          <p:cNvPr id="60" name="Rectangle 59"/>
          <p:cNvSpPr/>
          <p:nvPr/>
        </p:nvSpPr>
        <p:spPr>
          <a:xfrm>
            <a:off x="601200" y="382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31200" y="3751200"/>
            <a:ext cx="288000" cy="144000"/>
          </a:xfrm>
          <a:prstGeom prst="rect">
            <a:avLst/>
          </a:prstGeom>
          <a:noFill/>
        </p:spPr>
        <p:txBody>
          <a:bodyPr wrap="none">
            <a:spAutoFit/>
          </a:bodyPr>
          <a:lstStyle/>
          <a:p>
            <a:pPr algn="l"/>
            <a:r>
              <a:rPr sz="600" b="0" i="0">
                <a:solidFill>
                  <a:srgbClr val="555555"/>
                </a:solidFill>
                <a:latin typeface="Calibri"/>
              </a:rPr>
              <a:t>199</a:t>
            </a:r>
          </a:p>
        </p:txBody>
      </p:sp>
      <p:sp>
        <p:nvSpPr>
          <p:cNvPr id="62" name="Rectangle 61"/>
          <p:cNvSpPr/>
          <p:nvPr/>
        </p:nvSpPr>
        <p:spPr>
          <a:xfrm>
            <a:off x="601200" y="33480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31200" y="3276000"/>
            <a:ext cx="288000" cy="144000"/>
          </a:xfrm>
          <a:prstGeom prst="rect">
            <a:avLst/>
          </a:prstGeom>
          <a:noFill/>
        </p:spPr>
        <p:txBody>
          <a:bodyPr wrap="none">
            <a:spAutoFit/>
          </a:bodyPr>
          <a:lstStyle/>
          <a:p>
            <a:pPr algn="l"/>
            <a:r>
              <a:rPr sz="600" b="0" i="0">
                <a:solidFill>
                  <a:srgbClr val="555555"/>
                </a:solidFill>
                <a:latin typeface="Calibri"/>
              </a:rPr>
              <a:t>225</a:t>
            </a:r>
          </a:p>
        </p:txBody>
      </p:sp>
      <p:sp>
        <p:nvSpPr>
          <p:cNvPr id="64" name="Rectangle 63"/>
          <p:cNvSpPr/>
          <p:nvPr/>
        </p:nvSpPr>
        <p:spPr>
          <a:xfrm>
            <a:off x="601200" y="28584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31200" y="2786399"/>
            <a:ext cx="288000" cy="144000"/>
          </a:xfrm>
          <a:prstGeom prst="rect">
            <a:avLst/>
          </a:prstGeom>
          <a:noFill/>
        </p:spPr>
        <p:txBody>
          <a:bodyPr wrap="none">
            <a:spAutoFit/>
          </a:bodyPr>
          <a:lstStyle/>
          <a:p>
            <a:pPr algn="l"/>
            <a:r>
              <a:rPr sz="600" b="0" i="0">
                <a:solidFill>
                  <a:srgbClr val="555555"/>
                </a:solidFill>
                <a:latin typeface="Calibri"/>
              </a:rPr>
              <a:t>252</a:t>
            </a:r>
          </a:p>
        </p:txBody>
      </p:sp>
      <p:sp>
        <p:nvSpPr>
          <p:cNvPr id="66" name="Rectangle 65"/>
          <p:cNvSpPr/>
          <p:nvPr/>
        </p:nvSpPr>
        <p:spPr>
          <a:xfrm>
            <a:off x="601200" y="2383200"/>
            <a:ext cx="8179200" cy="7200"/>
          </a:xfrm>
          <a:prstGeom prst="rect">
            <a:avLst/>
          </a:prstGeom>
          <a:solidFill>
            <a:srgbClr val="D0D5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31200" y="2311200"/>
            <a:ext cx="288000" cy="144000"/>
          </a:xfrm>
          <a:prstGeom prst="rect">
            <a:avLst/>
          </a:prstGeom>
          <a:noFill/>
        </p:spPr>
        <p:txBody>
          <a:bodyPr wrap="none">
            <a:spAutoFit/>
          </a:bodyPr>
          <a:lstStyle/>
          <a:p>
            <a:pPr algn="l"/>
            <a:r>
              <a:rPr sz="600" b="0" i="0">
                <a:solidFill>
                  <a:srgbClr val="555555"/>
                </a:solidFill>
                <a:latin typeface="Calibri"/>
              </a:rPr>
              <a:t>278</a:t>
            </a:r>
          </a:p>
        </p:txBody>
      </p:sp>
      <p:sp>
        <p:nvSpPr>
          <p:cNvPr id="68" name="TextBox 67"/>
          <p:cNvSpPr txBox="1"/>
          <p:nvPr/>
        </p:nvSpPr>
        <p:spPr>
          <a:xfrm>
            <a:off x="367200" y="4132800"/>
            <a:ext cx="8413200" cy="687600"/>
          </a:xfrm>
          <a:prstGeom prst="rect">
            <a:avLst/>
          </a:prstGeom>
          <a:noFill/>
        </p:spPr>
        <p:txBody>
          <a:bodyPr wrap="square">
            <a:spAutoFit/>
          </a:bodyPr>
          <a:lstStyle/>
          <a:p>
            <a:pPr algn="l"/>
            <a:r>
              <a:rPr sz="850" b="0" i="0">
                <a:solidFill>
                  <a:srgbClr val="555555"/>
                </a:solidFill>
                <a:latin typeface="Calibri"/>
              </a:rPr>
              <a:t>Apple affiche une résilience opérationnelle exceptionnelle avec des marges nettes à 26.9% et un ROE de 151.9%. La valorisation reste attractive malgré une prime vs peers, soutenue par une génération de cash robuste et des catalyseurs structurels comme l'IA et les services récurrents.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