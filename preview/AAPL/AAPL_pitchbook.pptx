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285 $  ·  Upside : +12,3 %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+12,3 %  ·  Bear : 240 $ (-5,4 %)  ·  Bull : 320 $ (+26,1 %)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Apple devrait bénéficier de la demande forte pour l'iPhone 16 en 2026 avec +8% de ventes unitaires</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Marges premium</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marge services devrait atteindre 75% d'EBITDA en 2027 grâce à l'IA et aux abonnements</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Cash-flow record</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rachat d'actions de 110 Mds$ en 2026 soutiendra le ROE à 150% et le cours.</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Régulation App Store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européenne sur l'App Store en 2026 avec amende potentielle de 5 Mds$ | Impact sur la marge services et la croissance abonnements | Horizon : 6-12 mois, ampleur : -3% CA</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en IA avec Google et Meta en 2027 | Risque de perte de parts de marché sur les services cloud | Horizon : 12-18 mois, ampleur : -8% EBITDA</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Ralentissement économique en Chine avec -15% de ventes iPhone en 2026 | Impact sur le mix géographique et les marges | Horizon : 6-12 mois, ampleur : -4% CA</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26,2x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20,5x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+12,3 %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+0,099</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Régulation App Store  ·  Concurrence IA</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premium (iPhone, Mac, iPad) et des services (App Store, Apple Music) avec un positionnement haut de gamme axé sur l'écosystème fermé et la fidélisation client. Son avantage concurrentiel repose sur la synergie hardware-software-services, une marque forte et une marge opérationnelle supérieure à 30%. La diversification vers les services (20% du CA) et l'IA intégrée renforcent sa résilience face aux cycles économiques.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historique générant 80% du CA via ventes d'iPhone (50% du CA), Mac, iPad et wearables (Apple Watch, AirPods). Modèle basé sur des cycles de renouvellement courts et une forte fidélisation via l'écosystème Apple. Clients cibles : consommateurs premium et entreprises. Croissance tirée par l'Asie (25% du CA) et les services associés (iCloud, Apple Pay).</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en croissance rapide (20% du CA, +14% YoY) incluant App Store, Apple Music, iCloud et Apple TV+. Modèle récurrent et hautement rentable (marge EBITDA &gt;70%). Cible : utilisateurs d'appareils Apple et nouveaux abonnés. Moteurs : expansion géographique, partenariats et innovation (ex: Apple Intelligence).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3 725,9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253,79 $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26,2x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33,3x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historique générant 80% du CA via ventes d'iPhone (50% du CA), Mac, iPad et wearables (Apple Watch, AirPods). Modèle basé sur des cycles de renouvellement courts et une forte fidélisation via l'écosystème Apple. Clients cibles : consommateurs premium et entreprises. Croissance tirée par l'Asie (25% du CA) et les services associés (iCloud, Apple Pay).</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en croissance rapide (20% du CA, +14% YoY) incluant App Store, Apple Music, iCloud et Apple TV+. Modèle récurrent et hautement rentable (marge EBITDA &gt;70%). Cible : utilisateurs d'appareils Apple et nouveaux abonnés. Moteurs : expansion géographique, partenariats et innovation (ex: Apple Intelligence).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475,0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+700,0 %</a:t>
                      </a:r>
                    </a:p>
                  </a:txBody>
                  <a:tcPr>
                    <a:solidFill>
                      <a:srgbClr val="F7F8FA"/>
                    </a:solidFill>
                  </a:tcPr>
                </a:tc>
                <a:tc>
                  <a:txBody>
                    <a:bodyPr/>
                    <a:lstStyle/>
                    <a:p>
                      <a:pPr algn="ctr"/>
                      <a:r>
                        <a:rPr sz="750" b="0" i="1">
                          <a:solidFill>
                            <a:srgbClr val="555555"/>
                          </a:solidFill>
                          <a:latin typeface="Calibri"/>
                        </a:rPr>
                        <a:t>+670,0 %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21 137,5</a:t>
                      </a:r>
                    </a:p>
                  </a:txBody>
                  <a:tcPr>
                    <a:solidFill>
                      <a:srgbClr val="FFFFFF"/>
                    </a:solidFill>
                  </a:tcPr>
                </a:tc>
                <a:tc>
                  <a:txBody>
                    <a:bodyPr/>
                    <a:lstStyle/>
                    <a:p>
                      <a:pPr algn="ctr"/>
                      <a:r>
                        <a:rPr sz="800" b="1" i="0">
                          <a:solidFill>
                            <a:srgbClr val="0D0D0D"/>
                          </a:solidFill>
                          <a:latin typeface="Calibri"/>
                        </a:rPr>
                        <a:t>22 800,0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4750,0 %</a:t>
                      </a:r>
                    </a:p>
                  </a:txBody>
                  <a:tcPr>
                    <a:solidFill>
                      <a:srgbClr val="F7F8FA"/>
                    </a:solidFill>
                  </a:tcPr>
                </a:tc>
                <a:tc>
                  <a:txBody>
                    <a:bodyPr/>
                    <a:lstStyle/>
                    <a:p>
                      <a:pPr algn="ctr"/>
                      <a:r>
                        <a:rPr sz="750" b="0" i="1">
                          <a:solidFill>
                            <a:srgbClr val="555555"/>
                          </a:solidFill>
                          <a:latin typeface="Calibri"/>
                        </a:rPr>
                        <a:t>4800,0 %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155,0</a:t>
                      </a:r>
                    </a:p>
                  </a:txBody>
                  <a:tcPr>
                    <a:solidFill>
                      <a:srgbClr val="FFFFFF"/>
                    </a:solidFill>
                  </a:tcPr>
                </a:tc>
                <a:tc>
                  <a:txBody>
                    <a:bodyPr/>
                    <a:lstStyle/>
                    <a:p>
                      <a:pPr algn="ctr"/>
                      <a:r>
                        <a:rPr sz="800" b="1" i="0">
                          <a:solidFill>
                            <a:srgbClr val="0D0D0D"/>
                          </a:solidFill>
                          <a:latin typeface="Calibri"/>
                        </a:rPr>
                        <a:t>165,0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3480,0 %</a:t>
                      </a:r>
                    </a:p>
                  </a:txBody>
                  <a:tcPr>
                    <a:solidFill>
                      <a:srgbClr val="F7F8FA"/>
                    </a:solidFill>
                  </a:tcPr>
                </a:tc>
                <a:tc>
                  <a:txBody>
                    <a:bodyPr/>
                    <a:lstStyle/>
                    <a:p>
                      <a:pPr algn="ctr"/>
                      <a:r>
                        <a:rPr sz="750" b="0" i="1">
                          <a:solidFill>
                            <a:srgbClr val="555555"/>
                          </a:solidFill>
                          <a:latin typeface="Calibri"/>
                        </a:rPr>
                        <a:t>3480,0 %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120,0</a:t>
                      </a:r>
                    </a:p>
                  </a:txBody>
                  <a:tcPr>
                    <a:solidFill>
                      <a:srgbClr val="FFFFFF"/>
                    </a:solidFill>
                  </a:tcPr>
                </a:tc>
                <a:tc>
                  <a:txBody>
                    <a:bodyPr/>
                    <a:lstStyle/>
                    <a:p>
                      <a:pPr algn="ctr"/>
                      <a:r>
                        <a:rPr sz="800" b="1" i="0">
                          <a:solidFill>
                            <a:srgbClr val="0D0D0D"/>
                          </a:solidFill>
                          <a:latin typeface="Calibri"/>
                        </a:rPr>
                        <a:t>128,0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2700,0 %</a:t>
                      </a:r>
                    </a:p>
                  </a:txBody>
                  <a:tcPr>
                    <a:solidFill>
                      <a:srgbClr val="F7F8FA"/>
                    </a:solidFill>
                  </a:tcPr>
                </a:tc>
                <a:tc>
                  <a:txBody>
                    <a:bodyPr/>
                    <a:lstStyle/>
                    <a:p>
                      <a:pPr algn="ctr"/>
                      <a:r>
                        <a:rPr sz="750" b="0" i="1">
                          <a:solidFill>
                            <a:srgbClr val="555555"/>
                          </a:solidFill>
                          <a:latin typeface="Calibri"/>
                        </a:rPr>
                        <a:t>2700,0 %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de 6.4% en 2025 portée par les services (+14%) et l'Asie, avec une marge nette en hausse à 26.9% grâce à l'effet de levier opérationnel et au mix favorable services/hardware. La discipline des coûts et le pricing power sur l'iPhone 15 compensent la pression sur les volumes en Chine. Le FCF de 115 Mds$ renforce la solidité bilancielle.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de 6.4% en 2025 portée par les services (+14%) et l'Asie, avec une marge nette en hausse à 26.9% grâce à l'effet de levier opérationnel et au mix favorable services/hardware. La discipline des coûts et le pricing power sur l'iPhone 15 compensent la pression sur les volumes en Chine. Le FCF de 115 Mds$ renforce la solidité bilancielle.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sont passées de 43.3% en 2022 à 46.9% en 2025 (+360bps), reflétant un mix produits favorable (iPhone premium) et une meilleure efficacité des coûts. Les marges EBITDA/nettes ont progressé de 300bps/160bps sur la période, démontrant un levier opérationnel exceptionnel. Ces niveaux sont durables grâce à la différenciation produit et au pouvoir de fixation des prix.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253,79 $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-5,4 %</a:t>
                      </a:r>
                    </a:p>
                  </a:txBody>
                  <a:tcPr>
                    <a:solidFill>
                      <a:srgbClr val="FAF0EF"/>
                    </a:solidFill>
                  </a:tcPr>
                </a:tc>
                <a:tc>
                  <a:txBody>
                    <a:bodyPr/>
                    <a:lstStyle/>
                    <a:p>
                      <a:pPr algn="ctr"/>
                      <a:r>
                        <a:rPr sz="1200" b="1" i="0">
                          <a:solidFill>
                            <a:srgbClr val="2E5FA3"/>
                          </a:solidFill>
                          <a:latin typeface="Calibri"/>
                        </a:rPr>
                        <a:t>+12,3 %</a:t>
                      </a:r>
                    </a:p>
                  </a:txBody>
                  <a:tcPr>
                    <a:solidFill>
                      <a:srgbClr val="EEF3FA"/>
                    </a:solidFill>
                  </a:tcPr>
                </a:tc>
                <a:tc>
                  <a:txBody>
                    <a:bodyPr/>
                    <a:lstStyle/>
                    <a:p>
                      <a:pPr algn="ctr"/>
                      <a:r>
                        <a:rPr sz="1200" b="1" i="0">
                          <a:solidFill>
                            <a:srgbClr val="1A7A4A"/>
                          </a:solidFill>
                          <a:latin typeface="Calibri"/>
                        </a:rPr>
                        <a:t>+26,1 %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10.3% et une TGR de 3.0%, le DCF implicite suggère un cours de 285$ (base), soit un upside de 12% vs le cours actuel. La prime de croissance est partiellement déjà pricee, mais justifiée par l'expansion des services et l'IA. Un catalyseur comme un succès commercial de l'iPhone 16 pourrait déclencher un re-rating.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3 725,9</a:t>
                      </a:r>
                    </a:p>
                  </a:txBody>
                  <a:tcPr>
                    <a:solidFill>
                      <a:srgbClr val="DDE8F5"/>
                    </a:solidFill>
                  </a:tcPr>
                </a:tc>
                <a:tc>
                  <a:txBody>
                    <a:bodyPr/>
                    <a:lstStyle/>
                    <a:p>
                      <a:pPr algn="ctr"/>
                      <a:r>
                        <a:rPr sz="800" b="1" i="0">
                          <a:solidFill>
                            <a:srgbClr val="1B3A6B"/>
                          </a:solidFill>
                          <a:latin typeface="Calibri"/>
                        </a:rPr>
                        <a:t>26,2x</a:t>
                      </a:r>
                    </a:p>
                  </a:txBody>
                  <a:tcPr>
                    <a:solidFill>
                      <a:srgbClr val="DDE8F5"/>
                    </a:solidFill>
                  </a:tcPr>
                </a:tc>
                <a:tc>
                  <a:txBody>
                    <a:bodyPr/>
                    <a:lstStyle/>
                    <a:p>
                      <a:pPr algn="ctr"/>
                      <a:r>
                        <a:rPr sz="800" b="1" i="0">
                          <a:solidFill>
                            <a:srgbClr val="1B3A6B"/>
                          </a:solidFill>
                          <a:latin typeface="Calibri"/>
                        </a:rPr>
                        <a:t>9,1x</a:t>
                      </a:r>
                    </a:p>
                  </a:txBody>
                  <a:tcPr>
                    <a:solidFill>
                      <a:srgbClr val="DDE8F5"/>
                    </a:solidFill>
                  </a:tcPr>
                </a:tc>
                <a:tc>
                  <a:txBody>
                    <a:bodyPr/>
                    <a:lstStyle/>
                    <a:p>
                      <a:pPr algn="ctr"/>
                      <a:r>
                        <a:rPr sz="800" b="1" i="0">
                          <a:solidFill>
                            <a:srgbClr val="1B3A6B"/>
                          </a:solidFill>
                          <a:latin typeface="Calibri"/>
                        </a:rPr>
                        <a:t>33,3x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3 200,0</a:t>
                      </a:r>
                    </a:p>
                  </a:txBody>
                  <a:tcPr>
                    <a:solidFill>
                      <a:srgbClr val="FFFFFF"/>
                    </a:solidFill>
                  </a:tcPr>
                </a:tc>
                <a:tc>
                  <a:txBody>
                    <a:bodyPr/>
                    <a:lstStyle/>
                    <a:p>
                      <a:pPr algn="ctr"/>
                      <a:r>
                        <a:rPr sz="800" b="0" i="0">
                          <a:solidFill>
                            <a:srgbClr val="0D0D0D"/>
                          </a:solidFill>
                          <a:latin typeface="Calibri"/>
                        </a:rPr>
                        <a:t>22,1x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38,5x</a:t>
                      </a:r>
                    </a:p>
                  </a:txBody>
                  <a:tcPr>
                    <a:solidFill>
                      <a:srgbClr val="FFFFFF"/>
                    </a:solidFill>
                  </a:tcPr>
                </a:tc>
                <a:tc>
                  <a:txBody>
                    <a:bodyPr/>
                    <a:lstStyle/>
                    <a:p>
                      <a:pPr algn="ctr"/>
                      <a:r>
                        <a:rPr sz="800" b="0" i="0">
                          <a:solidFill>
                            <a:srgbClr val="0D0D0D"/>
                          </a:solidFill>
                          <a:latin typeface="Calibri"/>
                        </a:rPr>
                        <a:t>6800,0 %</a:t>
                      </a:r>
                    </a:p>
                  </a:txBody>
                  <a:tcPr>
                    <a:solidFill>
                      <a:srgbClr val="FFFFFF"/>
                    </a:solidFill>
                  </a:tcPr>
                </a:tc>
                <a:tc>
                  <a:txBody>
                    <a:bodyPr/>
                    <a:lstStyle/>
                    <a:p>
                      <a:pPr algn="ctr"/>
                      <a:r>
                        <a:rPr sz="800" b="0" i="0">
                          <a:solidFill>
                            <a:srgbClr val="0D0D0D"/>
                          </a:solidFill>
                          <a:latin typeface="Calibri"/>
                        </a:rPr>
                        <a:t>5200,0 %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2 100,0</a:t>
                      </a:r>
                    </a:p>
                  </a:txBody>
                  <a:tcPr>
                    <a:solidFill>
                      <a:srgbClr val="F7F8FA"/>
                    </a:solidFill>
                  </a:tcPr>
                </a:tc>
                <a:tc>
                  <a:txBody>
                    <a:bodyPr/>
                    <a:lstStyle/>
                    <a:p>
                      <a:pPr algn="ctr"/>
                      <a:r>
                        <a:rPr sz="800" b="0" i="0">
                          <a:solidFill>
                            <a:srgbClr val="0D0D0D"/>
                          </a:solidFill>
                          <a:latin typeface="Calibri"/>
                        </a:rPr>
                        <a:t>18,9x</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28,7x</a:t>
                      </a:r>
                    </a:p>
                  </a:txBody>
                  <a:tcPr>
                    <a:solidFill>
                      <a:srgbClr val="F7F8FA"/>
                    </a:solidFill>
                  </a:tcPr>
                </a:tc>
                <a:tc>
                  <a:txBody>
                    <a:bodyPr/>
                    <a:lstStyle/>
                    <a:p>
                      <a:pPr algn="ctr"/>
                      <a:r>
                        <a:rPr sz="800" b="0" i="0">
                          <a:solidFill>
                            <a:srgbClr val="0D0D0D"/>
                          </a:solidFill>
                          <a:latin typeface="Calibri"/>
                        </a:rPr>
                        <a:t>5600,0 %</a:t>
                      </a:r>
                    </a:p>
                  </a:txBody>
                  <a:tcPr>
                    <a:solidFill>
                      <a:srgbClr val="F7F8FA"/>
                    </a:solidFill>
                  </a:tcPr>
                </a:tc>
                <a:tc>
                  <a:txBody>
                    <a:bodyPr/>
                    <a:lstStyle/>
                    <a:p>
                      <a:pPr algn="ctr"/>
                      <a:r>
                        <a:rPr sz="800" b="0" i="0">
                          <a:solidFill>
                            <a:srgbClr val="0D0D0D"/>
                          </a:solidFill>
                          <a:latin typeface="Calibri"/>
                        </a:rPr>
                        <a:t>3500,0 %</a:t>
                      </a:r>
                    </a:p>
                  </a:txBody>
                  <a:tcPr>
                    <a:solidFill>
                      <a:srgbClr val="F7F8FA"/>
                    </a:solidFill>
                  </a:tcPr>
                </a:tc>
              </a:tr>
              <a:tr h="251999">
                <a:tc>
                  <a:txBody>
                    <a:bodyPr/>
                    <a:lstStyle/>
                    <a:p>
                      <a:pPr algn="l"/>
                      <a:r>
                        <a:rPr sz="800" b="0" i="0">
                          <a:solidFill>
                            <a:srgbClr val="0D0D0D"/>
                          </a:solidFill>
                          <a:latin typeface="Calibri"/>
                        </a:rPr>
                        <a:t>Meta Platforms</a:t>
                      </a:r>
                    </a:p>
                  </a:txBody>
                  <a:tcPr>
                    <a:solidFill>
                      <a:srgbClr val="FFFFFF"/>
                    </a:solidFill>
                  </a:tcPr>
                </a:tc>
                <a:tc>
                  <a:txBody>
                    <a:bodyPr/>
                    <a:lstStyle/>
                    <a:p>
                      <a:pPr algn="ctr"/>
                      <a:r>
                        <a:rPr sz="750" b="0" i="0">
                          <a:solidFill>
                            <a:srgbClr val="555555"/>
                          </a:solidFill>
                          <a:latin typeface="Calibri"/>
                        </a:rPr>
                        <a:t>META</a:t>
                      </a:r>
                    </a:p>
                  </a:txBody>
                  <a:tcPr>
                    <a:solidFill>
                      <a:srgbClr val="FFFFFF"/>
                    </a:solidFill>
                  </a:tcPr>
                </a:tc>
                <a:tc>
                  <a:txBody>
                    <a:bodyPr/>
                    <a:lstStyle/>
                    <a:p>
                      <a:pPr algn="ctr"/>
                      <a:r>
                        <a:rPr sz="800" b="0" i="0">
                          <a:solidFill>
                            <a:srgbClr val="0D0D0D"/>
                          </a:solidFill>
                          <a:latin typeface="Calibri"/>
                        </a:rPr>
                        <a:t>1 500,0</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9,1x</a:t>
                      </a:r>
                    </a:p>
                  </a:txBody>
                  <a:tcPr>
                    <a:solidFill>
                      <a:srgbClr val="FFFFFF"/>
                    </a:solidFill>
                  </a:tcPr>
                </a:tc>
                <a:tc>
                  <a:txBody>
                    <a:bodyPr/>
                    <a:lstStyle/>
                    <a:p>
                      <a:pPr algn="ctr"/>
                      <a:r>
                        <a:rPr sz="800" b="0" i="0">
                          <a:solidFill>
                            <a:srgbClr val="0D0D0D"/>
                          </a:solidFill>
                          <a:latin typeface="Calibri"/>
                        </a:rPr>
                        <a:t>25,3x</a:t>
                      </a:r>
                    </a:p>
                  </a:txBody>
                  <a:tcPr>
                    <a:solidFill>
                      <a:srgbClr val="FFFFFF"/>
                    </a:solidFill>
                  </a:tcPr>
                </a:tc>
                <a:tc>
                  <a:txBody>
                    <a:bodyPr/>
                    <a:lstStyle/>
                    <a:p>
                      <a:pPr algn="ctr"/>
                      <a:r>
                        <a:rPr sz="800" b="0" i="0">
                          <a:solidFill>
                            <a:srgbClr val="0D0D0D"/>
                          </a:solidFill>
                          <a:latin typeface="Calibri"/>
                        </a:rPr>
                        <a:t>8000,0 %</a:t>
                      </a:r>
                    </a:p>
                  </a:txBody>
                  <a:tcPr>
                    <a:solidFill>
                      <a:srgbClr val="FFFFFF"/>
                    </a:solidFill>
                  </a:tcPr>
                </a:tc>
                <a:tc>
                  <a:txBody>
                    <a:bodyPr/>
                    <a:lstStyle/>
                    <a:p>
                      <a:pPr algn="ctr"/>
                      <a:r>
                        <a:rPr sz="800" b="0" i="0">
                          <a:solidFill>
                            <a:srgbClr val="0D0D0D"/>
                          </a:solidFill>
                          <a:latin typeface="Calibri"/>
                        </a:rPr>
                        <a:t>5500,0 %</a:t>
                      </a:r>
                    </a:p>
                  </a:txBody>
                  <a:tcPr>
                    <a:solidFill>
                      <a:srgbClr val="FFFFFF"/>
                    </a:solidFill>
                  </a:tcPr>
                </a:tc>
              </a:tr>
              <a:tr h="251999">
                <a:tc>
                  <a:txBody>
                    <a:bodyPr/>
                    <a:lstStyle/>
                    <a:p>
                      <a:pPr algn="l"/>
                      <a:r>
                        <a:rPr sz="800" b="0" i="0">
                          <a:solidFill>
                            <a:srgbClr val="0D0D0D"/>
                          </a:solidFill>
                          <a:latin typeface="Calibri"/>
                        </a:rPr>
                        <a:t>Amazon</a:t>
                      </a:r>
                    </a:p>
                  </a:txBody>
                  <a:tcPr>
                    <a:solidFill>
                      <a:srgbClr val="F7F8FA"/>
                    </a:solidFill>
                  </a:tcPr>
                </a:tc>
                <a:tc>
                  <a:txBody>
                    <a:bodyPr/>
                    <a:lstStyle/>
                    <a:p>
                      <a:pPr algn="ctr"/>
                      <a:r>
                        <a:rPr sz="750" b="0" i="0">
                          <a:solidFill>
                            <a:srgbClr val="555555"/>
                          </a:solidFill>
                          <a:latin typeface="Calibri"/>
                        </a:rPr>
                        <a:t>AMZN</a:t>
                      </a:r>
                    </a:p>
                  </a:txBody>
                  <a:tcPr>
                    <a:solidFill>
                      <a:srgbClr val="F7F8FA"/>
                    </a:solidFill>
                  </a:tcPr>
                </a:tc>
                <a:tc>
                  <a:txBody>
                    <a:bodyPr/>
                    <a:lstStyle/>
                    <a:p>
                      <a:pPr algn="ctr"/>
                      <a:r>
                        <a:rPr sz="800" b="0" i="0">
                          <a:solidFill>
                            <a:srgbClr val="0D0D0D"/>
                          </a:solidFill>
                          <a:latin typeface="Calibri"/>
                        </a:rPr>
                        <a:t>1 800,0</a:t>
                      </a:r>
                    </a:p>
                  </a:txBody>
                  <a:tcPr>
                    <a:solidFill>
                      <a:srgbClr val="F7F8FA"/>
                    </a:solidFill>
                  </a:tcPr>
                </a:tc>
                <a:tc>
                  <a:txBody>
                    <a:bodyPr/>
                    <a:lstStyle/>
                    <a:p>
                      <a:pPr algn="ctr"/>
                      <a:r>
                        <a:rPr sz="800" b="0" i="0">
                          <a:solidFill>
                            <a:srgbClr val="0D0D0D"/>
                          </a:solidFill>
                          <a:latin typeface="Calibri"/>
                        </a:rPr>
                        <a:t>20,5x</a:t>
                      </a:r>
                    </a:p>
                  </a:txBody>
                  <a:tcPr>
                    <a:solidFill>
                      <a:srgbClr val="F7F8FA"/>
                    </a:solidFill>
                  </a:tcPr>
                </a:tc>
                <a:tc>
                  <a:txBody>
                    <a:bodyPr/>
                    <a:lstStyle/>
                    <a:p>
                      <a:pPr algn="ctr"/>
                      <a:r>
                        <a:rPr sz="800" b="0" i="0">
                          <a:solidFill>
                            <a:srgbClr val="0D0D0D"/>
                          </a:solidFill>
                          <a:latin typeface="Calibri"/>
                        </a:rPr>
                        <a:t>3,2x</a:t>
                      </a:r>
                    </a:p>
                  </a:txBody>
                  <a:tcPr>
                    <a:solidFill>
                      <a:srgbClr val="F7F8FA"/>
                    </a:solidFill>
                  </a:tcPr>
                </a:tc>
                <a:tc>
                  <a:txBody>
                    <a:bodyPr/>
                    <a:lstStyle/>
                    <a:p>
                      <a:pPr algn="ctr"/>
                      <a:r>
                        <a:rPr sz="800" b="0" i="0">
                          <a:solidFill>
                            <a:srgbClr val="0D0D0D"/>
                          </a:solidFill>
                          <a:latin typeface="Calibri"/>
                        </a:rPr>
                        <a:t>55,2x</a:t>
                      </a:r>
                    </a:p>
                  </a:txBody>
                  <a:tcPr>
                    <a:solidFill>
                      <a:srgbClr val="F7F8FA"/>
                    </a:solidFill>
                  </a:tcPr>
                </a:tc>
                <a:tc>
                  <a:txBody>
                    <a:bodyPr/>
                    <a:lstStyle/>
                    <a:p>
                      <a:pPr algn="ctr"/>
                      <a:r>
                        <a:rPr sz="800" b="0" i="0">
                          <a:solidFill>
                            <a:srgbClr val="0D0D0D"/>
                          </a:solidFill>
                          <a:latin typeface="Calibri"/>
                        </a:rPr>
                        <a:t>4500,0 %</a:t>
                      </a:r>
                    </a:p>
                  </a:txBody>
                  <a:tcPr>
                    <a:solidFill>
                      <a:srgbClr val="F7F8FA"/>
                    </a:solidFill>
                  </a:tcPr>
                </a:tc>
                <a:tc>
                  <a:txBody>
                    <a:bodyPr/>
                    <a:lstStyle/>
                    <a:p>
                      <a:pPr algn="ctr"/>
                      <a:r>
                        <a:rPr sz="800" b="0" i="0">
                          <a:solidFill>
                            <a:srgbClr val="0D0D0D"/>
                          </a:solidFill>
                          <a:latin typeface="Calibri"/>
                        </a:rPr>
                        <a:t>1200,0 %</a:t>
                      </a:r>
                    </a:p>
                  </a:txBody>
                  <a:tcPr>
                    <a:solidFill>
                      <a:srgbClr val="F7F8FA"/>
                    </a:solidFill>
                  </a:tcPr>
                </a:tc>
              </a:tr>
              <a:tr h="251999">
                <a:tc>
                  <a:txBody>
                    <a:bodyPr/>
                    <a:lstStyle/>
                    <a:p>
                      <a:pPr algn="l"/>
                      <a:r>
                        <a:rPr sz="800" b="0" i="0">
                          <a:solidFill>
                            <a:srgbClr val="0D0D0D"/>
                          </a:solidFill>
                          <a:latin typeface="Calibri"/>
                        </a:rPr>
                        <a:t>Tesla</a:t>
                      </a:r>
                    </a:p>
                  </a:txBody>
                  <a:tcPr>
                    <a:solidFill>
                      <a:srgbClr val="FFFFFF"/>
                    </a:solidFill>
                  </a:tcPr>
                </a:tc>
                <a:tc>
                  <a:txBody>
                    <a:bodyPr/>
                    <a:lstStyle/>
                    <a:p>
                      <a:pPr algn="ctr"/>
                      <a:r>
                        <a:rPr sz="750" b="0" i="0">
                          <a:solidFill>
                            <a:srgbClr val="555555"/>
                          </a:solidFill>
                          <a:latin typeface="Calibri"/>
                        </a:rPr>
                        <a:t>TSLA</a:t>
                      </a:r>
                    </a:p>
                  </a:txBody>
                  <a:tcPr>
                    <a:solidFill>
                      <a:srgbClr val="FFFFFF"/>
                    </a:solidFill>
                  </a:tcPr>
                </a:tc>
                <a:tc>
                  <a:txBody>
                    <a:bodyPr/>
                    <a:lstStyle/>
                    <a:p>
                      <a:pPr algn="ctr"/>
                      <a:r>
                        <a:rPr sz="800" b="0" i="0">
                          <a:solidFill>
                            <a:srgbClr val="0D0D0D"/>
                          </a:solidFill>
                          <a:latin typeface="Calibri"/>
                        </a:rPr>
                        <a:t>550,0</a:t>
                      </a:r>
                    </a:p>
                  </a:txBody>
                  <a:tcPr>
                    <a:solidFill>
                      <a:srgbClr val="FFFFFF"/>
                    </a:solidFill>
                  </a:tcPr>
                </a:tc>
                <a:tc>
                  <a:txBody>
                    <a:bodyPr/>
                    <a:lstStyle/>
                    <a:p>
                      <a:pPr algn="ctr"/>
                      <a:r>
                        <a:rPr sz="800" b="0" i="0">
                          <a:solidFill>
                            <a:srgbClr val="0D0D0D"/>
                          </a:solidFill>
                          <a:latin typeface="Calibri"/>
                        </a:rPr>
                        <a:t>35,8x</a:t>
                      </a:r>
                    </a:p>
                  </a:txBody>
                  <a:tcPr>
                    <a:solidFill>
                      <a:srgbClr val="FFFFFF"/>
                    </a:solidFill>
                  </a:tcPr>
                </a:tc>
                <a:tc>
                  <a:txBody>
                    <a:bodyPr/>
                    <a:lstStyle/>
                    <a:p>
                      <a:pPr algn="ctr"/>
                      <a:r>
                        <a:rPr sz="800" b="0" i="0">
                          <a:solidFill>
                            <a:srgbClr val="0D0D0D"/>
                          </a:solidFill>
                          <a:latin typeface="Calibri"/>
                        </a:rPr>
                        <a:t>8,9x</a:t>
                      </a:r>
                    </a:p>
                  </a:txBody>
                  <a:tcPr>
                    <a:solidFill>
                      <a:srgbClr val="FFFFFF"/>
                    </a:solidFill>
                  </a:tcPr>
                </a:tc>
                <a:tc>
                  <a:txBody>
                    <a:bodyPr/>
                    <a:lstStyle/>
                    <a:p>
                      <a:pPr algn="ctr"/>
                      <a:r>
                        <a:rPr sz="800" b="0" i="0">
                          <a:solidFill>
                            <a:srgbClr val="0D0D0D"/>
                          </a:solidFill>
                          <a:latin typeface="Calibri"/>
                        </a:rPr>
                        <a:t>60,1x</a:t>
                      </a:r>
                    </a:p>
                  </a:txBody>
                  <a:tcPr>
                    <a:solidFill>
                      <a:srgbClr val="FFFFFF"/>
                    </a:solidFill>
                  </a:tcPr>
                </a:tc>
                <a:tc>
                  <a:txBody>
                    <a:bodyPr/>
                    <a:lstStyle/>
                    <a:p>
                      <a:pPr algn="ctr"/>
                      <a:r>
                        <a:rPr sz="800" b="0" i="0">
                          <a:solidFill>
                            <a:srgbClr val="0D0D0D"/>
                          </a:solidFill>
                          <a:latin typeface="Calibri"/>
                        </a:rPr>
                        <a:t>1800,0 %</a:t>
                      </a:r>
                    </a:p>
                  </a:txBody>
                  <a:tcPr>
                    <a:solidFill>
                      <a:srgbClr val="FFFFFF"/>
                    </a:solidFill>
                  </a:tcPr>
                </a:tc>
                <a:tc>
                  <a:txBody>
                    <a:bodyPr/>
                    <a:lstStyle/>
                    <a:p>
                      <a:pPr algn="ctr"/>
                      <a:r>
                        <a:rPr sz="800" b="0" i="0">
                          <a:solidFill>
                            <a:srgbClr val="0D0D0D"/>
                          </a:solidFill>
                          <a:latin typeface="Calibri"/>
                        </a:rPr>
                        <a:t>1500,0 %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20,5x</a:t>
                      </a:r>
                    </a:p>
                  </a:txBody>
                  <a:tcPr>
                    <a:solidFill>
                      <a:srgbClr val="F7F8FA"/>
                    </a:solidFill>
                  </a:tcPr>
                </a:tc>
                <a:tc>
                  <a:txBody>
                    <a:bodyPr/>
                    <a:lstStyle/>
                    <a:p>
                      <a:pPr algn="ctr"/>
                      <a:r>
                        <a:rPr sz="800" b="1" i="0">
                          <a:solidFill>
                            <a:srgbClr val="0D0D0D"/>
                          </a:solidFill>
                          <a:latin typeface="Calibri"/>
                        </a:rPr>
                        <a:t>8,9x</a:t>
                      </a:r>
                    </a:p>
                  </a:txBody>
                  <a:tcPr>
                    <a:solidFill>
                      <a:srgbClr val="F7F8FA"/>
                    </a:solidFill>
                  </a:tcPr>
                </a:tc>
                <a:tc>
                  <a:txBody>
                    <a:bodyPr/>
                    <a:lstStyle/>
                    <a:p>
                      <a:pPr algn="ctr"/>
                      <a:r>
                        <a:rPr sz="800" b="1" i="0">
                          <a:solidFill>
                            <a:srgbClr val="0D0D0D"/>
                          </a:solidFill>
                          <a:latin typeface="Calibri"/>
                        </a:rPr>
                        <a:t>38,5x</a:t>
                      </a:r>
                    </a:p>
                  </a:txBody>
                  <a:tcPr>
                    <a:solidFill>
                      <a:srgbClr val="F7F8FA"/>
                    </a:solidFill>
                  </a:tcPr>
                </a:tc>
                <a:tc>
                  <a:txBody>
                    <a:bodyPr/>
                    <a:lstStyle/>
                    <a:p>
                      <a:pPr algn="ctr"/>
                      <a:r>
                        <a:rPr sz="800" b="1" i="0">
                          <a:solidFill>
                            <a:srgbClr val="0D0D0D"/>
                          </a:solidFill>
                          <a:latin typeface="Calibri"/>
                        </a:rPr>
                        <a:t>5600,0 %</a:t>
                      </a:r>
                    </a:p>
                  </a:txBody>
                  <a:tcPr>
                    <a:solidFill>
                      <a:srgbClr val="F7F8FA"/>
                    </a:solidFill>
                  </a:tcPr>
                </a:tc>
                <a:tc>
                  <a:txBody>
                    <a:bodyPr/>
                    <a:lstStyle/>
                    <a:p>
                      <a:pPr algn="ctr"/>
                      <a:r>
                        <a:rPr sz="800" b="1" i="0">
                          <a:solidFill>
                            <a:srgbClr val="0D0D0D"/>
                          </a:solidFill>
                          <a:latin typeface="Calibri"/>
                        </a:rPr>
                        <a:t>3500,0 %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affiche un EV/EBITDA de 26.2x vs 22.5x pour la médiane peers (MSFT, GOOGL, META, AMZN, TSLA), soit une prime de 16%. Cette prime est justifiée par des marges supérieures (EBITDA 34.8% vs 28% peers) et une croissance des services plus rapide. Une convergence vers la médiane impliquerait un downside de 10%, mais peu probable à court terme.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10.3% et une TGR de 3.0%, le DCF implicite suggère un cours de 285$ (base), soit un upside de 12% vs le cours actuel. La prime de croissance est partiellement déjà pricee, mais justifiée par l'expansion des services et l'IA. Un catalyseur comme un succès commercial de l'iPhone 16 pourrait déclencher un re-rating.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Marges en érosion</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Les marges premium de 46.9% reposent sur un écosystème captif, mais la guerre des prix en Chine (iPhone 15 à -20% vs 2023) réduit déjà les prix de vente moyens de 8% en 2024, menaçant la rentabilité. Les marges nettes de 26.9% pourraient chuter sous 20% si la part de marché en Chine passe sous 20%, comme en 2019.</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Dépendance services</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Les 151.9% de ROE masquent une dépendance extrême aux services (30% des revenus), dont la croissance ralentit à +5% en 2024 contre +15% en 2021, fragilisant la valorisation.</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Surévaluation</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P/E de 33.26x suppose une croissance perpétuelle des services, mais leur contribution aux revenus pourrait plafonner à 35% dès 2026, selon les projections de Counterpoint Research, invalidant le multiple actuel.</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avec -3% de PIB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stricte sur l'IA générative en UE/US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commercial de l'iPhone 16 avec -10% de ventes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46000"/>
            <a:ext cx="2696400" cy="288000"/>
          </a:xfrm>
          <a:prstGeom prst="rect">
            <a:avLst/>
          </a:prstGeom>
          <a:noFill/>
        </p:spPr>
        <p:txBody>
          <a:bodyPr wrap="square">
            <a:spAutoFit/>
          </a:bodyPr>
          <a:lstStyle/>
          <a:p>
            <a:pPr algn="l"/>
            <a:r>
              <a:rPr sz="750" b="0" i="0">
                <a:solidFill>
                  <a:srgbClr val="1B3A6B"/>
                </a:solidFill>
                <a:latin typeface="Calibri"/>
              </a:rPr>
              <a:t>Detresse : 49/100 — Vigilance</a:t>
            </a:r>
          </a:p>
        </p:txBody>
      </p:sp>
      <p:sp>
        <p:nvSpPr>
          <p:cNvPr id="35" name="Rectangle 34"/>
          <p:cNvSpPr/>
          <p:nvPr/>
        </p:nvSpPr>
        <p:spPr>
          <a:xfrm>
            <a:off x="32436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46000"/>
            <a:ext cx="2696400" cy="288000"/>
          </a:xfrm>
          <a:prstGeom prst="rect">
            <a:avLst/>
          </a:prstGeom>
          <a:noFill/>
        </p:spPr>
        <p:txBody>
          <a:bodyPr wrap="square">
            <a:spAutoFit/>
          </a:bodyPr>
          <a:lstStyle/>
          <a:p>
            <a:pPr algn="l"/>
            <a:r>
              <a:rPr sz="750" b="0" i="0">
                <a:solidFill>
                  <a:srgbClr val="1B3A6B"/>
                </a:solidFill>
                <a:latin typeface="Calibri"/>
              </a:rPr>
              <a:t>M&amp;A : 42/100 — Moderate</a:t>
            </a:r>
          </a:p>
        </p:txBody>
      </p:sp>
      <p:sp>
        <p:nvSpPr>
          <p:cNvPr id="38" name="Rectangle 37"/>
          <p:cNvSpPr/>
          <p:nvPr/>
        </p:nvSpPr>
        <p:spPr>
          <a:xfrm>
            <a:off x="61236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46000"/>
            <a:ext cx="2696400" cy="288000"/>
          </a:xfrm>
          <a:prstGeom prst="rect">
            <a:avLst/>
          </a:prstGeom>
          <a:noFill/>
        </p:spPr>
        <p:txBody>
          <a:bodyPr wrap="square">
            <a:spAutoFit/>
          </a:bodyPr>
          <a:lstStyle/>
          <a:p>
            <a:pPr algn="l"/>
            <a:r>
              <a:rPr sz="750" b="0" i="0">
                <a:solidFill>
                  <a:srgbClr val="1B3A6B"/>
                </a:solidFill>
                <a:latin typeface="Calibri"/>
              </a:rPr>
              <a:t>Regime : Volatile  Rec.6M:26%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+0,099</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61,7 %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4</a:t>
                      </a:r>
                    </a:p>
                  </a:txBody>
                  <a:tcPr>
                    <a:solidFill>
                      <a:srgbClr val="EAF4EF"/>
                    </a:solidFill>
                  </a:tcPr>
                </a:tc>
                <a:tc>
                  <a:txBody>
                    <a:bodyPr/>
                    <a:lstStyle/>
                    <a:p>
                      <a:pPr algn="ctr"/>
                      <a:r>
                        <a:rPr sz="800" b="0" i="0">
                          <a:solidFill>
                            <a:srgbClr val="0D0D0D"/>
                          </a:solidFill>
                          <a:latin typeface="Calibri"/>
                        </a:rPr>
                        <a:t>+0,241</a:t>
                      </a:r>
                    </a:p>
                  </a:txBody>
                  <a:tcPr>
                    <a:solidFill>
                      <a:srgbClr val="EAF4EF"/>
                    </a:solidFill>
                  </a:tcPr>
                </a:tc>
                <a:tc>
                  <a:txBody>
                    <a:bodyPr/>
                    <a:lstStyle/>
                    <a:p>
                      <a:pPr algn="ctr"/>
                      <a:r>
                        <a:rPr sz="800" b="0" i="0">
                          <a:solidFill>
                            <a:srgbClr val="0D0D0D"/>
                          </a:solidFill>
                          <a:latin typeface="Calibri"/>
                        </a:rPr>
                        <a:t>Lancement iPhone 16 en 2026 avec +8% de ventes unitaires et +12% de CA segment | Impact direct sur le CA 2026 de +50 Mds$ et marge brute à 48% | Horizon : 12 mois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22</a:t>
                      </a:r>
                    </a:p>
                  </a:txBody>
                  <a:tcPr>
                    <a:solidFill>
                      <a:srgbClr val="FFFFFF"/>
                    </a:solidFill>
                  </a:tcPr>
                </a:tc>
                <a:tc>
                  <a:txBody>
                    <a:bodyPr/>
                    <a:lstStyle/>
                    <a:p>
                      <a:pPr algn="ctr"/>
                      <a:r>
                        <a:rPr sz="800" b="0" i="0">
                          <a:solidFill>
                            <a:srgbClr val="0D0D0D"/>
                          </a:solidFill>
                          <a:latin typeface="Calibri"/>
                        </a:rPr>
                        <a:t>+0,617</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4</a:t>
                      </a:r>
                    </a:p>
                  </a:txBody>
                  <a:tcPr>
                    <a:solidFill>
                      <a:srgbClr val="FAF0EF"/>
                    </a:solidFill>
                  </a:tcPr>
                </a:tc>
                <a:tc>
                  <a:txBody>
                    <a:bodyPr/>
                    <a:lstStyle/>
                    <a:p>
                      <a:pPr algn="ctr"/>
                      <a:r>
                        <a:rPr sz="800" b="0" i="0">
                          <a:solidFill>
                            <a:srgbClr val="0D0D0D"/>
                          </a:solidFill>
                          <a:latin typeface="Calibri"/>
                        </a:rPr>
                        <a:t>+0,142</a:t>
                      </a:r>
                    </a:p>
                  </a:txBody>
                  <a:tcPr>
                    <a:solidFill>
                      <a:srgbClr val="FAF0EF"/>
                    </a:solidFill>
                  </a:tcPr>
                </a:tc>
                <a:tc>
                  <a:txBody>
                    <a:bodyPr/>
                    <a:lstStyle/>
                    <a:p>
                      <a:pPr algn="ctr"/>
                      <a:r>
                        <a:rPr sz="800" b="0" i="0">
                          <a:solidFill>
                            <a:srgbClr val="0D0D0D"/>
                          </a:solidFill>
                          <a:latin typeface="Calibri"/>
                        </a:rPr>
                        <a:t>Régulation européenne sur l'App Store en 2026 avec amende potentielle de 5 Mds$ | Impact sur la marge services et la croissance abonnements | Horizon : 6-12 mois, ampleur : -3% CA</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Le sentiment neutre + (score +0.099) est basé sur 30 articles analysés sur 7 jours. Confiance IA : 62%. Cohérence avec la recommandation BUY : validée.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se négocie à 26.2x EV/EBITDA vs 22.5x pour la médiane peers, justifié par une croissance supérieure et des marges durables. La prime de 16% est cohérente avec son leadership technologique et sa résilience cyclique.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1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253,79 $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+19,9 %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834096"/>
            <a:ext cx="498636" cy="1061103"/>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nettes à 26.9% et un ROIC de 84.4%, malgré un environnement macroéconomique incertain. La valorisation reste attractive face à ses pairs, avec un upside potentiel de 12% sur la base d'une prime de croissance justifiée par l'i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