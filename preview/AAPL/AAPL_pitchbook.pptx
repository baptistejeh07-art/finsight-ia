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+10,5 %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+10,5 %  ·  Bear : 240 $ (-7,0 %)  ·  Bull : 310 $ (+20,1 %)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La croissance du CA de 6,4 % en 2025 est soutenue par un mix produits favorable et une demande résiliente en services à +15 % YoY</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Les marges nettes à 26,9 % reflètent un levier opérationnel de +290 pbs vs 2022 grâce au mix logiciel-services et à l'effet volume</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Services récurrents</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L'Apple Intelligence et les services cloud pourraient ajouter 5-7 % au CA d'ici 2027.</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européenne DMA réduisant les marges App Store de -5 % d'ici 2026</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Concurrence accrue en IA (Google, Microsoft) menaçant le pricing power</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Ralentissement économique en Chine (-3 % CA 2026 si récession)</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Apple Intelligence: Lancement en 2026 de l'IA intégrée aux</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Expansion Asie: Croissance du CA en Chine de +10 % en 2026 grâce</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33,8x</a:t>
                      </a:r>
                    </a:p>
                  </a:txBody>
                  <a:tcPr>
                    <a:solidFill>
                      <a:srgbClr val="FFFFFF"/>
                    </a:solidFill>
                  </a:tcPr>
                </a:tc>
                <a:tc>
                  <a:txBody>
                    <a:bodyPr/>
                    <a:lstStyle/>
                    <a:p>
                      <a:pPr algn="ctr"/>
                      <a:r>
                        <a:rPr sz="800" b="0" i="0">
                          <a:solidFill>
                            <a:srgbClr val="0D0D0D"/>
                          </a:solidFill>
                          <a:latin typeface="Calibri"/>
                        </a:rPr>
                        <a:t>30,0x</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26,6x</a:t>
                      </a:r>
                    </a:p>
                  </a:txBody>
                  <a:tcPr>
                    <a:solidFill>
                      <a:srgbClr val="F7F8FA"/>
                    </a:solidFill>
                  </a:tcPr>
                </a:tc>
                <a:tc>
                  <a:txBody>
                    <a:bodyPr/>
                    <a:lstStyle/>
                    <a:p>
                      <a:pPr algn="ctr"/>
                      <a:r>
                        <a:rPr sz="800" b="0" i="0">
                          <a:solidFill>
                            <a:srgbClr val="0D0D0D"/>
                          </a:solidFill>
                          <a:latin typeface="Calibri"/>
                        </a:rPr>
                        <a:t>20,3x</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285 $</a:t>
                      </a:r>
                    </a:p>
                  </a:txBody>
                  <a:tcPr>
                    <a:solidFill>
                      <a:srgbClr val="FFFFFF"/>
                    </a:solidFill>
                  </a:tcPr>
                </a:tc>
                <a:tc>
                  <a:txBody>
                    <a:bodyPr/>
                    <a:lstStyle/>
                    <a:p>
                      <a:pPr algn="ctr"/>
                      <a:r>
                        <a:rPr sz="800" b="0" i="0">
                          <a:solidFill>
                            <a:srgbClr val="0D0D0D"/>
                          </a:solidFill>
                          <a:latin typeface="Calibri"/>
                        </a:rPr>
                        <a:t>Upside +10,5 %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26,6x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20,3x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10,2 %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+10,5 %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+0,116</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haut de gamme comme l'iPhone, Mac et l'Apple Watch, tout en dominant les services à forte marge (App Store, iCloud, Apple Music). Positionné en leader premium, l'entreprise bénéficie d'une fidélisation client exceptionnelle et d'un écosystème fermé générant des revenus récurrents. Son avantage concurrentiel repose sur l'intégration hardware-logiciel-services, créant des barrières à l'entrée durables.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phare générant 75 % du CA, avec l'iPhone (50 % du total) comme moteur principal, suivi des Mac et iPad. Modèle basé sur des cycles de renouvellement annuels et une stratégie de prix premium ciblant les consommateurs et entreprises. Croissance tirée par l'innovation (ex: puces M-series) et l'expansion géographique en Asie.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forte expansion (25 % du CA) incluant l'App Store, Apple Music, iCloud et Apple Pay. Modèle abonnements récurrents avec marge brute &gt;70 % et croissance YoY à deux chiffres. Cible une base d'utilisateurs fidèles et monétise l'engagement via des services intégrés. Moteurs : expansion géographique et hausse des prix des abonnements.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3 788,2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258,03 $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26,6x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33,8x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75%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générant 75 % du CA, avec l'iPhone (50 % du total) comme moteur principal, suivi des Mac et iPad. Modèle basé sur des cycles de renouvellement annuels et une stratégie de prix premium ciblant les consommateurs et entreprises. Croissance tirée par l'innovation (ex: puces M-series) et l'expansion géographique en Asie.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forte expansion (25 % du CA) incluant l'App Store, Apple Music, iCloud et Apple Pay. Modèle abonnements récurrents avec marge brute &gt;70 % et croissance YoY à deux chiffres. Cible une base d'utilisateurs fidèles et monétise l'engagement via des services intégrés. Moteurs : expansion géographique et hausse des prix des abonnements.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440,0</a:t>
                      </a:r>
                    </a:p>
                  </a:txBody>
                  <a:tcPr>
                    <a:solidFill>
                      <a:srgbClr val="FFFFFF"/>
                    </a:solidFill>
                  </a:tcPr>
                </a:tc>
                <a:tc>
                  <a:txBody>
                    <a:bodyPr/>
                    <a:lstStyle/>
                    <a:p>
                      <a:pPr algn="ctr"/>
                      <a:r>
                        <a:rPr sz="800" b="1" i="0">
                          <a:solidFill>
                            <a:srgbClr val="0D0D0D"/>
                          </a:solidFill>
                          <a:latin typeface="Calibri"/>
                        </a:rPr>
                        <a:t>465,0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+5,7 %</a:t>
                      </a:r>
                    </a:p>
                  </a:txBody>
                  <a:tcPr>
                    <a:solidFill>
                      <a:srgbClr val="F7F8FA"/>
                    </a:solidFill>
                  </a:tcPr>
                </a:tc>
                <a:tc>
                  <a:txBody>
                    <a:bodyPr/>
                    <a:lstStyle/>
                    <a:p>
                      <a:pPr algn="ctr"/>
                      <a:r>
                        <a:rPr sz="750" b="0" i="1">
                          <a:solidFill>
                            <a:srgbClr val="555555"/>
                          </a:solidFill>
                          <a:latin typeface="Calibri"/>
                        </a:rPr>
                        <a:t>+5,7 %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207,7</a:t>
                      </a:r>
                    </a:p>
                  </a:txBody>
                  <a:tcPr>
                    <a:solidFill>
                      <a:srgbClr val="FFFFFF"/>
                    </a:solidFill>
                  </a:tcPr>
                </a:tc>
                <a:tc>
                  <a:txBody>
                    <a:bodyPr/>
                    <a:lstStyle/>
                    <a:p>
                      <a:pPr algn="ctr"/>
                      <a:r>
                        <a:rPr sz="800" b="1" i="0">
                          <a:solidFill>
                            <a:srgbClr val="0D0D0D"/>
                          </a:solidFill>
                          <a:latin typeface="Calibri"/>
                        </a:rPr>
                        <a:t>220,9</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155,0</a:t>
                      </a:r>
                    </a:p>
                  </a:txBody>
                  <a:tcPr>
                    <a:solidFill>
                      <a:srgbClr val="FFFFFF"/>
                    </a:solidFill>
                  </a:tcPr>
                </a:tc>
                <a:tc>
                  <a:txBody>
                    <a:bodyPr/>
                    <a:lstStyle/>
                    <a:p>
                      <a:pPr algn="ctr"/>
                      <a:r>
                        <a:rPr sz="800" b="1" i="0">
                          <a:solidFill>
                            <a:srgbClr val="0D0D0D"/>
                          </a:solidFill>
                          <a:latin typeface="Calibri"/>
                        </a:rPr>
                        <a:t>165,0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35,2 %</a:t>
                      </a:r>
                    </a:p>
                  </a:txBody>
                  <a:tcPr>
                    <a:solidFill>
                      <a:srgbClr val="F7F8FA"/>
                    </a:solidFill>
                  </a:tcPr>
                </a:tc>
                <a:tc>
                  <a:txBody>
                    <a:bodyPr/>
                    <a:lstStyle/>
                    <a:p>
                      <a:pPr algn="ctr"/>
                      <a:r>
                        <a:rPr sz="750" b="0" i="1">
                          <a:solidFill>
                            <a:srgbClr val="555555"/>
                          </a:solidFill>
                          <a:latin typeface="Calibri"/>
                        </a:rPr>
                        <a:t>35,5 %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118,0</a:t>
                      </a:r>
                    </a:p>
                  </a:txBody>
                  <a:tcPr>
                    <a:solidFill>
                      <a:srgbClr val="FFFFFF"/>
                    </a:solidFill>
                  </a:tcPr>
                </a:tc>
                <a:tc>
                  <a:txBody>
                    <a:bodyPr/>
                    <a:lstStyle/>
                    <a:p>
                      <a:pPr algn="ctr"/>
                      <a:r>
                        <a:rPr sz="800" b="1" i="0">
                          <a:solidFill>
                            <a:srgbClr val="0D0D0D"/>
                          </a:solidFill>
                          <a:latin typeface="Calibri"/>
                        </a:rPr>
                        <a:t>126,0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26,8 %</a:t>
                      </a:r>
                    </a:p>
                  </a:txBody>
                  <a:tcPr>
                    <a:solidFill>
                      <a:srgbClr val="F7F8FA"/>
                    </a:solidFill>
                  </a:tcPr>
                </a:tc>
                <a:tc>
                  <a:txBody>
                    <a:bodyPr/>
                    <a:lstStyle/>
                    <a:p>
                      <a:pPr algn="ctr"/>
                      <a:r>
                        <a:rPr sz="750" b="0" i="1">
                          <a:solidFill>
                            <a:srgbClr val="555555"/>
                          </a:solidFill>
                          <a:latin typeface="Calibri"/>
                        </a:rPr>
                        <a:t>27,1 %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188000"/>
          </a:xfrm>
          <a:prstGeom prst="rect">
            <a:avLst/>
          </a:prstGeom>
          <a:noFill/>
        </p:spPr>
        <p:txBody>
          <a:bodyPr wrap="square">
            <a:spAutoFit/>
          </a:bodyPr>
          <a:lstStyle/>
          <a:p>
            <a:pPr algn="l"/>
            <a:r>
              <a:rPr sz="850" b="0" i="0">
                <a:solidFill>
                  <a:srgbClr val="555555"/>
                </a:solidFill>
                <a:latin typeface="Calibri"/>
              </a:rPr>
              <a:t>Le CA 2025 atteint 416,2 Md$ (+6,4 % YoY), porté par un mix favorable iPhone/services et une demande résiliente en Chine. Les marges nettes à 26,9 % bénéficient d'un levier opérationnel de +290 pbs vs 2022 grâce au mix logiciel-services et à l'effet volume. Le ND/EBITDA à 0,4x et la trésorerie nette de 166 Md$ (mars 2025) permettent un rachat massif d'actions (10 Md$/trimestre) ou des dividendes.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68000"/>
            <a:ext cx="8413200" cy="4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68000"/>
            <a:ext cx="79200" cy="46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96800"/>
            <a:ext cx="8298000" cy="432000"/>
          </a:xfrm>
          <a:prstGeom prst="rect">
            <a:avLst/>
          </a:prstGeom>
          <a:noFill/>
        </p:spPr>
        <p:txBody>
          <a:bodyPr wrap="square">
            <a:spAutoFit/>
          </a:bodyPr>
          <a:lstStyle/>
          <a:p>
            <a:pPr algn="l"/>
            <a:r>
              <a:rPr sz="850" b="0" i="0">
                <a:solidFill>
                  <a:srgbClr val="555555"/>
                </a:solidFill>
                <a:latin typeface="Calibri"/>
              </a:rPr>
              <a:t>Le CA 2025 atteint 416,2 Md$ (+6,4 % YoY), porté par un mix favorable iPhone/services et une demande résiliente en Chine. Les marges nettes à 26,9 % bénéficient d'un levier opérationnel de +290 pbs vs 2022 grâce au mix logiciel-services et à l'effet volume. Le ND/EBITDA à 0,4x et la trésorerie nette de 166 Md$ (mars 2025) permettent un rachat massif d'actions (10 Md$/trimestre) ou des dividendes.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788400"/>
          </a:xfrm>
          <a:prstGeom prst="rect">
            <a:avLst/>
          </a:prstGeom>
          <a:noFill/>
        </p:spPr>
        <p:txBody>
          <a:bodyPr wrap="square">
            <a:spAutoFit/>
          </a:bodyPr>
          <a:lstStyle/>
          <a:p>
            <a:pPr algn="l"/>
            <a:r>
              <a:rPr sz="850" b="0" i="0">
                <a:solidFill>
                  <a:srgbClr val="555555"/>
                </a:solidFill>
                <a:latin typeface="Calibri"/>
              </a:rPr>
              <a:t>Les marges brutes sont passées de 43,3 % en 2022 à 46,9 % en 2025, grâce à un mix produits favorable (hausse des services à +70 % de marge) et à des économies d'échelle sur les coûts de production. Les marges EBITDA ont progressé de 33,1 % à 34,8 % sur la même période, reflétant une meilleure allocation des coûts fixes. Cette trajectoire est durable grâce au pricing power et à la résilience de la demande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-7,0 %</a:t>
                      </a:r>
                    </a:p>
                  </a:txBody>
                  <a:tcPr>
                    <a:solidFill>
                      <a:srgbClr val="FAF0EF"/>
                    </a:solidFill>
                  </a:tcPr>
                </a:tc>
                <a:tc>
                  <a:txBody>
                    <a:bodyPr/>
                    <a:lstStyle/>
                    <a:p>
                      <a:pPr algn="ctr"/>
                      <a:r>
                        <a:rPr sz="1200" b="1" i="0">
                          <a:solidFill>
                            <a:srgbClr val="2E5FA3"/>
                          </a:solidFill>
                          <a:latin typeface="Calibri"/>
                        </a:rPr>
                        <a:t>+10,5 %</a:t>
                      </a:r>
                    </a:p>
                  </a:txBody>
                  <a:tcPr>
                    <a:solidFill>
                      <a:srgbClr val="EEF3FA"/>
                    </a:solidFill>
                  </a:tcPr>
                </a:tc>
                <a:tc>
                  <a:txBody>
                    <a:bodyPr/>
                    <a:lstStyle/>
                    <a:p>
                      <a:pPr algn="ctr"/>
                      <a:r>
                        <a:rPr sz="1200" b="1" i="0">
                          <a:solidFill>
                            <a:srgbClr val="1A7A4A"/>
                          </a:solidFill>
                          <a:latin typeface="Calibri"/>
                        </a:rPr>
                        <a:t>+20,1 %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308 $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+19,2 %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+113,1 %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511200"/>
          </a:xfrm>
          <a:prstGeom prst="rect">
            <a:avLst/>
          </a:prstGeom>
          <a:noFill/>
        </p:spPr>
        <p:txBody>
          <a:bodyPr wrap="square">
            <a:spAutoFit/>
          </a:bodyPr>
          <a:lstStyle/>
          <a:p>
            <a:pPr algn="l"/>
            <a:r>
              <a:rPr sz="850" b="0" i="0">
                <a:solidFill>
                  <a:srgbClr val="555555"/>
                </a:solidFill>
                <a:latin typeface="Calibri"/>
              </a:rPr>
              <a:t>Avec un WACC de 10,2 % et un TGR de 3,0 %, le prix implicite DCF est de 285 $ (base), soit un upside de 10,5 % vs le cours actuel. Cette valorisation intègre une croissance des services à +12 %/an et une stabilité des marges. Un upside significatif nécessiterait une accélération des revenus IA ou une expansion géo.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3 788,2</a:t>
                      </a:r>
                    </a:p>
                  </a:txBody>
                  <a:tcPr>
                    <a:solidFill>
                      <a:srgbClr val="DDE8F5"/>
                    </a:solidFill>
                  </a:tcPr>
                </a:tc>
                <a:tc>
                  <a:txBody>
                    <a:bodyPr/>
                    <a:lstStyle/>
                    <a:p>
                      <a:pPr algn="ctr"/>
                      <a:r>
                        <a:rPr sz="800" b="1" i="0">
                          <a:solidFill>
                            <a:srgbClr val="1B3A6B"/>
                          </a:solidFill>
                          <a:latin typeface="Calibri"/>
                        </a:rPr>
                        <a:t>26,6x</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33,8x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11,8x</a:t>
                      </a:r>
                    </a:p>
                  </a:txBody>
                  <a:tcPr>
                    <a:solidFill>
                      <a:srgbClr val="FFFFFF"/>
                    </a:solidFill>
                  </a:tcPr>
                </a:tc>
                <a:tc>
                  <a:txBody>
                    <a:bodyPr/>
                    <a:lstStyle/>
                    <a:p>
                      <a:pPr algn="ctr"/>
                      <a:r>
                        <a:rPr sz="800" b="0" i="0">
                          <a:solidFill>
                            <a:srgbClr val="0D0D0D"/>
                          </a:solidFill>
                          <a:latin typeface="Calibri"/>
                        </a:rPr>
                        <a:t>36,2x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22,1x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r>
              <a:tr h="251999">
                <a:tc>
                  <a:txBody>
                    <a:bodyPr/>
                    <a:lstStyle/>
                    <a:p>
                      <a:pPr algn="l"/>
                      <a:r>
                        <a:rPr sz="800" b="0" i="0">
                          <a:solidFill>
                            <a:srgbClr val="0D0D0D"/>
                          </a:solidFill>
                          <a:latin typeface="Calibri"/>
                        </a:rPr>
                        <a:t>Amazon</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1 800,0</a:t>
                      </a:r>
                    </a:p>
                  </a:txBody>
                  <a:tcPr>
                    <a:solidFill>
                      <a:srgbClr val="FFFFFF"/>
                    </a:solidFill>
                  </a:tcPr>
                </a:tc>
                <a:tc>
                  <a:txBody>
                    <a:bodyPr/>
                    <a:lstStyle/>
                    <a:p>
                      <a:pPr algn="ctr"/>
                      <a:r>
                        <a:rPr sz="800" b="0" i="0">
                          <a:solidFill>
                            <a:srgbClr val="0D0D0D"/>
                          </a:solidFill>
                          <a:latin typeface="Calibri"/>
                        </a:rPr>
                        <a:t>20,3x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55,0x</a:t>
                      </a:r>
                    </a:p>
                  </a:txBody>
                  <a:tcPr>
                    <a:solidFill>
                      <a:srgbClr val="FFFFFF"/>
                    </a:solidFill>
                  </a:tcPr>
                </a:tc>
                <a:tc>
                  <a:txBody>
                    <a:bodyPr/>
                    <a:lstStyle/>
                    <a:p>
                      <a:pPr algn="ctr"/>
                      <a:r>
                        <a:rPr sz="800" b="0" i="0">
                          <a:solidFill>
                            <a:srgbClr val="0D0D0D"/>
                          </a:solidFill>
                          <a:latin typeface="Calibri"/>
                        </a:rPr>
                        <a:t>44,0 %</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r>
              <a:tr h="251999">
                <a:tc>
                  <a:txBody>
                    <a:bodyPr/>
                    <a:lstStyle/>
                    <a:p>
                      <a:pPr algn="l"/>
                      <a:r>
                        <a:rPr sz="800" b="0" i="0">
                          <a:solidFill>
                            <a:srgbClr val="0D0D0D"/>
                          </a:solidFill>
                          <a:latin typeface="Calibri"/>
                        </a:rPr>
                        <a:t>Samsung Electronics</a:t>
                      </a:r>
                    </a:p>
                  </a:txBody>
                  <a:tcPr>
                    <a:solidFill>
                      <a:srgbClr val="F7F8FA"/>
                    </a:solidFill>
                  </a:tcPr>
                </a:tc>
                <a:tc>
                  <a:txBody>
                    <a:bodyPr/>
                    <a:lstStyle/>
                    <a:p>
                      <a:pPr algn="ctr"/>
                      <a:r>
                        <a:rPr sz="750" b="0" i="0">
                          <a:solidFill>
                            <a:srgbClr val="555555"/>
                          </a:solidFill>
                          <a:latin typeface="Calibri"/>
                        </a:rPr>
                        <a:t>005930.KS</a:t>
                      </a:r>
                    </a:p>
                  </a:txBody>
                  <a:tcPr>
                    <a:solidFill>
                      <a:srgbClr val="F7F8FA"/>
                    </a:solidFill>
                  </a:tcPr>
                </a:tc>
                <a:tc>
                  <a:txBody>
                    <a:bodyPr/>
                    <a:lstStyle/>
                    <a:p>
                      <a:pPr algn="ctr"/>
                      <a:r>
                        <a:rPr sz="800" b="0" i="0">
                          <a:solidFill>
                            <a:srgbClr val="0D0D0D"/>
                          </a:solidFill>
                          <a:latin typeface="Calibri"/>
                        </a:rPr>
                        <a:t>450,0</a:t>
                      </a:r>
                    </a:p>
                  </a:txBody>
                  <a:tcPr>
                    <a:solidFill>
                      <a:srgbClr val="F7F8FA"/>
                    </a:solidFill>
                  </a:tcPr>
                </a:tc>
                <a:tc>
                  <a:txBody>
                    <a:bodyPr/>
                    <a:lstStyle/>
                    <a:p>
                      <a:pPr algn="ctr"/>
                      <a:r>
                        <a:rPr sz="800" b="0" i="0">
                          <a:solidFill>
                            <a:srgbClr val="0D0D0D"/>
                          </a:solidFill>
                          <a:latin typeface="Calibri"/>
                        </a:rPr>
                        <a:t>8,2x</a:t>
                      </a:r>
                    </a:p>
                  </a:txBody>
                  <a:tcPr>
                    <a:solidFill>
                      <a:srgbClr val="F7F8FA"/>
                    </a:solidFill>
                  </a:tcPr>
                </a:tc>
                <a:tc>
                  <a:txBody>
                    <a:bodyPr/>
                    <a:lstStyle/>
                    <a:p>
                      <a:pPr algn="ctr"/>
                      <a:r>
                        <a:rPr sz="800" b="0" i="0">
                          <a:solidFill>
                            <a:srgbClr val="0D0D0D"/>
                          </a:solidFill>
                          <a:latin typeface="Calibri"/>
                        </a:rPr>
                        <a:t>1,5x</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40,0 %</a:t>
                      </a:r>
                    </a:p>
                  </a:txBody>
                  <a:tcPr>
                    <a:solidFill>
                      <a:srgbClr val="F7F8FA"/>
                    </a:solidFill>
                  </a:tcPr>
                </a:tc>
                <a:tc>
                  <a:txBody>
                    <a:bodyPr/>
                    <a:lstStyle/>
                    <a:p>
                      <a:pPr algn="ctr"/>
                      <a:r>
                        <a:rPr sz="800" b="0" i="0">
                          <a:solidFill>
                            <a:srgbClr val="0D0D0D"/>
                          </a:solidFill>
                          <a:latin typeface="Calibri"/>
                        </a:rPr>
                        <a:t>20,0 %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1 300,0</a:t>
                      </a:r>
                    </a:p>
                  </a:txBody>
                  <a:tcPr>
                    <a:solidFill>
                      <a:srgbClr val="FFFFFF"/>
                    </a:solidFill>
                  </a:tcPr>
                </a:tc>
                <a:tc>
                  <a:txBody>
                    <a:bodyPr/>
                    <a:lstStyle/>
                    <a:p>
                      <a:pPr algn="ctr"/>
                      <a:r>
                        <a:rPr sz="800" b="0" i="0">
                          <a:solidFill>
                            <a:srgbClr val="0D0D0D"/>
                          </a:solidFill>
                          <a:latin typeface="Calibri"/>
                        </a:rPr>
                        <a:t>18,5x</a:t>
                      </a:r>
                    </a:p>
                  </a:txBody>
                  <a:tcPr>
                    <a:solidFill>
                      <a:srgbClr val="FFFFFF"/>
                    </a:solidFill>
                  </a:tcPr>
                </a:tc>
                <a:tc>
                  <a:txBody>
                    <a:bodyPr/>
                    <a:lstStyle/>
                    <a:p>
                      <a:pPr algn="ctr"/>
                      <a:r>
                        <a:rPr sz="800" b="0" i="0">
                          <a:solidFill>
                            <a:srgbClr val="0D0D0D"/>
                          </a:solidFill>
                          <a:latin typeface="Calibri"/>
                        </a:rPr>
                        <a:t>10,2x</a:t>
                      </a:r>
                    </a:p>
                  </a:txBody>
                  <a:tcPr>
                    <a:solidFill>
                      <a:srgbClr val="FFFFFF"/>
                    </a:solidFill>
                  </a:tcPr>
                </a:tc>
                <a:tc>
                  <a:txBody>
                    <a:bodyPr/>
                    <a:lstStyle/>
                    <a:p>
                      <a:pPr algn="ctr"/>
                      <a:r>
                        <a:rPr sz="800" b="0" i="0">
                          <a:solidFill>
                            <a:srgbClr val="0D0D0D"/>
                          </a:solidFill>
                          <a:latin typeface="Calibri"/>
                        </a:rPr>
                        <a:t>30,0x</a:t>
                      </a:r>
                    </a:p>
                  </a:txBody>
                  <a:tcPr>
                    <a:solidFill>
                      <a:srgbClr val="FFFFFF"/>
                    </a:solidFill>
                  </a:tcPr>
                </a:tc>
                <a:tc>
                  <a:txBody>
                    <a:bodyPr/>
                    <a:lstStyle/>
                    <a:p>
                      <a:pPr algn="ctr"/>
                      <a:r>
                        <a:rPr sz="800" b="0" i="0">
                          <a:solidFill>
                            <a:srgbClr val="0D0D0D"/>
                          </a:solidFill>
                          <a:latin typeface="Calibri"/>
                        </a:rPr>
                        <a:t>85,0 %</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20,3x</a:t>
                      </a:r>
                    </a:p>
                  </a:txBody>
                  <a:tcPr>
                    <a:solidFill>
                      <a:srgbClr val="F7F8FA"/>
                    </a:solidFill>
                  </a:tcPr>
                </a:tc>
                <a:tc>
                  <a:txBody>
                    <a:bodyPr/>
                    <a:lstStyle/>
                    <a:p>
                      <a:pPr algn="ctr"/>
                      <a:r>
                        <a:rPr sz="800" b="1" i="0">
                          <a:solidFill>
                            <a:srgbClr val="0D0D0D"/>
                          </a:solidFill>
                          <a:latin typeface="Calibri"/>
                        </a:rPr>
                        <a:t>8,5x</a:t>
                      </a:r>
                    </a:p>
                  </a:txBody>
                  <a:tcPr>
                    <a:solidFill>
                      <a:srgbClr val="F7F8FA"/>
                    </a:solidFill>
                  </a:tcPr>
                </a:tc>
                <a:tc>
                  <a:txBody>
                    <a:bodyPr/>
                    <a:lstStyle/>
                    <a:p>
                      <a:pPr algn="ctr"/>
                      <a:r>
                        <a:rPr sz="800" b="1" i="0">
                          <a:solidFill>
                            <a:srgbClr val="0D0D0D"/>
                          </a:solidFill>
                          <a:latin typeface="Calibri"/>
                        </a:rPr>
                        <a:t>30,0x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35,0 %</a:t>
                      </a:r>
                    </a:p>
                  </a:txBody>
                  <a:tcPr>
                    <a:solidFill>
                      <a:srgbClr val="F7F8FA"/>
                    </a:solidFill>
                  </a:tcPr>
                </a:tc>
              </a:tr>
            </a:tbl>
          </a:graphicData>
        </a:graphic>
      </p:graphicFrame>
      <p:sp>
        <p:nvSpPr>
          <p:cNvPr id="18" name="Rectangle 17"/>
          <p:cNvSpPr/>
          <p:nvPr/>
        </p:nvSpPr>
        <p:spPr>
          <a:xfrm>
            <a:off x="367200" y="3128400"/>
            <a:ext cx="8413200" cy="12348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23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198800"/>
          </a:xfrm>
          <a:prstGeom prst="rect">
            <a:avLst/>
          </a:prstGeom>
          <a:noFill/>
        </p:spPr>
        <p:txBody>
          <a:bodyPr wrap="square">
            <a:spAutoFit/>
          </a:bodyPr>
          <a:lstStyle/>
          <a:p>
            <a:pPr algn="l"/>
            <a:r>
              <a:rPr sz="850" b="0" i="0">
                <a:solidFill>
                  <a:srgbClr val="555555"/>
                </a:solidFill>
                <a:latin typeface="Calibri"/>
              </a:rPr>
              <a:t>Apple affiche un P/E de 33,8x vs une médiane peers à 28,5x (+19 %), justifiée par une croissance des services supérieure (25 % du CA vs 15 % pour peers) et des marges nettes à 26,9 % (vs 20 % peers). Une convergence vers la médiane impliquerait un downside de 15 %, mais la prime est justifiée par la qualité de l'écosystème. Les multiples EV/EBITDA (26,6x) et EV/Revenue (9,2x) sont en ligne avec les leaders tech.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91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9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878400"/>
          </a:xfrm>
          <a:prstGeom prst="rect">
            <a:avLst/>
          </a:prstGeom>
          <a:noFill/>
        </p:spPr>
        <p:txBody>
          <a:bodyPr wrap="square">
            <a:spAutoFit/>
          </a:bodyPr>
          <a:lstStyle/>
          <a:p>
            <a:pPr algn="l"/>
            <a:r>
              <a:rPr sz="850" b="0" i="0">
                <a:solidFill>
                  <a:srgbClr val="555555"/>
                </a:solidFill>
                <a:latin typeface="Calibri"/>
              </a:rPr>
              <a:t>Avec un WACC de 10,2 % et un TGR de 3,0 %, le prix implicite DCF est de 285 $ (base), soit un upside de 10,5 % vs le cours actuel. Cette valorisation intègre une croissance des services à +12 %/an et une stabilité des marges. Un upside significatif nécessiterait une accélération des revenus IA ou une expansion géo.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612000"/>
          </a:xfrm>
          <a:prstGeom prst="rect">
            <a:avLst/>
          </a:prstGeom>
          <a:noFill/>
        </p:spPr>
        <p:txBody>
          <a:bodyPr wrap="square">
            <a:spAutoFit/>
          </a:bodyPr>
          <a:lstStyle/>
          <a:p>
            <a:pPr algn="l"/>
            <a:r>
              <a:rPr sz="850" b="0" i="0">
                <a:solidFill>
                  <a:srgbClr val="555555"/>
                </a:solidFill>
                <a:latin typeface="Calibri"/>
              </a:rPr>
              <a:t>Le P/E affiche une compression multiple de 4.1x sur la période (38,0x → 33,8x), signal d’une réévaluation négative du profil de croissance. L’EV/EBITDA diverge à 26,6x vs 29,8x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2,9 %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111,0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3,1 %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540000"/>
          </a:xfrm>
          <a:prstGeom prst="rect">
            <a:avLst/>
          </a:prstGeom>
          <a:noFill/>
        </p:spPr>
        <p:txBody>
          <a:bodyPr wrap="square">
            <a:spAutoFit/>
          </a:bodyPr>
          <a:lstStyle/>
          <a:p>
            <a:pPr algn="l"/>
            <a:r>
              <a:rPr sz="850" b="0" i="0">
                <a:solidFill>
                  <a:srgbClr val="555555"/>
                </a:solidFill>
                <a:latin typeface="Calibri"/>
              </a:rPr>
              <a:t>Le FCF affiche une croissance de 10,8 Mds$ sur la période, avec un FCF yield actuel de 2,9 %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17.4%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 / 2.9x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29.2% / 3.6x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8.3% / 1.5x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14.2% / 1.9x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19.1% / 2.4x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 / 1.5x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 0.9x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 1.2x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+6%/an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144,7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579,0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197,6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14.2% (MOIC 1.9x en 5 ans) — attractivité PE jugée insuffisante. Un fonds tier-1 ciblant 20%+ d'IRR doit entrer en dessous de 8x EBITDA. La génération de FCF (111,0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Dépendance iPhone</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L'écosystème fermé d'Apple, souvent présenté comme un atout, devient un piège avec 1.4 milliard d'utilisateurs captifs mais une dépendance extrême aux iPhone (52% des revenus 2024). La marge de 46.9% sur le hardware s'érode face à la concurrence chinoise (Xiaomi, Huawei) avec des prix moyens en baisse de 8% par an depuis 2022. Les services, bien que récurrents, plafonnent à 22% des revenus avec</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Marges en érosion</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pricing power de 26.9% de marge nette masque une pression sur les volumes : les ventes d'iPhone ont chuté de 10% au T4 2024 en Chine, marché clé représentant 20% du CA. Les coûts de R&amp;D explosent (+18% en 2024) pour des innovations mineures (Apple Vision Pro : 3 500€, ventes estimées à 150 000 unités en 2025). Les marges de services (70%) ne compensent plus la baisse des volumes hardware.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Surévaluation marché</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ratio EV/EBITDA à 26.6x est historiquement élevé, supérieur de 40% à la moyenne sectorielle (19x). Le ROE à 151.9% repose sur une trésorerie colossale de 166 milliards$, mais 90% est bloquée hors États-Unis avec des risques de rapatriement fiscal. La dette nette/EBITDA à 0.43x est trompeuse : 50% de l'EBITDA provient des services, moins cycliques mais moins rentables à long terme.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le CA de -8 %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européenne DMA réduisant les revenus services de -15 %</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l'Apple Intelligence en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Rec.6M:18%</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English-only fallback</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+0,116</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43,2 %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FinBERT (fallback)</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15</a:t>
                      </a:r>
                    </a:p>
                  </a:txBody>
                  <a:tcPr>
                    <a:solidFill>
                      <a:srgbClr val="EAF4EF"/>
                    </a:solidFill>
                  </a:tcPr>
                </a:tc>
                <a:tc>
                  <a:txBody>
                    <a:bodyPr/>
                    <a:lstStyle/>
                    <a:p>
                      <a:pPr algn="ctr"/>
                      <a:r>
                        <a:rPr sz="800" b="0" i="0">
                          <a:solidFill>
                            <a:srgbClr val="0D0D0D"/>
                          </a:solidFill>
                          <a:latin typeface="Calibri"/>
                        </a:rPr>
                        <a:t>+0,432</a:t>
                      </a:r>
                    </a:p>
                  </a:txBody>
                  <a:tcPr>
                    <a:solidFill>
                      <a:srgbClr val="EAF4EF"/>
                    </a:solidFill>
                  </a:tcPr>
                </a:tc>
                <a:tc>
                  <a:txBody>
                    <a:bodyPr/>
                    <a:lstStyle/>
                    <a:p>
                      <a:pPr algn="ctr"/>
                      <a:r>
                        <a:rPr sz="800" b="0" i="0">
                          <a:solidFill>
                            <a:srgbClr val="0D0D0D"/>
                          </a:solidFill>
                          <a:latin typeface="Calibri"/>
                        </a:rPr>
                        <a:t>Croissance services +15 % YoY d'ici 2026 grâce à l'Apple Intelligence et abonnements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5</a:t>
                      </a:r>
                    </a:p>
                  </a:txBody>
                  <a:tcPr>
                    <a:solidFill>
                      <a:srgbClr val="FFFFFF"/>
                    </a:solidFill>
                  </a:tcPr>
                </a:tc>
                <a:tc>
                  <a:txBody>
                    <a:bodyPr/>
                    <a:lstStyle/>
                    <a:p>
                      <a:pPr algn="ctr"/>
                      <a:r>
                        <a:rPr sz="800" b="0" i="0">
                          <a:solidFill>
                            <a:srgbClr val="0D0D0D"/>
                          </a:solidFill>
                          <a:latin typeface="Calibri"/>
                        </a:rPr>
                        <a:t>+0,252</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10</a:t>
                      </a:r>
                    </a:p>
                  </a:txBody>
                  <a:tcPr>
                    <a:solidFill>
                      <a:srgbClr val="FAF0EF"/>
                    </a:solidFill>
                  </a:tcPr>
                </a:tc>
                <a:tc>
                  <a:txBody>
                    <a:bodyPr/>
                    <a:lstStyle/>
                    <a:p>
                      <a:pPr algn="ctr"/>
                      <a:r>
                        <a:rPr sz="800" b="0" i="0">
                          <a:solidFill>
                            <a:srgbClr val="0D0D0D"/>
                          </a:solidFill>
                          <a:latin typeface="Calibri"/>
                        </a:rPr>
                        <a:t>+0,316</a:t>
                      </a:r>
                    </a:p>
                  </a:txBody>
                  <a:tcPr>
                    <a:solidFill>
                      <a:srgbClr val="FAF0EF"/>
                    </a:solidFill>
                  </a:tcPr>
                </a:tc>
                <a:tc>
                  <a:txBody>
                    <a:bodyPr/>
                    <a:lstStyle/>
                    <a:p>
                      <a:pPr algn="ctr"/>
                      <a:r>
                        <a:rPr sz="800" b="0" i="0">
                          <a:solidFill>
                            <a:srgbClr val="0D0D0D"/>
                          </a:solidFill>
                          <a:latin typeface="Calibri"/>
                        </a:rPr>
                        <a:t>Régulation européenne DMA réduisant les marges App Store de -5 % d'ici 2026</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Le sentiment positif (score +0.116) est basé sur 30 articles analysés sur 7 jours. Confiance IA : 43%. Cohérence avec la recommandation BUY : validée.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8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00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968400"/>
          </a:xfrm>
          <a:prstGeom prst="rect">
            <a:avLst/>
          </a:prstGeom>
          <a:noFill/>
        </p:spPr>
        <p:txBody>
          <a:bodyPr wrap="square">
            <a:spAutoFit/>
          </a:bodyPr>
          <a:lstStyle/>
          <a:p>
            <a:pPr algn="l"/>
            <a:r>
              <a:rPr sz="850" b="0" i="0">
                <a:solidFill>
                  <a:srgbClr val="555555"/>
                </a:solidFill>
                <a:latin typeface="Calibri"/>
              </a:rPr>
              <a:t>Apple se négocie à 33,8x P/E vs une médiane sectorielle de 30x, soit une prime de 12,7 %. Cette décote s'explique par la qualité des actifs et la croissance supérieure des services.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8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258,03 $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+29,0 %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+29,0 %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32800"/>
            <a:ext cx="8413200" cy="687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32800"/>
            <a:ext cx="79200" cy="687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61600"/>
            <a:ext cx="8298000" cy="651599"/>
          </a:xfrm>
          <a:prstGeom prst="rect">
            <a:avLst/>
          </a:prstGeom>
          <a:noFill/>
        </p:spPr>
        <p:txBody>
          <a:bodyPr wrap="square">
            <a:spAutoFit/>
          </a:bodyPr>
          <a:lstStyle/>
          <a:p>
            <a:pPr algn="l"/>
            <a:r>
              <a:rPr sz="850" b="0" i="0">
                <a:solidFill>
                  <a:srgbClr val="555555"/>
                </a:solidFill>
                <a:latin typeface="Calibri"/>
              </a:rPr>
              <a:t>Apple affiche une résilience opérationnelle remarquable avec une croissance du CA de 6,4 % en 2025 et des marges nettes à 26,9 %. La valorisation actuelle (P/E 33,8x vs médiane sectorielle 30x) reste justifiée par son écosystème intégré et son pricing power.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FinSight IA  ·  Rapport 8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78%</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8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21060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+28%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La croissance du CA de 6,4 % en 2025 est soutenue par un mix produits favorable et une demande résiliente en services à +15 % YoY</a:t>
            </a:r>
          </a:p>
        </p:txBody>
      </p:sp>
      <p:sp>
        <p:nvSpPr>
          <p:cNvPr id="30" name="Rectangle 29"/>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Les marges nettes à 26,9 % reflètent un levier opérationnel de +290 pbs vs 2022 grâce au mix logiciel-services et à l'effet volume</a:t>
            </a:r>
          </a:p>
        </p:txBody>
      </p:sp>
      <p:sp>
        <p:nvSpPr>
          <p:cNvPr id="32" name="Rectangle 31"/>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L'Apple Intelligence et les services cloud pourraient ajouter 5-7 % au CA d'ici 2027.</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Croissance services +15 % YoY d'ici 2026 grâce à l'Apple Intelligence et abonnements</a:t>
            </a:r>
          </a:p>
        </p:txBody>
      </p:sp>
      <p:sp>
        <p:nvSpPr>
          <p:cNvPr id="37" name="TextBox 36"/>
          <p:cNvSpPr txBox="1"/>
          <p:nvPr/>
        </p:nvSpPr>
        <p:spPr>
          <a:xfrm>
            <a:off x="3401999" y="2671200"/>
            <a:ext cx="2556000" cy="234000"/>
          </a:xfrm>
          <a:prstGeom prst="rect">
            <a:avLst/>
          </a:prstGeom>
          <a:noFill/>
        </p:spPr>
        <p:txBody>
          <a:bodyPr wrap="square">
            <a:spAutoFit/>
          </a:bodyPr>
          <a:lstStyle/>
          <a:p>
            <a:pPr algn="l"/>
            <a:r>
              <a:rPr sz="700" b="0" i="0">
                <a:solidFill>
                  <a:srgbClr val="555555"/>
                </a:solidFill>
                <a:latin typeface="Calibri"/>
              </a:rPr>
              <a:t>• Expansion géographique en Asie (Chine +10 % CA 2026) avec effet volume sur les marges</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Régulation européenne DMA réduisant les marges App Store de -5 % d'ici 2026</a:t>
            </a:r>
          </a:p>
        </p:txBody>
      </p:sp>
      <p:sp>
        <p:nvSpPr>
          <p:cNvPr id="41" name="TextBox 40"/>
          <p:cNvSpPr txBox="1"/>
          <p:nvPr/>
        </p:nvSpPr>
        <p:spPr>
          <a:xfrm>
            <a:off x="6156000" y="2671200"/>
            <a:ext cx="2376000" cy="234000"/>
          </a:xfrm>
          <a:prstGeom prst="rect">
            <a:avLst/>
          </a:prstGeom>
          <a:noFill/>
        </p:spPr>
        <p:txBody>
          <a:bodyPr wrap="square">
            <a:spAutoFit/>
          </a:bodyPr>
          <a:lstStyle/>
          <a:p>
            <a:pPr algn="l"/>
            <a:r>
              <a:rPr sz="700" b="0" i="0">
                <a:solidFill>
                  <a:srgbClr val="555555"/>
                </a:solidFill>
                <a:latin typeface="Calibri"/>
              </a:rPr>
              <a:t>• Concurrence accrue en IA (Google, Microsoft) menaçant le pricing power</a:t>
            </a:r>
          </a:p>
        </p:txBody>
      </p:sp>
      <p:sp>
        <p:nvSpPr>
          <p:cNvPr id="42" name="Rectangle 41"/>
          <p:cNvSpPr/>
          <p:nvPr/>
        </p:nvSpPr>
        <p:spPr>
          <a:xfrm>
            <a:off x="3311999" y="3074400"/>
            <a:ext cx="5472000" cy="21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11999" y="3074400"/>
            <a:ext cx="36000" cy="21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401999" y="3088800"/>
            <a:ext cx="5346000" cy="198000"/>
          </a:xfrm>
          <a:prstGeom prst="rect">
            <a:avLst/>
          </a:prstGeom>
          <a:noFill/>
        </p:spPr>
        <p:txBody>
          <a:bodyPr wrap="square">
            <a:spAutoFit/>
          </a:bodyPr>
          <a:lstStyle/>
          <a:p>
            <a:pPr algn="l"/>
            <a:r>
              <a:rPr sz="750" b="0" i="0">
                <a:solidFill>
                  <a:srgbClr val="7A5000"/>
                </a:solidFill>
                <a:latin typeface="Calibri"/>
              </a:rPr>
              <a:t>⚠ Conditions d’invalidation : Macro: Récession mondiale réduisant le CA de -8 % en 2026  ·  Sectoriel: Régulation européenne DMA réduisant les revenus services de -15 %</a:t>
            </a:r>
          </a:p>
        </p:txBody>
      </p:sp>
      <p:sp>
        <p:nvSpPr>
          <p:cNvPr id="45" name="TextBox 44"/>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