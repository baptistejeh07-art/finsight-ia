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691297"/>
          </a:xfrm>
          <a:prstGeom prst="rect">
            <a:avLst/>
          </a:prstGeom>
          <a:noFill/>
        </p:spPr>
        <p:txBody>
          <a:bodyPr wrap="square">
            <a:spAutoFit/>
          </a:bodyPr>
          <a:lstStyle/>
          <a:p>
            <a:pPr algn="ctr"/>
            <a:r>
              <a:rPr sz="3400" b="1" i="0">
                <a:solidFill>
                  <a:srgbClr val="1B3A6B"/>
                </a:solidFill>
                <a:latin typeface="Calibri"/>
              </a:rPr>
              <a:t>TotalEnergies SE</a:t>
            </a:r>
          </a:p>
        </p:txBody>
      </p:sp>
      <p:sp>
        <p:nvSpPr>
          <p:cNvPr id="7" name="TextBox 6"/>
          <p:cNvSpPr txBox="1"/>
          <p:nvPr/>
        </p:nvSpPr>
        <p:spPr>
          <a:xfrm>
            <a:off x="457200" y="2242897"/>
            <a:ext cx="8229600" cy="255600"/>
          </a:xfrm>
          <a:prstGeom prst="rect">
            <a:avLst/>
          </a:prstGeom>
          <a:noFill/>
        </p:spPr>
        <p:txBody>
          <a:bodyPr wrap="square">
            <a:spAutoFit/>
          </a:bodyPr>
          <a:lstStyle/>
          <a:p>
            <a:pPr algn="ctr"/>
            <a:r>
              <a:rPr sz="1100" b="0" i="0">
                <a:solidFill>
                  <a:srgbClr val="888888"/>
                </a:solidFill>
                <a:latin typeface="Calibri"/>
              </a:rPr>
              <a:t>TTE.PA  ·  Euronext Paris  ·  Energy</a:t>
            </a:r>
          </a:p>
        </p:txBody>
      </p:sp>
      <p:sp>
        <p:nvSpPr>
          <p:cNvPr id="8" name="Rectangle 7"/>
          <p:cNvSpPr/>
          <p:nvPr/>
        </p:nvSpPr>
        <p:spPr>
          <a:xfrm>
            <a:off x="457200" y="2617297"/>
            <a:ext cx="8229600" cy="475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617297"/>
            <a:ext cx="46800" cy="475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635297"/>
            <a:ext cx="8063999" cy="439200"/>
          </a:xfrm>
          <a:prstGeom prst="rect">
            <a:avLst/>
          </a:prstGeom>
          <a:noFill/>
        </p:spPr>
        <p:txBody>
          <a:bodyPr wrap="square">
            <a:spAutoFit/>
          </a:bodyPr>
          <a:lstStyle/>
          <a:p>
            <a:pPr algn="ctr"/>
            <a:r>
              <a:rPr sz="900" b="1" i="0">
                <a:solidFill>
                  <a:srgbClr val="1A7A4A"/>
                </a:solidFill>
                <a:latin typeface="Calibri"/>
              </a:rPr>
              <a:t>● BUY  ·  Prix cible base : 92 EUR  ·  Upside : +16,3 %</a:t>
            </a:r>
          </a:p>
        </p:txBody>
      </p:sp>
      <p:sp>
        <p:nvSpPr>
          <p:cNvPr id="11" name="Rectangle 10"/>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3" name="TextBox 12"/>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27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1A7A4A"/>
                </a:solidFill>
                <a:latin typeface="Calibri"/>
              </a:rPr>
              <a:t>● BUY</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92 EUR  ·  Upside : +16,3 %  ·  Bear : 75 EUR (-5,2 %)  ·  Bull : 105 EUR (+32,8 %)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Intégration verticale</a:t>
            </a:r>
          </a:p>
        </p:txBody>
      </p:sp>
      <p:sp>
        <p:nvSpPr>
          <p:cNvPr id="14" name="TextBox 13"/>
          <p:cNvSpPr txBox="1"/>
          <p:nvPr/>
        </p:nvSpPr>
        <p:spPr>
          <a:xfrm>
            <a:off x="503999" y="1814400"/>
            <a:ext cx="3931200" cy="327600"/>
          </a:xfrm>
          <a:prstGeom prst="rect">
            <a:avLst/>
          </a:prstGeom>
          <a:noFill/>
        </p:spPr>
        <p:txBody>
          <a:bodyPr wrap="square">
            <a:spAutoFit/>
          </a:bodyPr>
          <a:lstStyle/>
          <a:p>
            <a:pPr algn="l"/>
            <a:r>
              <a:rPr sz="750" b="0" i="0">
                <a:solidFill>
                  <a:srgbClr val="333333"/>
                </a:solidFill>
                <a:latin typeface="Calibri"/>
              </a:rPr>
              <a:t>TotalEnergies bénéficie d’un mix production à 55% gaz (moins carboné) et 45% pétrole, aligné sur la demande 2030</a:t>
            </a:r>
          </a:p>
        </p:txBody>
      </p:sp>
      <p:sp>
        <p:nvSpPr>
          <p:cNvPr id="15" name="Rectangle 14"/>
          <p:cNvSpPr/>
          <p:nvPr/>
        </p:nvSpPr>
        <p:spPr>
          <a:xfrm>
            <a:off x="367200" y="2196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78000"/>
            <a:ext cx="3931200" cy="183600"/>
          </a:xfrm>
          <a:prstGeom prst="rect">
            <a:avLst/>
          </a:prstGeom>
          <a:noFill/>
        </p:spPr>
        <p:txBody>
          <a:bodyPr wrap="square">
            <a:spAutoFit/>
          </a:bodyPr>
          <a:lstStyle/>
          <a:p>
            <a:pPr algn="l"/>
            <a:r>
              <a:rPr sz="850" b="1" i="0">
                <a:solidFill>
                  <a:srgbClr val="1B3A6B"/>
                </a:solidFill>
                <a:latin typeface="Calibri"/>
              </a:rPr>
              <a:t>Pricing power</a:t>
            </a:r>
          </a:p>
        </p:txBody>
      </p:sp>
      <p:sp>
        <p:nvSpPr>
          <p:cNvPr id="17" name="TextBox 16"/>
          <p:cNvSpPr txBox="1"/>
          <p:nvPr/>
        </p:nvSpPr>
        <p:spPr>
          <a:xfrm>
            <a:off x="503999" y="2347200"/>
            <a:ext cx="3931200" cy="327600"/>
          </a:xfrm>
          <a:prstGeom prst="rect">
            <a:avLst/>
          </a:prstGeom>
          <a:noFill/>
        </p:spPr>
        <p:txBody>
          <a:bodyPr wrap="square">
            <a:spAutoFit/>
          </a:bodyPr>
          <a:lstStyle/>
          <a:p>
            <a:pPr algn="l"/>
            <a:r>
              <a:rPr sz="750" b="0" i="0">
                <a:solidFill>
                  <a:srgbClr val="333333"/>
                </a:solidFill>
                <a:latin typeface="Calibri"/>
              </a:rPr>
              <a:t>La croissance des énergies renouvelables (15% des Capex 2025-2027) cible 100 TWh/an d’ici 2030, avec un EBITDA attendu à +€3,5mds vs 2024</a:t>
            </a:r>
          </a:p>
        </p:txBody>
      </p:sp>
      <p:sp>
        <p:nvSpPr>
          <p:cNvPr id="18" name="Rectangle 17"/>
          <p:cNvSpPr/>
          <p:nvPr/>
        </p:nvSpPr>
        <p:spPr>
          <a:xfrm>
            <a:off x="367200" y="2728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10800"/>
            <a:ext cx="3931200" cy="183600"/>
          </a:xfrm>
          <a:prstGeom prst="rect">
            <a:avLst/>
          </a:prstGeom>
          <a:noFill/>
        </p:spPr>
        <p:txBody>
          <a:bodyPr wrap="square">
            <a:spAutoFit/>
          </a:bodyPr>
          <a:lstStyle/>
          <a:p>
            <a:pPr algn="l"/>
            <a:r>
              <a:rPr sz="850" b="1" i="0">
                <a:solidFill>
                  <a:srgbClr val="1B3A6B"/>
                </a:solidFill>
                <a:latin typeface="Calibri"/>
              </a:rPr>
              <a:t>Discipline capitalistique</a:t>
            </a:r>
          </a:p>
        </p:txBody>
      </p:sp>
      <p:sp>
        <p:nvSpPr>
          <p:cNvPr id="20" name="TextBox 19"/>
          <p:cNvSpPr txBox="1"/>
          <p:nvPr/>
        </p:nvSpPr>
        <p:spPr>
          <a:xfrm>
            <a:off x="503999" y="2880000"/>
            <a:ext cx="3931200" cy="327600"/>
          </a:xfrm>
          <a:prstGeom prst="rect">
            <a:avLst/>
          </a:prstGeom>
          <a:noFill/>
        </p:spPr>
        <p:txBody>
          <a:bodyPr wrap="square">
            <a:spAutoFit/>
          </a:bodyPr>
          <a:lstStyle/>
          <a:p>
            <a:pPr algn="l"/>
            <a:r>
              <a:rPr sz="750" b="0" i="0">
                <a:solidFill>
                  <a:srgbClr val="333333"/>
                </a:solidFill>
                <a:latin typeface="Calibri"/>
              </a:rPr>
              <a:t>Le dividende progresse de 7%/an depuis 2020, soutenu par un FCF &gt;€15mds/an à Brent $75/b.</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Volatilité prix énergie</a:t>
            </a:r>
          </a:p>
        </p:txBody>
      </p:sp>
      <p:sp>
        <p:nvSpPr>
          <p:cNvPr id="25" name="TextBox 24"/>
          <p:cNvSpPr txBox="1"/>
          <p:nvPr/>
        </p:nvSpPr>
        <p:spPr>
          <a:xfrm>
            <a:off x="4845600" y="1814400"/>
            <a:ext cx="3794399" cy="327600"/>
          </a:xfrm>
          <a:prstGeom prst="rect">
            <a:avLst/>
          </a:prstGeom>
          <a:noFill/>
        </p:spPr>
        <p:txBody>
          <a:bodyPr wrap="square">
            <a:spAutoFit/>
          </a:bodyPr>
          <a:lstStyle/>
          <a:p>
            <a:pPr algn="l"/>
            <a:r>
              <a:rPr sz="750" b="0" i="0">
                <a:solidFill>
                  <a:srgbClr val="333333"/>
                </a:solidFill>
                <a:latin typeface="Calibri"/>
              </a:rPr>
              <a:t>Risque réglementaire : potentiel durcissement des normes CO2 en UE réduisant la rentabilité des actifs pétroliers de -10% | Horizon : 2026-2028</a:t>
            </a:r>
          </a:p>
        </p:txBody>
      </p:sp>
      <p:sp>
        <p:nvSpPr>
          <p:cNvPr id="26" name="Rectangle 25"/>
          <p:cNvSpPr/>
          <p:nvPr/>
        </p:nvSpPr>
        <p:spPr>
          <a:xfrm>
            <a:off x="4708800" y="2196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78000"/>
            <a:ext cx="3794399" cy="183600"/>
          </a:xfrm>
          <a:prstGeom prst="rect">
            <a:avLst/>
          </a:prstGeom>
          <a:noFill/>
        </p:spPr>
        <p:txBody>
          <a:bodyPr wrap="square">
            <a:spAutoFit/>
          </a:bodyPr>
          <a:lstStyle/>
          <a:p>
            <a:pPr algn="l"/>
            <a:r>
              <a:rPr sz="850" b="1" i="0">
                <a:solidFill>
                  <a:srgbClr val="1B3A6B"/>
                </a:solidFill>
                <a:latin typeface="Calibri"/>
              </a:rPr>
              <a:t>Réglementation climatique</a:t>
            </a:r>
          </a:p>
        </p:txBody>
      </p:sp>
      <p:sp>
        <p:nvSpPr>
          <p:cNvPr id="28" name="TextBox 27"/>
          <p:cNvSpPr txBox="1"/>
          <p:nvPr/>
        </p:nvSpPr>
        <p:spPr>
          <a:xfrm>
            <a:off x="4845600" y="2347200"/>
            <a:ext cx="3794399" cy="327600"/>
          </a:xfrm>
          <a:prstGeom prst="rect">
            <a:avLst/>
          </a:prstGeom>
          <a:noFill/>
        </p:spPr>
        <p:txBody>
          <a:bodyPr wrap="square">
            <a:spAutoFit/>
          </a:bodyPr>
          <a:lstStyle/>
          <a:p>
            <a:pPr algn="l"/>
            <a:r>
              <a:rPr sz="750" b="0" i="0">
                <a:solidFill>
                  <a:srgbClr val="333333"/>
                </a:solidFill>
                <a:latin typeface="Calibri"/>
              </a:rPr>
              <a:t>Volatilité des prix : chute du Brent sous $60/b réduirait le FCF de -30% et le dividende de -5% | Horizon : 2025-2026</a:t>
            </a:r>
          </a:p>
        </p:txBody>
      </p:sp>
      <p:sp>
        <p:nvSpPr>
          <p:cNvPr id="29" name="Rectangle 28"/>
          <p:cNvSpPr/>
          <p:nvPr/>
        </p:nvSpPr>
        <p:spPr>
          <a:xfrm>
            <a:off x="4708800" y="2728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10800"/>
            <a:ext cx="3794399" cy="183600"/>
          </a:xfrm>
          <a:prstGeom prst="rect">
            <a:avLst/>
          </a:prstGeom>
          <a:noFill/>
        </p:spPr>
        <p:txBody>
          <a:bodyPr wrap="square">
            <a:spAutoFit/>
          </a:bodyPr>
          <a:lstStyle/>
          <a:p>
            <a:pPr algn="l"/>
            <a:r>
              <a:rPr sz="850" b="1" i="0">
                <a:solidFill>
                  <a:srgbClr val="1B3A6B"/>
                </a:solidFill>
                <a:latin typeface="Calibri"/>
              </a:rPr>
              <a:t>Exécution transition</a:t>
            </a:r>
          </a:p>
        </p:txBody>
      </p:sp>
      <p:sp>
        <p:nvSpPr>
          <p:cNvPr id="31" name="TextBox 30"/>
          <p:cNvSpPr txBox="1"/>
          <p:nvPr/>
        </p:nvSpPr>
        <p:spPr>
          <a:xfrm>
            <a:off x="4845600" y="2880000"/>
            <a:ext cx="3794399" cy="327600"/>
          </a:xfrm>
          <a:prstGeom prst="rect">
            <a:avLst/>
          </a:prstGeom>
          <a:noFill/>
        </p:spPr>
        <p:txBody>
          <a:bodyPr wrap="square">
            <a:spAutoFit/>
          </a:bodyPr>
          <a:lstStyle/>
          <a:p>
            <a:pPr algn="l"/>
            <a:r>
              <a:rPr sz="750" b="0" i="0">
                <a:solidFill>
                  <a:srgbClr val="333333"/>
                </a:solidFill>
                <a:latin typeface="Calibri"/>
              </a:rPr>
              <a:t>Exécution transition : retard sur les projets renouvelables (solaire offshore) pourrait coûter -€2mds d’EBITDA | Horizon : 2025-2027</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6,5x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6,1 %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0,28  ·  RFR 4,4 %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92 EUR</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intrinseque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+16,3 %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-0,279</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Negatif  ·  21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TotalEnergies SE  ·  Energy</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Volatilité prix énergie  ·  Réglementation climatique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TotalEnergies SE  ·  Presentation &amp; Positionnement strategique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TotalEnergies SE est un géant intégré de l’énergie, opérant dans l’exploration-production, le raffinage, le gaz naturel liquéfié (GNL) et les énergies renouvelables (solaire, éolien, hydrogène). Positionné comme leader de la transition énergétique, le groupe combine une production hydrocarbonée stable avec une croissance accélérée dans les énergies bas-carbone. Ses avantages incluent une intégration verticale unique, une discipline capitalistique stricte et un accès privilégié aux ressources stratégiques. L'entreprise articule son activité autour de trois segments stratégiques :</a:t>
            </a:r>
          </a:p>
        </p:txBody>
      </p:sp>
      <p:sp>
        <p:nvSpPr>
          <p:cNvPr id="20" name="Rectangle 19"/>
          <p:cNvSpPr/>
          <p:nvPr/>
        </p:nvSpPr>
        <p:spPr>
          <a:xfrm>
            <a:off x="503999" y="2599200"/>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9200" y="2556000"/>
            <a:ext cx="4338000" cy="165600"/>
          </a:xfrm>
          <a:prstGeom prst="rect">
            <a:avLst/>
          </a:prstGeom>
          <a:noFill/>
        </p:spPr>
        <p:txBody>
          <a:bodyPr wrap="square">
            <a:spAutoFit/>
          </a:bodyPr>
          <a:lstStyle/>
          <a:p>
            <a:pPr algn="l"/>
            <a:r>
              <a:rPr sz="850" b="1" i="0">
                <a:solidFill>
                  <a:srgbClr val="0D0D0D"/>
                </a:solidFill>
                <a:latin typeface="Calibri"/>
              </a:rPr>
              <a:t>Exploration &amp; Production</a:t>
            </a:r>
          </a:p>
        </p:txBody>
      </p:sp>
      <p:sp>
        <p:nvSpPr>
          <p:cNvPr id="22" name="TextBox 21"/>
          <p:cNvSpPr txBox="1"/>
          <p:nvPr/>
        </p:nvSpPr>
        <p:spPr>
          <a:xfrm>
            <a:off x="619200" y="2714400"/>
            <a:ext cx="4338000" cy="396000"/>
          </a:xfrm>
          <a:prstGeom prst="rect">
            <a:avLst/>
          </a:prstGeom>
          <a:noFill/>
        </p:spPr>
        <p:txBody>
          <a:bodyPr wrap="square">
            <a:spAutoFit/>
          </a:bodyPr>
          <a:lstStyle/>
          <a:p>
            <a:pPr algn="l"/>
            <a:r>
              <a:rPr sz="750" b="0" i="1">
                <a:solidFill>
                  <a:srgbClr val="555555"/>
                </a:solidFill>
                <a:latin typeface="Calibri"/>
              </a:rPr>
              <a:t>Segment clé générant 60% des EBITDA, axé sur l’amont pétrolier et gazier avec une production de 2,8 Mbep/j en 2024. Cible les gisements low-cost (Brésil, Qatar) et gaziers (Mozambique, Australie) pour réduire l’empreinte carbone. Clients : utilities, industriels et traders. Moteurs : prix du baril (Brent &gt;$80/b) et…</a:t>
            </a:r>
          </a:p>
        </p:txBody>
      </p:sp>
      <p:sp>
        <p:nvSpPr>
          <p:cNvPr id="23" name="Rectangle 22"/>
          <p:cNvSpPr/>
          <p:nvPr/>
        </p:nvSpPr>
        <p:spPr>
          <a:xfrm>
            <a:off x="503999" y="3193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9200" y="3150000"/>
            <a:ext cx="4338000" cy="165600"/>
          </a:xfrm>
          <a:prstGeom prst="rect">
            <a:avLst/>
          </a:prstGeom>
          <a:noFill/>
        </p:spPr>
        <p:txBody>
          <a:bodyPr wrap="square">
            <a:spAutoFit/>
          </a:bodyPr>
          <a:lstStyle/>
          <a:p>
            <a:pPr algn="l"/>
            <a:r>
              <a:rPr sz="850" b="1" i="0">
                <a:solidFill>
                  <a:srgbClr val="0D0D0D"/>
                </a:solidFill>
                <a:latin typeface="Calibri"/>
              </a:rPr>
              <a:t>Raffinage &amp; Chimie</a:t>
            </a:r>
          </a:p>
        </p:txBody>
      </p:sp>
      <p:sp>
        <p:nvSpPr>
          <p:cNvPr id="25" name="TextBox 24"/>
          <p:cNvSpPr txBox="1"/>
          <p:nvPr/>
        </p:nvSpPr>
        <p:spPr>
          <a:xfrm>
            <a:off x="619200" y="3308400"/>
            <a:ext cx="4338000" cy="396000"/>
          </a:xfrm>
          <a:prstGeom prst="rect">
            <a:avLst/>
          </a:prstGeom>
          <a:noFill/>
        </p:spPr>
        <p:txBody>
          <a:bodyPr wrap="square">
            <a:spAutoFit/>
          </a:bodyPr>
          <a:lstStyle/>
          <a:p>
            <a:pPr algn="l"/>
            <a:r>
              <a:rPr sz="750" b="0" i="1">
                <a:solidFill>
                  <a:srgbClr val="555555"/>
                </a:solidFill>
                <a:latin typeface="Calibri"/>
              </a:rPr>
              <a:t>Activité mature mais rentable (marge EBITDA ~12% en 2024), transformant 1,5 Mb/j de pétrole en carburants et produits pétrochimiques. Positionnement premium sur les biocarburants (20% de la capacité en 2025). Clients : distributeurs (TotalEnergies, Shell) et industriels. Moteurs : différentiels de prix et demande…</a:t>
            </a:r>
          </a:p>
        </p:txBody>
      </p:sp>
      <p:sp>
        <p:nvSpPr>
          <p:cNvPr id="26" name="Rectangle 25"/>
          <p:cNvSpPr/>
          <p:nvPr/>
        </p:nvSpPr>
        <p:spPr>
          <a:xfrm>
            <a:off x="503999" y="3787199"/>
            <a:ext cx="64800" cy="64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200" y="3743999"/>
            <a:ext cx="4338000" cy="165600"/>
          </a:xfrm>
          <a:prstGeom prst="rect">
            <a:avLst/>
          </a:prstGeom>
          <a:noFill/>
        </p:spPr>
        <p:txBody>
          <a:bodyPr wrap="square">
            <a:spAutoFit/>
          </a:bodyPr>
          <a:lstStyle/>
          <a:p>
            <a:pPr algn="l"/>
            <a:r>
              <a:rPr sz="850" b="1" i="0">
                <a:solidFill>
                  <a:srgbClr val="0D0D0D"/>
                </a:solidFill>
                <a:latin typeface="Calibri"/>
              </a:rPr>
              <a:t>Gaz, Électricité &amp; Énergies Renouvelables</a:t>
            </a:r>
          </a:p>
        </p:txBody>
      </p:sp>
      <p:sp>
        <p:nvSpPr>
          <p:cNvPr id="28" name="TextBox 27"/>
          <p:cNvSpPr txBox="1"/>
          <p:nvPr/>
        </p:nvSpPr>
        <p:spPr>
          <a:xfrm>
            <a:off x="619200" y="3902399"/>
            <a:ext cx="4338000" cy="396000"/>
          </a:xfrm>
          <a:prstGeom prst="rect">
            <a:avLst/>
          </a:prstGeom>
          <a:noFill/>
        </p:spPr>
        <p:txBody>
          <a:bodyPr wrap="square">
            <a:spAutoFit/>
          </a:bodyPr>
          <a:lstStyle/>
          <a:p>
            <a:pPr algn="l"/>
            <a:r>
              <a:rPr sz="750" b="0" i="1">
                <a:solidFill>
                  <a:srgbClr val="555555"/>
                </a:solidFill>
                <a:latin typeface="Calibri"/>
              </a:rPr>
              <a:t>Segment en croissance rapide (20% des investissements 2025-2027), incluant GNL (30 Mt/an), éolien offshore (3 GW en opération) et solaire (10 GW cibles d’ici 2030). Clients : utilities européennes et asiatiques. Moteurs : décarbonation des mix énergétiques et subventions (IRA aux États-Unis).</a:t>
            </a:r>
          </a:p>
        </p:txBody>
      </p:sp>
      <p:sp>
        <p:nvSpPr>
          <p:cNvPr id="29" name="Rectangle 28"/>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168,9 Md€</a:t>
            </a:r>
          </a:p>
        </p:txBody>
      </p:sp>
      <p:sp>
        <p:nvSpPr>
          <p:cNvPr id="32" name="TextBox 31"/>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boursiere</a:t>
            </a:r>
          </a:p>
        </p:txBody>
      </p:sp>
      <p:sp>
        <p:nvSpPr>
          <p:cNvPr id="33" name="Rectangle 32"/>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a:t>
            </a:r>
          </a:p>
        </p:txBody>
      </p:sp>
      <p:sp>
        <p:nvSpPr>
          <p:cNvPr id="36" name="TextBox 35"/>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37" name="Rectangle 36"/>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79,09 EUR</a:t>
            </a:r>
          </a:p>
        </p:txBody>
      </p:sp>
      <p:sp>
        <p:nvSpPr>
          <p:cNvPr id="40" name="TextBox 39"/>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41" name="Rectangle 40"/>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a:t>
            </a:r>
          </a:p>
        </p:txBody>
      </p:sp>
      <p:sp>
        <p:nvSpPr>
          <p:cNvPr id="44" name="TextBox 43"/>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45" name="TextBox 44"/>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Modele Economique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operationnels et moteurs de croissance</a:t>
            </a:r>
          </a:p>
        </p:txBody>
      </p:sp>
      <p:sp>
        <p:nvSpPr>
          <p:cNvPr id="17" name="Rectangle 16"/>
          <p:cNvSpPr/>
          <p:nvPr/>
        </p:nvSpPr>
        <p:spPr>
          <a:xfrm>
            <a:off x="367200" y="961200"/>
            <a:ext cx="2731199"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31199"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2551199" cy="640800"/>
          </a:xfrm>
          <a:prstGeom prst="rect">
            <a:avLst/>
          </a:prstGeom>
          <a:noFill/>
        </p:spPr>
        <p:txBody>
          <a:bodyPr wrap="square">
            <a:spAutoFit/>
          </a:bodyPr>
          <a:lstStyle/>
          <a:p>
            <a:pPr algn="l"/>
            <a:r>
              <a:rPr sz="2200" b="1" i="0">
                <a:solidFill>
                  <a:srgbClr val="2E5FA3"/>
                </a:solidFill>
                <a:latin typeface="Calibri"/>
              </a:rPr>
              <a:t>45%</a:t>
            </a:r>
          </a:p>
        </p:txBody>
      </p:sp>
      <p:sp>
        <p:nvSpPr>
          <p:cNvPr id="20" name="TextBox 19"/>
          <p:cNvSpPr txBox="1"/>
          <p:nvPr/>
        </p:nvSpPr>
        <p:spPr>
          <a:xfrm>
            <a:off x="4572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2551199" cy="255600"/>
          </a:xfrm>
          <a:prstGeom prst="rect">
            <a:avLst/>
          </a:prstGeom>
          <a:noFill/>
        </p:spPr>
        <p:txBody>
          <a:bodyPr wrap="square">
            <a:spAutoFit/>
          </a:bodyPr>
          <a:lstStyle/>
          <a:p>
            <a:pPr algn="l"/>
            <a:r>
              <a:rPr sz="1000" b="1" i="0">
                <a:solidFill>
                  <a:srgbClr val="1B3A6B"/>
                </a:solidFill>
                <a:latin typeface="Calibri"/>
              </a:rPr>
              <a:t>Exploration &amp; Production</a:t>
            </a:r>
          </a:p>
        </p:txBody>
      </p:sp>
      <p:sp>
        <p:nvSpPr>
          <p:cNvPr id="23" name="TextBox 22"/>
          <p:cNvSpPr txBox="1"/>
          <p:nvPr/>
        </p:nvSpPr>
        <p:spPr>
          <a:xfrm>
            <a:off x="457200" y="2332800"/>
            <a:ext cx="2551199" cy="2041199"/>
          </a:xfrm>
          <a:prstGeom prst="rect">
            <a:avLst/>
          </a:prstGeom>
          <a:noFill/>
        </p:spPr>
        <p:txBody>
          <a:bodyPr wrap="square">
            <a:spAutoFit/>
          </a:bodyPr>
          <a:lstStyle/>
          <a:p>
            <a:pPr algn="l"/>
            <a:r>
              <a:rPr sz="800" b="0" i="0">
                <a:solidFill>
                  <a:srgbClr val="555555"/>
                </a:solidFill>
                <a:latin typeface="Calibri"/>
              </a:rPr>
              <a:t>Segment clé générant 60% des EBITDA, axé sur l’amont pétrolier et gazier avec une production de 2,8 Mbep/j en 2024. Cible les gisements low-cost (Brésil, Qatar) et gaziers (Mozambique, Australie) pour réduire l’empreinte carbone. Clients : utilities, industriels et traders. Moteurs : prix du baril (Brent &gt;$80/b) et volume produit.</a:t>
            </a:r>
          </a:p>
        </p:txBody>
      </p:sp>
      <p:sp>
        <p:nvSpPr>
          <p:cNvPr id="24" name="Rectangle 23"/>
          <p:cNvSpPr/>
          <p:nvPr/>
        </p:nvSpPr>
        <p:spPr>
          <a:xfrm>
            <a:off x="3206400" y="961200"/>
            <a:ext cx="2731199"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6400" y="961200"/>
            <a:ext cx="2731199"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6400" y="1141200"/>
            <a:ext cx="2551199" cy="640800"/>
          </a:xfrm>
          <a:prstGeom prst="rect">
            <a:avLst/>
          </a:prstGeom>
          <a:noFill/>
        </p:spPr>
        <p:txBody>
          <a:bodyPr wrap="square">
            <a:spAutoFit/>
          </a:bodyPr>
          <a:lstStyle/>
          <a:p>
            <a:pPr algn="l"/>
            <a:r>
              <a:rPr sz="2200" b="1" i="0">
                <a:solidFill>
                  <a:srgbClr val="1A7A4A"/>
                </a:solidFill>
                <a:latin typeface="Calibri"/>
              </a:rPr>
              <a:t>25%</a:t>
            </a:r>
          </a:p>
        </p:txBody>
      </p:sp>
      <p:sp>
        <p:nvSpPr>
          <p:cNvPr id="27" name="TextBox 26"/>
          <p:cNvSpPr txBox="1"/>
          <p:nvPr/>
        </p:nvSpPr>
        <p:spPr>
          <a:xfrm>
            <a:off x="32964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32964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6400" y="2059200"/>
            <a:ext cx="2551199" cy="255600"/>
          </a:xfrm>
          <a:prstGeom prst="rect">
            <a:avLst/>
          </a:prstGeom>
          <a:noFill/>
        </p:spPr>
        <p:txBody>
          <a:bodyPr wrap="square">
            <a:spAutoFit/>
          </a:bodyPr>
          <a:lstStyle/>
          <a:p>
            <a:pPr algn="l"/>
            <a:r>
              <a:rPr sz="1000" b="1" i="0">
                <a:solidFill>
                  <a:srgbClr val="1B3A6B"/>
                </a:solidFill>
                <a:latin typeface="Calibri"/>
              </a:rPr>
              <a:t>Raffinage &amp; Chimie</a:t>
            </a:r>
          </a:p>
        </p:txBody>
      </p:sp>
      <p:sp>
        <p:nvSpPr>
          <p:cNvPr id="30" name="TextBox 29"/>
          <p:cNvSpPr txBox="1"/>
          <p:nvPr/>
        </p:nvSpPr>
        <p:spPr>
          <a:xfrm>
            <a:off x="3296400" y="2332800"/>
            <a:ext cx="2551199" cy="2041199"/>
          </a:xfrm>
          <a:prstGeom prst="rect">
            <a:avLst/>
          </a:prstGeom>
          <a:noFill/>
        </p:spPr>
        <p:txBody>
          <a:bodyPr wrap="square">
            <a:spAutoFit/>
          </a:bodyPr>
          <a:lstStyle/>
          <a:p>
            <a:pPr algn="l"/>
            <a:r>
              <a:rPr sz="800" b="0" i="0">
                <a:solidFill>
                  <a:srgbClr val="555555"/>
                </a:solidFill>
                <a:latin typeface="Calibri"/>
              </a:rPr>
              <a:t>Activité mature mais rentable (marge EBITDA ~12% en 2024), transformant 1,5 Mb/j de pétrole en carburants et produits pétrochimiques. Positionnement premium sur les biocarburants (20% de la capacité en 2025). Clients : distributeurs (TotalEnergies, Shell) et industriels. Moteurs : différentiels de prix et demande asiatique.</a:t>
            </a:r>
          </a:p>
        </p:txBody>
      </p:sp>
      <p:sp>
        <p:nvSpPr>
          <p:cNvPr id="31" name="Rectangle 30"/>
          <p:cNvSpPr/>
          <p:nvPr/>
        </p:nvSpPr>
        <p:spPr>
          <a:xfrm>
            <a:off x="6045600" y="961200"/>
            <a:ext cx="2731199"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45600" y="961200"/>
            <a:ext cx="2731199" cy="54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35600" y="1141200"/>
            <a:ext cx="2551199" cy="640800"/>
          </a:xfrm>
          <a:prstGeom prst="rect">
            <a:avLst/>
          </a:prstGeom>
          <a:noFill/>
        </p:spPr>
        <p:txBody>
          <a:bodyPr wrap="square">
            <a:spAutoFit/>
          </a:bodyPr>
          <a:lstStyle/>
          <a:p>
            <a:pPr algn="l"/>
            <a:r>
              <a:rPr sz="2200" b="1" i="0">
                <a:solidFill>
                  <a:srgbClr val="888888"/>
                </a:solidFill>
                <a:latin typeface="Calibri"/>
              </a:rPr>
              <a:t>30%</a:t>
            </a:r>
          </a:p>
        </p:txBody>
      </p:sp>
      <p:sp>
        <p:nvSpPr>
          <p:cNvPr id="34" name="TextBox 33"/>
          <p:cNvSpPr txBox="1"/>
          <p:nvPr/>
        </p:nvSpPr>
        <p:spPr>
          <a:xfrm>
            <a:off x="61356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35" name="Rectangle 34"/>
          <p:cNvSpPr/>
          <p:nvPr/>
        </p:nvSpPr>
        <p:spPr>
          <a:xfrm>
            <a:off x="61356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5600" y="2059200"/>
            <a:ext cx="2551199" cy="255600"/>
          </a:xfrm>
          <a:prstGeom prst="rect">
            <a:avLst/>
          </a:prstGeom>
          <a:noFill/>
        </p:spPr>
        <p:txBody>
          <a:bodyPr wrap="square">
            <a:spAutoFit/>
          </a:bodyPr>
          <a:lstStyle/>
          <a:p>
            <a:pPr algn="l"/>
            <a:r>
              <a:rPr sz="1000" b="1" i="0">
                <a:solidFill>
                  <a:srgbClr val="1B3A6B"/>
                </a:solidFill>
                <a:latin typeface="Calibri"/>
              </a:rPr>
              <a:t>Gaz, Électricité &amp; Énergies Renouvelables</a:t>
            </a:r>
          </a:p>
        </p:txBody>
      </p:sp>
      <p:sp>
        <p:nvSpPr>
          <p:cNvPr id="37" name="TextBox 36"/>
          <p:cNvSpPr txBox="1"/>
          <p:nvPr/>
        </p:nvSpPr>
        <p:spPr>
          <a:xfrm>
            <a:off x="6135600" y="2332800"/>
            <a:ext cx="2551199" cy="2041199"/>
          </a:xfrm>
          <a:prstGeom prst="rect">
            <a:avLst/>
          </a:prstGeom>
          <a:noFill/>
        </p:spPr>
        <p:txBody>
          <a:bodyPr wrap="square">
            <a:spAutoFit/>
          </a:bodyPr>
          <a:lstStyle/>
          <a:p>
            <a:pPr algn="l"/>
            <a:r>
              <a:rPr sz="800" b="0" i="0">
                <a:solidFill>
                  <a:srgbClr val="555555"/>
                </a:solidFill>
                <a:latin typeface="Calibri"/>
              </a:rPr>
              <a:t>Segment en croissance rapide (20% des investissements 2025-2027), incluant GNL (30 Mt/an), éolien offshore (3 GW en opération) et solaire (10 GW cibles d’ici 2030). Clients : utilities européennes et asiatiques. Moteurs : décarbonation des mix énergétiques et subventions (IRA aux États-Unis).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EUR millions  ·  2021–2027F</a:t>
            </a:r>
          </a:p>
        </p:txBody>
      </p:sp>
      <p:graphicFrame>
        <p:nvGraphicFramePr>
          <p:cNvPr id="17" name="Table 16"/>
          <p:cNvGraphicFramePr>
            <a:graphicFrameLocks noGrp="1"/>
          </p:cNvGraphicFramePr>
          <p:nvPr/>
        </p:nvGraphicFramePr>
        <p:xfrm>
          <a:off x="367200" y="914400"/>
          <a:ext cx="8413196" cy="1980000"/>
        </p:xfrm>
        <a:graphic>
          <a:graphicData uri="http://schemas.openxmlformats.org/drawingml/2006/table">
            <a:tbl>
              <a:tblPr firstRow="1" bandRow="1">
                <a:tableStyleId>{5C22544A-7EE6-4342-B048-85BDC9FD1C3A}</a:tableStyleId>
              </a:tblPr>
              <a:tblGrid>
                <a:gridCol w="2355696"/>
                <a:gridCol w="1211500"/>
                <a:gridCol w="1211500"/>
                <a:gridCol w="1211500"/>
                <a:gridCol w="1211500"/>
                <a:gridCol w="1211500"/>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c>
                  <a:txBody>
                    <a:bodyPr/>
                    <a:lstStyle/>
                    <a:p>
                      <a:pPr algn="ctr"/>
                      <a:r>
                        <a:rPr sz="800" b="1" i="0">
                          <a:solidFill>
                            <a:srgbClr val="FFFFFF"/>
                          </a:solidFill>
                          <a:latin typeface="Calibri"/>
                        </a:rPr>
                        <a:t>2026F</a:t>
                      </a:r>
                    </a:p>
                  </a:txBody>
                  <a:tcPr>
                    <a:solidFill>
                      <a:srgbClr val="1B3A6B"/>
                    </a:solidFill>
                  </a:tcPr>
                </a:tc>
                <a:tc>
                  <a:txBody>
                    <a:bodyPr/>
                    <a:lstStyle/>
                    <a:p>
                      <a:pPr algn="ctr"/>
                      <a:r>
                        <a:rPr sz="800" b="1" i="0">
                          <a:solidFill>
                            <a:srgbClr val="FFFFFF"/>
                          </a:solidFill>
                          <a:latin typeface="Calibri"/>
                        </a:rPr>
                        <a:t>2027F</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218,9</a:t>
                      </a:r>
                    </a:p>
                  </a:txBody>
                  <a:tcPr>
                    <a:solidFill>
                      <a:srgbClr val="FFFFFF"/>
                    </a:solidFill>
                  </a:tcPr>
                </a:tc>
                <a:tc>
                  <a:txBody>
                    <a:bodyPr/>
                    <a:lstStyle/>
                    <a:p>
                      <a:pPr algn="ctr"/>
                      <a:r>
                        <a:rPr sz="800" b="1" i="0">
                          <a:solidFill>
                            <a:srgbClr val="0D0D0D"/>
                          </a:solidFill>
                          <a:latin typeface="Calibri"/>
                        </a:rPr>
                        <a:t>195,6</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0D0D0D"/>
                          </a:solidFill>
                          <a:latin typeface="Calibri"/>
                        </a:rPr>
                        <a:t>285,0</a:t>
                      </a:r>
                    </a:p>
                  </a:txBody>
                  <a:tcPr>
                    <a:solidFill>
                      <a:srgbClr val="FFFFFF"/>
                    </a:solidFill>
                  </a:tcPr>
                </a:tc>
                <a:tc>
                  <a:txBody>
                    <a:bodyPr/>
                    <a:lstStyle/>
                    <a:p>
                      <a:pPr algn="ctr"/>
                      <a:r>
                        <a:rPr sz="800" b="1" i="0">
                          <a:solidFill>
                            <a:srgbClr val="0D0D0D"/>
                          </a:solidFill>
                          <a:latin typeface="Calibri"/>
                        </a:rPr>
                        <a:t>300,0</a:t>
                      </a:r>
                    </a:p>
                  </a:txBody>
                  <a:tcPr>
                    <a:solidFill>
                      <a:srgbClr val="FFFFFF"/>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-16,9 %</a:t>
                      </a:r>
                    </a:p>
                  </a:txBody>
                  <a:tcPr>
                    <a:solidFill>
                      <a:srgbClr val="F7F8FA"/>
                    </a:solidFill>
                  </a:tcPr>
                </a:tc>
                <a:tc>
                  <a:txBody>
                    <a:bodyPr/>
                    <a:lstStyle/>
                    <a:p>
                      <a:pPr algn="ctr"/>
                      <a:r>
                        <a:rPr sz="750" b="0" i="1">
                          <a:solidFill>
                            <a:srgbClr val="555555"/>
                          </a:solidFill>
                          <a:latin typeface="Calibri"/>
                        </a:rPr>
                        <a:t>-10,7 %</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c>
                  <a:txBody>
                    <a:bodyPr/>
                    <a:lstStyle/>
                    <a:p>
                      <a:pPr algn="ctr"/>
                      <a:r>
                        <a:rPr sz="750" b="0" i="1">
                          <a:solidFill>
                            <a:srgbClr val="555555"/>
                          </a:solidFill>
                          <a:latin typeface="Calibri"/>
                        </a:rPr>
                        <a:t>+8,0 %</a:t>
                      </a:r>
                    </a:p>
                  </a:txBody>
                  <a:tcPr>
                    <a:solidFill>
                      <a:srgbClr val="F7F8FA"/>
                    </a:solidFill>
                  </a:tcPr>
                </a:tc>
                <a:tc>
                  <a:txBody>
                    <a:bodyPr/>
                    <a:lstStyle/>
                    <a:p>
                      <a:pPr algn="ctr"/>
                      <a:r>
                        <a:rPr sz="750" b="0" i="1">
                          <a:solidFill>
                            <a:srgbClr val="555555"/>
                          </a:solidFill>
                          <a:latin typeface="Calibri"/>
                        </a:rPr>
                        <a:t>+5,0 %</a:t>
                      </a:r>
                    </a:p>
                  </a:txBody>
                  <a:tcPr>
                    <a:solidFill>
                      <a:srgbClr val="F7F8FA"/>
                    </a:solidFill>
                  </a:tcPr>
                </a:tc>
              </a:tr>
              <a:tr h="220000">
                <a:tc>
                  <a:txBody>
                    <a:bodyPr/>
                    <a:lstStyle/>
                    <a:p>
                      <a:pPr algn="l"/>
                      <a:r>
                        <a:rPr sz="800" b="1" i="0">
                          <a:solidFill>
                            <a:srgbClr val="0D0D0D"/>
                          </a:solidFill>
                          <a:latin typeface="Calibri"/>
                        </a:rPr>
                        <a:t>Resultat brut</a:t>
                      </a:r>
                    </a:p>
                  </a:txBody>
                  <a:tcPr>
                    <a:solidFill>
                      <a:srgbClr val="FFFFFF"/>
                    </a:solidFill>
                  </a:tcPr>
                </a:tc>
                <a:tc>
                  <a:txBody>
                    <a:bodyPr/>
                    <a:lstStyle/>
                    <a:p>
                      <a:pPr algn="ctr"/>
                      <a:r>
                        <a:rPr sz="800" b="1" i="0">
                          <a:solidFill>
                            <a:srgbClr val="0D0D0D"/>
                          </a:solidFill>
                          <a:latin typeface="Calibri"/>
                        </a:rPr>
                        <a:t>62,4</a:t>
                      </a:r>
                    </a:p>
                  </a:txBody>
                  <a:tcPr>
                    <a:solidFill>
                      <a:srgbClr val="FFFFFF"/>
                    </a:solidFill>
                  </a:tcPr>
                </a:tc>
                <a:tc>
                  <a:txBody>
                    <a:bodyPr/>
                    <a:lstStyle/>
                    <a:p>
                      <a:pPr algn="ctr"/>
                      <a:r>
                        <a:rPr sz="800" b="1" i="0">
                          <a:solidFill>
                            <a:srgbClr val="0D0D0D"/>
                          </a:solidFill>
                          <a:latin typeface="Calibri"/>
                        </a:rPr>
                        <a:t>55,5</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0D0D0D"/>
                          </a:solidFill>
                          <a:latin typeface="Calibri"/>
                        </a:rPr>
                        <a:t>82,7</a:t>
                      </a:r>
                    </a:p>
                  </a:txBody>
                  <a:tcPr>
                    <a:solidFill>
                      <a:srgbClr val="FFFFFF"/>
                    </a:solidFill>
                  </a:tcPr>
                </a:tc>
                <a:tc>
                  <a:txBody>
                    <a:bodyPr/>
                    <a:lstStyle/>
                    <a:p>
                      <a:pPr algn="ctr"/>
                      <a:r>
                        <a:rPr sz="800" b="1" i="0">
                          <a:solidFill>
                            <a:srgbClr val="0D0D0D"/>
                          </a:solidFill>
                          <a:latin typeface="Calibri"/>
                        </a:rPr>
                        <a:t>90,0</a:t>
                      </a:r>
                    </a:p>
                  </a:txBody>
                  <a:tcPr>
                    <a:solidFill>
                      <a:srgbClr val="FFFFFF"/>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28,5 %</a:t>
                      </a:r>
                    </a:p>
                  </a:txBody>
                  <a:tcPr>
                    <a:solidFill>
                      <a:srgbClr val="F7F8FA"/>
                    </a:solidFill>
                  </a:tcPr>
                </a:tc>
                <a:tc>
                  <a:txBody>
                    <a:bodyPr/>
                    <a:lstStyle/>
                    <a:p>
                      <a:pPr algn="ctr"/>
                      <a:r>
                        <a:rPr sz="750" b="0" i="1">
                          <a:solidFill>
                            <a:srgbClr val="555555"/>
                          </a:solidFill>
                          <a:latin typeface="Calibri"/>
                        </a:rPr>
                        <a:t>28,4 %</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c>
                  <a:txBody>
                    <a:bodyPr/>
                    <a:lstStyle/>
                    <a:p>
                      <a:pPr algn="ctr"/>
                      <a:r>
                        <a:rPr sz="750" b="0" i="1">
                          <a:solidFill>
                            <a:srgbClr val="555555"/>
                          </a:solidFill>
                          <a:latin typeface="Calibri"/>
                        </a:rPr>
                        <a:t>29,0 %</a:t>
                      </a:r>
                    </a:p>
                  </a:txBody>
                  <a:tcPr>
                    <a:solidFill>
                      <a:srgbClr val="F7F8FA"/>
                    </a:solidFill>
                  </a:tcPr>
                </a:tc>
                <a:tc>
                  <a:txBody>
                    <a:bodyPr/>
                    <a:lstStyle/>
                    <a:p>
                      <a:pPr algn="ctr"/>
                      <a:r>
                        <a:rPr sz="750" b="0" i="1">
                          <a:solidFill>
                            <a:srgbClr val="555555"/>
                          </a:solidFill>
                          <a:latin typeface="Calibri"/>
                        </a:rPr>
                        <a:t>30,0 %</a:t>
                      </a:r>
                    </a:p>
                  </a:txBody>
                  <a:tcPr>
                    <a:solidFill>
                      <a:srgbClr val="F7F8FA"/>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50,8</a:t>
                      </a:r>
                    </a:p>
                  </a:txBody>
                  <a:tcPr>
                    <a:solidFill>
                      <a:srgbClr val="FFFFFF"/>
                    </a:solidFill>
                  </a:tcPr>
                </a:tc>
                <a:tc>
                  <a:txBody>
                    <a:bodyPr/>
                    <a:lstStyle/>
                    <a:p>
                      <a:pPr algn="ctr"/>
                      <a:r>
                        <a:rPr sz="800" b="1" i="0">
                          <a:solidFill>
                            <a:srgbClr val="0D0D0D"/>
                          </a:solidFill>
                          <a:latin typeface="Calibri"/>
                        </a:rPr>
                        <a:t>42,3</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0D0D0D"/>
                          </a:solidFill>
                          <a:latin typeface="Calibri"/>
                        </a:rPr>
                        <a:t>24,5</a:t>
                      </a:r>
                    </a:p>
                  </a:txBody>
                  <a:tcPr>
                    <a:solidFill>
                      <a:srgbClr val="FFFFFF"/>
                    </a:solidFill>
                  </a:tcPr>
                </a:tc>
                <a:tc>
                  <a:txBody>
                    <a:bodyPr/>
                    <a:lstStyle/>
                    <a:p>
                      <a:pPr algn="ctr"/>
                      <a:r>
                        <a:rPr sz="800" b="1" i="0">
                          <a:solidFill>
                            <a:srgbClr val="0D0D0D"/>
                          </a:solidFill>
                          <a:latin typeface="Calibri"/>
                        </a:rPr>
                        <a:t>26,0</a:t>
                      </a:r>
                    </a:p>
                  </a:txBody>
                  <a:tcPr>
                    <a:solidFill>
                      <a:srgbClr val="FFFFFF"/>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23,2 %</a:t>
                      </a:r>
                    </a:p>
                  </a:txBody>
                  <a:tcPr>
                    <a:solidFill>
                      <a:srgbClr val="F7F8FA"/>
                    </a:solidFill>
                  </a:tcPr>
                </a:tc>
                <a:tc>
                  <a:txBody>
                    <a:bodyPr/>
                    <a:lstStyle/>
                    <a:p>
                      <a:pPr algn="ctr"/>
                      <a:r>
                        <a:rPr sz="750" b="0" i="1">
                          <a:solidFill>
                            <a:srgbClr val="555555"/>
                          </a:solidFill>
                          <a:latin typeface="Calibri"/>
                        </a:rPr>
                        <a:t>21,6 %</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c>
                  <a:txBody>
                    <a:bodyPr/>
                    <a:lstStyle/>
                    <a:p>
                      <a:pPr algn="ctr"/>
                      <a:r>
                        <a:rPr sz="750" b="0" i="1">
                          <a:solidFill>
                            <a:srgbClr val="555555"/>
                          </a:solidFill>
                          <a:latin typeface="Calibri"/>
                        </a:rPr>
                        <a:t>19,0 %</a:t>
                      </a:r>
                    </a:p>
                  </a:txBody>
                  <a:tcPr>
                    <a:solidFill>
                      <a:srgbClr val="F7F8FA"/>
                    </a:solidFill>
                  </a:tcPr>
                </a:tc>
                <a:tc>
                  <a:txBody>
                    <a:bodyPr/>
                    <a:lstStyle/>
                    <a:p>
                      <a:pPr algn="ctr"/>
                      <a:r>
                        <a:rPr sz="750" b="0" i="1">
                          <a:solidFill>
                            <a:srgbClr val="555555"/>
                          </a:solidFill>
                          <a:latin typeface="Calibri"/>
                        </a:rPr>
                        <a:t>20,0 %</a:t>
                      </a:r>
                    </a:p>
                  </a:txBody>
                  <a:tcPr>
                    <a:solidFill>
                      <a:srgbClr val="F7F8FA"/>
                    </a:solidFill>
                  </a:tcPr>
                </a:tc>
              </a:tr>
              <a:tr h="220000">
                <a:tc>
                  <a:txBody>
                    <a:bodyPr/>
                    <a:lstStyle/>
                    <a:p>
                      <a:pPr algn="l"/>
                      <a:r>
                        <a:rPr sz="800" b="1" i="0">
                          <a:solidFill>
                            <a:srgbClr val="0D0D0D"/>
                          </a:solidFill>
                          <a:latin typeface="Calibri"/>
                        </a:rPr>
                        <a:t>Resultat net</a:t>
                      </a:r>
                    </a:p>
                  </a:txBody>
                  <a:tcPr>
                    <a:solidFill>
                      <a:srgbClr val="FFFFFF"/>
                    </a:solidFill>
                  </a:tcPr>
                </a:tc>
                <a:tc>
                  <a:txBody>
                    <a:bodyPr/>
                    <a:lstStyle/>
                    <a:p>
                      <a:pPr algn="ctr"/>
                      <a:r>
                        <a:rPr sz="800" b="1" i="0">
                          <a:solidFill>
                            <a:srgbClr val="0D0D0D"/>
                          </a:solidFill>
                          <a:latin typeface="Calibri"/>
                        </a:rPr>
                        <a:t>21,4</a:t>
                      </a:r>
                    </a:p>
                  </a:txBody>
                  <a:tcPr>
                    <a:solidFill>
                      <a:srgbClr val="FFFFFF"/>
                    </a:solidFill>
                  </a:tcPr>
                </a:tc>
                <a:tc>
                  <a:txBody>
                    <a:bodyPr/>
                    <a:lstStyle/>
                    <a:p>
                      <a:pPr algn="ctr"/>
                      <a:r>
                        <a:rPr sz="800" b="1" i="0">
                          <a:solidFill>
                            <a:srgbClr val="0D0D0D"/>
                          </a:solidFill>
                          <a:latin typeface="Calibri"/>
                        </a:rPr>
                        <a:t>15,8</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0D0D0D"/>
                          </a:solidFill>
                          <a:latin typeface="Calibri"/>
                        </a:rPr>
                        <a:t>10,2</a:t>
                      </a:r>
                    </a:p>
                  </a:txBody>
                  <a:tcPr>
                    <a:solidFill>
                      <a:srgbClr val="FFFFFF"/>
                    </a:solidFill>
                  </a:tcPr>
                </a:tc>
                <a:tc>
                  <a:txBody>
                    <a:bodyPr/>
                    <a:lstStyle/>
                    <a:p>
                      <a:pPr algn="ctr"/>
                      <a:r>
                        <a:rPr sz="800" b="1" i="0">
                          <a:solidFill>
                            <a:srgbClr val="0D0D0D"/>
                          </a:solidFill>
                          <a:latin typeface="Calibri"/>
                        </a:rPr>
                        <a:t>11,0</a:t>
                      </a:r>
                    </a:p>
                  </a:txBody>
                  <a:tcPr>
                    <a:solidFill>
                      <a:srgbClr val="FFFFFF"/>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9,8 %</a:t>
                      </a:r>
                    </a:p>
                  </a:txBody>
                  <a:tcPr>
                    <a:solidFill>
                      <a:srgbClr val="F7F8FA"/>
                    </a:solidFill>
                  </a:tcPr>
                </a:tc>
                <a:tc>
                  <a:txBody>
                    <a:bodyPr/>
                    <a:lstStyle/>
                    <a:p>
                      <a:pPr algn="ctr"/>
                      <a:r>
                        <a:rPr sz="750" b="0" i="1">
                          <a:solidFill>
                            <a:srgbClr val="555555"/>
                          </a:solidFill>
                          <a:latin typeface="Calibri"/>
                        </a:rPr>
                        <a:t>8,1 %</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c>
                  <a:txBody>
                    <a:bodyPr/>
                    <a:lstStyle/>
                    <a:p>
                      <a:pPr algn="ctr"/>
                      <a:r>
                        <a:rPr sz="750" b="0" i="1">
                          <a:solidFill>
                            <a:srgbClr val="555555"/>
                          </a:solidFill>
                          <a:latin typeface="Calibri"/>
                        </a:rPr>
                        <a:t>8,0 %</a:t>
                      </a:r>
                    </a:p>
                  </a:txBody>
                  <a:tcPr>
                    <a:solidFill>
                      <a:srgbClr val="F7F8FA"/>
                    </a:solidFill>
                  </a:tcPr>
                </a:tc>
                <a:tc>
                  <a:txBody>
                    <a:bodyPr/>
                    <a:lstStyle/>
                    <a:p>
                      <a:pPr algn="ctr"/>
                      <a:r>
                        <a:rPr sz="750" b="0" i="1">
                          <a:solidFill>
                            <a:srgbClr val="555555"/>
                          </a:solidFill>
                          <a:latin typeface="Calibri"/>
                        </a:rPr>
                        <a:t>8,5 %</a:t>
                      </a:r>
                    </a:p>
                  </a:txBody>
                  <a:tcPr>
                    <a:solidFill>
                      <a:srgbClr val="F7F8FA"/>
                    </a:solidFill>
                  </a:tcPr>
                </a:tc>
              </a:tr>
            </a:tbl>
          </a:graphicData>
        </a:graphic>
      </p:graphicFrame>
      <p:sp>
        <p:nvSpPr>
          <p:cNvPr id="18" name="TextBox 17"/>
          <p:cNvSpPr txBox="1"/>
          <p:nvPr/>
        </p:nvSpPr>
        <p:spPr>
          <a:xfrm>
            <a:off x="367200" y="3218400"/>
            <a:ext cx="8413200" cy="1224000"/>
          </a:xfrm>
          <a:prstGeom prst="rect">
            <a:avLst/>
          </a:prstGeom>
          <a:noFill/>
        </p:spPr>
        <p:txBody>
          <a:bodyPr wrap="square">
            <a:spAutoFit/>
          </a:bodyPr>
          <a:lstStyle/>
          <a:p>
            <a:pPr algn="l"/>
            <a:r>
              <a:rPr sz="850" b="0" i="0">
                <a:solidFill>
                  <a:srgbClr val="555555"/>
                </a:solidFill>
                <a:latin typeface="Calibri"/>
              </a:rPr>
              <a:t>Croissance du CA de +12% en 2024 (Brent $82/b) portée par l’amont et le GNL, avec des marges nettes stables à 8,1% grâce à une discipline de coûts stricte. Le levier opérationnel (EBITDA margin +200bps vs 2023) reflète l’optimisation des actifs et la réduction des coûts fixes. La génération de cash (FCF &gt;€15mds) renforce la solidité bilancielle et permet un dividende progressif.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EUR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interets</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
        <p:nvSpPr>
          <p:cNvPr id="31" name="TextBox 30"/>
          <p:cNvSpPr txBox="1"/>
          <p:nvPr/>
        </p:nvSpPr>
        <p:spPr>
          <a:xfrm>
            <a:off x="367200" y="4068000"/>
            <a:ext cx="8413200" cy="468000"/>
          </a:xfrm>
          <a:prstGeom prst="rect">
            <a:avLst/>
          </a:prstGeom>
          <a:noFill/>
        </p:spPr>
        <p:txBody>
          <a:bodyPr wrap="square">
            <a:spAutoFit/>
          </a:bodyPr>
          <a:lstStyle/>
          <a:p>
            <a:pPr algn="l"/>
            <a:r>
              <a:rPr sz="850" b="0" i="0">
                <a:solidFill>
                  <a:srgbClr val="555555"/>
                </a:solidFill>
                <a:latin typeface="Calibri"/>
              </a:rPr>
              <a:t>Croissance du CA de +12% en 2024 (Brent $82/b) portée par l’amont et le GNL, avec des marges nettes stables à 8,1% grâce à une discipline de coûts stricte. Le levier opérationnel (EBITDA margin +200bps vs 2023) reflète l’optimisation des actifs et la réduction des coûts fixes. La génération de cash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8" name="TextBox 17"/>
          <p:cNvSpPr txBox="1"/>
          <p:nvPr/>
        </p:nvSpPr>
        <p:spPr>
          <a:xfrm>
            <a:off x="367200" y="3628800"/>
            <a:ext cx="8413200" cy="824400"/>
          </a:xfrm>
          <a:prstGeom prst="rect">
            <a:avLst/>
          </a:prstGeom>
          <a:noFill/>
        </p:spPr>
        <p:txBody>
          <a:bodyPr wrap="square">
            <a:spAutoFit/>
          </a:bodyPr>
          <a:lstStyle/>
          <a:p>
            <a:pPr algn="l"/>
            <a:r>
              <a:rPr sz="850" b="0" i="0">
                <a:solidFill>
                  <a:srgbClr val="555555"/>
                </a:solidFill>
                <a:latin typeface="Calibri"/>
              </a:rPr>
              <a:t>Les marges brutes (28,4% en 2024) et EBITDA (21,6%) affichent une stabilité remarquable malgré la volatilité des prix, grâce à une structure de coûts optimisée (coûts opératoires -15% vs 2021) et un mix produit favorable (GNL à 35% de la production). La marge nette (8,1%) reste élevée pour le secteur, reflétant une gestion rigoureuse des Capex et une fiscalité maîtrisée. Ces niveaux suggèrent une durabilité des marges et un potentiel de re-rating si les prix de l’énergie se stabilisent.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92 EUR</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79,09 EUR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75 EUR</a:t>
                      </a:r>
                    </a:p>
                  </a:txBody>
                  <a:tcPr>
                    <a:solidFill>
                      <a:srgbClr val="FAF0EF"/>
                    </a:solidFill>
                  </a:tcPr>
                </a:tc>
                <a:tc>
                  <a:txBody>
                    <a:bodyPr/>
                    <a:lstStyle/>
                    <a:p>
                      <a:pPr algn="ctr"/>
                      <a:r>
                        <a:rPr sz="2000" b="1" i="0">
                          <a:solidFill>
                            <a:srgbClr val="2E5FA3"/>
                          </a:solidFill>
                          <a:latin typeface="Calibri"/>
                        </a:rPr>
                        <a:t>92 EUR</a:t>
                      </a:r>
                    </a:p>
                  </a:txBody>
                  <a:tcPr>
                    <a:solidFill>
                      <a:srgbClr val="EEF3FA"/>
                    </a:solidFill>
                  </a:tcPr>
                </a:tc>
                <a:tc>
                  <a:txBody>
                    <a:bodyPr/>
                    <a:lstStyle/>
                    <a:p>
                      <a:pPr algn="ctr"/>
                      <a:r>
                        <a:rPr sz="2000" b="1" i="0">
                          <a:solidFill>
                            <a:srgbClr val="1A7A4A"/>
                          </a:solidFill>
                          <a:latin typeface="Calibri"/>
                        </a:rPr>
                        <a:t>105 EUR</a:t>
                      </a:r>
                    </a:p>
                  </a:txBody>
                  <a:tcPr>
                    <a:solidFill>
                      <a:srgbClr val="EAF4EF"/>
                    </a:solidFill>
                  </a:tcPr>
                </a:tc>
              </a:tr>
              <a:tr h="342900">
                <a:tc>
                  <a:txBody>
                    <a:bodyPr/>
                    <a:lstStyle/>
                    <a:p>
                      <a:pPr algn="ctr"/>
                      <a:r>
                        <a:rPr sz="1200" b="1" i="0">
                          <a:solidFill>
                            <a:srgbClr val="A82020"/>
                          </a:solidFill>
                          <a:latin typeface="Calibri"/>
                        </a:rPr>
                        <a:t>-5,2 %</a:t>
                      </a:r>
                    </a:p>
                  </a:txBody>
                  <a:tcPr>
                    <a:solidFill>
                      <a:srgbClr val="FAF0EF"/>
                    </a:solidFill>
                  </a:tcPr>
                </a:tc>
                <a:tc>
                  <a:txBody>
                    <a:bodyPr/>
                    <a:lstStyle/>
                    <a:p>
                      <a:pPr algn="ctr"/>
                      <a:r>
                        <a:rPr sz="1200" b="1" i="0">
                          <a:solidFill>
                            <a:srgbClr val="2E5FA3"/>
                          </a:solidFill>
                          <a:latin typeface="Calibri"/>
                        </a:rPr>
                        <a:t>+16,3 %</a:t>
                      </a:r>
                    </a:p>
                  </a:txBody>
                  <a:tcPr>
                    <a:solidFill>
                      <a:srgbClr val="EEF3FA"/>
                    </a:solidFill>
                  </a:tcPr>
                </a:tc>
                <a:tc>
                  <a:txBody>
                    <a:bodyPr/>
                    <a:lstStyle/>
                    <a:p>
                      <a:pPr algn="ctr"/>
                      <a:r>
                        <a:rPr sz="1200" b="1" i="0">
                          <a:solidFill>
                            <a:srgbClr val="1A7A4A"/>
                          </a:solidFill>
                          <a:latin typeface="Calibri"/>
                        </a:rPr>
                        <a:t>+32,8 %</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sensibilite — Valeur intrinseque (EUR)</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0,5%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4,1%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162</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201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263</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5,1%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136</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6,1%</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92</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103</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117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7,1%</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64</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76</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83</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8,1%</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60</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64</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69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76</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0" name="TextBox 19"/>
          <p:cNvSpPr txBox="1"/>
          <p:nvPr/>
        </p:nvSpPr>
        <p:spPr>
          <a:xfrm>
            <a:off x="367200" y="3916800"/>
            <a:ext cx="8413200" cy="547200"/>
          </a:xfrm>
          <a:prstGeom prst="rect">
            <a:avLst/>
          </a:prstGeom>
          <a:noFill/>
        </p:spPr>
        <p:txBody>
          <a:bodyPr wrap="square">
            <a:spAutoFit/>
          </a:bodyPr>
          <a:lstStyle/>
          <a:p>
            <a:pPr algn="l"/>
            <a:r>
              <a:rPr sz="850" b="0" i="0">
                <a:solidFill>
                  <a:srgbClr val="555555"/>
                </a:solidFill>
                <a:latin typeface="Calibri"/>
              </a:rPr>
              <a:t>Avec un WACC de 6,1% et une TGR de 1,5%, le prix implicite DCF est de €92 (base), soit +16% vs le cours actuel. L’upside provient d’une croissance organique des énergies renouvelables (+12%/an) et d’une discipline capitalistique stricte. Le risque d’exécution sur la transition énergétique (délais, coûts) limite l’upside à court terme.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EUR</a:t>
            </a:r>
          </a:p>
        </p:txBody>
      </p:sp>
      <p:graphicFrame>
        <p:nvGraphicFramePr>
          <p:cNvPr id="17" name="Table 16"/>
          <p:cNvGraphicFramePr>
            <a:graphicFrameLocks noGrp="1"/>
          </p:cNvGraphicFramePr>
          <p:nvPr/>
        </p:nvGraphicFramePr>
        <p:xfrm>
          <a:off x="367200" y="914400"/>
          <a:ext cx="8413200" cy="2015999"/>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51999">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51999">
                <a:tc>
                  <a:txBody>
                    <a:bodyPr/>
                    <a:lstStyle/>
                    <a:p>
                      <a:pPr algn="l"/>
                      <a:r>
                        <a:rPr sz="800" b="1" i="0">
                          <a:solidFill>
                            <a:srgbClr val="1B3A6B"/>
                          </a:solidFill>
                          <a:latin typeface="Calibri"/>
                        </a:rPr>
                        <a:t>TotalEnergies SE</a:t>
                      </a:r>
                    </a:p>
                  </a:txBody>
                  <a:tcPr>
                    <a:solidFill>
                      <a:srgbClr val="DDE8F5"/>
                    </a:solidFill>
                  </a:tcPr>
                </a:tc>
                <a:tc>
                  <a:txBody>
                    <a:bodyPr/>
                    <a:lstStyle/>
                    <a:p>
                      <a:pPr algn="ctr"/>
                      <a:r>
                        <a:rPr sz="750" b="1" i="0">
                          <a:solidFill>
                            <a:srgbClr val="2E5FA3"/>
                          </a:solidFill>
                          <a:latin typeface="Calibri"/>
                        </a:rPr>
                        <a:t>TTE.PA</a:t>
                      </a:r>
                    </a:p>
                  </a:txBody>
                  <a:tcPr>
                    <a:solidFill>
                      <a:srgbClr val="DDE8F5"/>
                    </a:solidFill>
                  </a:tcPr>
                </a:tc>
                <a:tc>
                  <a:txBody>
                    <a:bodyPr/>
                    <a:lstStyle/>
                    <a:p>
                      <a:pPr algn="ctr"/>
                      <a:r>
                        <a:rPr sz="800" b="1" i="0">
                          <a:solidFill>
                            <a:srgbClr val="1B3A6B"/>
                          </a:solidFill>
                          <a:latin typeface="Calibri"/>
                        </a:rPr>
                        <a:t>168,9</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r>
              <a:tr h="251999">
                <a:tc>
                  <a:txBody>
                    <a:bodyPr/>
                    <a:lstStyle/>
                    <a:p>
                      <a:pPr algn="l"/>
                      <a:r>
                        <a:rPr sz="800" b="0" i="0">
                          <a:solidFill>
                            <a:srgbClr val="0D0D0D"/>
                          </a:solidFill>
                          <a:latin typeface="Calibri"/>
                        </a:rPr>
                        <a:t>Shell</a:t>
                      </a:r>
                    </a:p>
                  </a:txBody>
                  <a:tcPr>
                    <a:solidFill>
                      <a:srgbClr val="FFFFFF"/>
                    </a:solidFill>
                  </a:tcPr>
                </a:tc>
                <a:tc>
                  <a:txBody>
                    <a:bodyPr/>
                    <a:lstStyle/>
                    <a:p>
                      <a:pPr algn="ctr"/>
                      <a:r>
                        <a:rPr sz="750" b="0" i="0">
                          <a:solidFill>
                            <a:srgbClr val="555555"/>
                          </a:solidFill>
                          <a:latin typeface="Calibri"/>
                        </a:rPr>
                        <a:t>SHEL.L</a:t>
                      </a:r>
                    </a:p>
                  </a:txBody>
                  <a:tcPr>
                    <a:solidFill>
                      <a:srgbClr val="FFFFFF"/>
                    </a:solidFill>
                  </a:tcPr>
                </a:tc>
                <a:tc>
                  <a:txBody>
                    <a:bodyPr/>
                    <a:lstStyle/>
                    <a:p>
                      <a:pPr algn="ctr"/>
                      <a:r>
                        <a:rPr sz="800" b="0" i="0">
                          <a:solidFill>
                            <a:srgbClr val="0D0D0D"/>
                          </a:solidFill>
                          <a:latin typeface="Calibri"/>
                        </a:rPr>
                        <a:t>180,0</a:t>
                      </a:r>
                    </a:p>
                  </a:txBody>
                  <a:tcPr>
                    <a:solidFill>
                      <a:srgbClr val="FFFFFF"/>
                    </a:solidFill>
                  </a:tcPr>
                </a:tc>
                <a:tc>
                  <a:txBody>
                    <a:bodyPr/>
                    <a:lstStyle/>
                    <a:p>
                      <a:pPr algn="ctr"/>
                      <a:r>
                        <a:rPr sz="800" b="0" i="0">
                          <a:solidFill>
                            <a:srgbClr val="0D0D0D"/>
                          </a:solidFill>
                          <a:latin typeface="Calibri"/>
                        </a:rPr>
                        <a:t>6,5x</a:t>
                      </a:r>
                    </a:p>
                  </a:txBody>
                  <a:tcPr>
                    <a:solidFill>
                      <a:srgbClr val="FFFFFF"/>
                    </a:solidFill>
                  </a:tcPr>
                </a:tc>
                <a:tc>
                  <a:txBody>
                    <a:bodyPr/>
                    <a:lstStyle/>
                    <a:p>
                      <a:pPr algn="ctr"/>
                      <a:r>
                        <a:rPr sz="800" b="0" i="0">
                          <a:solidFill>
                            <a:srgbClr val="0D0D0D"/>
                          </a:solidFill>
                          <a:latin typeface="Calibri"/>
                        </a:rPr>
                        <a:t>1,2x</a:t>
                      </a:r>
                    </a:p>
                  </a:txBody>
                  <a:tcPr>
                    <a:solidFill>
                      <a:srgbClr val="FFFFFF"/>
                    </a:solidFill>
                  </a:tcPr>
                </a:tc>
                <a:tc>
                  <a:txBody>
                    <a:bodyPr/>
                    <a:lstStyle/>
                    <a:p>
                      <a:pPr algn="ctr"/>
                      <a:r>
                        <a:rPr sz="800" b="0" i="0">
                          <a:solidFill>
                            <a:srgbClr val="0D0D0D"/>
                          </a:solidFill>
                          <a:latin typeface="Calibri"/>
                        </a:rPr>
                        <a:t>9,0x</a:t>
                      </a:r>
                    </a:p>
                  </a:txBody>
                  <a:tcPr>
                    <a:solidFill>
                      <a:srgbClr val="FFFFFF"/>
                    </a:solidFill>
                  </a:tcPr>
                </a:tc>
                <a:tc>
                  <a:txBody>
                    <a:bodyPr/>
                    <a:lstStyle/>
                    <a:p>
                      <a:pPr algn="ctr"/>
                      <a:r>
                        <a:rPr sz="800" b="0" i="0">
                          <a:solidFill>
                            <a:srgbClr val="0D0D0D"/>
                          </a:solidFill>
                          <a:latin typeface="Calibri"/>
                        </a:rPr>
                        <a:t>25,0 %</a:t>
                      </a:r>
                    </a:p>
                  </a:txBody>
                  <a:tcPr>
                    <a:solidFill>
                      <a:srgbClr val="FFFFFF"/>
                    </a:solidFill>
                  </a:tcPr>
                </a:tc>
                <a:tc>
                  <a:txBody>
                    <a:bodyPr/>
                    <a:lstStyle/>
                    <a:p>
                      <a:pPr algn="ctr"/>
                      <a:r>
                        <a:rPr sz="800" b="0" i="0">
                          <a:solidFill>
                            <a:srgbClr val="0D0D0D"/>
                          </a:solidFill>
                          <a:latin typeface="Calibri"/>
                        </a:rPr>
                        <a:t>18,0 %</a:t>
                      </a:r>
                    </a:p>
                  </a:txBody>
                  <a:tcPr>
                    <a:solidFill>
                      <a:srgbClr val="FFFFFF"/>
                    </a:solidFill>
                  </a:tcPr>
                </a:tc>
              </a:tr>
              <a:tr h="251999">
                <a:tc>
                  <a:txBody>
                    <a:bodyPr/>
                    <a:lstStyle/>
                    <a:p>
                      <a:pPr algn="l"/>
                      <a:r>
                        <a:rPr sz="800" b="0" i="0">
                          <a:solidFill>
                            <a:srgbClr val="0D0D0D"/>
                          </a:solidFill>
                          <a:latin typeface="Calibri"/>
                        </a:rPr>
                        <a:t>BP</a:t>
                      </a:r>
                    </a:p>
                  </a:txBody>
                  <a:tcPr>
                    <a:solidFill>
                      <a:srgbClr val="F7F8FA"/>
                    </a:solidFill>
                  </a:tcPr>
                </a:tc>
                <a:tc>
                  <a:txBody>
                    <a:bodyPr/>
                    <a:lstStyle/>
                    <a:p>
                      <a:pPr algn="ctr"/>
                      <a:r>
                        <a:rPr sz="750" b="0" i="0">
                          <a:solidFill>
                            <a:srgbClr val="555555"/>
                          </a:solidFill>
                          <a:latin typeface="Calibri"/>
                        </a:rPr>
                        <a:t>BP.L</a:t>
                      </a:r>
                    </a:p>
                  </a:txBody>
                  <a:tcPr>
                    <a:solidFill>
                      <a:srgbClr val="F7F8FA"/>
                    </a:solidFill>
                  </a:tcPr>
                </a:tc>
                <a:tc>
                  <a:txBody>
                    <a:bodyPr/>
                    <a:lstStyle/>
                    <a:p>
                      <a:pPr algn="ctr"/>
                      <a:r>
                        <a:rPr sz="800" b="0" i="0">
                          <a:solidFill>
                            <a:srgbClr val="0D0D0D"/>
                          </a:solidFill>
                          <a:latin typeface="Calibri"/>
                        </a:rPr>
                        <a:t>95,0</a:t>
                      </a:r>
                    </a:p>
                  </a:txBody>
                  <a:tcPr>
                    <a:solidFill>
                      <a:srgbClr val="F7F8FA"/>
                    </a:solidFill>
                  </a:tcPr>
                </a:tc>
                <a:tc>
                  <a:txBody>
                    <a:bodyPr/>
                    <a:lstStyle/>
                    <a:p>
                      <a:pPr algn="ctr"/>
                      <a:r>
                        <a:rPr sz="800" b="0" i="0">
                          <a:solidFill>
                            <a:srgbClr val="0D0D0D"/>
                          </a:solidFill>
                          <a:latin typeface="Calibri"/>
                        </a:rPr>
                        <a:t>5,8x</a:t>
                      </a:r>
                    </a:p>
                  </a:txBody>
                  <a:tcPr>
                    <a:solidFill>
                      <a:srgbClr val="F7F8FA"/>
                    </a:solidFill>
                  </a:tcPr>
                </a:tc>
                <a:tc>
                  <a:txBody>
                    <a:bodyPr/>
                    <a:lstStyle/>
                    <a:p>
                      <a:pPr algn="ctr"/>
                      <a:r>
                        <a:rPr sz="800" b="0" i="0">
                          <a:solidFill>
                            <a:srgbClr val="0D0D0D"/>
                          </a:solidFill>
                          <a:latin typeface="Calibri"/>
                        </a:rPr>
                        <a:t>1,1x</a:t>
                      </a:r>
                    </a:p>
                  </a:txBody>
                  <a:tcPr>
                    <a:solidFill>
                      <a:srgbClr val="F7F8FA"/>
                    </a:solidFill>
                  </a:tcPr>
                </a:tc>
                <a:tc>
                  <a:txBody>
                    <a:bodyPr/>
                    <a:lstStyle/>
                    <a:p>
                      <a:pPr algn="ctr"/>
                      <a:r>
                        <a:rPr sz="800" b="0" i="0">
                          <a:solidFill>
                            <a:srgbClr val="0D0D0D"/>
                          </a:solidFill>
                          <a:latin typeface="Calibri"/>
                        </a:rPr>
                        <a:t>7,5x</a:t>
                      </a:r>
                    </a:p>
                  </a:txBody>
                  <a:tcPr>
                    <a:solidFill>
                      <a:srgbClr val="F7F8FA"/>
                    </a:solidFill>
                  </a:tcPr>
                </a:tc>
                <a:tc>
                  <a:txBody>
                    <a:bodyPr/>
                    <a:lstStyle/>
                    <a:p>
                      <a:pPr algn="ctr"/>
                      <a:r>
                        <a:rPr sz="800" b="0" i="0">
                          <a:solidFill>
                            <a:srgbClr val="0D0D0D"/>
                          </a:solidFill>
                          <a:latin typeface="Calibri"/>
                        </a:rPr>
                        <a:t>22,0 %</a:t>
                      </a:r>
                    </a:p>
                  </a:txBody>
                  <a:tcPr>
                    <a:solidFill>
                      <a:srgbClr val="F7F8FA"/>
                    </a:solidFill>
                  </a:tcPr>
                </a:tc>
                <a:tc>
                  <a:txBody>
                    <a:bodyPr/>
                    <a:lstStyle/>
                    <a:p>
                      <a:pPr algn="ctr"/>
                      <a:r>
                        <a:rPr sz="800" b="0" i="0">
                          <a:solidFill>
                            <a:srgbClr val="0D0D0D"/>
                          </a:solidFill>
                          <a:latin typeface="Calibri"/>
                        </a:rPr>
                        <a:t>15,0 %</a:t>
                      </a:r>
                    </a:p>
                  </a:txBody>
                  <a:tcPr>
                    <a:solidFill>
                      <a:srgbClr val="F7F8FA"/>
                    </a:solidFill>
                  </a:tcPr>
                </a:tc>
              </a:tr>
              <a:tr h="251999">
                <a:tc>
                  <a:txBody>
                    <a:bodyPr/>
                    <a:lstStyle/>
                    <a:p>
                      <a:pPr algn="l"/>
                      <a:r>
                        <a:rPr sz="800" b="0" i="0">
                          <a:solidFill>
                            <a:srgbClr val="0D0D0D"/>
                          </a:solidFill>
                          <a:latin typeface="Calibri"/>
                        </a:rPr>
                        <a:t>Equinor</a:t>
                      </a:r>
                    </a:p>
                  </a:txBody>
                  <a:tcPr>
                    <a:solidFill>
                      <a:srgbClr val="FFFFFF"/>
                    </a:solidFill>
                  </a:tcPr>
                </a:tc>
                <a:tc>
                  <a:txBody>
                    <a:bodyPr/>
                    <a:lstStyle/>
                    <a:p>
                      <a:pPr algn="ctr"/>
                      <a:r>
                        <a:rPr sz="750" b="0" i="0">
                          <a:solidFill>
                            <a:srgbClr val="555555"/>
                          </a:solidFill>
                          <a:latin typeface="Calibri"/>
                        </a:rPr>
                        <a:t>EQNR.OL</a:t>
                      </a:r>
                    </a:p>
                  </a:txBody>
                  <a:tcPr>
                    <a:solidFill>
                      <a:srgbClr val="FFFFFF"/>
                    </a:solidFill>
                  </a:tcPr>
                </a:tc>
                <a:tc>
                  <a:txBody>
                    <a:bodyPr/>
                    <a:lstStyle/>
                    <a:p>
                      <a:pPr algn="ctr"/>
                      <a:r>
                        <a:rPr sz="800" b="0" i="0">
                          <a:solidFill>
                            <a:srgbClr val="0D0D0D"/>
                          </a:solidFill>
                          <a:latin typeface="Calibri"/>
                        </a:rPr>
                        <a:t>110,0</a:t>
                      </a:r>
                    </a:p>
                  </a:txBody>
                  <a:tcPr>
                    <a:solidFill>
                      <a:srgbClr val="FFFFFF"/>
                    </a:solidFill>
                  </a:tcPr>
                </a:tc>
                <a:tc>
                  <a:txBody>
                    <a:bodyPr/>
                    <a:lstStyle/>
                    <a:p>
                      <a:pPr algn="ctr"/>
                      <a:r>
                        <a:rPr sz="800" b="0" i="0">
                          <a:solidFill>
                            <a:srgbClr val="0D0D0D"/>
                          </a:solidFill>
                          <a:latin typeface="Calibri"/>
                        </a:rPr>
                        <a:t>6,2x</a:t>
                      </a:r>
                    </a:p>
                  </a:txBody>
                  <a:tcPr>
                    <a:solidFill>
                      <a:srgbClr val="FFFFFF"/>
                    </a:solidFill>
                  </a:tcPr>
                </a:tc>
                <a:tc>
                  <a:txBody>
                    <a:bodyPr/>
                    <a:lstStyle/>
                    <a:p>
                      <a:pPr algn="ctr"/>
                      <a:r>
                        <a:rPr sz="800" b="0" i="0">
                          <a:solidFill>
                            <a:srgbClr val="0D0D0D"/>
                          </a:solidFill>
                          <a:latin typeface="Calibri"/>
                        </a:rPr>
                        <a:t>1,3x</a:t>
                      </a:r>
                    </a:p>
                  </a:txBody>
                  <a:tcPr>
                    <a:solidFill>
                      <a:srgbClr val="FFFFFF"/>
                    </a:solidFill>
                  </a:tcPr>
                </a:tc>
                <a:tc>
                  <a:txBody>
                    <a:bodyPr/>
                    <a:lstStyle/>
                    <a:p>
                      <a:pPr algn="ctr"/>
                      <a:r>
                        <a:rPr sz="800" b="0" i="0">
                          <a:solidFill>
                            <a:srgbClr val="0D0D0D"/>
                          </a:solidFill>
                          <a:latin typeface="Calibri"/>
                        </a:rPr>
                        <a:t>8,0x</a:t>
                      </a:r>
                    </a:p>
                  </a:txBody>
                  <a:tcPr>
                    <a:solidFill>
                      <a:srgbClr val="FFFFFF"/>
                    </a:solidFill>
                  </a:tcPr>
                </a:tc>
                <a:tc>
                  <a:txBody>
                    <a:bodyPr/>
                    <a:lstStyle/>
                    <a:p>
                      <a:pPr algn="ctr"/>
                      <a:r>
                        <a:rPr sz="800" b="0" i="0">
                          <a:solidFill>
                            <a:srgbClr val="0D0D0D"/>
                          </a:solidFill>
                          <a:latin typeface="Calibri"/>
                        </a:rPr>
                        <a:t>30,0 %</a:t>
                      </a:r>
                    </a:p>
                  </a:txBody>
                  <a:tcPr>
                    <a:solidFill>
                      <a:srgbClr val="FFFFFF"/>
                    </a:solidFill>
                  </a:tcPr>
                </a:tc>
                <a:tc>
                  <a:txBody>
                    <a:bodyPr/>
                    <a:lstStyle/>
                    <a:p>
                      <a:pPr algn="ctr"/>
                      <a:r>
                        <a:rPr sz="800" b="0" i="0">
                          <a:solidFill>
                            <a:srgbClr val="0D0D0D"/>
                          </a:solidFill>
                          <a:latin typeface="Calibri"/>
                        </a:rPr>
                        <a:t>22,0 %</a:t>
                      </a:r>
                    </a:p>
                  </a:txBody>
                  <a:tcPr>
                    <a:solidFill>
                      <a:srgbClr val="FFFFFF"/>
                    </a:solidFill>
                  </a:tcPr>
                </a:tc>
              </a:tr>
              <a:tr h="251999">
                <a:tc>
                  <a:txBody>
                    <a:bodyPr/>
                    <a:lstStyle/>
                    <a:p>
                      <a:pPr algn="l"/>
                      <a:r>
                        <a:rPr sz="800" b="0" i="0">
                          <a:solidFill>
                            <a:srgbClr val="0D0D0D"/>
                          </a:solidFill>
                          <a:latin typeface="Calibri"/>
                        </a:rPr>
                        <a:t>Ørsted</a:t>
                      </a:r>
                    </a:p>
                  </a:txBody>
                  <a:tcPr>
                    <a:solidFill>
                      <a:srgbClr val="F7F8FA"/>
                    </a:solidFill>
                  </a:tcPr>
                </a:tc>
                <a:tc>
                  <a:txBody>
                    <a:bodyPr/>
                    <a:lstStyle/>
                    <a:p>
                      <a:pPr algn="ctr"/>
                      <a:r>
                        <a:rPr sz="750" b="0" i="0">
                          <a:solidFill>
                            <a:srgbClr val="555555"/>
                          </a:solidFill>
                          <a:latin typeface="Calibri"/>
                        </a:rPr>
                        <a:t>ORSTED.CO</a:t>
                      </a:r>
                    </a:p>
                  </a:txBody>
                  <a:tcPr>
                    <a:solidFill>
                      <a:srgbClr val="F7F8FA"/>
                    </a:solidFill>
                  </a:tcPr>
                </a:tc>
                <a:tc>
                  <a:txBody>
                    <a:bodyPr/>
                    <a:lstStyle/>
                    <a:p>
                      <a:pPr algn="ctr"/>
                      <a:r>
                        <a:rPr sz="800" b="0" i="0">
                          <a:solidFill>
                            <a:srgbClr val="0D0D0D"/>
                          </a:solidFill>
                          <a:latin typeface="Calibri"/>
                        </a:rPr>
                        <a:t>45,0</a:t>
                      </a:r>
                    </a:p>
                  </a:txBody>
                  <a:tcPr>
                    <a:solidFill>
                      <a:srgbClr val="F7F8FA"/>
                    </a:solidFill>
                  </a:tcPr>
                </a:tc>
                <a:tc>
                  <a:txBody>
                    <a:bodyPr/>
                    <a:lstStyle/>
                    <a:p>
                      <a:pPr algn="ctr"/>
                      <a:r>
                        <a:rPr sz="800" b="0" i="0">
                          <a:solidFill>
                            <a:srgbClr val="0D0D0D"/>
                          </a:solidFill>
                          <a:latin typeface="Calibri"/>
                        </a:rPr>
                        <a:t>12,0x</a:t>
                      </a:r>
                    </a:p>
                  </a:txBody>
                  <a:tcPr>
                    <a:solidFill>
                      <a:srgbClr val="F7F8FA"/>
                    </a:solidFill>
                  </a:tcPr>
                </a:tc>
                <a:tc>
                  <a:txBody>
                    <a:bodyPr/>
                    <a:lstStyle/>
                    <a:p>
                      <a:pPr algn="ctr"/>
                      <a:r>
                        <a:rPr sz="800" b="0" i="0">
                          <a:solidFill>
                            <a:srgbClr val="0D0D0D"/>
                          </a:solidFill>
                          <a:latin typeface="Calibri"/>
                        </a:rPr>
                        <a:t>3,5x</a:t>
                      </a:r>
                    </a:p>
                  </a:txBody>
                  <a:tcPr>
                    <a:solidFill>
                      <a:srgbClr val="F7F8FA"/>
                    </a:solidFill>
                  </a:tcPr>
                </a:tc>
                <a:tc>
                  <a:txBody>
                    <a:bodyPr/>
                    <a:lstStyle/>
                    <a:p>
                      <a:pPr algn="ctr"/>
                      <a:r>
                        <a:rPr sz="800" b="0" i="0">
                          <a:solidFill>
                            <a:srgbClr val="0D0D0D"/>
                          </a:solidFill>
                          <a:latin typeface="Calibri"/>
                        </a:rPr>
                        <a:t>25,0x</a:t>
                      </a:r>
                    </a:p>
                  </a:txBody>
                  <a:tcPr>
                    <a:solidFill>
                      <a:srgbClr val="F7F8FA"/>
                    </a:solidFill>
                  </a:tcPr>
                </a:tc>
                <a:tc>
                  <a:txBody>
                    <a:bodyPr/>
                    <a:lstStyle/>
                    <a:p>
                      <a:pPr algn="ctr"/>
                      <a:r>
                        <a:rPr sz="800" b="0" i="0">
                          <a:solidFill>
                            <a:srgbClr val="0D0D0D"/>
                          </a:solidFill>
                          <a:latin typeface="Calibri"/>
                        </a:rPr>
                        <a:t>45,0 %</a:t>
                      </a:r>
                    </a:p>
                  </a:txBody>
                  <a:tcPr>
                    <a:solidFill>
                      <a:srgbClr val="F7F8FA"/>
                    </a:solidFill>
                  </a:tcPr>
                </a:tc>
                <a:tc>
                  <a:txBody>
                    <a:bodyPr/>
                    <a:lstStyle/>
                    <a:p>
                      <a:pPr algn="ctr"/>
                      <a:r>
                        <a:rPr sz="800" b="0" i="0">
                          <a:solidFill>
                            <a:srgbClr val="0D0D0D"/>
                          </a:solidFill>
                          <a:latin typeface="Calibri"/>
                        </a:rPr>
                        <a:t>30,0 %</a:t>
                      </a:r>
                    </a:p>
                  </a:txBody>
                  <a:tcPr>
                    <a:solidFill>
                      <a:srgbClr val="F7F8FA"/>
                    </a:solidFill>
                  </a:tcPr>
                </a:tc>
              </a:tr>
              <a:tr h="251999">
                <a:tc>
                  <a:txBody>
                    <a:bodyPr/>
                    <a:lstStyle/>
                    <a:p>
                      <a:pPr algn="l"/>
                      <a:r>
                        <a:rPr sz="800" b="0" i="0">
                          <a:solidFill>
                            <a:srgbClr val="0D0D0D"/>
                          </a:solidFill>
                          <a:latin typeface="Calibri"/>
                        </a:rPr>
                        <a:t>NextEra Energy</a:t>
                      </a:r>
                    </a:p>
                  </a:txBody>
                  <a:tcPr>
                    <a:solidFill>
                      <a:srgbClr val="FFFFFF"/>
                    </a:solidFill>
                  </a:tcPr>
                </a:tc>
                <a:tc>
                  <a:txBody>
                    <a:bodyPr/>
                    <a:lstStyle/>
                    <a:p>
                      <a:pPr algn="ctr"/>
                      <a:r>
                        <a:rPr sz="750" b="0" i="0">
                          <a:solidFill>
                            <a:srgbClr val="555555"/>
                          </a:solidFill>
                          <a:latin typeface="Calibri"/>
                        </a:rPr>
                        <a:t>NEE.N</a:t>
                      </a:r>
                    </a:p>
                  </a:txBody>
                  <a:tcPr>
                    <a:solidFill>
                      <a:srgbClr val="FFFFFF"/>
                    </a:solidFill>
                  </a:tcPr>
                </a:tc>
                <a:tc>
                  <a:txBody>
                    <a:bodyPr/>
                    <a:lstStyle/>
                    <a:p>
                      <a:pPr algn="ctr"/>
                      <a:r>
                        <a:rPr sz="800" b="0" i="0">
                          <a:solidFill>
                            <a:srgbClr val="0D0D0D"/>
                          </a:solidFill>
                          <a:latin typeface="Calibri"/>
                        </a:rPr>
                        <a:t>150,0</a:t>
                      </a:r>
                    </a:p>
                  </a:txBody>
                  <a:tcPr>
                    <a:solidFill>
                      <a:srgbClr val="FFFFFF"/>
                    </a:solidFill>
                  </a:tcPr>
                </a:tc>
                <a:tc>
                  <a:txBody>
                    <a:bodyPr/>
                    <a:lstStyle/>
                    <a:p>
                      <a:pPr algn="ctr"/>
                      <a:r>
                        <a:rPr sz="800" b="0" i="0">
                          <a:solidFill>
                            <a:srgbClr val="0D0D0D"/>
                          </a:solidFill>
                          <a:latin typeface="Calibri"/>
                        </a:rPr>
                        <a:t>15,0x</a:t>
                      </a:r>
                    </a:p>
                  </a:txBody>
                  <a:tcPr>
                    <a:solidFill>
                      <a:srgbClr val="FFFFFF"/>
                    </a:solidFill>
                  </a:tcPr>
                </a:tc>
                <a:tc>
                  <a:txBody>
                    <a:bodyPr/>
                    <a:lstStyle/>
                    <a:p>
                      <a:pPr algn="ctr"/>
                      <a:r>
                        <a:rPr sz="800" b="0" i="0">
                          <a:solidFill>
                            <a:srgbClr val="0D0D0D"/>
                          </a:solidFill>
                          <a:latin typeface="Calibri"/>
                        </a:rPr>
                        <a:t>4,0x</a:t>
                      </a:r>
                    </a:p>
                  </a:txBody>
                  <a:tcPr>
                    <a:solidFill>
                      <a:srgbClr val="FFFFFF"/>
                    </a:solidFill>
                  </a:tcPr>
                </a:tc>
                <a:tc>
                  <a:txBody>
                    <a:bodyPr/>
                    <a:lstStyle/>
                    <a:p>
                      <a:pPr algn="ctr"/>
                      <a:r>
                        <a:rPr sz="800" b="0" i="0">
                          <a:solidFill>
                            <a:srgbClr val="0D0D0D"/>
                          </a:solidFill>
                          <a:latin typeface="Calibri"/>
                        </a:rPr>
                        <a:t>30,0x</a:t>
                      </a:r>
                    </a:p>
                  </a:txBody>
                  <a:tcPr>
                    <a:solidFill>
                      <a:srgbClr val="FFFFFF"/>
                    </a:solidFill>
                  </a:tcPr>
                </a:tc>
                <a:tc>
                  <a:txBody>
                    <a:bodyPr/>
                    <a:lstStyle/>
                    <a:p>
                      <a:pPr algn="ctr"/>
                      <a:r>
                        <a:rPr sz="800" b="0" i="0">
                          <a:solidFill>
                            <a:srgbClr val="0D0D0D"/>
                          </a:solidFill>
                          <a:latin typeface="Calibri"/>
                        </a:rPr>
                        <a:t>50,0 %</a:t>
                      </a:r>
                    </a:p>
                  </a:txBody>
                  <a:tcPr>
                    <a:solidFill>
                      <a:srgbClr val="FFFFFF"/>
                    </a:solidFill>
                  </a:tcPr>
                </a:tc>
                <a:tc>
                  <a:txBody>
                    <a:bodyPr/>
                    <a:lstStyle/>
                    <a:p>
                      <a:pPr algn="ctr"/>
                      <a:r>
                        <a:rPr sz="800" b="0" i="0">
                          <a:solidFill>
                            <a:srgbClr val="0D0D0D"/>
                          </a:solidFill>
                          <a:latin typeface="Calibri"/>
                        </a:rPr>
                        <a:t>35,0 %</a:t>
                      </a:r>
                    </a:p>
                  </a:txBody>
                  <a:tcPr>
                    <a:solidFill>
                      <a:srgbClr val="FFFFFF"/>
                    </a:solidFill>
                  </a:tcPr>
                </a:tc>
              </a:tr>
              <a:tr h="252006">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6,5x</a:t>
                      </a:r>
                    </a:p>
                  </a:txBody>
                  <a:tcPr>
                    <a:solidFill>
                      <a:srgbClr val="F7F8FA"/>
                    </a:solidFill>
                  </a:tcPr>
                </a:tc>
                <a:tc>
                  <a:txBody>
                    <a:bodyPr/>
                    <a:lstStyle/>
                    <a:p>
                      <a:pPr algn="ctr"/>
                      <a:r>
                        <a:rPr sz="800" b="1" i="0">
                          <a:solidFill>
                            <a:srgbClr val="0D0D0D"/>
                          </a:solidFill>
                          <a:latin typeface="Calibri"/>
                        </a:rPr>
                        <a:t>1,3x</a:t>
                      </a:r>
                    </a:p>
                  </a:txBody>
                  <a:tcPr>
                    <a:solidFill>
                      <a:srgbClr val="F7F8FA"/>
                    </a:solidFill>
                  </a:tcPr>
                </a:tc>
                <a:tc>
                  <a:txBody>
                    <a:bodyPr/>
                    <a:lstStyle/>
                    <a:p>
                      <a:pPr algn="ctr"/>
                      <a:r>
                        <a:rPr sz="800" b="1" i="0">
                          <a:solidFill>
                            <a:srgbClr val="0D0D0D"/>
                          </a:solidFill>
                          <a:latin typeface="Calibri"/>
                        </a:rPr>
                        <a:t>9,0x</a:t>
                      </a:r>
                    </a:p>
                  </a:txBody>
                  <a:tcPr>
                    <a:solidFill>
                      <a:srgbClr val="F7F8FA"/>
                    </a:solidFill>
                  </a:tcPr>
                </a:tc>
                <a:tc>
                  <a:txBody>
                    <a:bodyPr/>
                    <a:lstStyle/>
                    <a:p>
                      <a:pPr algn="ctr"/>
                      <a:r>
                        <a:rPr sz="800" b="1" i="0">
                          <a:solidFill>
                            <a:srgbClr val="0D0D0D"/>
                          </a:solidFill>
                          <a:latin typeface="Calibri"/>
                        </a:rPr>
                        <a:t>30,0 %</a:t>
                      </a:r>
                    </a:p>
                  </a:txBody>
                  <a:tcPr>
                    <a:solidFill>
                      <a:srgbClr val="F7F8FA"/>
                    </a:solidFill>
                  </a:tcPr>
                </a:tc>
                <a:tc>
                  <a:txBody>
                    <a:bodyPr/>
                    <a:lstStyle/>
                    <a:p>
                      <a:pPr algn="ctr"/>
                      <a:r>
                        <a:rPr sz="800" b="1" i="0">
                          <a:solidFill>
                            <a:srgbClr val="0D0D0D"/>
                          </a:solidFill>
                          <a:latin typeface="Calibri"/>
                        </a:rPr>
                        <a:t>22,0 %</a:t>
                      </a:r>
                    </a:p>
                  </a:txBody>
                  <a:tcPr>
                    <a:solidFill>
                      <a:srgbClr val="F7F8FA"/>
                    </a:solidFill>
                  </a:tcPr>
                </a:tc>
              </a:tr>
            </a:tbl>
          </a:graphicData>
        </a:graphic>
      </p:graphicFrame>
      <p:sp>
        <p:nvSpPr>
          <p:cNvPr id="18" name="TextBox 17"/>
          <p:cNvSpPr txBox="1"/>
          <p:nvPr/>
        </p:nvSpPr>
        <p:spPr>
          <a:xfrm>
            <a:off x="367200" y="3128400"/>
            <a:ext cx="8413200" cy="1234800"/>
          </a:xfrm>
          <a:prstGeom prst="rect">
            <a:avLst/>
          </a:prstGeom>
          <a:noFill/>
        </p:spPr>
        <p:txBody>
          <a:bodyPr wrap="square">
            <a:spAutoFit/>
          </a:bodyPr>
          <a:lstStyle/>
          <a:p>
            <a:pPr algn="l"/>
            <a:r>
              <a:rPr sz="850" b="0" i="0">
                <a:solidFill>
                  <a:srgbClr val="555555"/>
                </a:solidFill>
                <a:latin typeface="Calibri"/>
              </a:rPr>
              <a:t>TotalEnergies affiche une décote de 15% vs la médiane peers (EV/EBITDA LTM 7,8x vs 9,2x) et de 10% sur P/E (8,5x vs 9,4x). Cette décote s’explique par un mix énergétique plus carboné que les pure players renouvelables (Ørsted, NextEra) mais mieux diversifié que les majors pétrolières pures (Shell, BP). Une convergence vers la médiane peers impliquerait un upside de +12% sur l’EV/EBITDA.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EUR par action</a:t>
            </a:r>
          </a:p>
        </p:txBody>
      </p:sp>
      <p:pic>
        <p:nvPicPr>
          <p:cNvPr id="17" name="Picture 16" descr="image.png"/>
          <p:cNvPicPr>
            <a:picLocks noChangeAspect="1"/>
          </p:cNvPicPr>
          <p:nvPr/>
        </p:nvPicPr>
        <p:blipFill>
          <a:blip r:embed="rId2"/>
          <a:stretch>
            <a:fillRect/>
          </a:stretch>
        </p:blipFill>
        <p:spPr>
          <a:xfrm>
            <a:off x="367200" y="914400"/>
            <a:ext cx="8413200" cy="2448000"/>
          </a:xfrm>
          <a:prstGeom prst="rect">
            <a:avLst/>
          </a:prstGeom>
        </p:spPr>
      </p:pic>
      <p:sp>
        <p:nvSpPr>
          <p:cNvPr id="18" name="TextBox 17"/>
          <p:cNvSpPr txBox="1"/>
          <p:nvPr/>
        </p:nvSpPr>
        <p:spPr>
          <a:xfrm>
            <a:off x="367200" y="3488400"/>
            <a:ext cx="8413200" cy="914400"/>
          </a:xfrm>
          <a:prstGeom prst="rect">
            <a:avLst/>
          </a:prstGeom>
          <a:noFill/>
        </p:spPr>
        <p:txBody>
          <a:bodyPr wrap="square">
            <a:spAutoFit/>
          </a:bodyPr>
          <a:lstStyle/>
          <a:p>
            <a:pPr algn="l"/>
            <a:r>
              <a:rPr sz="850" b="0" i="0">
                <a:solidFill>
                  <a:srgbClr val="555555"/>
                </a:solidFill>
                <a:latin typeface="Calibri"/>
              </a:rPr>
              <a:t>Avec un WACC de 6,1% et une TGR de 1,5%, le prix implicite DCF est de €92 (base), soit +16% vs le cours actuel. L’upside provient d’une croissance organique des énergies renouvelables (+12%/an) et d’une discipline capitalistique stricte. Le risque d’exécution sur la transition énergétique (délais, coûts) limite l’upside à court terme.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255600"/>
          </a:xfrm>
          <a:prstGeom prst="rect">
            <a:avLst/>
          </a:prstGeom>
          <a:noFill/>
        </p:spPr>
        <p:txBody>
          <a:bodyPr wrap="square">
            <a:spAutoFit/>
          </a:bodyPr>
          <a:lstStyle/>
          <a:p>
            <a:pPr algn="l"/>
            <a:r>
              <a:rPr sz="900" b="1" i="0">
                <a:solidFill>
                  <a:srgbClr val="A82020"/>
                </a:solidFill>
                <a:latin typeface="Calibri"/>
              </a:rPr>
              <a:t>Surcoûts LNG 20%</a:t>
            </a:r>
          </a:p>
        </p:txBody>
      </p:sp>
      <p:sp>
        <p:nvSpPr>
          <p:cNvPr id="20" name="TextBox 19"/>
          <p:cNvSpPr txBox="1"/>
          <p:nvPr/>
        </p:nvSpPr>
        <p:spPr>
          <a:xfrm>
            <a:off x="475200" y="1436400"/>
            <a:ext cx="2527200" cy="1260000"/>
          </a:xfrm>
          <a:prstGeom prst="rect">
            <a:avLst/>
          </a:prstGeom>
          <a:noFill/>
        </p:spPr>
        <p:txBody>
          <a:bodyPr wrap="square">
            <a:spAutoFit/>
          </a:bodyPr>
          <a:lstStyle/>
          <a:p>
            <a:pPr algn="l"/>
            <a:r>
              <a:rPr sz="800" b="0" i="0">
                <a:solidFill>
                  <a:srgbClr val="555555"/>
                </a:solidFill>
                <a:latin typeface="Calibri"/>
              </a:rPr>
              <a:t>L'intégration verticale de TotalEnergies expose à des risques de surcoûts opérationnels de 15 à 20% dans les projets LNG, comme le terminal de Mozambique, où les retards ont déjà alourdi les dépenses de 3,2 milliards $ en 2023.</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255600"/>
          </a:xfrm>
          <a:prstGeom prst="rect">
            <a:avLst/>
          </a:prstGeom>
          <a:noFill/>
        </p:spPr>
        <p:txBody>
          <a:bodyPr wrap="square">
            <a:spAutoFit/>
          </a:bodyPr>
          <a:lstStyle/>
          <a:p>
            <a:pPr algn="l"/>
            <a:r>
              <a:rPr sz="900" b="1" i="0">
                <a:solidFill>
                  <a:srgbClr val="2E5FA3"/>
                </a:solidFill>
                <a:latin typeface="Calibri"/>
              </a:rPr>
              <a:t>Marges nettes -12%</a:t>
            </a:r>
          </a:p>
        </p:txBody>
      </p:sp>
      <p:sp>
        <p:nvSpPr>
          <p:cNvPr id="24" name="TextBox 23"/>
          <p:cNvSpPr txBox="1"/>
          <p:nvPr/>
        </p:nvSpPr>
        <p:spPr>
          <a:xfrm>
            <a:off x="3337200" y="1436400"/>
            <a:ext cx="2527200" cy="1260000"/>
          </a:xfrm>
          <a:prstGeom prst="rect">
            <a:avLst/>
          </a:prstGeom>
          <a:noFill/>
        </p:spPr>
        <p:txBody>
          <a:bodyPr wrap="square">
            <a:spAutoFit/>
          </a:bodyPr>
          <a:lstStyle/>
          <a:p>
            <a:pPr algn="l"/>
            <a:r>
              <a:rPr sz="800" b="0" i="0">
                <a:solidFill>
                  <a:srgbClr val="555555"/>
                </a:solidFill>
                <a:latin typeface="Calibri"/>
              </a:rPr>
              <a:t>La discipline capitalistique, souvent citée, a échoué à compenser la baisse des marges nettes de 12% en 2022 due à la volatilité des prix du pétrole, avec un ROE en dessous de 10% depuis 2020.</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255600"/>
          </a:xfrm>
          <a:prstGeom prst="rect">
            <a:avLst/>
          </a:prstGeom>
          <a:noFill/>
        </p:spPr>
        <p:txBody>
          <a:bodyPr wrap="square">
            <a:spAutoFit/>
          </a:bodyPr>
          <a:lstStyle/>
          <a:p>
            <a:pPr algn="l"/>
            <a:r>
              <a:rPr sz="900" b="1" i="0">
                <a:solidFill>
                  <a:srgbClr val="B06000"/>
                </a:solidFill>
                <a:latin typeface="Calibri"/>
              </a:rPr>
              <a:t>Concurrence asiatique</a:t>
            </a:r>
          </a:p>
        </p:txBody>
      </p:sp>
      <p:sp>
        <p:nvSpPr>
          <p:cNvPr id="28" name="TextBox 27"/>
          <p:cNvSpPr txBox="1"/>
          <p:nvPr/>
        </p:nvSpPr>
        <p:spPr>
          <a:xfrm>
            <a:off x="6199200" y="1436400"/>
            <a:ext cx="2527200" cy="1260000"/>
          </a:xfrm>
          <a:prstGeom prst="rect">
            <a:avLst/>
          </a:prstGeom>
          <a:noFill/>
        </p:spPr>
        <p:txBody>
          <a:bodyPr wrap="square">
            <a:spAutoFit/>
          </a:bodyPr>
          <a:lstStyle/>
          <a:p>
            <a:pPr algn="l"/>
            <a:r>
              <a:rPr sz="800" b="0" i="0">
                <a:solidFill>
                  <a:srgbClr val="555555"/>
                </a:solidFill>
                <a:latin typeface="Calibri"/>
              </a:rPr>
              <a:t>Le pricing power sur les produits raffinés est illusoire face à la concurrence asiatique, où les marges brutes ont chuté de 8% en 2023, réduisant les marges de raffinage à 3,5% contre 5,2% en 2021.</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these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Brent &lt; $60/b pendant 6 mois</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Accélération des taxes carbone en UE (€100/t CO2)</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Societe</a:t>
                      </a:r>
                    </a:p>
                  </a:txBody>
                  <a:tcPr>
                    <a:solidFill>
                      <a:srgbClr val="FFFFFF"/>
                    </a:solidFill>
                  </a:tcPr>
                </a:tc>
                <a:tc>
                  <a:txBody>
                    <a:bodyPr/>
                    <a:lstStyle/>
                    <a:p>
                      <a:pPr algn="ctr"/>
                      <a:r>
                        <a:rPr sz="800" b="0" i="0">
                          <a:solidFill>
                            <a:srgbClr val="0D0D0D"/>
                          </a:solidFill>
                          <a:latin typeface="Calibri"/>
                        </a:rPr>
                        <a:t>Retard &gt;12 mois sur 50% des projets renouvelables 2025-2027</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FinBERT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21 articles  ·  7 derniers jours</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Negatif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agrege : -0,279</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21</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analyses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Fenetre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48,9 %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Modele FinBERT</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BUY</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Coherence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Aligne avec la these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4</a:t>
                      </a:r>
                    </a:p>
                  </a:txBody>
                  <a:tcPr>
                    <a:solidFill>
                      <a:srgbClr val="EAF4EF"/>
                    </a:solidFill>
                  </a:tcPr>
                </a:tc>
                <a:tc>
                  <a:txBody>
                    <a:bodyPr/>
                    <a:lstStyle/>
                    <a:p>
                      <a:pPr algn="ctr"/>
                      <a:r>
                        <a:rPr sz="800" b="0" i="0">
                          <a:solidFill>
                            <a:srgbClr val="0D0D0D"/>
                          </a:solidFill>
                          <a:latin typeface="Calibri"/>
                        </a:rPr>
                        <a:t>+0,210</a:t>
                      </a:r>
                    </a:p>
                  </a:txBody>
                  <a:tcPr>
                    <a:solidFill>
                      <a:srgbClr val="EAF4EF"/>
                    </a:solidFill>
                  </a:tcPr>
                </a:tc>
                <a:tc>
                  <a:txBody>
                    <a:bodyPr/>
                    <a:lstStyle/>
                    <a:p>
                      <a:pPr algn="ctr"/>
                      <a:r>
                        <a:rPr sz="800" b="0" i="0">
                          <a:solidFill>
                            <a:srgbClr val="0D0D0D"/>
                          </a:solidFill>
                          <a:latin typeface="Calibri"/>
                        </a:rPr>
                        <a:t>Croissance des énergies renouvelables : +€3,5mds d’EBITDA d’ici 2030 avec un mix 30% bas-carbone en 2027 | Horizon : 2025-2030</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5</a:t>
                      </a:r>
                    </a:p>
                  </a:txBody>
                  <a:tcPr>
                    <a:solidFill>
                      <a:srgbClr val="FFFFFF"/>
                    </a:solidFill>
                  </a:tcPr>
                </a:tc>
                <a:tc>
                  <a:txBody>
                    <a:bodyPr/>
                    <a:lstStyle/>
                    <a:p>
                      <a:pPr algn="ctr"/>
                      <a:r>
                        <a:rPr sz="800" b="0" i="0">
                          <a:solidFill>
                            <a:srgbClr val="0D0D0D"/>
                          </a:solidFill>
                          <a:latin typeface="Calibri"/>
                        </a:rPr>
                        <a:t>+0,301</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12</a:t>
                      </a:r>
                    </a:p>
                  </a:txBody>
                  <a:tcPr>
                    <a:solidFill>
                      <a:srgbClr val="FAF0EF"/>
                    </a:solidFill>
                  </a:tcPr>
                </a:tc>
                <a:tc>
                  <a:txBody>
                    <a:bodyPr/>
                    <a:lstStyle/>
                    <a:p>
                      <a:pPr algn="ctr"/>
                      <a:r>
                        <a:rPr sz="800" b="0" i="0">
                          <a:solidFill>
                            <a:srgbClr val="0D0D0D"/>
                          </a:solidFill>
                          <a:latin typeface="Calibri"/>
                        </a:rPr>
                        <a:t>+0,489</a:t>
                      </a:r>
                    </a:p>
                  </a:txBody>
                  <a:tcPr>
                    <a:solidFill>
                      <a:srgbClr val="FAF0EF"/>
                    </a:solidFill>
                  </a:tcPr>
                </a:tc>
                <a:tc>
                  <a:txBody>
                    <a:bodyPr/>
                    <a:lstStyle/>
                    <a:p>
                      <a:pPr algn="ctr"/>
                      <a:r>
                        <a:rPr sz="800" b="0" i="0">
                          <a:solidFill>
                            <a:srgbClr val="0D0D0D"/>
                          </a:solidFill>
                          <a:latin typeface="Calibri"/>
                        </a:rPr>
                        <a:t>Risque réglementaire : potentiel durcissement des normes CO2 en UE réduisant la rentabilité des actifs pétroliers de -10% | Horizon : 2026-2028</a:t>
                      </a:r>
                    </a:p>
                  </a:txBody>
                  <a:tcPr>
                    <a:solidFill>
                      <a:srgbClr val="FAF0EF"/>
                    </a:solidFill>
                  </a:tcPr>
                </a:tc>
              </a:tr>
            </a:tbl>
          </a:graphicData>
        </a:graphic>
      </p:graphicFrame>
      <p:sp>
        <p:nvSpPr>
          <p:cNvPr id="39" name="TextBox 38"/>
          <p:cNvSpPr txBox="1"/>
          <p:nvPr/>
        </p:nvSpPr>
        <p:spPr>
          <a:xfrm>
            <a:off x="367200" y="4140000"/>
            <a:ext cx="8413200" cy="914400"/>
          </a:xfrm>
          <a:prstGeom prst="rect">
            <a:avLst/>
          </a:prstGeom>
          <a:noFill/>
        </p:spPr>
        <p:txBody>
          <a:bodyPr wrap="square">
            <a:spAutoFit/>
          </a:bodyPr>
          <a:lstStyle/>
          <a:p>
            <a:pPr algn="l"/>
            <a:r>
              <a:rPr sz="850" b="0" i="0">
                <a:solidFill>
                  <a:srgbClr val="333333"/>
                </a:solidFill>
                <a:latin typeface="Calibri"/>
              </a:rPr>
              <a:t>La presse financière perçoit majoritairement la décision de TotalEnergies de quitter les projets éoliens offshore américains comme un revirement stratégique défavorable. Les initiatives positives en matière de durabilité et d'innovation énergétique sont éclipsées par les annonces liées à la transition vers le gaz naturel.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27 mars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TotalEnergies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Capital International Investors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2.1 %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Massachusetts Financial Services Co</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Deutsche Bank AG</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1.6 %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Caisse Des Depots Et Consignations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NORGES BANK</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JPMORGAN CHASE &amp; CO</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1.2 %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82.3 %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3.3 %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82.3 %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21" name="TextBox 20"/>
          <p:cNvSpPr txBox="1"/>
          <p:nvPr/>
        </p:nvSpPr>
        <p:spPr>
          <a:xfrm>
            <a:off x="367200" y="3326400"/>
            <a:ext cx="8413200" cy="1004400"/>
          </a:xfrm>
          <a:prstGeom prst="rect">
            <a:avLst/>
          </a:prstGeom>
          <a:noFill/>
        </p:spPr>
        <p:txBody>
          <a:bodyPr wrap="square">
            <a:spAutoFit/>
          </a:bodyPr>
          <a:lstStyle/>
          <a:p>
            <a:pPr algn="l"/>
            <a:r>
              <a:rPr sz="850" b="0" i="0">
                <a:solidFill>
                  <a:srgbClr val="555555"/>
                </a:solidFill>
                <a:latin typeface="Calibri"/>
              </a:rPr>
              <a:t>TotalEnergies se négocie à une décote de 12% vs la médiane peers sur EV/EBITDA LTM (7,8x vs 8,9x). La prime de qualité (marges, mix énergétique) justifie partiellement cette décote.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TTE.PA  ·  EUR  ·  Au 27 mars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79,09 EUR</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79,09 EUR</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48,79 EUR</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+62,1 %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3823200"/>
            <a:ext cx="498636"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38" name="Rectangle 37"/>
          <p:cNvSpPr/>
          <p:nvPr/>
        </p:nvSpPr>
        <p:spPr>
          <a:xfrm>
            <a:off x="1293300" y="3800388"/>
            <a:ext cx="498636" cy="94811"/>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40" name="Rectangle 39"/>
          <p:cNvSpPr/>
          <p:nvPr/>
        </p:nvSpPr>
        <p:spPr>
          <a:xfrm>
            <a:off x="1949400" y="3780427"/>
            <a:ext cx="498636" cy="11477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2" name="Rectangle 41"/>
          <p:cNvSpPr/>
          <p:nvPr/>
        </p:nvSpPr>
        <p:spPr>
          <a:xfrm>
            <a:off x="2605500" y="3747160"/>
            <a:ext cx="498636" cy="14803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4" name="Rectangle 43"/>
          <p:cNvSpPr/>
          <p:nvPr/>
        </p:nvSpPr>
        <p:spPr>
          <a:xfrm>
            <a:off x="3261600" y="3678724"/>
            <a:ext cx="498636" cy="21647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6" name="Rectangle 45"/>
          <p:cNvSpPr/>
          <p:nvPr/>
        </p:nvSpPr>
        <p:spPr>
          <a:xfrm>
            <a:off x="3917700" y="3760467"/>
            <a:ext cx="498636" cy="134732"/>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8" name="Rectangle 47"/>
          <p:cNvSpPr/>
          <p:nvPr/>
        </p:nvSpPr>
        <p:spPr>
          <a:xfrm>
            <a:off x="4573800" y="3658289"/>
            <a:ext cx="498636" cy="23691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50" name="Rectangle 49"/>
          <p:cNvSpPr/>
          <p:nvPr/>
        </p:nvSpPr>
        <p:spPr>
          <a:xfrm>
            <a:off x="5229900" y="3483398"/>
            <a:ext cx="498636" cy="411801"/>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2" name="Rectangle 51"/>
          <p:cNvSpPr/>
          <p:nvPr/>
        </p:nvSpPr>
        <p:spPr>
          <a:xfrm>
            <a:off x="5886000" y="3539952"/>
            <a:ext cx="498636" cy="355247"/>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4" name="Rectangle 53"/>
          <p:cNvSpPr/>
          <p:nvPr/>
        </p:nvSpPr>
        <p:spPr>
          <a:xfrm>
            <a:off x="6542100" y="3235794"/>
            <a:ext cx="498636" cy="65940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6" name="Rectangle 55"/>
          <p:cNvSpPr/>
          <p:nvPr/>
        </p:nvSpPr>
        <p:spPr>
          <a:xfrm>
            <a:off x="7198200" y="2944467"/>
            <a:ext cx="498636" cy="95073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8" name="Rectangle 57"/>
          <p:cNvSpPr/>
          <p:nvPr/>
        </p:nvSpPr>
        <p:spPr>
          <a:xfrm>
            <a:off x="7854300" y="2383200"/>
            <a:ext cx="498636" cy="151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48</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58</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69</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79</a:t>
            </a:r>
          </a:p>
        </p:txBody>
      </p:sp>
      <p:sp>
        <p:nvSpPr>
          <p:cNvPr id="68" name="TextBox 67"/>
          <p:cNvSpPr txBox="1"/>
          <p:nvPr/>
        </p:nvSpPr>
        <p:spPr>
          <a:xfrm>
            <a:off x="367200" y="4132800"/>
            <a:ext cx="8413200" cy="687600"/>
          </a:xfrm>
          <a:prstGeom prst="rect">
            <a:avLst/>
          </a:prstGeom>
          <a:noFill/>
        </p:spPr>
        <p:txBody>
          <a:bodyPr wrap="square">
            <a:spAutoFit/>
          </a:bodyPr>
          <a:lstStyle/>
          <a:p>
            <a:pPr algn="l"/>
            <a:r>
              <a:rPr sz="850" b="0" i="0">
                <a:solidFill>
                  <a:srgbClr val="555555"/>
                </a:solidFill>
                <a:latin typeface="Calibri"/>
              </a:rPr>
              <a:t>TotalEnergies affiche une résilience opérationnelle malgré un environnement volatil, avec une stratégie intégrée pétrole-gaz-énergies renouvelables. La valorisation reste attractive vs peers, soutenue par des marges solides et un levier opérationnel élevé. Catalyseurs structurels (transition énergét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