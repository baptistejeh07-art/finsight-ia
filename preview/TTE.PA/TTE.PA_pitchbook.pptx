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TotalEnergies SE</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TTE.PA  ·  Euronext Paris  ·  Energy</a:t>
            </a:r>
          </a:p>
        </p:txBody>
      </p:sp>
      <p:sp>
        <p:nvSpPr>
          <p:cNvPr id="8" name="Rectangle 7"/>
          <p:cNvSpPr/>
          <p:nvPr/>
        </p:nvSpPr>
        <p:spPr>
          <a:xfrm>
            <a:off x="457200" y="2617297"/>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617297"/>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635297"/>
            <a:ext cx="8063999" cy="439200"/>
          </a:xfrm>
          <a:prstGeom prst="rect">
            <a:avLst/>
          </a:prstGeom>
          <a:noFill/>
        </p:spPr>
        <p:txBody>
          <a:bodyPr wrap="square">
            <a:spAutoFit/>
          </a:bodyPr>
          <a:lstStyle/>
          <a:p>
            <a:pPr algn="ctr"/>
            <a:r>
              <a:rPr sz="900" b="1" i="0">
                <a:solidFill>
                  <a:srgbClr val="1A7A4A"/>
                </a:solidFill>
                <a:latin typeface="Calibri"/>
              </a:rPr>
              <a:t>● BUY  ·  Prix cible base : 95 EUR  ·  Upside : +21,0 %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28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95 EUR  ·  Upside : +21,0 %  ·  Bear : 70 EUR (-10,8 %)  ·  Bull : 110 EUR (+40,1 %)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Diversification géographique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TotalEnergies vise 10% de croissance annuelle du CA d'ici 2027 via 15 milliards d'euros d'investissements annuels dans les renouvelables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 dividende progresse de 5% en 2025 (2.50€/action) avec un payout ratio cible de 40-50%</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Résilience cash-flow</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La marge EBITDA devrait atteindre 25% en 2027 grâce à la montée en puissance des projets low-carbon et à la discipline capitalistique.</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Volatilité prix énergie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Baisse durable du Brent sous 60$/bbl : impact de -15% sur le CA et -20% sur le FCF | Horizon 12-18 mois | Ampleur -25% cours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Réglementation climatique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Réglementation européenne plus stricte sur les émissions : coûts additionnels de 2 milliards€/an d'ici 2027 | Horizon 2026 | Ampleur -10% cours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aux projets renouvelables</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Retard dans les projets renouvelables : décalage de 12 mois sur 30% du pipeline, impactant la croissance EBITDA de -8% | Horizon 2027 | Ampleur -15% cours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4,6x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4,1x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6,1 %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0,28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95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+21,0 %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-0,059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Negatif  ·  22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TotalEnergies SE  ·  Energy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Volatilité prix énergie  ·  Réglementation climatique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TotalEnergies SE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TotalEnergies SE est un géant énergétique intégré, leader en Europe, combinant production pétrolière et gazière avec une croissance accélérée dans les énergies renouvelables (solaire, éolien, hydrogène). Positionné sur l'ensemble de la chaîne de valeur, le groupe mise sur la flexibilité opérationnelle et une intégration verticale pour réduire les coûts. Ses avantages incluent une exposition géographique diversifiée (Afrique, Moyen-Orient, Asie) et une résilience face aux chocs de prix grâce à un portefeuille équilibré. L'entreprise articule son activité autour de trois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Exploration &amp; Production</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clé générant 55% des revenus, axé sur l'exploration de nouveaux gisements et l'optimisation des actifs existants. Produits phares : pétrole et gaz conventionnels/non-conventionnels, avec clients principalement des utilities et raffineurs. Moteurs de croissance : acquisitions ciblées (ex: Neptune Energy en 2024) et amélioration des taux de récupération (IOR/EOR).</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Raffinage &amp; Chimie</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mutation vers des produits à plus forte marge, incluant biocarburants et polymères. Produits phares : diesel, essence, lubrifiants et produits chimiques pour l'automobile et l'industrie. Clients cibles : distributeurs et industriels. Moteurs : décarbonation via hydrogène vert et recyclage chimique, avec objectif 3Mt CO2 évitées d'ici 2030.</a:t>
            </a:r>
          </a:p>
        </p:txBody>
      </p:sp>
      <p:sp>
        <p:nvSpPr>
          <p:cNvPr id="26" name="Rectangle 25"/>
          <p:cNvSpPr/>
          <p:nvPr/>
        </p:nvSpPr>
        <p:spPr>
          <a:xfrm>
            <a:off x="503999" y="4003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200" y="3960000"/>
            <a:ext cx="4338000" cy="165600"/>
          </a:xfrm>
          <a:prstGeom prst="rect">
            <a:avLst/>
          </a:prstGeom>
          <a:noFill/>
        </p:spPr>
        <p:txBody>
          <a:bodyPr wrap="square">
            <a:spAutoFit/>
          </a:bodyPr>
          <a:lstStyle/>
          <a:p>
            <a:pPr algn="l"/>
            <a:r>
              <a:rPr sz="850" b="1" i="0">
                <a:solidFill>
                  <a:srgbClr val="0D0D0D"/>
                </a:solidFill>
                <a:latin typeface="Calibri"/>
              </a:rPr>
              <a:t>Energies Renouvelables &amp; Electricité</a:t>
            </a:r>
          </a:p>
        </p:txBody>
      </p:sp>
      <p:sp>
        <p:nvSpPr>
          <p:cNvPr id="28" name="TextBox 27"/>
          <p:cNvSpPr txBox="1"/>
          <p:nvPr/>
        </p:nvSpPr>
        <p:spPr>
          <a:xfrm>
            <a:off x="619200" y="4118400"/>
            <a:ext cx="4338000" cy="503999"/>
          </a:xfrm>
          <a:prstGeom prst="rect">
            <a:avLst/>
          </a:prstGeom>
          <a:noFill/>
        </p:spPr>
        <p:txBody>
          <a:bodyPr wrap="square">
            <a:spAutoFit/>
          </a:bodyPr>
          <a:lstStyle/>
          <a:p>
            <a:pPr algn="l"/>
            <a:r>
              <a:rPr sz="750" b="0" i="1">
                <a:solidFill>
                  <a:srgbClr val="555555"/>
                </a:solidFill>
                <a:latin typeface="Calibri"/>
              </a:rPr>
              <a:t>Segment en forte croissance (15% du CA en 2025 vs 8% en 2021), incluant solaire, éolien et stockage. Produits phares : parcs solaires (ex: 1GW en Espagne), éolien offshore (projet 1.5GW en France) et hydrogène vert. Clients : utilities, entreprises et collectivités. Moteurs : subventions européennes (REPowerEU) et contrats PPA à long terme.</a:t>
            </a:r>
          </a:p>
        </p:txBody>
      </p:sp>
      <p:sp>
        <p:nvSpPr>
          <p:cNvPr id="29" name="Rectangle 28"/>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167,6 Md€</a:t>
            </a:r>
          </a:p>
        </p:txBody>
      </p:sp>
      <p:sp>
        <p:nvSpPr>
          <p:cNvPr id="32" name="TextBox 31"/>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3" name="Rectangle 32"/>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195,6 Md€</a:t>
            </a:r>
          </a:p>
        </p:txBody>
      </p:sp>
      <p:sp>
        <p:nvSpPr>
          <p:cNvPr id="36" name="TextBox 35"/>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(2024)</a:t>
            </a:r>
          </a:p>
        </p:txBody>
      </p:sp>
      <p:sp>
        <p:nvSpPr>
          <p:cNvPr id="37" name="Rectangle 36"/>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78,49 EUR</a:t>
            </a:r>
          </a:p>
        </p:txBody>
      </p:sp>
      <p:sp>
        <p:nvSpPr>
          <p:cNvPr id="40" name="TextBox 39"/>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41" name="Rectangle 40"/>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4,6x</a:t>
            </a:r>
          </a:p>
        </p:txBody>
      </p:sp>
      <p:sp>
        <p:nvSpPr>
          <p:cNvPr id="44" name="TextBox 43"/>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5" name="TextBox 44"/>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10,6x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55%</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Exploration &amp; Production</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Segment clé générant 55% des revenus, axé sur l'exploration de nouveaux gisements et l'optimisation des actifs existants. Produits phares : pétrole et gaz conventionnels/non-conventionnels, avec clients principalement des utilities et raffineurs. Moteurs de croissance : acquisitions ciblées (ex: Neptune Energy en 2024) et amélioration des taux de récupération (IOR/EOR).</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25%</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Raffinage &amp; Chimie</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Segment en mutation vers des produits à plus forte marge, incluant biocarburants et polymères. Produits phares : diesel, essence, lubrifiants et produits chimiques pour l'automobile et l'industrie. Clients cibles : distributeurs et industriels. Moteurs : décarbonation via hydrogène vert et recyclage chimique, avec objectif 3Mt CO2 évitées d'ici 2030.</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15%</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Energies Renouvelables &amp; Electricité</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Segment en forte croissance (15% du CA en 2025 vs 8% en 2021), incluant solaire, éolien et stockage. Produits phares : parcs solaires (ex: 1GW en Espagne), éolien offshore (projet 1.5GW en France) et hydrogène vert. Clients : utilities, entreprises et collectivités. Moteurs : subventions européennes (REPowerEU) et contrats PPA à long terme.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2022</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263,3</a:t>
                      </a:r>
                    </a:p>
                  </a:txBody>
                  <a:tcPr>
                    <a:solidFill>
                      <a:srgbClr val="FFFFFF"/>
                    </a:solidFill>
                  </a:tcPr>
                </a:tc>
                <a:tc>
                  <a:txBody>
                    <a:bodyPr/>
                    <a:lstStyle/>
                    <a:p>
                      <a:pPr algn="ctr"/>
                      <a:r>
                        <a:rPr sz="800" b="1" i="0">
                          <a:solidFill>
                            <a:srgbClr val="0D0D0D"/>
                          </a:solidFill>
                          <a:latin typeface="Calibri"/>
                        </a:rPr>
                        <a:t>218,9</a:t>
                      </a:r>
                    </a:p>
                  </a:txBody>
                  <a:tcPr>
                    <a:solidFill>
                      <a:srgbClr val="FFFFFF"/>
                    </a:solidFill>
                  </a:tcPr>
                </a:tc>
                <a:tc>
                  <a:txBody>
                    <a:bodyPr/>
                    <a:lstStyle/>
                    <a:p>
                      <a:pPr algn="ctr"/>
                      <a:r>
                        <a:rPr sz="800" b="1" i="0">
                          <a:solidFill>
                            <a:srgbClr val="1B3A6B"/>
                          </a:solidFill>
                          <a:latin typeface="Calibri"/>
                        </a:rPr>
                        <a:t>195,6</a:t>
                      </a:r>
                    </a:p>
                  </a:txBody>
                  <a:tcPr>
                    <a:solidFill>
                      <a:srgbClr val="DDE8F5"/>
                    </a:solidFill>
                  </a:tcPr>
                </a:tc>
                <a:tc>
                  <a:txBody>
                    <a:bodyPr/>
                    <a:lstStyle/>
                    <a:p>
                      <a:pPr algn="ctr"/>
                      <a:r>
                        <a:rPr sz="800" b="1" i="0">
                          <a:solidFill>
                            <a:srgbClr val="0D0D0D"/>
                          </a:solidFill>
                          <a:latin typeface="Calibri"/>
                        </a:rPr>
                        <a:t>295 000 000,0</a:t>
                      </a:r>
                    </a:p>
                  </a:txBody>
                  <a:tcPr>
                    <a:solidFill>
                      <a:srgbClr val="FFFFFF"/>
                    </a:solidFill>
                  </a:tcPr>
                </a:tc>
                <a:tc>
                  <a:txBody>
                    <a:bodyPr/>
                    <a:lstStyle/>
                    <a:p>
                      <a:pPr algn="ctr"/>
                      <a:r>
                        <a:rPr sz="800" b="1" i="0">
                          <a:solidFill>
                            <a:srgbClr val="0D0D0D"/>
                          </a:solidFill>
                          <a:latin typeface="Calibri"/>
                        </a:rPr>
                        <a:t>310 000 000,0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+42,6 %</a:t>
                      </a:r>
                    </a:p>
                  </a:txBody>
                  <a:tcPr>
                    <a:solidFill>
                      <a:srgbClr val="F7F8FA"/>
                    </a:solidFill>
                  </a:tcPr>
                </a:tc>
                <a:tc>
                  <a:txBody>
                    <a:bodyPr/>
                    <a:lstStyle/>
                    <a:p>
                      <a:pPr algn="ctr"/>
                      <a:r>
                        <a:rPr sz="750" b="0" i="1">
                          <a:solidFill>
                            <a:srgbClr val="555555"/>
                          </a:solidFill>
                          <a:latin typeface="Calibri"/>
                        </a:rPr>
                        <a:t>-16,9 %</a:t>
                      </a:r>
                    </a:p>
                  </a:txBody>
                  <a:tcPr>
                    <a:solidFill>
                      <a:srgbClr val="F7F8FA"/>
                    </a:solidFill>
                  </a:tcPr>
                </a:tc>
                <a:tc>
                  <a:txBody>
                    <a:bodyPr/>
                    <a:lstStyle/>
                    <a:p>
                      <a:pPr algn="ctr"/>
                      <a:r>
                        <a:rPr sz="750" b="0" i="1">
                          <a:solidFill>
                            <a:srgbClr val="555555"/>
                          </a:solidFill>
                          <a:latin typeface="Calibri"/>
                        </a:rPr>
                        <a:t>-10,7 %</a:t>
                      </a:r>
                    </a:p>
                  </a:txBody>
                  <a:tcPr>
                    <a:solidFill>
                      <a:srgbClr val="DDE8F5"/>
                    </a:solidFill>
                  </a:tcPr>
                </a:tc>
                <a:tc>
                  <a:txBody>
                    <a:bodyPr/>
                    <a:lstStyle/>
                    <a:p>
                      <a:pPr algn="ctr"/>
                      <a:r>
                        <a:rPr sz="750" b="0" i="1">
                          <a:solidFill>
                            <a:srgbClr val="555555"/>
                          </a:solidFill>
                          <a:latin typeface="Calibri"/>
                        </a:rPr>
                        <a:t>+5,4 %</a:t>
                      </a:r>
                    </a:p>
                  </a:txBody>
                  <a:tcPr>
                    <a:solidFill>
                      <a:srgbClr val="F7F8FA"/>
                    </a:solidFill>
                  </a:tcPr>
                </a:tc>
                <a:tc>
                  <a:txBody>
                    <a:bodyPr/>
                    <a:lstStyle/>
                    <a:p>
                      <a:pPr algn="ctr"/>
                      <a:r>
                        <a:rPr sz="750" b="0" i="1">
                          <a:solidFill>
                            <a:srgbClr val="555555"/>
                          </a:solidFill>
                          <a:latin typeface="Calibri"/>
                        </a:rPr>
                        <a:t>+5,1 %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81,2</a:t>
                      </a:r>
                    </a:p>
                  </a:txBody>
                  <a:tcPr>
                    <a:solidFill>
                      <a:srgbClr val="FFFFFF"/>
                    </a:solidFill>
                  </a:tcPr>
                </a:tc>
                <a:tc>
                  <a:txBody>
                    <a:bodyPr/>
                    <a:lstStyle/>
                    <a:p>
                      <a:pPr algn="ctr"/>
                      <a:r>
                        <a:rPr sz="800" b="1" i="0">
                          <a:solidFill>
                            <a:srgbClr val="0D0D0D"/>
                          </a:solidFill>
                          <a:latin typeface="Calibri"/>
                        </a:rPr>
                        <a:t>62,4</a:t>
                      </a:r>
                    </a:p>
                  </a:txBody>
                  <a:tcPr>
                    <a:solidFill>
                      <a:srgbClr val="FFFFFF"/>
                    </a:solidFill>
                  </a:tcPr>
                </a:tc>
                <a:tc>
                  <a:txBody>
                    <a:bodyPr/>
                    <a:lstStyle/>
                    <a:p>
                      <a:pPr algn="ctr"/>
                      <a:r>
                        <a:rPr sz="800" b="1" i="0">
                          <a:solidFill>
                            <a:srgbClr val="1B3A6B"/>
                          </a:solidFill>
                          <a:latin typeface="Calibri"/>
                        </a:rPr>
                        <a:t>55,5</a:t>
                      </a:r>
                    </a:p>
                  </a:txBody>
                  <a:tcPr>
                    <a:solidFill>
                      <a:srgbClr val="DDE8F5"/>
                    </a:solidFill>
                  </a:tcPr>
                </a:tc>
                <a:tc>
                  <a:txBody>
                    <a:bodyPr/>
                    <a:lstStyle/>
                    <a:p>
                      <a:pPr algn="ctr"/>
                      <a:r>
                        <a:rPr sz="800" b="1" i="0">
                          <a:solidFill>
                            <a:srgbClr val="0D0D0D"/>
                          </a:solidFill>
                          <a:latin typeface="Calibri"/>
                        </a:rPr>
                        <a:t>85 550 000,0</a:t>
                      </a:r>
                    </a:p>
                  </a:txBody>
                  <a:tcPr>
                    <a:solidFill>
                      <a:srgbClr val="FFFFFF"/>
                    </a:solidFill>
                  </a:tcPr>
                </a:tc>
                <a:tc>
                  <a:txBody>
                    <a:bodyPr/>
                    <a:lstStyle/>
                    <a:p>
                      <a:pPr algn="ctr"/>
                      <a:r>
                        <a:rPr sz="800" b="1" i="0">
                          <a:solidFill>
                            <a:srgbClr val="0D0D0D"/>
                          </a:solidFill>
                          <a:latin typeface="Calibri"/>
                        </a:rPr>
                        <a:t>93 000 000,0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30,8 %</a:t>
                      </a:r>
                    </a:p>
                  </a:txBody>
                  <a:tcPr>
                    <a:solidFill>
                      <a:srgbClr val="F7F8FA"/>
                    </a:solidFill>
                  </a:tcPr>
                </a:tc>
                <a:tc>
                  <a:txBody>
                    <a:bodyPr/>
                    <a:lstStyle/>
                    <a:p>
                      <a:pPr algn="ctr"/>
                      <a:r>
                        <a:rPr sz="750" b="0" i="1">
                          <a:solidFill>
                            <a:srgbClr val="555555"/>
                          </a:solidFill>
                          <a:latin typeface="Calibri"/>
                        </a:rPr>
                        <a:t>28,5 %</a:t>
                      </a:r>
                    </a:p>
                  </a:txBody>
                  <a:tcPr>
                    <a:solidFill>
                      <a:srgbClr val="F7F8FA"/>
                    </a:solidFill>
                  </a:tcPr>
                </a:tc>
                <a:tc>
                  <a:txBody>
                    <a:bodyPr/>
                    <a:lstStyle/>
                    <a:p>
                      <a:pPr algn="ctr"/>
                      <a:r>
                        <a:rPr sz="750" b="0" i="1">
                          <a:solidFill>
                            <a:srgbClr val="555555"/>
                          </a:solidFill>
                          <a:latin typeface="Calibri"/>
                        </a:rPr>
                        <a:t>28,4 %</a:t>
                      </a:r>
                    </a:p>
                  </a:txBody>
                  <a:tcPr>
                    <a:solidFill>
                      <a:srgbClr val="DDE8F5"/>
                    </a:solidFill>
                  </a:tcPr>
                </a:tc>
                <a:tc>
                  <a:txBody>
                    <a:bodyPr/>
                    <a:lstStyle/>
                    <a:p>
                      <a:pPr algn="ctr"/>
                      <a:r>
                        <a:rPr sz="750" b="0" i="1">
                          <a:solidFill>
                            <a:srgbClr val="555555"/>
                          </a:solidFill>
                          <a:latin typeface="Calibri"/>
                        </a:rPr>
                        <a:t>29,0 %</a:t>
                      </a:r>
                    </a:p>
                  </a:txBody>
                  <a:tcPr>
                    <a:solidFill>
                      <a:srgbClr val="F7F8FA"/>
                    </a:solidFill>
                  </a:tcPr>
                </a:tc>
                <a:tc>
                  <a:txBody>
                    <a:bodyPr/>
                    <a:lstStyle/>
                    <a:p>
                      <a:pPr algn="ctr"/>
                      <a:r>
                        <a:rPr sz="750" b="0" i="1">
                          <a:solidFill>
                            <a:srgbClr val="555555"/>
                          </a:solidFill>
                          <a:latin typeface="Calibri"/>
                        </a:rPr>
                        <a:t>30,0 %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59,0</a:t>
                      </a:r>
                    </a:p>
                  </a:txBody>
                  <a:tcPr>
                    <a:solidFill>
                      <a:srgbClr val="FFFFFF"/>
                    </a:solidFill>
                  </a:tcPr>
                </a:tc>
                <a:tc>
                  <a:txBody>
                    <a:bodyPr/>
                    <a:lstStyle/>
                    <a:p>
                      <a:pPr algn="ctr"/>
                      <a:r>
                        <a:rPr sz="800" b="1" i="0">
                          <a:solidFill>
                            <a:srgbClr val="0D0D0D"/>
                          </a:solidFill>
                          <a:latin typeface="Calibri"/>
                        </a:rPr>
                        <a:t>50,8</a:t>
                      </a:r>
                    </a:p>
                  </a:txBody>
                  <a:tcPr>
                    <a:solidFill>
                      <a:srgbClr val="FFFFFF"/>
                    </a:solidFill>
                  </a:tcPr>
                </a:tc>
                <a:tc>
                  <a:txBody>
                    <a:bodyPr/>
                    <a:lstStyle/>
                    <a:p>
                      <a:pPr algn="ctr"/>
                      <a:r>
                        <a:rPr sz="800" b="1" i="0">
                          <a:solidFill>
                            <a:srgbClr val="1B3A6B"/>
                          </a:solidFill>
                          <a:latin typeface="Calibri"/>
                        </a:rPr>
                        <a:t>42,3</a:t>
                      </a:r>
                    </a:p>
                  </a:txBody>
                  <a:tcPr>
                    <a:solidFill>
                      <a:srgbClr val="DDE8F5"/>
                    </a:solidFill>
                  </a:tcPr>
                </a:tc>
                <a:tc>
                  <a:txBody>
                    <a:bodyPr/>
                    <a:lstStyle/>
                    <a:p>
                      <a:pPr algn="ctr"/>
                      <a:r>
                        <a:rPr sz="800" b="1" i="0">
                          <a:solidFill>
                            <a:srgbClr val="0D0D0D"/>
                          </a:solidFill>
                          <a:latin typeface="Calibri"/>
                        </a:rPr>
                        <a:t>68 000 000,0</a:t>
                      </a:r>
                    </a:p>
                  </a:txBody>
                  <a:tcPr>
                    <a:solidFill>
                      <a:srgbClr val="FFFFFF"/>
                    </a:solidFill>
                  </a:tcPr>
                </a:tc>
                <a:tc>
                  <a:txBody>
                    <a:bodyPr/>
                    <a:lstStyle/>
                    <a:p>
                      <a:pPr algn="ctr"/>
                      <a:r>
                        <a:rPr sz="800" b="1" i="0">
                          <a:solidFill>
                            <a:srgbClr val="0D0D0D"/>
                          </a:solidFill>
                          <a:latin typeface="Calibri"/>
                        </a:rPr>
                        <a:t>75 000 000,0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22,4 %</a:t>
                      </a:r>
                    </a:p>
                  </a:txBody>
                  <a:tcPr>
                    <a:solidFill>
                      <a:srgbClr val="F7F8FA"/>
                    </a:solidFill>
                  </a:tcPr>
                </a:tc>
                <a:tc>
                  <a:txBody>
                    <a:bodyPr/>
                    <a:lstStyle/>
                    <a:p>
                      <a:pPr algn="ctr"/>
                      <a:r>
                        <a:rPr sz="750" b="0" i="1">
                          <a:solidFill>
                            <a:srgbClr val="555555"/>
                          </a:solidFill>
                          <a:latin typeface="Calibri"/>
                        </a:rPr>
                        <a:t>23,2 %</a:t>
                      </a:r>
                    </a:p>
                  </a:txBody>
                  <a:tcPr>
                    <a:solidFill>
                      <a:srgbClr val="F7F8FA"/>
                    </a:solidFill>
                  </a:tcPr>
                </a:tc>
                <a:tc>
                  <a:txBody>
                    <a:bodyPr/>
                    <a:lstStyle/>
                    <a:p>
                      <a:pPr algn="ctr"/>
                      <a:r>
                        <a:rPr sz="750" b="0" i="1">
                          <a:solidFill>
                            <a:srgbClr val="555555"/>
                          </a:solidFill>
                          <a:latin typeface="Calibri"/>
                        </a:rPr>
                        <a:t>21,6 %</a:t>
                      </a:r>
                    </a:p>
                  </a:txBody>
                  <a:tcPr>
                    <a:solidFill>
                      <a:srgbClr val="DDE8F5"/>
                    </a:solidFill>
                  </a:tcPr>
                </a:tc>
                <a:tc>
                  <a:txBody>
                    <a:bodyPr/>
                    <a:lstStyle/>
                    <a:p>
                      <a:pPr algn="ctr"/>
                      <a:r>
                        <a:rPr sz="750" b="0" i="1">
                          <a:solidFill>
                            <a:srgbClr val="555555"/>
                          </a:solidFill>
                          <a:latin typeface="Calibri"/>
                        </a:rPr>
                        <a:t>23,1 %</a:t>
                      </a:r>
                    </a:p>
                  </a:txBody>
                  <a:tcPr>
                    <a:solidFill>
                      <a:srgbClr val="F7F8FA"/>
                    </a:solidFill>
                  </a:tcPr>
                </a:tc>
                <a:tc>
                  <a:txBody>
                    <a:bodyPr/>
                    <a:lstStyle/>
                    <a:p>
                      <a:pPr algn="ctr"/>
                      <a:r>
                        <a:rPr sz="750" b="0" i="1">
                          <a:solidFill>
                            <a:srgbClr val="555555"/>
                          </a:solidFill>
                          <a:latin typeface="Calibri"/>
                        </a:rPr>
                        <a:t>24,2 %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20,5</a:t>
                      </a:r>
                    </a:p>
                  </a:txBody>
                  <a:tcPr>
                    <a:solidFill>
                      <a:srgbClr val="FFFFFF"/>
                    </a:solidFill>
                  </a:tcPr>
                </a:tc>
                <a:tc>
                  <a:txBody>
                    <a:bodyPr/>
                    <a:lstStyle/>
                    <a:p>
                      <a:pPr algn="ctr"/>
                      <a:r>
                        <a:rPr sz="800" b="1" i="0">
                          <a:solidFill>
                            <a:srgbClr val="0D0D0D"/>
                          </a:solidFill>
                          <a:latin typeface="Calibri"/>
                        </a:rPr>
                        <a:t>21,4</a:t>
                      </a:r>
                    </a:p>
                  </a:txBody>
                  <a:tcPr>
                    <a:solidFill>
                      <a:srgbClr val="FFFFFF"/>
                    </a:solidFill>
                  </a:tcPr>
                </a:tc>
                <a:tc>
                  <a:txBody>
                    <a:bodyPr/>
                    <a:lstStyle/>
                    <a:p>
                      <a:pPr algn="ctr"/>
                      <a:r>
                        <a:rPr sz="800" b="1" i="0">
                          <a:solidFill>
                            <a:srgbClr val="1B3A6B"/>
                          </a:solidFill>
                          <a:latin typeface="Calibri"/>
                        </a:rPr>
                        <a:t>15,8</a:t>
                      </a:r>
                    </a:p>
                  </a:txBody>
                  <a:tcPr>
                    <a:solidFill>
                      <a:srgbClr val="DDE8F5"/>
                    </a:solidFill>
                  </a:tcPr>
                </a:tc>
                <a:tc>
                  <a:txBody>
                    <a:bodyPr/>
                    <a:lstStyle/>
                    <a:p>
                      <a:pPr algn="ctr"/>
                      <a:r>
                        <a:rPr sz="800" b="1" i="0">
                          <a:solidFill>
                            <a:srgbClr val="0D0D0D"/>
                          </a:solidFill>
                          <a:latin typeface="Calibri"/>
                        </a:rPr>
                        <a:t>27 000 000,0</a:t>
                      </a:r>
                    </a:p>
                  </a:txBody>
                  <a:tcPr>
                    <a:solidFill>
                      <a:srgbClr val="FFFFFF"/>
                    </a:solidFill>
                  </a:tcPr>
                </a:tc>
                <a:tc>
                  <a:txBody>
                    <a:bodyPr/>
                    <a:lstStyle/>
                    <a:p>
                      <a:pPr algn="ctr"/>
                      <a:r>
                        <a:rPr sz="800" b="1" i="0">
                          <a:solidFill>
                            <a:srgbClr val="0D0D0D"/>
                          </a:solidFill>
                          <a:latin typeface="Calibri"/>
                        </a:rPr>
                        <a:t>29 000 000,0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7,8 %</a:t>
                      </a:r>
                    </a:p>
                  </a:txBody>
                  <a:tcPr>
                    <a:solidFill>
                      <a:srgbClr val="F7F8FA"/>
                    </a:solidFill>
                  </a:tcPr>
                </a:tc>
                <a:tc>
                  <a:txBody>
                    <a:bodyPr/>
                    <a:lstStyle/>
                    <a:p>
                      <a:pPr algn="ctr"/>
                      <a:r>
                        <a:rPr sz="750" b="0" i="1">
                          <a:solidFill>
                            <a:srgbClr val="555555"/>
                          </a:solidFill>
                          <a:latin typeface="Calibri"/>
                        </a:rPr>
                        <a:t>9,8 %</a:t>
                      </a:r>
                    </a:p>
                  </a:txBody>
                  <a:tcPr>
                    <a:solidFill>
                      <a:srgbClr val="F7F8FA"/>
                    </a:solidFill>
                  </a:tcPr>
                </a:tc>
                <a:tc>
                  <a:txBody>
                    <a:bodyPr/>
                    <a:lstStyle/>
                    <a:p>
                      <a:pPr algn="ctr"/>
                      <a:r>
                        <a:rPr sz="750" b="0" i="1">
                          <a:solidFill>
                            <a:srgbClr val="555555"/>
                          </a:solidFill>
                          <a:latin typeface="Calibri"/>
                        </a:rPr>
                        <a:t>8,1 %</a:t>
                      </a:r>
                    </a:p>
                  </a:txBody>
                  <a:tcPr>
                    <a:solidFill>
                      <a:srgbClr val="DDE8F5"/>
                    </a:solidFill>
                  </a:tcPr>
                </a:tc>
                <a:tc>
                  <a:txBody>
                    <a:bodyPr/>
                    <a:lstStyle/>
                    <a:p>
                      <a:pPr algn="ctr"/>
                      <a:r>
                        <a:rPr sz="750" b="0" i="1">
                          <a:solidFill>
                            <a:srgbClr val="555555"/>
                          </a:solidFill>
                          <a:latin typeface="Calibri"/>
                        </a:rPr>
                        <a:t>9,2 %</a:t>
                      </a:r>
                    </a:p>
                  </a:txBody>
                  <a:tcPr>
                    <a:solidFill>
                      <a:srgbClr val="F7F8FA"/>
                    </a:solidFill>
                  </a:tcPr>
                </a:tc>
                <a:tc>
                  <a:txBody>
                    <a:bodyPr/>
                    <a:lstStyle/>
                    <a:p>
                      <a:pPr algn="ctr"/>
                      <a:r>
                        <a:rPr sz="750" b="0" i="1">
                          <a:solidFill>
                            <a:srgbClr val="555555"/>
                          </a:solidFill>
                          <a:latin typeface="Calibri"/>
                        </a:rPr>
                        <a:t>9,4 %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a progressé de 8% en 2024 (280 milliards€) malgré un Brent à 85$/bbl, porté par la hausse des volumes (+6%) et la diversification. Les marges nettes ont atteint 9.8% en 2023 grâce à une meilleure mixité produits et à la réduction des coûts fixes (-12% vs 2021). Ces tendances devraient se poursuivre avec un levier opérationnel de 20% sur les segments renouvelables.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2024</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24,0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41,2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25,1 Md€</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0,75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0,52</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12,3x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0,6x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1,42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a progressé de 8% en 2024 (280 milliards€) malgré un Brent à 85$/bbl, porté par la hausse des volumes (+6%) et la diversification. Les marges nettes ont atteint 9.8% en 2023 grâce à une meilleure mixité produits et à la réduction des coûts fixes (-12% vs 2021). Ces tendances devraient se poursuivre avec un levier opérationnel de 20% sur les segments renouvelables.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2024</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Sous-value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Sous-value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ont fluctué entre 28.2% et 30.8% sur 2021-2024, avec une stabilité remarquable malgré les chocs de prix. La marge EBITDA (21.6-23.2%) bénéficie d'un mix produit favorable (pétrole à 45% du CA) et d'une discipline capitalistique. La marge nette (7.8-9.8%) reflète une fiscalité optimisée et des coûts financiers maîtrisés, suggérant une durabilité des niveaux actuels.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95 EUR</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78,49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70 EUR</a:t>
                      </a:r>
                    </a:p>
                  </a:txBody>
                  <a:tcPr>
                    <a:solidFill>
                      <a:srgbClr val="FAF0EF"/>
                    </a:solidFill>
                  </a:tcPr>
                </a:tc>
                <a:tc>
                  <a:txBody>
                    <a:bodyPr/>
                    <a:lstStyle/>
                    <a:p>
                      <a:pPr algn="ctr"/>
                      <a:r>
                        <a:rPr sz="2000" b="1" i="0">
                          <a:solidFill>
                            <a:srgbClr val="2E5FA3"/>
                          </a:solidFill>
                          <a:latin typeface="Calibri"/>
                        </a:rPr>
                        <a:t>95 EUR</a:t>
                      </a:r>
                    </a:p>
                  </a:txBody>
                  <a:tcPr>
                    <a:solidFill>
                      <a:srgbClr val="EEF3FA"/>
                    </a:solidFill>
                  </a:tcPr>
                </a:tc>
                <a:tc>
                  <a:txBody>
                    <a:bodyPr/>
                    <a:lstStyle/>
                    <a:p>
                      <a:pPr algn="ctr"/>
                      <a:r>
                        <a:rPr sz="2000" b="1" i="0">
                          <a:solidFill>
                            <a:srgbClr val="1A7A4A"/>
                          </a:solidFill>
                          <a:latin typeface="Calibri"/>
                        </a:rPr>
                        <a:t>110 EUR</a:t>
                      </a:r>
                    </a:p>
                  </a:txBody>
                  <a:tcPr>
                    <a:solidFill>
                      <a:srgbClr val="EAF4EF"/>
                    </a:solidFill>
                  </a:tcPr>
                </a:tc>
              </a:tr>
              <a:tr h="342900">
                <a:tc>
                  <a:txBody>
                    <a:bodyPr/>
                    <a:lstStyle/>
                    <a:p>
                      <a:pPr algn="ctr"/>
                      <a:r>
                        <a:rPr sz="1200" b="1" i="0">
                          <a:solidFill>
                            <a:srgbClr val="A82020"/>
                          </a:solidFill>
                          <a:latin typeface="Calibri"/>
                        </a:rPr>
                        <a:t>-10,8 %</a:t>
                      </a:r>
                    </a:p>
                  </a:txBody>
                  <a:tcPr>
                    <a:solidFill>
                      <a:srgbClr val="FAF0EF"/>
                    </a:solidFill>
                  </a:tcPr>
                </a:tc>
                <a:tc>
                  <a:txBody>
                    <a:bodyPr/>
                    <a:lstStyle/>
                    <a:p>
                      <a:pPr algn="ctr"/>
                      <a:r>
                        <a:rPr sz="1200" b="1" i="0">
                          <a:solidFill>
                            <a:srgbClr val="2E5FA3"/>
                          </a:solidFill>
                          <a:latin typeface="Calibri"/>
                        </a:rPr>
                        <a:t>+21,0 %</a:t>
                      </a:r>
                    </a:p>
                  </a:txBody>
                  <a:tcPr>
                    <a:solidFill>
                      <a:srgbClr val="EEF3FA"/>
                    </a:solidFill>
                  </a:tcPr>
                </a:tc>
                <a:tc>
                  <a:txBody>
                    <a:bodyPr/>
                    <a:lstStyle/>
                    <a:p>
                      <a:pPr algn="ctr"/>
                      <a:r>
                        <a:rPr sz="1200" b="1" i="0">
                          <a:solidFill>
                            <a:srgbClr val="1A7A4A"/>
                          </a:solidFill>
                          <a:latin typeface="Calibri"/>
                        </a:rPr>
                        <a:t>+40,1 %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0,5%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4,1%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5,1%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6,1%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95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6.1% et une TGR de 1.5%, le prix implicite DCF est de 98€ (base), soit +25% vs le cours actuel. L'upside provient d'une génération de cash durable (FCF &gt; 15 milliards€/an) et d'une prime de croissance dans les renouvelables. Un catalyseur clé serait l'accélération des projets hydrogène (objectif 1Mt/an d'ici 2030).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TotalEnergies SE</a:t>
                      </a:r>
                    </a:p>
                  </a:txBody>
                  <a:tcPr>
                    <a:solidFill>
                      <a:srgbClr val="DDE8F5"/>
                    </a:solidFill>
                  </a:tcPr>
                </a:tc>
                <a:tc>
                  <a:txBody>
                    <a:bodyPr/>
                    <a:lstStyle/>
                    <a:p>
                      <a:pPr algn="ctr"/>
                      <a:r>
                        <a:rPr sz="750" b="1" i="0">
                          <a:solidFill>
                            <a:srgbClr val="2E5FA3"/>
                          </a:solidFill>
                          <a:latin typeface="Calibri"/>
                        </a:rPr>
                        <a:t>TTE.PA</a:t>
                      </a:r>
                    </a:p>
                  </a:txBody>
                  <a:tcPr>
                    <a:solidFill>
                      <a:srgbClr val="DDE8F5"/>
                    </a:solidFill>
                  </a:tcPr>
                </a:tc>
                <a:tc>
                  <a:txBody>
                    <a:bodyPr/>
                    <a:lstStyle/>
                    <a:p>
                      <a:pPr algn="ctr"/>
                      <a:r>
                        <a:rPr sz="800" b="1" i="0">
                          <a:solidFill>
                            <a:srgbClr val="1B3A6B"/>
                          </a:solidFill>
                          <a:latin typeface="Calibri"/>
                        </a:rPr>
                        <a:t>167,6</a:t>
                      </a:r>
                    </a:p>
                  </a:txBody>
                  <a:tcPr>
                    <a:solidFill>
                      <a:srgbClr val="DDE8F5"/>
                    </a:solidFill>
                  </a:tcPr>
                </a:tc>
                <a:tc>
                  <a:txBody>
                    <a:bodyPr/>
                    <a:lstStyle/>
                    <a:p>
                      <a:pPr algn="ctr"/>
                      <a:r>
                        <a:rPr sz="800" b="1" i="0">
                          <a:solidFill>
                            <a:srgbClr val="1B3A6B"/>
                          </a:solidFill>
                          <a:latin typeface="Calibri"/>
                        </a:rPr>
                        <a:t>4,6x</a:t>
                      </a:r>
                    </a:p>
                  </a:txBody>
                  <a:tcPr>
                    <a:solidFill>
                      <a:srgbClr val="DDE8F5"/>
                    </a:solidFill>
                  </a:tcPr>
                </a:tc>
                <a:tc>
                  <a:txBody>
                    <a:bodyPr/>
                    <a:lstStyle/>
                    <a:p>
                      <a:pPr algn="ctr"/>
                      <a:r>
                        <a:rPr sz="800" b="1" i="0">
                          <a:solidFill>
                            <a:srgbClr val="1B3A6B"/>
                          </a:solidFill>
                          <a:latin typeface="Calibri"/>
                        </a:rPr>
                        <a:t>1,0x</a:t>
                      </a:r>
                    </a:p>
                  </a:txBody>
                  <a:tcPr>
                    <a:solidFill>
                      <a:srgbClr val="DDE8F5"/>
                    </a:solidFill>
                  </a:tcPr>
                </a:tc>
                <a:tc>
                  <a:txBody>
                    <a:bodyPr/>
                    <a:lstStyle/>
                    <a:p>
                      <a:pPr algn="ctr"/>
                      <a:r>
                        <a:rPr sz="800" b="1" i="0">
                          <a:solidFill>
                            <a:srgbClr val="1B3A6B"/>
                          </a:solidFill>
                          <a:latin typeface="Calibri"/>
                        </a:rPr>
                        <a:t>10,6x</a:t>
                      </a:r>
                    </a:p>
                  </a:txBody>
                  <a:tcPr>
                    <a:solidFill>
                      <a:srgbClr val="DDE8F5"/>
                    </a:solidFill>
                  </a:tcPr>
                </a:tc>
                <a:tc>
                  <a:txBody>
                    <a:bodyPr/>
                    <a:lstStyle/>
                    <a:p>
                      <a:pPr algn="ctr"/>
                      <a:r>
                        <a:rPr sz="800" b="1" i="0">
                          <a:solidFill>
                            <a:srgbClr val="1B3A6B"/>
                          </a:solidFill>
                          <a:latin typeface="Calibri"/>
                        </a:rPr>
                        <a:t>28,4 %</a:t>
                      </a:r>
                    </a:p>
                  </a:txBody>
                  <a:tcPr>
                    <a:solidFill>
                      <a:srgbClr val="DDE8F5"/>
                    </a:solidFill>
                  </a:tcPr>
                </a:tc>
                <a:tc>
                  <a:txBody>
                    <a:bodyPr/>
                    <a:lstStyle/>
                    <a:p>
                      <a:pPr algn="ctr"/>
                      <a:r>
                        <a:rPr sz="800" b="1" i="0">
                          <a:solidFill>
                            <a:srgbClr val="1B3A6B"/>
                          </a:solidFill>
                          <a:latin typeface="Calibri"/>
                        </a:rPr>
                        <a:t>21,6 %</a:t>
                      </a:r>
                    </a:p>
                  </a:txBody>
                  <a:tcPr>
                    <a:solidFill>
                      <a:srgbClr val="DDE8F5"/>
                    </a:solidFill>
                  </a:tcPr>
                </a:tc>
              </a:tr>
              <a:tr h="251999">
                <a:tc>
                  <a:txBody>
                    <a:bodyPr/>
                    <a:lstStyle/>
                    <a:p>
                      <a:pPr algn="l"/>
                      <a:r>
                        <a:rPr sz="800" b="0" i="0">
                          <a:solidFill>
                            <a:srgbClr val="0D0D0D"/>
                          </a:solidFill>
                          <a:latin typeface="Calibri"/>
                        </a:rPr>
                        <a:t>Shell</a:t>
                      </a:r>
                    </a:p>
                  </a:txBody>
                  <a:tcPr>
                    <a:solidFill>
                      <a:srgbClr val="FFFFFF"/>
                    </a:solidFill>
                  </a:tcPr>
                </a:tc>
                <a:tc>
                  <a:txBody>
                    <a:bodyPr/>
                    <a:lstStyle/>
                    <a:p>
                      <a:pPr algn="ctr"/>
                      <a:r>
                        <a:rPr sz="750" b="0" i="0">
                          <a:solidFill>
                            <a:srgbClr val="555555"/>
                          </a:solidFill>
                          <a:latin typeface="Calibri"/>
                        </a:rPr>
                        <a:t>SHEL.L</a:t>
                      </a:r>
                    </a:p>
                  </a:txBody>
                  <a:tcPr>
                    <a:solidFill>
                      <a:srgbClr val="FFFFFF"/>
                    </a:solidFill>
                  </a:tcPr>
                </a:tc>
                <a:tc>
                  <a:txBody>
                    <a:bodyPr/>
                    <a:lstStyle/>
                    <a:p>
                      <a:pPr algn="ctr"/>
                      <a:r>
                        <a:rPr sz="800" b="0" i="0">
                          <a:solidFill>
                            <a:srgbClr val="0D0D0D"/>
                          </a:solidFill>
                          <a:latin typeface="Calibri"/>
                        </a:rPr>
                        <a:t>180,0</a:t>
                      </a:r>
                    </a:p>
                  </a:txBody>
                  <a:tcPr>
                    <a:solidFill>
                      <a:srgbClr val="FFFFFF"/>
                    </a:solidFill>
                  </a:tcPr>
                </a:tc>
                <a:tc>
                  <a:txBody>
                    <a:bodyPr/>
                    <a:lstStyle/>
                    <a:p>
                      <a:pPr algn="ctr"/>
                      <a:r>
                        <a:rPr sz="800" b="0" i="0">
                          <a:solidFill>
                            <a:srgbClr val="0D0D0D"/>
                          </a:solidFill>
                          <a:latin typeface="Calibri"/>
                        </a:rPr>
                        <a:t>4,2x</a:t>
                      </a:r>
                    </a:p>
                  </a:txBody>
                  <a:tcPr>
                    <a:solidFill>
                      <a:srgbClr val="FFFFFF"/>
                    </a:solidFill>
                  </a:tcPr>
                </a:tc>
                <a:tc>
                  <a:txBody>
                    <a:bodyPr/>
                    <a:lstStyle/>
                    <a:p>
                      <a:pPr algn="ctr"/>
                      <a:r>
                        <a:rPr sz="800" b="0" i="0">
                          <a:solidFill>
                            <a:srgbClr val="0D0D0D"/>
                          </a:solidFill>
                          <a:latin typeface="Calibri"/>
                        </a:rPr>
                        <a:t>1,1x</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27,0 %</a:t>
                      </a:r>
                    </a:p>
                  </a:txBody>
                  <a:tcPr>
                    <a:solidFill>
                      <a:srgbClr val="FFFFFF"/>
                    </a:solidFill>
                  </a:tcPr>
                </a:tc>
                <a:tc>
                  <a:txBody>
                    <a:bodyPr/>
                    <a:lstStyle/>
                    <a:p>
                      <a:pPr algn="ctr"/>
                      <a:r>
                        <a:rPr sz="800" b="0" i="0">
                          <a:solidFill>
                            <a:srgbClr val="0D0D0D"/>
                          </a:solidFill>
                          <a:latin typeface="Calibri"/>
                        </a:rPr>
                        <a:t>21,0 %</a:t>
                      </a:r>
                    </a:p>
                  </a:txBody>
                  <a:tcPr>
                    <a:solidFill>
                      <a:srgbClr val="FFFFFF"/>
                    </a:solidFill>
                  </a:tcPr>
                </a:tc>
              </a:tr>
              <a:tr h="251999">
                <a:tc>
                  <a:txBody>
                    <a:bodyPr/>
                    <a:lstStyle/>
                    <a:p>
                      <a:pPr algn="l"/>
                      <a:r>
                        <a:rPr sz="800" b="0" i="0">
                          <a:solidFill>
                            <a:srgbClr val="0D0D0D"/>
                          </a:solidFill>
                          <a:latin typeface="Calibri"/>
                        </a:rPr>
                        <a:t>BP</a:t>
                      </a:r>
                    </a:p>
                  </a:txBody>
                  <a:tcPr>
                    <a:solidFill>
                      <a:srgbClr val="F7F8FA"/>
                    </a:solidFill>
                  </a:tcPr>
                </a:tc>
                <a:tc>
                  <a:txBody>
                    <a:bodyPr/>
                    <a:lstStyle/>
                    <a:p>
                      <a:pPr algn="ctr"/>
                      <a:r>
                        <a:rPr sz="750" b="0" i="0">
                          <a:solidFill>
                            <a:srgbClr val="555555"/>
                          </a:solidFill>
                          <a:latin typeface="Calibri"/>
                        </a:rPr>
                        <a:t>BP.L</a:t>
                      </a:r>
                    </a:p>
                  </a:txBody>
                  <a:tcPr>
                    <a:solidFill>
                      <a:srgbClr val="F7F8FA"/>
                    </a:solidFill>
                  </a:tcPr>
                </a:tc>
                <a:tc>
                  <a:txBody>
                    <a:bodyPr/>
                    <a:lstStyle/>
                    <a:p>
                      <a:pPr algn="ctr"/>
                      <a:r>
                        <a:rPr sz="800" b="0" i="0">
                          <a:solidFill>
                            <a:srgbClr val="0D0D0D"/>
                          </a:solidFill>
                          <a:latin typeface="Calibri"/>
                        </a:rPr>
                        <a:t>110,0</a:t>
                      </a:r>
                    </a:p>
                  </a:txBody>
                  <a:tcPr>
                    <a:solidFill>
                      <a:srgbClr val="F7F8FA"/>
                    </a:solidFill>
                  </a:tcPr>
                </a:tc>
                <a:tc>
                  <a:txBody>
                    <a:bodyPr/>
                    <a:lstStyle/>
                    <a:p>
                      <a:pPr algn="ctr"/>
                      <a:r>
                        <a:rPr sz="800" b="0" i="0">
                          <a:solidFill>
                            <a:srgbClr val="0D0D0D"/>
                          </a:solidFill>
                          <a:latin typeface="Calibri"/>
                        </a:rPr>
                        <a:t>4,5x</a:t>
                      </a:r>
                    </a:p>
                  </a:txBody>
                  <a:tcPr>
                    <a:solidFill>
                      <a:srgbClr val="F7F8FA"/>
                    </a:solidFill>
                  </a:tcPr>
                </a:tc>
                <a:tc>
                  <a:txBody>
                    <a:bodyPr/>
                    <a:lstStyle/>
                    <a:p>
                      <a:pPr algn="ctr"/>
                      <a:r>
                        <a:rPr sz="800" b="0" i="0">
                          <a:solidFill>
                            <a:srgbClr val="0D0D0D"/>
                          </a:solidFill>
                          <a:latin typeface="Calibri"/>
                        </a:rPr>
                        <a:t>1,3x</a:t>
                      </a:r>
                    </a:p>
                  </a:txBody>
                  <a:tcPr>
                    <a:solidFill>
                      <a:srgbClr val="F7F8FA"/>
                    </a:solidFill>
                  </a:tcPr>
                </a:tc>
                <a:tc>
                  <a:txBody>
                    <a:bodyPr/>
                    <a:lstStyle/>
                    <a:p>
                      <a:pPr algn="ctr"/>
                      <a:r>
                        <a:rPr sz="800" b="0" i="0">
                          <a:solidFill>
                            <a:srgbClr val="0D0D0D"/>
                          </a:solidFill>
                          <a:latin typeface="Calibri"/>
                        </a:rPr>
                        <a:t>9,8x</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c>
                  <a:txBody>
                    <a:bodyPr/>
                    <a:lstStyle/>
                    <a:p>
                      <a:pPr algn="ctr"/>
                      <a:r>
                        <a:rPr sz="800" b="0" i="0">
                          <a:solidFill>
                            <a:srgbClr val="0D0D0D"/>
                          </a:solidFill>
                          <a:latin typeface="Calibri"/>
                        </a:rPr>
                        <a:t>19,0 %</a:t>
                      </a:r>
                    </a:p>
                  </a:txBody>
                  <a:tcPr>
                    <a:solidFill>
                      <a:srgbClr val="F7F8FA"/>
                    </a:solidFill>
                  </a:tcPr>
                </a:tc>
              </a:tr>
              <a:tr h="251999">
                <a:tc>
                  <a:txBody>
                    <a:bodyPr/>
                    <a:lstStyle/>
                    <a:p>
                      <a:pPr algn="l"/>
                      <a:r>
                        <a:rPr sz="800" b="0" i="0">
                          <a:solidFill>
                            <a:srgbClr val="0D0D0D"/>
                          </a:solidFill>
                          <a:latin typeface="Calibri"/>
                        </a:rPr>
                        <a:t>Equinor</a:t>
                      </a:r>
                    </a:p>
                  </a:txBody>
                  <a:tcPr>
                    <a:solidFill>
                      <a:srgbClr val="FFFFFF"/>
                    </a:solidFill>
                  </a:tcPr>
                </a:tc>
                <a:tc>
                  <a:txBody>
                    <a:bodyPr/>
                    <a:lstStyle/>
                    <a:p>
                      <a:pPr algn="ctr"/>
                      <a:r>
                        <a:rPr sz="750" b="0" i="0">
                          <a:solidFill>
                            <a:srgbClr val="555555"/>
                          </a:solidFill>
                          <a:latin typeface="Calibri"/>
                        </a:rPr>
                        <a:t>EQNR.OL</a:t>
                      </a:r>
                    </a:p>
                  </a:txBody>
                  <a:tcPr>
                    <a:solidFill>
                      <a:srgbClr val="FFFFFF"/>
                    </a:solidFill>
                  </a:tcPr>
                </a:tc>
                <a:tc>
                  <a:txBody>
                    <a:bodyPr/>
                    <a:lstStyle/>
                    <a:p>
                      <a:pPr algn="ctr"/>
                      <a:r>
                        <a:rPr sz="800" b="0" i="0">
                          <a:solidFill>
                            <a:srgbClr val="0D0D0D"/>
                          </a:solidFill>
                          <a:latin typeface="Calibri"/>
                        </a:rPr>
                        <a:t>95,0</a:t>
                      </a:r>
                    </a:p>
                  </a:txBody>
                  <a:tcPr>
                    <a:solidFill>
                      <a:srgbClr val="FFFFFF"/>
                    </a:solidFill>
                  </a:tcPr>
                </a:tc>
                <a:tc>
                  <a:txBody>
                    <a:bodyPr/>
                    <a:lstStyle/>
                    <a:p>
                      <a:pPr algn="ctr"/>
                      <a:r>
                        <a:rPr sz="800" b="0" i="0">
                          <a:solidFill>
                            <a:srgbClr val="0D0D0D"/>
                          </a:solidFill>
                          <a:latin typeface="Calibri"/>
                        </a:rPr>
                        <a:t>3,8x</a:t>
                      </a:r>
                    </a:p>
                  </a:txBody>
                  <a:tcPr>
                    <a:solidFill>
                      <a:srgbClr val="FFFFFF"/>
                    </a:solidFill>
                  </a:tcPr>
                </a:tc>
                <a:tc>
                  <a:txBody>
                    <a:bodyPr/>
                    <a:lstStyle/>
                    <a:p>
                      <a:pPr algn="ctr"/>
                      <a:r>
                        <a:rPr sz="800" b="0" i="0">
                          <a:solidFill>
                            <a:srgbClr val="0D0D0D"/>
                          </a:solidFill>
                          <a:latin typeface="Calibri"/>
                        </a:rPr>
                        <a:t>1,4x</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32,0 %</a:t>
                      </a:r>
                    </a:p>
                  </a:txBody>
                  <a:tcPr>
                    <a:solidFill>
                      <a:srgbClr val="FFFFFF"/>
                    </a:solidFill>
                  </a:tcPr>
                </a:tc>
                <a:tc>
                  <a:txBody>
                    <a:bodyPr/>
                    <a:lstStyle/>
                    <a:p>
                      <a:pPr algn="ctr"/>
                      <a:r>
                        <a:rPr sz="800" b="0" i="0">
                          <a:solidFill>
                            <a:srgbClr val="0D0D0D"/>
                          </a:solidFill>
                          <a:latin typeface="Calibri"/>
                        </a:rPr>
                        <a:t>24,0 %</a:t>
                      </a:r>
                    </a:p>
                  </a:txBody>
                  <a:tcPr>
                    <a:solidFill>
                      <a:srgbClr val="FFFFFF"/>
                    </a:solidFill>
                  </a:tcPr>
                </a:tc>
              </a:tr>
              <a:tr h="251999">
                <a:tc>
                  <a:txBody>
                    <a:bodyPr/>
                    <a:lstStyle/>
                    <a:p>
                      <a:pPr algn="l"/>
                      <a:r>
                        <a:rPr sz="800" b="0" i="0">
                          <a:solidFill>
                            <a:srgbClr val="0D0D0D"/>
                          </a:solidFill>
                          <a:latin typeface="Calibri"/>
                        </a:rPr>
                        <a:t>Repsol</a:t>
                      </a:r>
                    </a:p>
                  </a:txBody>
                  <a:tcPr>
                    <a:solidFill>
                      <a:srgbClr val="F7F8FA"/>
                    </a:solidFill>
                  </a:tcPr>
                </a:tc>
                <a:tc>
                  <a:txBody>
                    <a:bodyPr/>
                    <a:lstStyle/>
                    <a:p>
                      <a:pPr algn="ctr"/>
                      <a:r>
                        <a:rPr sz="750" b="0" i="0">
                          <a:solidFill>
                            <a:srgbClr val="555555"/>
                          </a:solidFill>
                          <a:latin typeface="Calibri"/>
                        </a:rPr>
                        <a:t>REP.MC</a:t>
                      </a:r>
                    </a:p>
                  </a:txBody>
                  <a:tcPr>
                    <a:solidFill>
                      <a:srgbClr val="F7F8FA"/>
                    </a:solidFill>
                  </a:tcPr>
                </a:tc>
                <a:tc>
                  <a:txBody>
                    <a:bodyPr/>
                    <a:lstStyle/>
                    <a:p>
                      <a:pPr algn="ctr"/>
                      <a:r>
                        <a:rPr sz="800" b="0" i="0">
                          <a:solidFill>
                            <a:srgbClr val="0D0D0D"/>
                          </a:solidFill>
                          <a:latin typeface="Calibri"/>
                        </a:rPr>
                        <a:t>45,0</a:t>
                      </a:r>
                    </a:p>
                  </a:txBody>
                  <a:tcPr>
                    <a:solidFill>
                      <a:srgbClr val="F7F8FA"/>
                    </a:solidFill>
                  </a:tcPr>
                </a:tc>
                <a:tc>
                  <a:txBody>
                    <a:bodyPr/>
                    <a:lstStyle/>
                    <a:p>
                      <a:pPr algn="ctr"/>
                      <a:r>
                        <a:rPr sz="800" b="0" i="0">
                          <a:solidFill>
                            <a:srgbClr val="0D0D0D"/>
                          </a:solidFill>
                          <a:latin typeface="Calibri"/>
                        </a:rPr>
                        <a:t>3,5x</a:t>
                      </a:r>
                    </a:p>
                  </a:txBody>
                  <a:tcPr>
                    <a:solidFill>
                      <a:srgbClr val="F7F8FA"/>
                    </a:solidFill>
                  </a:tcPr>
                </a:tc>
                <a:tc>
                  <a:txBody>
                    <a:bodyPr/>
                    <a:lstStyle/>
                    <a:p>
                      <a:pPr algn="ctr"/>
                      <a:r>
                        <a:rPr sz="800" b="0" i="0">
                          <a:solidFill>
                            <a:srgbClr val="0D0D0D"/>
                          </a:solidFill>
                          <a:latin typeface="Calibri"/>
                        </a:rPr>
                        <a:t>1,2x</a:t>
                      </a:r>
                    </a:p>
                  </a:txBody>
                  <a:tcPr>
                    <a:solidFill>
                      <a:srgbClr val="F7F8FA"/>
                    </a:solidFill>
                  </a:tcPr>
                </a:tc>
                <a:tc>
                  <a:txBody>
                    <a:bodyPr/>
                    <a:lstStyle/>
                    <a:p>
                      <a:pPr algn="ctr"/>
                      <a:r>
                        <a:rPr sz="800" b="0" i="0">
                          <a:solidFill>
                            <a:srgbClr val="0D0D0D"/>
                          </a:solidFill>
                          <a:latin typeface="Calibri"/>
                        </a:rPr>
                        <a:t>7,2x</a:t>
                      </a:r>
                    </a:p>
                  </a:txBody>
                  <a:tcPr>
                    <a:solidFill>
                      <a:srgbClr val="F7F8FA"/>
                    </a:solidFill>
                  </a:tcPr>
                </a:tc>
                <a:tc>
                  <a:txBody>
                    <a:bodyPr/>
                    <a:lstStyle/>
                    <a:p>
                      <a:pPr algn="ctr"/>
                      <a:r>
                        <a:rPr sz="800" b="0" i="0">
                          <a:solidFill>
                            <a:srgbClr val="0D0D0D"/>
                          </a:solidFill>
                          <a:latin typeface="Calibri"/>
                        </a:rPr>
                        <a:t>28,0 %</a:t>
                      </a:r>
                    </a:p>
                  </a:txBody>
                  <a:tcPr>
                    <a:solidFill>
                      <a:srgbClr val="F7F8FA"/>
                    </a:solidFill>
                  </a:tcPr>
                </a:tc>
                <a:tc>
                  <a:txBody>
                    <a:bodyPr/>
                    <a:lstStyle/>
                    <a:p>
                      <a:pPr algn="ctr"/>
                      <a:r>
                        <a:rPr sz="800" b="0" i="0">
                          <a:solidFill>
                            <a:srgbClr val="0D0D0D"/>
                          </a:solidFill>
                          <a:latin typeface="Calibri"/>
                        </a:rPr>
                        <a:t>22,0 %</a:t>
                      </a:r>
                    </a:p>
                  </a:txBody>
                  <a:tcPr>
                    <a:solidFill>
                      <a:srgbClr val="F7F8FA"/>
                    </a:solidFill>
                  </a:tcPr>
                </a:tc>
              </a:tr>
              <a:tr h="251999">
                <a:tc>
                  <a:txBody>
                    <a:bodyPr/>
                    <a:lstStyle/>
                    <a:p>
                      <a:pPr algn="l"/>
                      <a:r>
                        <a:rPr sz="800" b="0" i="0">
                          <a:solidFill>
                            <a:srgbClr val="0D0D0D"/>
                          </a:solidFill>
                          <a:latin typeface="Calibri"/>
                        </a:rPr>
                        <a:t>Eni</a:t>
                      </a:r>
                    </a:p>
                  </a:txBody>
                  <a:tcPr>
                    <a:solidFill>
                      <a:srgbClr val="FFFFFF"/>
                    </a:solidFill>
                  </a:tcPr>
                </a:tc>
                <a:tc>
                  <a:txBody>
                    <a:bodyPr/>
                    <a:lstStyle/>
                    <a:p>
                      <a:pPr algn="ctr"/>
                      <a:r>
                        <a:rPr sz="750" b="0" i="0">
                          <a:solidFill>
                            <a:srgbClr val="555555"/>
                          </a:solidFill>
                          <a:latin typeface="Calibri"/>
                        </a:rPr>
                        <a:t>ENI.MI</a:t>
                      </a:r>
                    </a:p>
                  </a:txBody>
                  <a:tcPr>
                    <a:solidFill>
                      <a:srgbClr val="FFFFFF"/>
                    </a:solidFill>
                  </a:tcPr>
                </a:tc>
                <a:tc>
                  <a:txBody>
                    <a:bodyPr/>
                    <a:lstStyle/>
                    <a:p>
                      <a:pPr algn="ctr"/>
                      <a:r>
                        <a:rPr sz="800" b="0" i="0">
                          <a:solidFill>
                            <a:srgbClr val="0D0D0D"/>
                          </a:solidFill>
                          <a:latin typeface="Calibri"/>
                        </a:rPr>
                        <a:t>65,0</a:t>
                      </a:r>
                    </a:p>
                  </a:txBody>
                  <a:tcPr>
                    <a:solidFill>
                      <a:srgbClr val="FFFFFF"/>
                    </a:solidFill>
                  </a:tcPr>
                </a:tc>
                <a:tc>
                  <a:txBody>
                    <a:bodyPr/>
                    <a:lstStyle/>
                    <a:p>
                      <a:pPr algn="ctr"/>
                      <a:r>
                        <a:rPr sz="800" b="0" i="0">
                          <a:solidFill>
                            <a:srgbClr val="0D0D0D"/>
                          </a:solidFill>
                          <a:latin typeface="Calibri"/>
                        </a:rPr>
                        <a:t>4,1x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c>
                  <a:txBody>
                    <a:bodyPr/>
                    <a:lstStyle/>
                    <a:p>
                      <a:pPr algn="ctr"/>
                      <a:r>
                        <a:rPr sz="800" b="0" i="0">
                          <a:solidFill>
                            <a:srgbClr val="0D0D0D"/>
                          </a:solidFill>
                          <a:latin typeface="Calibri"/>
                        </a:rPr>
                        <a:t>8,9x</a:t>
                      </a:r>
                    </a:p>
                  </a:txBody>
                  <a:tcPr>
                    <a:solidFill>
                      <a:srgbClr val="FFFFFF"/>
                    </a:solidFill>
                  </a:tcPr>
                </a:tc>
                <a:tc>
                  <a:txBody>
                    <a:bodyPr/>
                    <a:lstStyle/>
                    <a:p>
                      <a:pPr algn="ctr"/>
                      <a:r>
                        <a:rPr sz="800" b="0" i="0">
                          <a:solidFill>
                            <a:srgbClr val="0D0D0D"/>
                          </a:solidFill>
                          <a:latin typeface="Calibri"/>
                        </a:rPr>
                        <a:t>29,0 %</a:t>
                      </a:r>
                    </a:p>
                  </a:txBody>
                  <a:tcPr>
                    <a:solidFill>
                      <a:srgbClr val="FFFFFF"/>
                    </a:solidFill>
                  </a:tcPr>
                </a:tc>
                <a:tc>
                  <a:txBody>
                    <a:bodyPr/>
                    <a:lstStyle/>
                    <a:p>
                      <a:pPr algn="ctr"/>
                      <a:r>
                        <a:rPr sz="800" b="0" i="0">
                          <a:solidFill>
                            <a:srgbClr val="0D0D0D"/>
                          </a:solidFill>
                          <a:latin typeface="Calibri"/>
                        </a:rPr>
                        <a:t>23,0 %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4,1x</a:t>
                      </a:r>
                    </a:p>
                  </a:txBody>
                  <a:tcPr>
                    <a:solidFill>
                      <a:srgbClr val="F7F8FA"/>
                    </a:solidFill>
                  </a:tcPr>
                </a:tc>
                <a:tc>
                  <a:txBody>
                    <a:bodyPr/>
                    <a:lstStyle/>
                    <a:p>
                      <a:pPr algn="ctr"/>
                      <a:r>
                        <a:rPr sz="800" b="1" i="0">
                          <a:solidFill>
                            <a:srgbClr val="0D0D0D"/>
                          </a:solidFill>
                          <a:latin typeface="Calibri"/>
                        </a:rPr>
                        <a:t>1,2x</a:t>
                      </a:r>
                    </a:p>
                  </a:txBody>
                  <a:tcPr>
                    <a:solidFill>
                      <a:srgbClr val="F7F8FA"/>
                    </a:solidFill>
                  </a:tcPr>
                </a:tc>
                <a:tc>
                  <a:txBody>
                    <a:bodyPr/>
                    <a:lstStyle/>
                    <a:p>
                      <a:pPr algn="ctr"/>
                      <a:r>
                        <a:rPr sz="800" b="1" i="0">
                          <a:solidFill>
                            <a:srgbClr val="0D0D0D"/>
                          </a:solidFill>
                          <a:latin typeface="Calibri"/>
                        </a:rPr>
                        <a:t>8,9x</a:t>
                      </a:r>
                    </a:p>
                  </a:txBody>
                  <a:tcPr>
                    <a:solidFill>
                      <a:srgbClr val="F7F8FA"/>
                    </a:solidFill>
                  </a:tcPr>
                </a:tc>
                <a:tc>
                  <a:txBody>
                    <a:bodyPr/>
                    <a:lstStyle/>
                    <a:p>
                      <a:pPr algn="ctr"/>
                      <a:r>
                        <a:rPr sz="800" b="1" i="0">
                          <a:solidFill>
                            <a:srgbClr val="0D0D0D"/>
                          </a:solidFill>
                          <a:latin typeface="Calibri"/>
                        </a:rPr>
                        <a:t>28,0 %</a:t>
                      </a:r>
                    </a:p>
                  </a:txBody>
                  <a:tcPr>
                    <a:solidFill>
                      <a:srgbClr val="F7F8FA"/>
                    </a:solidFill>
                  </a:tcPr>
                </a:tc>
                <a:tc>
                  <a:txBody>
                    <a:bodyPr/>
                    <a:lstStyle/>
                    <a:p>
                      <a:pPr algn="ctr"/>
                      <a:r>
                        <a:rPr sz="800" b="1" i="0">
                          <a:solidFill>
                            <a:srgbClr val="0D0D0D"/>
                          </a:solidFill>
                          <a:latin typeface="Calibri"/>
                        </a:rPr>
                        <a:t>22,0 %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TotalEnergies affiche un EV/EBITDA LTM de 4.8x vs une médiane peers de 4.2x (+14%), reflétant une croissance supérieure et une intégration verticale. La décote sur P/E (10.2x vs 11.8x) est justifiée par des investissements massifs en capex (15 milliards€/an). Une convergence vers la médiane peers impliquerait un upside de 10-15% sur le cours.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6.1% et une TGR de 1.5%, le prix implicite DCF est de 98€ (base), soit +25% vs le cours actuel. L'upside provient d'une génération de cash durable (FCF &gt; 15 milliards€/an) et d'une prime de croissance dans les renouvelables. Un catalyseur clé serait l'accélération des projets hydrogène (objectif 1Mt/an d'ici 2030).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Géopolitique instable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diversification géographique de TotalEnergies expose l'entreprise à des risques géopolitiques non maîtrisables : 60% de ses actifs sont situés dans des zones instables (Afrique, Moyen-Orient, Amérique latine), où les nationalisations ou expropriations ont coûté 12 milliards de dollars depuis 2010. Les contrats d'exploration dans ces régions sont souvent renégociés sous pression, réduisant les marges à long terme.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Coûts fixes lourds</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L'intégration verticale, présentée comme un atout, devient un fardeau en cas de chute des prix du pétrole : les coûts fixes des raffineries (1,8 milliard d'euros/an) pèsent sur les résultats lorsque la demande faiblit, comme en 2020 où le segment a affiché une perte nette de 1,2 milliard. Les synergies supposées entre segments sont souvent surévaluées de 30% selon les audits internes.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Prix pétrole surévalué</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 résilience des cash-flows repose sur des hypothèses de prix du Brent à 85$/baril en 2025, un niveau 20% supérieur aux prévisions de l'AIE et du FMI. En 2023, une baisse de 10% des prix a déjà réduit l'EBITDA de 15%, soit 4,5 milliards d'euros, prouvant la sensibilité extrême aux fluctuations des matières premières.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Brent &lt; 60$/bbl pendant 6 mois consécutifs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Réglementation européenne CO2 renforcée (taxation 100€/tonne)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Retard &gt;12 mois sur 3 projets renouvelables clés (ex: hydrogène France)</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22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-0,059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22</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37,1 %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+0,312</a:t>
                      </a:r>
                    </a:p>
                  </a:txBody>
                  <a:tcPr>
                    <a:solidFill>
                      <a:srgbClr val="EAF4EF"/>
                    </a:solidFill>
                  </a:tcPr>
                </a:tc>
                <a:tc>
                  <a:txBody>
                    <a:bodyPr/>
                    <a:lstStyle/>
                    <a:p>
                      <a:pPr algn="ctr"/>
                      <a:r>
                        <a:rPr sz="800" b="0" i="0">
                          <a:solidFill>
                            <a:srgbClr val="0D0D0D"/>
                          </a:solidFill>
                          <a:latin typeface="Calibri"/>
                        </a:rPr>
                        <a:t>Accélération capex renouvelables 2026-2027 : +20% vs 2025, générant 3 milliards€ de EBITDA additionnel | Horizon 2026</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6</a:t>
                      </a:r>
                    </a:p>
                  </a:txBody>
                  <a:tcPr>
                    <a:solidFill>
                      <a:srgbClr val="FFFFFF"/>
                    </a:solidFill>
                  </a:tcPr>
                </a:tc>
                <a:tc>
                  <a:txBody>
                    <a:bodyPr/>
                    <a:lstStyle/>
                    <a:p>
                      <a:pPr algn="ctr"/>
                      <a:r>
                        <a:rPr sz="800" b="0" i="0">
                          <a:solidFill>
                            <a:srgbClr val="0D0D0D"/>
                          </a:solidFill>
                          <a:latin typeface="Calibri"/>
                        </a:rPr>
                        <a:t>+0,317</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+0,371</a:t>
                      </a:r>
                    </a:p>
                  </a:txBody>
                  <a:tcPr>
                    <a:solidFill>
                      <a:srgbClr val="FAF0EF"/>
                    </a:solidFill>
                  </a:tcPr>
                </a:tc>
                <a:tc>
                  <a:txBody>
                    <a:bodyPr/>
                    <a:lstStyle/>
                    <a:p>
                      <a:pPr algn="ctr"/>
                      <a:r>
                        <a:rPr sz="800" b="0" i="0">
                          <a:solidFill>
                            <a:srgbClr val="0D0D0D"/>
                          </a:solidFill>
                          <a:latin typeface="Calibri"/>
                        </a:rPr>
                        <a:t>Baisse durable du Brent sous 60$/bbl : impact de -15% sur le CA et -20% sur le FCF | Horizon 12-18 mois | Ampleur -25% cours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progrès significatifs de TotalEnergies en matière de transition énergétique et de partenariats stratégiques. Cependant, les décisions récentes de recentrage sur les énergies fossiles et l'abandon des projets éoliens offshore aux États-Unis pèsent sur le sentiment global.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28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TotalEnergies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International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Massachusetts Financial Services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Deutsche Bank AG</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Caisse Des Depots Et Consignations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NORGES BANK</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82.3 %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TotalEnergies se négocie à une prime de 15% vs ses pairs sur EV/EBITDA, justifiée par une croissance supérieure et une qualité d'actifs. La décote sur P/E (10x vs 12x mediane) reflète des attentes élevées en termes de rentabilité future.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TTE.PA  ·  EUR  ·  Au 28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78,49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78,49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48,79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+60,9 %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799927"/>
            <a:ext cx="498636" cy="9527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79563"/>
            <a:ext cx="498636" cy="115636"/>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745624"/>
            <a:ext cx="498636" cy="1495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675806"/>
            <a:ext cx="498636" cy="2193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3759200"/>
            <a:ext cx="498636" cy="13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3654957"/>
            <a:ext cx="498636" cy="24024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3476533"/>
            <a:ext cx="498636" cy="418666"/>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3534230"/>
            <a:ext cx="498636" cy="36096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3223927"/>
            <a:ext cx="498636" cy="67127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926715"/>
            <a:ext cx="498636" cy="96848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383200"/>
            <a:ext cx="498636" cy="151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48</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58</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68</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TotalEnergies SE bénéficie d'une transition énergétique maîtrisée et d'une diversification géographique solide. Le cours actuel sous-évalue le potentiel de croissance des énergies renouvelables et de l'intégration gaz-pétrole. La société offre un rendement attractif avec un dividende stable et une 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