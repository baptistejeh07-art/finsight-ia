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54000"/>
            <a:ext cx="4320000" cy="432000"/>
          </a:xfrm>
          <a:prstGeom prst="rect">
            <a:avLst/>
          </a:prstGeom>
          <a:noFill/>
        </p:spPr>
        <p:txBody>
          <a:bodyPr wrap="square">
            <a:spAutoFit/>
          </a:bodyPr>
          <a:lstStyle/>
          <a:p>
            <a:pPr algn="l"/>
            <a:r>
              <a:rPr sz="1200" b="1" i="0">
                <a:solidFill>
                  <a:srgbClr val="FFFFFF"/>
                </a:solidFill>
              </a:rPr>
              <a:t>FinSight IA</a:t>
            </a:r>
          </a:p>
        </p:txBody>
      </p:sp>
      <p:sp>
        <p:nvSpPr>
          <p:cNvPr id="4" name="TextBox 3"/>
          <p:cNvSpPr txBox="1"/>
          <p:nvPr/>
        </p:nvSpPr>
        <p:spPr>
          <a:xfrm>
            <a:off x="0" y="90000"/>
            <a:ext cx="9072000" cy="360000"/>
          </a:xfrm>
          <a:prstGeom prst="rect">
            <a:avLst/>
          </a:prstGeom>
          <a:noFill/>
        </p:spPr>
        <p:txBody>
          <a:bodyPr wrap="square">
            <a:spAutoFit/>
          </a:bodyPr>
          <a:lstStyle/>
          <a:p>
            <a:pPr algn="r"/>
            <a:r>
              <a:rPr sz="950" b="0" i="0">
                <a:solidFill>
                  <a:srgbClr val="AAAAAA"/>
                </a:solidFill>
              </a:rPr>
              <a:t>Pitchbook  —  Analyse Sectorielle</a:t>
            </a:r>
          </a:p>
        </p:txBody>
      </p:sp>
      <p:sp>
        <p:nvSpPr>
          <p:cNvPr id="5" name="TextBox 4"/>
          <p:cNvSpPr txBox="1"/>
          <p:nvPr/>
        </p:nvSpPr>
        <p:spPr>
          <a:xfrm>
            <a:off x="0" y="1620000"/>
            <a:ext cx="9144000" cy="1080000"/>
          </a:xfrm>
          <a:prstGeom prst="rect">
            <a:avLst/>
          </a:prstGeom>
          <a:noFill/>
        </p:spPr>
        <p:txBody>
          <a:bodyPr wrap="square">
            <a:spAutoFit/>
          </a:bodyPr>
          <a:lstStyle/>
          <a:p>
            <a:pPr algn="ctr"/>
            <a:r>
              <a:rPr sz="3800" b="1" i="0">
                <a:solidFill>
                  <a:srgbClr val="1B3A6B"/>
                </a:solidFill>
              </a:rPr>
              <a:t>Banques</a:t>
            </a:r>
          </a:p>
        </p:txBody>
      </p:sp>
      <p:sp>
        <p:nvSpPr>
          <p:cNvPr id="6" name="TextBox 5"/>
          <p:cNvSpPr txBox="1"/>
          <p:nvPr/>
        </p:nvSpPr>
        <p:spPr>
          <a:xfrm>
            <a:off x="0" y="2808000"/>
            <a:ext cx="9144000" cy="360000"/>
          </a:xfrm>
          <a:prstGeom prst="rect">
            <a:avLst/>
          </a:prstGeom>
          <a:noFill/>
        </p:spPr>
        <p:txBody>
          <a:bodyPr wrap="square">
            <a:spAutoFit/>
          </a:bodyPr>
          <a:lstStyle/>
          <a:p>
            <a:pPr algn="ctr"/>
            <a:r>
              <a:rPr sz="1200" b="0" i="0">
                <a:solidFill>
                  <a:srgbClr val="555555"/>
                </a:solidFill>
              </a:rPr>
              <a:t>Global  ·  15 sociétés analysées</a:t>
            </a:r>
          </a:p>
        </p:txBody>
      </p:sp>
      <p:sp>
        <p:nvSpPr>
          <p:cNvPr id="7" name="Rectangle 6"/>
          <p:cNvSpPr/>
          <p:nvPr/>
        </p:nvSpPr>
        <p:spPr>
          <a:xfrm>
            <a:off x="3276000" y="3311999"/>
            <a:ext cx="255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76000" y="3348000"/>
            <a:ext cx="2556000" cy="432000"/>
          </a:xfrm>
          <a:prstGeom prst="rect">
            <a:avLst/>
          </a:prstGeom>
          <a:noFill/>
        </p:spPr>
        <p:txBody>
          <a:bodyPr wrap="square">
            <a:spAutoFit/>
          </a:bodyPr>
          <a:lstStyle/>
          <a:p>
            <a:pPr algn="ctr"/>
            <a:r>
              <a:rPr sz="1300" b="1" i="0">
                <a:solidFill>
                  <a:srgbClr val="FFFFFF"/>
                </a:solidFill>
              </a:rPr>
              <a:t>● NEUTRE</a:t>
            </a:r>
          </a:p>
        </p:txBody>
      </p:sp>
      <p:sp>
        <p:nvSpPr>
          <p:cNvPr id="9" name="Rectangle 8"/>
          <p:cNvSpPr/>
          <p:nvPr/>
        </p:nvSpPr>
        <p:spPr>
          <a:xfrm>
            <a:off x="0" y="4896000"/>
            <a:ext cx="9144000" cy="25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 y="4914000"/>
            <a:ext cx="3600000" cy="180000"/>
          </a:xfrm>
          <a:prstGeom prst="rect">
            <a:avLst/>
          </a:prstGeom>
          <a:noFill/>
        </p:spPr>
        <p:txBody>
          <a:bodyPr wrap="square">
            <a:spAutoFit/>
          </a:bodyPr>
          <a:lstStyle/>
          <a:p>
            <a:pPr algn="l"/>
            <a:r>
              <a:rPr sz="750" b="0" i="0">
                <a:solidFill>
                  <a:srgbClr val="555555"/>
                </a:solidFill>
              </a:rPr>
              <a:t>Rapport confidentiel</a:t>
            </a:r>
          </a:p>
        </p:txBody>
      </p:sp>
      <p:sp>
        <p:nvSpPr>
          <p:cNvPr id="11" name="TextBox 10"/>
          <p:cNvSpPr txBox="1"/>
          <p:nvPr/>
        </p:nvSpPr>
        <p:spPr>
          <a:xfrm>
            <a:off x="0" y="4914000"/>
            <a:ext cx="8784000" cy="180000"/>
          </a:xfrm>
          <a:prstGeom prst="rect">
            <a:avLst/>
          </a:prstGeom>
          <a:noFill/>
        </p:spPr>
        <p:txBody>
          <a:bodyPr wrap="square">
            <a:spAutoFit/>
          </a:bodyPr>
          <a:lstStyle/>
          <a:p>
            <a:pPr algn="r"/>
            <a:r>
              <a:rPr sz="750" b="0" i="0">
                <a:solidFill>
                  <a:srgbClr val="555555"/>
                </a:solidFill>
              </a:rPr>
              <a:t>15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Banques  ·  Global  ·  15 sociétés analysées</a:t>
            </a:r>
          </a:p>
        </p:txBody>
      </p:sp>
      <p:sp>
        <p:nvSpPr>
          <p:cNvPr id="15" name="Rectangle 14"/>
          <p:cNvSpPr/>
          <p:nvPr/>
        </p:nvSpPr>
        <p:spPr>
          <a:xfrm>
            <a:off x="324000" y="864000"/>
            <a:ext cx="8496000" cy="3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64000"/>
            <a:ext cx="36000" cy="39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882000"/>
            <a:ext cx="1152000" cy="360000"/>
          </a:xfrm>
          <a:prstGeom prst="rect">
            <a:avLst/>
          </a:prstGeom>
          <a:noFill/>
        </p:spPr>
        <p:txBody>
          <a:bodyPr wrap="square">
            <a:spAutoFit/>
          </a:bodyPr>
          <a:lstStyle/>
          <a:p>
            <a:pPr algn="l"/>
            <a:r>
              <a:rPr sz="1100" b="1" i="0">
                <a:solidFill>
                  <a:srgbClr val="B06000"/>
                </a:solidFill>
              </a:rPr>
              <a:t>● NEUTRE</a:t>
            </a:r>
          </a:p>
        </p:txBody>
      </p:sp>
      <p:sp>
        <p:nvSpPr>
          <p:cNvPr id="18" name="TextBox 17"/>
          <p:cNvSpPr txBox="1"/>
          <p:nvPr/>
        </p:nvSpPr>
        <p:spPr>
          <a:xfrm>
            <a:off x="1655999" y="900000"/>
            <a:ext cx="7128000" cy="324000"/>
          </a:xfrm>
          <a:prstGeom prst="rect">
            <a:avLst/>
          </a:prstGeom>
          <a:noFill/>
        </p:spPr>
        <p:txBody>
          <a:bodyPr wrap="square">
            <a:spAutoFit/>
          </a:bodyPr>
          <a:lstStyle/>
          <a:p>
            <a:pPr algn="l"/>
            <a:r>
              <a:rPr sz="850" b="0" i="0">
                <a:solidFill>
                  <a:srgbClr val="1B3A6B"/>
                </a:solidFill>
              </a:rPr>
              <a:t>EV/EBITDA med. : 5.2x  ·  Croissance med. : +8.9 %  ·  Marge EBITDA med. : 85.3 %  ·  Score moyen : 50/100</a:t>
            </a:r>
          </a:p>
        </p:txBody>
      </p:sp>
      <p:sp>
        <p:nvSpPr>
          <p:cNvPr id="19" name="Rectangle 18"/>
          <p:cNvSpPr/>
          <p:nvPr/>
        </p:nvSpPr>
        <p:spPr>
          <a:xfrm>
            <a:off x="324000" y="1332000"/>
            <a:ext cx="410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4000" y="1350000"/>
            <a:ext cx="4104000" cy="216000"/>
          </a:xfrm>
          <a:prstGeom prst="rect">
            <a:avLst/>
          </a:prstGeom>
          <a:noFill/>
        </p:spPr>
        <p:txBody>
          <a:bodyPr wrap="square">
            <a:spAutoFit/>
          </a:bodyPr>
          <a:lstStyle/>
          <a:p>
            <a:pPr algn="ctr"/>
            <a:r>
              <a:rPr sz="850" b="1" i="0">
                <a:solidFill>
                  <a:srgbClr val="FFFFFF"/>
                </a:solidFill>
              </a:rPr>
              <a:t>CATALYSEURS SECTORIELS</a:t>
            </a:r>
          </a:p>
        </p:txBody>
      </p:sp>
      <p:sp>
        <p:nvSpPr>
          <p:cNvPr id="21" name="Rectangle 20"/>
          <p:cNvSpPr/>
          <p:nvPr/>
        </p:nvSpPr>
        <p:spPr>
          <a:xfrm>
            <a:off x="324000" y="1655999"/>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0000" y="1655999"/>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73999"/>
            <a:ext cx="3851999" cy="198000"/>
          </a:xfrm>
          <a:prstGeom prst="rect">
            <a:avLst/>
          </a:prstGeom>
          <a:noFill/>
        </p:spPr>
        <p:txBody>
          <a:bodyPr wrap="square">
            <a:spAutoFit/>
          </a:bodyPr>
          <a:lstStyle/>
          <a:p>
            <a:pPr algn="l"/>
            <a:r>
              <a:rPr sz="850" b="1" i="0">
                <a:solidFill>
                  <a:srgbClr val="1B3A6B"/>
                </a:solidFill>
              </a:rPr>
              <a:t>Taux d'intérêt</a:t>
            </a:r>
          </a:p>
        </p:txBody>
      </p:sp>
      <p:sp>
        <p:nvSpPr>
          <p:cNvPr id="24" name="TextBox 23"/>
          <p:cNvSpPr txBox="1"/>
          <p:nvPr/>
        </p:nvSpPr>
        <p:spPr>
          <a:xfrm>
            <a:off x="468000" y="1853999"/>
            <a:ext cx="3851999" cy="450000"/>
          </a:xfrm>
          <a:prstGeom prst="rect">
            <a:avLst/>
          </a:prstGeom>
          <a:noFill/>
        </p:spPr>
        <p:txBody>
          <a:bodyPr wrap="square">
            <a:spAutoFit/>
          </a:bodyPr>
          <a:lstStyle/>
          <a:p>
            <a:pPr algn="l"/>
            <a:r>
              <a:rPr sz="750" b="0" i="0">
                <a:solidFill>
                  <a:srgbClr val="555555"/>
                </a:solidFill>
              </a:rPr>
              <a:t>La stabilisation ou baisse des taux directeurs pourrait réduire la pression sur les marges nettes d'intérêt des banques comme RF et KEY.</a:t>
            </a:r>
          </a:p>
        </p:txBody>
      </p:sp>
      <p:sp>
        <p:nvSpPr>
          <p:cNvPr id="25" name="Rectangle 24"/>
          <p:cNvSpPr/>
          <p:nvPr/>
        </p:nvSpPr>
        <p:spPr>
          <a:xfrm>
            <a:off x="324000" y="2484000"/>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484000"/>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000" y="2501999"/>
            <a:ext cx="3851999" cy="198000"/>
          </a:xfrm>
          <a:prstGeom prst="rect">
            <a:avLst/>
          </a:prstGeom>
          <a:noFill/>
        </p:spPr>
        <p:txBody>
          <a:bodyPr wrap="square">
            <a:spAutoFit/>
          </a:bodyPr>
          <a:lstStyle/>
          <a:p>
            <a:pPr algn="l"/>
            <a:r>
              <a:rPr sz="850" b="1" i="0">
                <a:solidFill>
                  <a:srgbClr val="1B3A6B"/>
                </a:solidFill>
              </a:rPr>
              <a:t>Croissance des revenus</a:t>
            </a:r>
          </a:p>
        </p:txBody>
      </p:sp>
      <p:sp>
        <p:nvSpPr>
          <p:cNvPr id="28" name="TextBox 27"/>
          <p:cNvSpPr txBox="1"/>
          <p:nvPr/>
        </p:nvSpPr>
        <p:spPr>
          <a:xfrm>
            <a:off x="468000" y="2681999"/>
            <a:ext cx="3851999" cy="450000"/>
          </a:xfrm>
          <a:prstGeom prst="rect">
            <a:avLst/>
          </a:prstGeom>
          <a:noFill/>
        </p:spPr>
        <p:txBody>
          <a:bodyPr wrap="square">
            <a:spAutoFit/>
          </a:bodyPr>
          <a:lstStyle/>
          <a:p>
            <a:pPr algn="l"/>
            <a:r>
              <a:rPr sz="750" b="0" i="0">
                <a:solidFill>
                  <a:srgbClr val="555555"/>
                </a:solidFill>
              </a:rPr>
              <a:t>Une croissance des revenus de +8.9% suggère une dynamique commerciale solide, notamment dans les segments de banque de détail et gestion d'actifs.</a:t>
            </a:r>
          </a:p>
        </p:txBody>
      </p:sp>
      <p:sp>
        <p:nvSpPr>
          <p:cNvPr id="29" name="Rectangle 28"/>
          <p:cNvSpPr/>
          <p:nvPr/>
        </p:nvSpPr>
        <p:spPr>
          <a:xfrm>
            <a:off x="324000" y="3311999"/>
            <a:ext cx="36000" cy="72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0000" y="3311999"/>
            <a:ext cx="4068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000" y="3330000"/>
            <a:ext cx="3851999" cy="198000"/>
          </a:xfrm>
          <a:prstGeom prst="rect">
            <a:avLst/>
          </a:prstGeom>
          <a:noFill/>
        </p:spPr>
        <p:txBody>
          <a:bodyPr wrap="square">
            <a:spAutoFit/>
          </a:bodyPr>
          <a:lstStyle/>
          <a:p>
            <a:pPr algn="l"/>
            <a:r>
              <a:rPr sz="850" b="1" i="0">
                <a:solidFill>
                  <a:srgbClr val="1B3A6B"/>
                </a:solidFill>
              </a:rPr>
              <a:t>Momentum boursier</a:t>
            </a:r>
          </a:p>
        </p:txBody>
      </p:sp>
      <p:sp>
        <p:nvSpPr>
          <p:cNvPr id="32" name="TextBox 31"/>
          <p:cNvSpPr txBox="1"/>
          <p:nvPr/>
        </p:nvSpPr>
        <p:spPr>
          <a:xfrm>
            <a:off x="468000" y="3510000"/>
            <a:ext cx="3851999" cy="450000"/>
          </a:xfrm>
          <a:prstGeom prst="rect">
            <a:avLst/>
          </a:prstGeom>
          <a:noFill/>
        </p:spPr>
        <p:txBody>
          <a:bodyPr wrap="square">
            <a:spAutoFit/>
          </a:bodyPr>
          <a:lstStyle/>
          <a:p>
            <a:pPr algn="l"/>
            <a:r>
              <a:rPr sz="750" b="0" i="0">
                <a:solidFill>
                  <a:srgbClr val="555555"/>
                </a:solidFill>
              </a:rPr>
              <a:t>Le momentum à +31.5% sur 52 semaines pour les valeurs comme MS indique un regain d'intérêt des investisseurs pour les banques bien capitalisées.</a:t>
            </a:r>
          </a:p>
        </p:txBody>
      </p:sp>
      <p:sp>
        <p:nvSpPr>
          <p:cNvPr id="33" name="Rectangle 32"/>
          <p:cNvSpPr/>
          <p:nvPr/>
        </p:nvSpPr>
        <p:spPr>
          <a:xfrm>
            <a:off x="4716000" y="1332000"/>
            <a:ext cx="4104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6000" y="1350000"/>
            <a:ext cx="4104000" cy="216000"/>
          </a:xfrm>
          <a:prstGeom prst="rect">
            <a:avLst/>
          </a:prstGeom>
          <a:noFill/>
        </p:spPr>
        <p:txBody>
          <a:bodyPr wrap="square">
            <a:spAutoFit/>
          </a:bodyPr>
          <a:lstStyle/>
          <a:p>
            <a:pPr algn="ctr"/>
            <a:r>
              <a:rPr sz="850" b="1" i="0">
                <a:solidFill>
                  <a:srgbClr val="FFFFFF"/>
                </a:solidFill>
              </a:rPr>
              <a:t>RISQUES PRINCIPAUX</a:t>
            </a:r>
          </a:p>
        </p:txBody>
      </p:sp>
      <p:sp>
        <p:nvSpPr>
          <p:cNvPr id="35" name="Rectangle 34"/>
          <p:cNvSpPr/>
          <p:nvPr/>
        </p:nvSpPr>
        <p:spPr>
          <a:xfrm>
            <a:off x="4716000" y="1655999"/>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2000" y="1655999"/>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0000" y="1673999"/>
            <a:ext cx="3851999" cy="198000"/>
          </a:xfrm>
          <a:prstGeom prst="rect">
            <a:avLst/>
          </a:prstGeom>
          <a:noFill/>
        </p:spPr>
        <p:txBody>
          <a:bodyPr wrap="square">
            <a:spAutoFit/>
          </a:bodyPr>
          <a:lstStyle/>
          <a:p>
            <a:pPr algn="l"/>
            <a:r>
              <a:rPr sz="850" b="1" i="0">
                <a:solidFill>
                  <a:srgbClr val="A82020"/>
                </a:solidFill>
              </a:rPr>
              <a:t>Réglementation</a:t>
            </a:r>
          </a:p>
        </p:txBody>
      </p:sp>
      <p:sp>
        <p:nvSpPr>
          <p:cNvPr id="38" name="TextBox 37"/>
          <p:cNvSpPr txBox="1"/>
          <p:nvPr/>
        </p:nvSpPr>
        <p:spPr>
          <a:xfrm>
            <a:off x="4860000" y="1853999"/>
            <a:ext cx="3851999" cy="450000"/>
          </a:xfrm>
          <a:prstGeom prst="rect">
            <a:avLst/>
          </a:prstGeom>
          <a:noFill/>
        </p:spPr>
        <p:txBody>
          <a:bodyPr wrap="square">
            <a:spAutoFit/>
          </a:bodyPr>
          <a:lstStyle/>
          <a:p>
            <a:pPr algn="l"/>
            <a:r>
              <a:rPr sz="750" b="0" i="0">
                <a:solidFill>
                  <a:srgbClr val="555555"/>
                </a:solidFill>
              </a:rPr>
              <a:t>Les nouvelles règles prudentielles (Bâle IV) pourraient alourdir les coûts en capital et peser sur la rentabilité des banques européennes.</a:t>
            </a:r>
          </a:p>
        </p:txBody>
      </p:sp>
      <p:sp>
        <p:nvSpPr>
          <p:cNvPr id="39" name="Rectangle 38"/>
          <p:cNvSpPr/>
          <p:nvPr/>
        </p:nvSpPr>
        <p:spPr>
          <a:xfrm>
            <a:off x="4716000" y="2484000"/>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2000" y="2484000"/>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0000" y="2501999"/>
            <a:ext cx="3851999" cy="198000"/>
          </a:xfrm>
          <a:prstGeom prst="rect">
            <a:avLst/>
          </a:prstGeom>
          <a:noFill/>
        </p:spPr>
        <p:txBody>
          <a:bodyPr wrap="square">
            <a:spAutoFit/>
          </a:bodyPr>
          <a:lstStyle/>
          <a:p>
            <a:pPr algn="l"/>
            <a:r>
              <a:rPr sz="850" b="1" i="0">
                <a:solidFill>
                  <a:srgbClr val="A82020"/>
                </a:solidFill>
              </a:rPr>
              <a:t>Crédit</a:t>
            </a:r>
          </a:p>
        </p:txBody>
      </p:sp>
      <p:sp>
        <p:nvSpPr>
          <p:cNvPr id="42" name="TextBox 41"/>
          <p:cNvSpPr txBox="1"/>
          <p:nvPr/>
        </p:nvSpPr>
        <p:spPr>
          <a:xfrm>
            <a:off x="4860000" y="2681999"/>
            <a:ext cx="3851999" cy="450000"/>
          </a:xfrm>
          <a:prstGeom prst="rect">
            <a:avLst/>
          </a:prstGeom>
          <a:noFill/>
        </p:spPr>
        <p:txBody>
          <a:bodyPr wrap="square">
            <a:spAutoFit/>
          </a:bodyPr>
          <a:lstStyle/>
          <a:p>
            <a:pPr algn="l"/>
            <a:r>
              <a:rPr sz="750" b="0" i="0">
                <a:solidFill>
                  <a:srgbClr val="555555"/>
                </a:solidFill>
              </a:rPr>
              <a:t>Un durcissement des conditions de crédit dans un contexte de ralentissement économique pourrait dégrader la qualité des actifs.</a:t>
            </a:r>
          </a:p>
        </p:txBody>
      </p:sp>
      <p:sp>
        <p:nvSpPr>
          <p:cNvPr id="43" name="Rectangle 42"/>
          <p:cNvSpPr/>
          <p:nvPr/>
        </p:nvSpPr>
        <p:spPr>
          <a:xfrm>
            <a:off x="4716000" y="3311999"/>
            <a:ext cx="36000" cy="72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2000" y="3311999"/>
            <a:ext cx="4068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0000" y="3330000"/>
            <a:ext cx="3851999" cy="198000"/>
          </a:xfrm>
          <a:prstGeom prst="rect">
            <a:avLst/>
          </a:prstGeom>
          <a:noFill/>
        </p:spPr>
        <p:txBody>
          <a:bodyPr wrap="square">
            <a:spAutoFit/>
          </a:bodyPr>
          <a:lstStyle/>
          <a:p>
            <a:pPr algn="l"/>
            <a:r>
              <a:rPr sz="850" b="1" i="0">
                <a:solidFill>
                  <a:srgbClr val="A82020"/>
                </a:solidFill>
              </a:rPr>
              <a:t>Concurrence</a:t>
            </a:r>
          </a:p>
        </p:txBody>
      </p:sp>
      <p:sp>
        <p:nvSpPr>
          <p:cNvPr id="46" name="TextBox 45"/>
          <p:cNvSpPr txBox="1"/>
          <p:nvPr/>
        </p:nvSpPr>
        <p:spPr>
          <a:xfrm>
            <a:off x="4860000" y="3510000"/>
            <a:ext cx="3851999" cy="450000"/>
          </a:xfrm>
          <a:prstGeom prst="rect">
            <a:avLst/>
          </a:prstGeom>
          <a:noFill/>
        </p:spPr>
        <p:txBody>
          <a:bodyPr wrap="square">
            <a:spAutoFit/>
          </a:bodyPr>
          <a:lstStyle/>
          <a:p>
            <a:pPr algn="l"/>
            <a:r>
              <a:rPr sz="750" b="0" i="0">
                <a:solidFill>
                  <a:srgbClr val="555555"/>
                </a:solidFill>
              </a:rPr>
              <a:t>La montée en puissance des fintechs et néobanques menace les parts de marché traditionnelles des banques établies.</a:t>
            </a:r>
          </a:p>
        </p:txBody>
      </p:sp>
      <p:sp>
        <p:nvSpPr>
          <p:cNvPr id="47" name="Rectangle 46"/>
          <p:cNvSpPr/>
          <p:nvPr/>
        </p:nvSpPr>
        <p:spPr>
          <a:xfrm>
            <a:off x="324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24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4338000"/>
            <a:ext cx="1872000" cy="324000"/>
          </a:xfrm>
          <a:prstGeom prst="rect">
            <a:avLst/>
          </a:prstGeom>
          <a:noFill/>
        </p:spPr>
        <p:txBody>
          <a:bodyPr wrap="square">
            <a:spAutoFit/>
          </a:bodyPr>
          <a:lstStyle/>
          <a:p>
            <a:pPr algn="l"/>
            <a:r>
              <a:rPr sz="2000" b="1" i="0">
                <a:solidFill>
                  <a:srgbClr val="1B3A6B"/>
                </a:solidFill>
              </a:rPr>
              <a:t>5.2x</a:t>
            </a:r>
          </a:p>
        </p:txBody>
      </p:sp>
      <p:sp>
        <p:nvSpPr>
          <p:cNvPr id="50" name="TextBox 49"/>
          <p:cNvSpPr txBox="1"/>
          <p:nvPr/>
        </p:nvSpPr>
        <p:spPr>
          <a:xfrm>
            <a:off x="432000" y="4644000"/>
            <a:ext cx="1872000" cy="144000"/>
          </a:xfrm>
          <a:prstGeom prst="rect">
            <a:avLst/>
          </a:prstGeom>
          <a:noFill/>
        </p:spPr>
        <p:txBody>
          <a:bodyPr wrap="square">
            <a:spAutoFit/>
          </a:bodyPr>
          <a:lstStyle/>
          <a:p>
            <a:pPr algn="l"/>
            <a:r>
              <a:rPr sz="750" b="0" i="0">
                <a:solidFill>
                  <a:srgbClr val="555555"/>
                </a:solidFill>
              </a:rPr>
              <a:t>EV/EBITDA med.</a:t>
            </a:r>
          </a:p>
        </p:txBody>
      </p:sp>
      <p:sp>
        <p:nvSpPr>
          <p:cNvPr id="51" name="TextBox 50"/>
          <p:cNvSpPr txBox="1"/>
          <p:nvPr/>
        </p:nvSpPr>
        <p:spPr>
          <a:xfrm>
            <a:off x="432000" y="4788000"/>
            <a:ext cx="1872000" cy="125999"/>
          </a:xfrm>
          <a:prstGeom prst="rect">
            <a:avLst/>
          </a:prstGeom>
          <a:noFill/>
        </p:spPr>
        <p:txBody>
          <a:bodyPr wrap="square">
            <a:spAutoFit/>
          </a:bodyPr>
          <a:lstStyle/>
          <a:p>
            <a:pPr algn="l"/>
            <a:r>
              <a:rPr sz="700" b="0" i="0">
                <a:solidFill>
                  <a:srgbClr val="AAAAAA"/>
                </a:solidFill>
              </a:rPr>
              <a:t>vs Marché EU</a:t>
            </a:r>
          </a:p>
        </p:txBody>
      </p:sp>
      <p:sp>
        <p:nvSpPr>
          <p:cNvPr id="52" name="Rectangle 51"/>
          <p:cNvSpPr/>
          <p:nvPr/>
        </p:nvSpPr>
        <p:spPr>
          <a:xfrm>
            <a:off x="2448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448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556000" y="4338000"/>
            <a:ext cx="1872000" cy="324000"/>
          </a:xfrm>
          <a:prstGeom prst="rect">
            <a:avLst/>
          </a:prstGeom>
          <a:noFill/>
        </p:spPr>
        <p:txBody>
          <a:bodyPr wrap="square">
            <a:spAutoFit/>
          </a:bodyPr>
          <a:lstStyle/>
          <a:p>
            <a:pPr algn="l"/>
            <a:r>
              <a:rPr sz="2000" b="1" i="0">
                <a:solidFill>
                  <a:srgbClr val="1B3A6B"/>
                </a:solidFill>
              </a:rPr>
              <a:t>+8.9 %</a:t>
            </a:r>
          </a:p>
        </p:txBody>
      </p:sp>
      <p:sp>
        <p:nvSpPr>
          <p:cNvPr id="55" name="TextBox 54"/>
          <p:cNvSpPr txBox="1"/>
          <p:nvPr/>
        </p:nvSpPr>
        <p:spPr>
          <a:xfrm>
            <a:off x="2556000" y="4644000"/>
            <a:ext cx="1872000" cy="144000"/>
          </a:xfrm>
          <a:prstGeom prst="rect">
            <a:avLst/>
          </a:prstGeom>
          <a:noFill/>
        </p:spPr>
        <p:txBody>
          <a:bodyPr wrap="square">
            <a:spAutoFit/>
          </a:bodyPr>
          <a:lstStyle/>
          <a:p>
            <a:pPr algn="l"/>
            <a:r>
              <a:rPr sz="750" b="0" i="0">
                <a:solidFill>
                  <a:srgbClr val="555555"/>
                </a:solidFill>
              </a:rPr>
              <a:t>Croissance Rev. med.</a:t>
            </a:r>
          </a:p>
        </p:txBody>
      </p:sp>
      <p:sp>
        <p:nvSpPr>
          <p:cNvPr id="56" name="TextBox 55"/>
          <p:cNvSpPr txBox="1"/>
          <p:nvPr/>
        </p:nvSpPr>
        <p:spPr>
          <a:xfrm>
            <a:off x="2556000" y="4788000"/>
            <a:ext cx="1872000" cy="125999"/>
          </a:xfrm>
          <a:prstGeom prst="rect">
            <a:avLst/>
          </a:prstGeom>
          <a:noFill/>
        </p:spPr>
        <p:txBody>
          <a:bodyPr wrap="square">
            <a:spAutoFit/>
          </a:bodyPr>
          <a:lstStyle/>
          <a:p>
            <a:pPr algn="l"/>
            <a:r>
              <a:rPr sz="700" b="0" i="0">
                <a:solidFill>
                  <a:srgbClr val="AAAAAA"/>
                </a:solidFill>
              </a:rPr>
              <a:t>YoY sectoriel</a:t>
            </a:r>
          </a:p>
        </p:txBody>
      </p:sp>
      <p:sp>
        <p:nvSpPr>
          <p:cNvPr id="57" name="Rectangle 56"/>
          <p:cNvSpPr/>
          <p:nvPr/>
        </p:nvSpPr>
        <p:spPr>
          <a:xfrm>
            <a:off x="4572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572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0000" y="4338000"/>
            <a:ext cx="1872000" cy="324000"/>
          </a:xfrm>
          <a:prstGeom prst="rect">
            <a:avLst/>
          </a:prstGeom>
          <a:noFill/>
        </p:spPr>
        <p:txBody>
          <a:bodyPr wrap="square">
            <a:spAutoFit/>
          </a:bodyPr>
          <a:lstStyle/>
          <a:p>
            <a:pPr algn="l"/>
            <a:r>
              <a:rPr sz="2000" b="1" i="0">
                <a:solidFill>
                  <a:srgbClr val="1B3A6B"/>
                </a:solidFill>
              </a:rPr>
              <a:t>85.3 %</a:t>
            </a:r>
          </a:p>
        </p:txBody>
      </p:sp>
      <p:sp>
        <p:nvSpPr>
          <p:cNvPr id="60" name="TextBox 59"/>
          <p:cNvSpPr txBox="1"/>
          <p:nvPr/>
        </p:nvSpPr>
        <p:spPr>
          <a:xfrm>
            <a:off x="4680000" y="4644000"/>
            <a:ext cx="1872000" cy="144000"/>
          </a:xfrm>
          <a:prstGeom prst="rect">
            <a:avLst/>
          </a:prstGeom>
          <a:noFill/>
        </p:spPr>
        <p:txBody>
          <a:bodyPr wrap="square">
            <a:spAutoFit/>
          </a:bodyPr>
          <a:lstStyle/>
          <a:p>
            <a:pPr algn="l"/>
            <a:r>
              <a:rPr sz="750" b="0" i="0">
                <a:solidFill>
                  <a:srgbClr val="555555"/>
                </a:solidFill>
              </a:rPr>
              <a:t>Marge EBITDA med.</a:t>
            </a:r>
          </a:p>
        </p:txBody>
      </p:sp>
      <p:sp>
        <p:nvSpPr>
          <p:cNvPr id="61" name="TextBox 60"/>
          <p:cNvSpPr txBox="1"/>
          <p:nvPr/>
        </p:nvSpPr>
        <p:spPr>
          <a:xfrm>
            <a:off x="4680000" y="4788000"/>
            <a:ext cx="1872000" cy="125999"/>
          </a:xfrm>
          <a:prstGeom prst="rect">
            <a:avLst/>
          </a:prstGeom>
          <a:noFill/>
        </p:spPr>
        <p:txBody>
          <a:bodyPr wrap="square">
            <a:spAutoFit/>
          </a:bodyPr>
          <a:lstStyle/>
          <a:p>
            <a:pPr algn="l"/>
            <a:r>
              <a:rPr sz="700" b="0" i="0">
                <a:solidFill>
                  <a:srgbClr val="AAAAAA"/>
                </a:solidFill>
              </a:rPr>
              <a:t>LTM sectorielle</a:t>
            </a:r>
          </a:p>
        </p:txBody>
      </p:sp>
      <p:sp>
        <p:nvSpPr>
          <p:cNvPr id="62" name="Rectangle 61"/>
          <p:cNvSpPr/>
          <p:nvPr/>
        </p:nvSpPr>
        <p:spPr>
          <a:xfrm>
            <a:off x="6696000" y="4320000"/>
            <a:ext cx="2052000" cy="61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696000" y="4320000"/>
            <a:ext cx="36000" cy="61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04000" y="4338000"/>
            <a:ext cx="1872000" cy="324000"/>
          </a:xfrm>
          <a:prstGeom prst="rect">
            <a:avLst/>
          </a:prstGeom>
          <a:noFill/>
        </p:spPr>
        <p:txBody>
          <a:bodyPr wrap="square">
            <a:spAutoFit/>
          </a:bodyPr>
          <a:lstStyle/>
          <a:p>
            <a:pPr algn="l"/>
            <a:r>
              <a:rPr sz="2000" b="1" i="0">
                <a:solidFill>
                  <a:srgbClr val="1B3A6B"/>
                </a:solidFill>
              </a:rPr>
              <a:t>+31.5 %</a:t>
            </a:r>
          </a:p>
        </p:txBody>
      </p:sp>
      <p:sp>
        <p:nvSpPr>
          <p:cNvPr id="65" name="TextBox 64"/>
          <p:cNvSpPr txBox="1"/>
          <p:nvPr/>
        </p:nvSpPr>
        <p:spPr>
          <a:xfrm>
            <a:off x="6804000" y="4644000"/>
            <a:ext cx="1872000" cy="144000"/>
          </a:xfrm>
          <a:prstGeom prst="rect">
            <a:avLst/>
          </a:prstGeom>
          <a:noFill/>
        </p:spPr>
        <p:txBody>
          <a:bodyPr wrap="square">
            <a:spAutoFit/>
          </a:bodyPr>
          <a:lstStyle/>
          <a:p>
            <a:pPr algn="l"/>
            <a:r>
              <a:rPr sz="750" b="0" i="0">
                <a:solidFill>
                  <a:srgbClr val="555555"/>
                </a:solidFill>
              </a:rPr>
              <a:t>Momentum 52W med.</a:t>
            </a:r>
          </a:p>
        </p:txBody>
      </p:sp>
      <p:sp>
        <p:nvSpPr>
          <p:cNvPr id="66" name="TextBox 65"/>
          <p:cNvSpPr txBox="1"/>
          <p:nvPr/>
        </p:nvSpPr>
        <p:spPr>
          <a:xfrm>
            <a:off x="6804000" y="4788000"/>
            <a:ext cx="1872000" cy="125999"/>
          </a:xfrm>
          <a:prstGeom prst="rect">
            <a:avLst/>
          </a:prstGeom>
          <a:noFill/>
        </p:spPr>
        <p:txBody>
          <a:bodyPr wrap="square">
            <a:spAutoFit/>
          </a:bodyPr>
          <a:lstStyle/>
          <a:p>
            <a:pPr algn="l"/>
            <a:r>
              <a:rPr sz="700" b="0" i="0">
                <a:solidFill>
                  <a:srgbClr val="AAAAAA"/>
                </a:solidFill>
              </a:rPr>
              <a:t>Performance relative</a:t>
            </a:r>
          </a:p>
        </p:txBody>
      </p:sp>
      <p:sp>
        <p:nvSpPr>
          <p:cNvPr id="67" name="Rectangle 6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Banques  ·  Global  ·  Structure de l'analyse — 20 slides</a:t>
            </a:r>
          </a:p>
        </p:txBody>
      </p:sp>
      <p:sp>
        <p:nvSpPr>
          <p:cNvPr id="15" name="Rectangle 14"/>
          <p:cNvSpPr/>
          <p:nvPr/>
        </p:nvSpPr>
        <p:spPr>
          <a:xfrm>
            <a:off x="324000" y="936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36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044000"/>
            <a:ext cx="684000" cy="576000"/>
          </a:xfrm>
          <a:prstGeom prst="rect">
            <a:avLst/>
          </a:prstGeom>
          <a:noFill/>
        </p:spPr>
        <p:txBody>
          <a:bodyPr wrap="square">
            <a:spAutoFit/>
          </a:bodyPr>
          <a:lstStyle/>
          <a:p>
            <a:pPr algn="ctr"/>
            <a:r>
              <a:rPr sz="2000" b="1" i="0">
                <a:solidFill>
                  <a:srgbClr val="FFFFFF"/>
                </a:solidFill>
              </a:rPr>
              <a:t>01</a:t>
            </a:r>
          </a:p>
        </p:txBody>
      </p:sp>
      <p:sp>
        <p:nvSpPr>
          <p:cNvPr id="18" name="TextBox 17"/>
          <p:cNvSpPr txBox="1"/>
          <p:nvPr/>
        </p:nvSpPr>
        <p:spPr>
          <a:xfrm>
            <a:off x="1116000" y="1008000"/>
            <a:ext cx="6588000" cy="288000"/>
          </a:xfrm>
          <a:prstGeom prst="rect">
            <a:avLst/>
          </a:prstGeom>
          <a:noFill/>
        </p:spPr>
        <p:txBody>
          <a:bodyPr wrap="square">
            <a:spAutoFit/>
          </a:bodyPr>
          <a:lstStyle/>
          <a:p>
            <a:pPr algn="l"/>
            <a:r>
              <a:rPr sz="1100" b="1" i="0">
                <a:solidFill>
                  <a:srgbClr val="1B3A6B"/>
                </a:solidFill>
              </a:rPr>
              <a:t>Présentation du Secteur</a:t>
            </a:r>
          </a:p>
        </p:txBody>
      </p:sp>
      <p:sp>
        <p:nvSpPr>
          <p:cNvPr id="19" name="TextBox 18"/>
          <p:cNvSpPr txBox="1"/>
          <p:nvPr/>
        </p:nvSpPr>
        <p:spPr>
          <a:xfrm>
            <a:off x="1116000" y="1332000"/>
            <a:ext cx="6588000" cy="288000"/>
          </a:xfrm>
          <a:prstGeom prst="rect">
            <a:avLst/>
          </a:prstGeom>
          <a:noFill/>
        </p:spPr>
        <p:txBody>
          <a:bodyPr wrap="square">
            <a:spAutoFit/>
          </a:bodyPr>
          <a:lstStyle/>
          <a:p>
            <a:pPr algn="l"/>
            <a:r>
              <a:rPr sz="800" b="0" i="0">
                <a:solidFill>
                  <a:srgbClr val="555555"/>
                </a:solidFill>
              </a:rPr>
              <a:t>Caractéristiques structurelles · Ratios comparatifs · Positionnement cycle</a:t>
            </a:r>
          </a:p>
        </p:txBody>
      </p:sp>
      <p:sp>
        <p:nvSpPr>
          <p:cNvPr id="20" name="TextBox 19"/>
          <p:cNvSpPr txBox="1"/>
          <p:nvPr/>
        </p:nvSpPr>
        <p:spPr>
          <a:xfrm>
            <a:off x="8352000" y="1116000"/>
            <a:ext cx="468000" cy="432000"/>
          </a:xfrm>
          <a:prstGeom prst="rect">
            <a:avLst/>
          </a:prstGeom>
          <a:noFill/>
        </p:spPr>
        <p:txBody>
          <a:bodyPr wrap="square">
            <a:spAutoFit/>
          </a:bodyPr>
          <a:lstStyle/>
          <a:p>
            <a:pPr algn="r"/>
            <a:r>
              <a:rPr sz="800" b="0" i="0">
                <a:solidFill>
                  <a:srgbClr val="AAAAAA"/>
                </a:solidFill>
              </a:rPr>
              <a:t>p. 5–7</a:t>
            </a:r>
          </a:p>
        </p:txBody>
      </p:sp>
      <p:sp>
        <p:nvSpPr>
          <p:cNvPr id="21" name="Rectangle 20"/>
          <p:cNvSpPr/>
          <p:nvPr/>
        </p:nvSpPr>
        <p:spPr>
          <a:xfrm>
            <a:off x="324000" y="1872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72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1980000"/>
            <a:ext cx="684000" cy="576000"/>
          </a:xfrm>
          <a:prstGeom prst="rect">
            <a:avLst/>
          </a:prstGeom>
          <a:noFill/>
        </p:spPr>
        <p:txBody>
          <a:bodyPr wrap="square">
            <a:spAutoFit/>
          </a:bodyPr>
          <a:lstStyle/>
          <a:p>
            <a:pPr algn="ctr"/>
            <a:r>
              <a:rPr sz="2000" b="1" i="0">
                <a:solidFill>
                  <a:srgbClr val="FFFFFF"/>
                </a:solidFill>
              </a:rPr>
              <a:t>02</a:t>
            </a:r>
          </a:p>
        </p:txBody>
      </p:sp>
      <p:sp>
        <p:nvSpPr>
          <p:cNvPr id="24" name="TextBox 23"/>
          <p:cNvSpPr txBox="1"/>
          <p:nvPr/>
        </p:nvSpPr>
        <p:spPr>
          <a:xfrm>
            <a:off x="1116000" y="1944000"/>
            <a:ext cx="6588000" cy="288000"/>
          </a:xfrm>
          <a:prstGeom prst="rect">
            <a:avLst/>
          </a:prstGeom>
          <a:noFill/>
        </p:spPr>
        <p:txBody>
          <a:bodyPr wrap="square">
            <a:spAutoFit/>
          </a:bodyPr>
          <a:lstStyle/>
          <a:p>
            <a:pPr algn="l"/>
            <a:r>
              <a:rPr sz="1100" b="1" i="0">
                <a:solidFill>
                  <a:srgbClr val="1B3A6B"/>
                </a:solidFill>
              </a:rPr>
              <a:t>Cartographie des Sociétés</a:t>
            </a:r>
          </a:p>
        </p:txBody>
      </p:sp>
      <p:sp>
        <p:nvSpPr>
          <p:cNvPr id="25" name="TextBox 24"/>
          <p:cNvSpPr txBox="1"/>
          <p:nvPr/>
        </p:nvSpPr>
        <p:spPr>
          <a:xfrm>
            <a:off x="1116000" y="2268000"/>
            <a:ext cx="6588000" cy="288000"/>
          </a:xfrm>
          <a:prstGeom prst="rect">
            <a:avLst/>
          </a:prstGeom>
          <a:noFill/>
        </p:spPr>
        <p:txBody>
          <a:bodyPr wrap="square">
            <a:spAutoFit/>
          </a:bodyPr>
          <a:lstStyle/>
          <a:p>
            <a:pPr algn="l"/>
            <a:r>
              <a:rPr sz="800" b="0" i="0">
                <a:solidFill>
                  <a:srgbClr val="555555"/>
                </a:solidFill>
              </a:rPr>
              <a:t>15 sociétés · Scatter valorisation · Scores FinSight détaillés</a:t>
            </a:r>
          </a:p>
        </p:txBody>
      </p:sp>
      <p:sp>
        <p:nvSpPr>
          <p:cNvPr id="26" name="TextBox 25"/>
          <p:cNvSpPr txBox="1"/>
          <p:nvPr/>
        </p:nvSpPr>
        <p:spPr>
          <a:xfrm>
            <a:off x="8352000" y="2052000"/>
            <a:ext cx="468000" cy="432000"/>
          </a:xfrm>
          <a:prstGeom prst="rect">
            <a:avLst/>
          </a:prstGeom>
          <a:noFill/>
        </p:spPr>
        <p:txBody>
          <a:bodyPr wrap="square">
            <a:spAutoFit/>
          </a:bodyPr>
          <a:lstStyle/>
          <a:p>
            <a:pPr algn="r"/>
            <a:r>
              <a:rPr sz="800" b="0" i="0">
                <a:solidFill>
                  <a:srgbClr val="AAAAAA"/>
                </a:solidFill>
              </a:rPr>
              <a:t>p. 9–11</a:t>
            </a:r>
          </a:p>
        </p:txBody>
      </p:sp>
      <p:sp>
        <p:nvSpPr>
          <p:cNvPr id="27" name="Rectangle 26"/>
          <p:cNvSpPr/>
          <p:nvPr/>
        </p:nvSpPr>
        <p:spPr>
          <a:xfrm>
            <a:off x="324000" y="2808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08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2916000"/>
            <a:ext cx="684000" cy="576000"/>
          </a:xfrm>
          <a:prstGeom prst="rect">
            <a:avLst/>
          </a:prstGeom>
          <a:noFill/>
        </p:spPr>
        <p:txBody>
          <a:bodyPr wrap="square">
            <a:spAutoFit/>
          </a:bodyPr>
          <a:lstStyle/>
          <a:p>
            <a:pPr algn="ctr"/>
            <a:r>
              <a:rPr sz="2000" b="1" i="0">
                <a:solidFill>
                  <a:srgbClr val="FFFFFF"/>
                </a:solidFill>
              </a:rPr>
              <a:t>03</a:t>
            </a:r>
          </a:p>
        </p:txBody>
      </p:sp>
      <p:sp>
        <p:nvSpPr>
          <p:cNvPr id="30" name="TextBox 29"/>
          <p:cNvSpPr txBox="1"/>
          <p:nvPr/>
        </p:nvSpPr>
        <p:spPr>
          <a:xfrm>
            <a:off x="1116000" y="2880000"/>
            <a:ext cx="6588000" cy="288000"/>
          </a:xfrm>
          <a:prstGeom prst="rect">
            <a:avLst/>
          </a:prstGeom>
          <a:noFill/>
        </p:spPr>
        <p:txBody>
          <a:bodyPr wrap="square">
            <a:spAutoFit/>
          </a:bodyPr>
          <a:lstStyle/>
          <a:p>
            <a:pPr algn="l"/>
            <a:r>
              <a:rPr sz="1100" b="1" i="0">
                <a:solidFill>
                  <a:srgbClr val="1B3A6B"/>
                </a:solidFill>
              </a:rPr>
              <a:t>Top 3 &amp; Valorisations</a:t>
            </a:r>
          </a:p>
        </p:txBody>
      </p:sp>
      <p:sp>
        <p:nvSpPr>
          <p:cNvPr id="31" name="TextBox 30"/>
          <p:cNvSpPr txBox="1"/>
          <p:nvPr/>
        </p:nvSpPr>
        <p:spPr>
          <a:xfrm>
            <a:off x="1116000" y="3204000"/>
            <a:ext cx="6588000" cy="288000"/>
          </a:xfrm>
          <a:prstGeom prst="rect">
            <a:avLst/>
          </a:prstGeom>
          <a:noFill/>
        </p:spPr>
        <p:txBody>
          <a:bodyPr wrap="square">
            <a:spAutoFit/>
          </a:bodyPr>
          <a:lstStyle/>
          <a:p>
            <a:pPr algn="l"/>
            <a:r>
              <a:rPr sz="800" b="0" i="0">
                <a:solidFill>
                  <a:srgbClr val="555555"/>
                </a:solidFill>
              </a:rPr>
              <a:t>Synthèse Top 3 · Distribution EV/EBITDA · Zone d'entree optimale</a:t>
            </a:r>
          </a:p>
        </p:txBody>
      </p:sp>
      <p:sp>
        <p:nvSpPr>
          <p:cNvPr id="32" name="TextBox 31"/>
          <p:cNvSpPr txBox="1"/>
          <p:nvPr/>
        </p:nvSpPr>
        <p:spPr>
          <a:xfrm>
            <a:off x="8352000" y="2988000"/>
            <a:ext cx="468000" cy="432000"/>
          </a:xfrm>
          <a:prstGeom prst="rect">
            <a:avLst/>
          </a:prstGeom>
          <a:noFill/>
        </p:spPr>
        <p:txBody>
          <a:bodyPr wrap="square">
            <a:spAutoFit/>
          </a:bodyPr>
          <a:lstStyle/>
          <a:p>
            <a:pPr algn="r"/>
            <a:r>
              <a:rPr sz="800" b="0" i="0">
                <a:solidFill>
                  <a:srgbClr val="AAAAAA"/>
                </a:solidFill>
              </a:rPr>
              <a:t>p. 13–15</a:t>
            </a:r>
          </a:p>
        </p:txBody>
      </p:sp>
      <p:sp>
        <p:nvSpPr>
          <p:cNvPr id="33" name="Rectangle 32"/>
          <p:cNvSpPr/>
          <p:nvPr/>
        </p:nvSpPr>
        <p:spPr>
          <a:xfrm>
            <a:off x="324000" y="3744000"/>
            <a:ext cx="8496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744000"/>
            <a:ext cx="684000" cy="792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3852000"/>
            <a:ext cx="684000" cy="576000"/>
          </a:xfrm>
          <a:prstGeom prst="rect">
            <a:avLst/>
          </a:prstGeom>
          <a:noFill/>
        </p:spPr>
        <p:txBody>
          <a:bodyPr wrap="square">
            <a:spAutoFit/>
          </a:bodyPr>
          <a:lstStyle/>
          <a:p>
            <a:pPr algn="ctr"/>
            <a:r>
              <a:rPr sz="2000" b="1" i="0">
                <a:solidFill>
                  <a:srgbClr val="FFFFFF"/>
                </a:solidFill>
              </a:rPr>
              <a:t>04</a:t>
            </a:r>
          </a:p>
        </p:txBody>
      </p:sp>
      <p:sp>
        <p:nvSpPr>
          <p:cNvPr id="36" name="TextBox 35"/>
          <p:cNvSpPr txBox="1"/>
          <p:nvPr/>
        </p:nvSpPr>
        <p:spPr>
          <a:xfrm>
            <a:off x="1116000" y="3816000"/>
            <a:ext cx="6588000" cy="288000"/>
          </a:xfrm>
          <a:prstGeom prst="rect">
            <a:avLst/>
          </a:prstGeom>
          <a:noFill/>
        </p:spPr>
        <p:txBody>
          <a:bodyPr wrap="square">
            <a:spAutoFit/>
          </a:bodyPr>
          <a:lstStyle/>
          <a:p>
            <a:pPr algn="l"/>
            <a:r>
              <a:rPr sz="1100" b="1" i="0">
                <a:solidFill>
                  <a:srgbClr val="1B3A6B"/>
                </a:solidFill>
              </a:rPr>
              <a:t>Risques, Sentiment &amp; Méthodologie</a:t>
            </a:r>
          </a:p>
        </p:txBody>
      </p:sp>
      <p:sp>
        <p:nvSpPr>
          <p:cNvPr id="37" name="TextBox 36"/>
          <p:cNvSpPr txBox="1"/>
          <p:nvPr/>
        </p:nvSpPr>
        <p:spPr>
          <a:xfrm>
            <a:off x="1116000" y="4140000"/>
            <a:ext cx="6588000" cy="288000"/>
          </a:xfrm>
          <a:prstGeom prst="rect">
            <a:avLst/>
          </a:prstGeom>
          <a:noFill/>
        </p:spPr>
        <p:txBody>
          <a:bodyPr wrap="square">
            <a:spAutoFit/>
          </a:bodyPr>
          <a:lstStyle/>
          <a:p>
            <a:pPr algn="l"/>
            <a:r>
              <a:rPr sz="800" b="0" i="0">
                <a:solidFill>
                  <a:srgbClr val="555555"/>
                </a:solidFill>
              </a:rPr>
              <a:t>Conditions d'invalidation · FinBERT · Sources &amp; data lineage</a:t>
            </a:r>
          </a:p>
        </p:txBody>
      </p:sp>
      <p:sp>
        <p:nvSpPr>
          <p:cNvPr id="38" name="TextBox 37"/>
          <p:cNvSpPr txBox="1"/>
          <p:nvPr/>
        </p:nvSpPr>
        <p:spPr>
          <a:xfrm>
            <a:off x="8352000" y="3924000"/>
            <a:ext cx="468000" cy="432000"/>
          </a:xfrm>
          <a:prstGeom prst="rect">
            <a:avLst/>
          </a:prstGeom>
          <a:noFill/>
        </p:spPr>
        <p:txBody>
          <a:bodyPr wrap="square">
            <a:spAutoFit/>
          </a:bodyPr>
          <a:lstStyle/>
          <a:p>
            <a:pPr algn="r"/>
            <a:r>
              <a:rPr sz="800" b="0" i="0">
                <a:solidFill>
                  <a:srgbClr val="AAAAAA"/>
                </a:solidFill>
              </a:rPr>
              <a:t>p. 17–19</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Présentation du Secteur</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Caractéristiques structurelles, ratios comparatifs &amp; positionnément cycle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Présentation du 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Banques  ·  Caractéristiques structurelles &amp; métriques de référence</a:t>
            </a:r>
          </a:p>
        </p:txBody>
      </p:sp>
      <p:sp>
        <p:nvSpPr>
          <p:cNvPr id="15" name="Rectangle 14"/>
          <p:cNvSpPr/>
          <p:nvPr/>
        </p:nvSpPr>
        <p:spPr>
          <a:xfrm>
            <a:off x="324000" y="900000"/>
            <a:ext cx="4932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900000"/>
            <a:ext cx="4932000" cy="21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921600"/>
            <a:ext cx="4788000" cy="172800"/>
          </a:xfrm>
          <a:prstGeom prst="rect">
            <a:avLst/>
          </a:prstGeom>
          <a:noFill/>
        </p:spPr>
        <p:txBody>
          <a:bodyPr wrap="square">
            <a:spAutoFit/>
          </a:bodyPr>
          <a:lstStyle/>
          <a:p>
            <a:pPr algn="l"/>
            <a:r>
              <a:rPr sz="900" b="1" i="0">
                <a:solidFill>
                  <a:srgbClr val="FFFFFF"/>
                </a:solidFill>
              </a:rPr>
              <a:t>PANORAMA SECTORIEL</a:t>
            </a:r>
          </a:p>
        </p:txBody>
      </p:sp>
      <p:sp>
        <p:nvSpPr>
          <p:cNvPr id="19" name="TextBox 18"/>
          <p:cNvSpPr txBox="1"/>
          <p:nvPr/>
        </p:nvSpPr>
        <p:spPr>
          <a:xfrm>
            <a:off x="468000" y="1170000"/>
            <a:ext cx="4716000" cy="936000"/>
          </a:xfrm>
          <a:prstGeom prst="rect">
            <a:avLst/>
          </a:prstGeom>
          <a:noFill/>
        </p:spPr>
        <p:txBody>
          <a:bodyPr wrap="square">
            <a:spAutoFit/>
          </a:bodyPr>
          <a:lstStyle/>
          <a:p>
            <a:pPr algn="l"/>
            <a:r>
              <a:rPr sz="1000" b="0" i="0">
                <a:solidFill>
                  <a:srgbClr val="555555"/>
                </a:solidFill>
              </a:rPr>
              <a:t>Le secteur bancaire affiche une valorisation modérée avec un multiple EV/EBITDA médian de 5.2x, reflétant une décote historique liée à la hausse des taux et aux pressions réglementaires. Les marges EBITDA à 85.3% indiquent une résilience opérationnelle malgré un environnement macroéconomique incertain.</a:t>
            </a:r>
          </a:p>
        </p:txBody>
      </p:sp>
      <p:sp>
        <p:nvSpPr>
          <p:cNvPr id="20" name="Rectangle 19"/>
          <p:cNvSpPr/>
          <p:nvPr/>
        </p:nvSpPr>
        <p:spPr>
          <a:xfrm>
            <a:off x="324000" y="2268000"/>
            <a:ext cx="4932000" cy="239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4000" y="2268000"/>
            <a:ext cx="4932000" cy="21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2289600"/>
            <a:ext cx="4788000" cy="172800"/>
          </a:xfrm>
          <a:prstGeom prst="rect">
            <a:avLst/>
          </a:prstGeom>
          <a:noFill/>
        </p:spPr>
        <p:txBody>
          <a:bodyPr wrap="square">
            <a:spAutoFit/>
          </a:bodyPr>
          <a:lstStyle/>
          <a:p>
            <a:pPr algn="l"/>
            <a:r>
              <a:rPr sz="900" b="1" i="0">
                <a:solidFill>
                  <a:srgbClr val="FFFFFF"/>
                </a:solidFill>
              </a:rPr>
              <a:t>CATALYSEURS CLÉS</a:t>
            </a:r>
          </a:p>
        </p:txBody>
      </p:sp>
      <p:sp>
        <p:nvSpPr>
          <p:cNvPr id="23" name="Rectangle 22"/>
          <p:cNvSpPr/>
          <p:nvPr/>
        </p:nvSpPr>
        <p:spPr>
          <a:xfrm>
            <a:off x="396000" y="2520000"/>
            <a:ext cx="43200" cy="66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3999" y="2538000"/>
            <a:ext cx="4680000" cy="162000"/>
          </a:xfrm>
          <a:prstGeom prst="rect">
            <a:avLst/>
          </a:prstGeom>
          <a:noFill/>
        </p:spPr>
        <p:txBody>
          <a:bodyPr wrap="square">
            <a:spAutoFit/>
          </a:bodyPr>
          <a:lstStyle/>
          <a:p>
            <a:pPr algn="l"/>
            <a:r>
              <a:rPr sz="1000" b="1" i="0">
                <a:solidFill>
                  <a:srgbClr val="1B3A6B"/>
                </a:solidFill>
              </a:rPr>
              <a:t>Taux d'intérêt</a:t>
            </a:r>
          </a:p>
        </p:txBody>
      </p:sp>
      <p:sp>
        <p:nvSpPr>
          <p:cNvPr id="25" name="TextBox 24"/>
          <p:cNvSpPr txBox="1"/>
          <p:nvPr/>
        </p:nvSpPr>
        <p:spPr>
          <a:xfrm>
            <a:off x="503999" y="2718000"/>
            <a:ext cx="4680000" cy="450000"/>
          </a:xfrm>
          <a:prstGeom prst="rect">
            <a:avLst/>
          </a:prstGeom>
          <a:noFill/>
        </p:spPr>
        <p:txBody>
          <a:bodyPr wrap="square">
            <a:spAutoFit/>
          </a:bodyPr>
          <a:lstStyle/>
          <a:p>
            <a:pPr algn="l"/>
            <a:r>
              <a:rPr sz="900" b="0" i="0">
                <a:solidFill>
                  <a:srgbClr val="555555"/>
                </a:solidFill>
              </a:rPr>
              <a:t>La stabilisation ou baisse des taux directeurs pourrait réduire la pression sur les marges nettes d'intérêt des banques comme RF et KEY.</a:t>
            </a:r>
          </a:p>
        </p:txBody>
      </p:sp>
      <p:sp>
        <p:nvSpPr>
          <p:cNvPr id="26" name="Rectangle 25"/>
          <p:cNvSpPr/>
          <p:nvPr/>
        </p:nvSpPr>
        <p:spPr>
          <a:xfrm>
            <a:off x="396000" y="3221999"/>
            <a:ext cx="43200" cy="66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3999" y="3240000"/>
            <a:ext cx="4680000" cy="162000"/>
          </a:xfrm>
          <a:prstGeom prst="rect">
            <a:avLst/>
          </a:prstGeom>
          <a:noFill/>
        </p:spPr>
        <p:txBody>
          <a:bodyPr wrap="square">
            <a:spAutoFit/>
          </a:bodyPr>
          <a:lstStyle/>
          <a:p>
            <a:pPr algn="l"/>
            <a:r>
              <a:rPr sz="1000" b="1" i="0">
                <a:solidFill>
                  <a:srgbClr val="1B3A6B"/>
                </a:solidFill>
              </a:rPr>
              <a:t>Croissance des revenus</a:t>
            </a:r>
          </a:p>
        </p:txBody>
      </p:sp>
      <p:sp>
        <p:nvSpPr>
          <p:cNvPr id="28" name="TextBox 27"/>
          <p:cNvSpPr txBox="1"/>
          <p:nvPr/>
        </p:nvSpPr>
        <p:spPr>
          <a:xfrm>
            <a:off x="503999" y="3420000"/>
            <a:ext cx="4680000" cy="450000"/>
          </a:xfrm>
          <a:prstGeom prst="rect">
            <a:avLst/>
          </a:prstGeom>
          <a:noFill/>
        </p:spPr>
        <p:txBody>
          <a:bodyPr wrap="square">
            <a:spAutoFit/>
          </a:bodyPr>
          <a:lstStyle/>
          <a:p>
            <a:pPr algn="l"/>
            <a:r>
              <a:rPr sz="900" b="0" i="0">
                <a:solidFill>
                  <a:srgbClr val="555555"/>
                </a:solidFill>
              </a:rPr>
              <a:t>Une croissance des revenus de +8.9% suggère une dynamique commerciale solide, notamment dans les segments de banque de détail et gestion d'actifs.</a:t>
            </a:r>
          </a:p>
        </p:txBody>
      </p:sp>
      <p:sp>
        <p:nvSpPr>
          <p:cNvPr id="29" name="Rectangle 28"/>
          <p:cNvSpPr/>
          <p:nvPr/>
        </p:nvSpPr>
        <p:spPr>
          <a:xfrm>
            <a:off x="396000" y="3924000"/>
            <a:ext cx="43200" cy="66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3999" y="3942000"/>
            <a:ext cx="4680000" cy="162000"/>
          </a:xfrm>
          <a:prstGeom prst="rect">
            <a:avLst/>
          </a:prstGeom>
          <a:noFill/>
        </p:spPr>
        <p:txBody>
          <a:bodyPr wrap="square">
            <a:spAutoFit/>
          </a:bodyPr>
          <a:lstStyle/>
          <a:p>
            <a:pPr algn="l"/>
            <a:r>
              <a:rPr sz="1000" b="1" i="0">
                <a:solidFill>
                  <a:srgbClr val="1B3A6B"/>
                </a:solidFill>
              </a:rPr>
              <a:t>Momentum boursier</a:t>
            </a:r>
          </a:p>
        </p:txBody>
      </p:sp>
      <p:sp>
        <p:nvSpPr>
          <p:cNvPr id="31" name="TextBox 30"/>
          <p:cNvSpPr txBox="1"/>
          <p:nvPr/>
        </p:nvSpPr>
        <p:spPr>
          <a:xfrm>
            <a:off x="503999" y="4122000"/>
            <a:ext cx="4680000" cy="450000"/>
          </a:xfrm>
          <a:prstGeom prst="rect">
            <a:avLst/>
          </a:prstGeom>
          <a:noFill/>
        </p:spPr>
        <p:txBody>
          <a:bodyPr wrap="square">
            <a:spAutoFit/>
          </a:bodyPr>
          <a:lstStyle/>
          <a:p>
            <a:pPr algn="l"/>
            <a:r>
              <a:rPr sz="900" b="0" i="0">
                <a:solidFill>
                  <a:srgbClr val="555555"/>
                </a:solidFill>
              </a:rPr>
              <a:t>Le momentum à +31.5% sur 52 semaines pour les valeurs comme MS indique un regain d'intérêt des investisseurs pour les banques bien capitalisées.</a:t>
            </a:r>
          </a:p>
        </p:txBody>
      </p:sp>
      <p:graphicFrame>
        <p:nvGraphicFramePr>
          <p:cNvPr id="32" name="Table 31"/>
          <p:cNvGraphicFramePr>
            <a:graphicFrameLocks noGrp="1"/>
          </p:cNvGraphicFramePr>
          <p:nvPr/>
        </p:nvGraphicFramePr>
        <p:xfrm>
          <a:off x="5436000" y="900000"/>
          <a:ext cx="3383999" cy="1461599"/>
        </p:xfrm>
        <a:graphic>
          <a:graphicData uri="http://schemas.openxmlformats.org/drawingml/2006/table">
            <a:tbl>
              <a:tblPr firstRow="1" bandRow="1">
                <a:tableStyleId>{5C22544A-7EE6-4342-B048-85BDC9FD1C3A}</a:tableStyleId>
              </a:tblPr>
              <a:tblGrid>
                <a:gridCol w="1259999"/>
                <a:gridCol w="900000"/>
                <a:gridCol w="1224000"/>
              </a:tblGrid>
              <a:tr h="208799">
                <a:tc>
                  <a:txBody>
                    <a:bodyPr/>
                    <a:lstStyle/>
                    <a:p>
                      <a:pPr algn="ctr"/>
                      <a:r>
                        <a:rPr sz="750" b="1">
                          <a:solidFill>
                            <a:srgbClr val="FFFFFF"/>
                          </a:solidFill>
                        </a:rPr>
                        <a:t>Métrique</a:t>
                      </a:r>
                    </a:p>
                  </a:txBody>
                  <a:tcPr>
                    <a:solidFill>
                      <a:srgbClr val="1B3A6B"/>
                    </a:solidFill>
                  </a:tcPr>
                </a:tc>
                <a:tc>
                  <a:txBody>
                    <a:bodyPr/>
                    <a:lstStyle/>
                    <a:p>
                      <a:pPr algn="ctr"/>
                      <a:r>
                        <a:rPr sz="750" b="1">
                          <a:solidFill>
                            <a:srgbClr val="FFFFFF"/>
                          </a:solidFill>
                        </a:rPr>
                        <a:t>Valeur</a:t>
                      </a:r>
                    </a:p>
                  </a:txBody>
                  <a:tcPr>
                    <a:solidFill>
                      <a:srgbClr val="1B3A6B"/>
                    </a:solidFill>
                  </a:tcPr>
                </a:tc>
                <a:tc>
                  <a:txBody>
                    <a:bodyPr/>
                    <a:lstStyle/>
                    <a:p>
                      <a:pPr algn="ctr"/>
                      <a:r>
                        <a:rPr sz="750" b="1">
                          <a:solidFill>
                            <a:srgbClr val="FFFFFF"/>
                          </a:solidFill>
                        </a:rPr>
                        <a:t>Lecture</a:t>
                      </a:r>
                    </a:p>
                  </a:txBody>
                  <a:tcPr>
                    <a:solidFill>
                      <a:srgbClr val="1B3A6B"/>
                    </a:solidFill>
                  </a:tcPr>
                </a:tc>
              </a:tr>
              <a:tr h="208799">
                <a:tc>
                  <a:txBody>
                    <a:bodyPr/>
                    <a:lstStyle/>
                    <a:p>
                      <a:pPr algn="ctr"/>
                      <a:r>
                        <a:rPr sz="750" b="0">
                          <a:solidFill>
                            <a:srgbClr val="1A1A1A"/>
                          </a:solidFill>
                        </a:rPr>
                        <a:t>EV/EBITDA</a:t>
                      </a:r>
                    </a:p>
                  </a:txBody>
                  <a:tcPr>
                    <a:noFill/>
                  </a:tcPr>
                </a:tc>
                <a:tc>
                  <a:txBody>
                    <a:bodyPr/>
                    <a:lstStyle/>
                    <a:p>
                      <a:pPr algn="ctr"/>
                      <a:r>
                        <a:rPr sz="750" b="0">
                          <a:solidFill>
                            <a:srgbClr val="1A1A1A"/>
                          </a:solidFill>
                        </a:rPr>
                        <a:t>5.2x</a:t>
                      </a:r>
                    </a:p>
                  </a:txBody>
                  <a:tcPr>
                    <a:noFill/>
                  </a:tcPr>
                </a:tc>
                <a:tc>
                  <a:txBody>
                    <a:bodyPr/>
                    <a:lstStyle/>
                    <a:p>
                      <a:pPr algn="ctr"/>
                      <a:r>
                        <a:rPr sz="750" b="0">
                          <a:solidFill>
                            <a:srgbClr val="1A1A1A"/>
                          </a:solidFill>
                        </a:rPr>
                        <a:t>Médiane secteur</a:t>
                      </a:r>
                    </a:p>
                  </a:txBody>
                  <a:tcPr>
                    <a:noFill/>
                  </a:tcPr>
                </a:tc>
              </a:tr>
              <a:tr h="208799">
                <a:tc>
                  <a:txBody>
                    <a:bodyPr/>
                    <a:lstStyle/>
                    <a:p>
                      <a:pPr algn="ctr"/>
                      <a:r>
                        <a:rPr sz="750" b="0">
                          <a:solidFill>
                            <a:srgbClr val="1A1A1A"/>
                          </a:solidFill>
                        </a:rPr>
                        <a:t>Mg EBITDA</a:t>
                      </a:r>
                    </a:p>
                  </a:txBody>
                  <a:tcPr>
                    <a:solidFill>
                      <a:srgbClr val="F5F7FA"/>
                    </a:solidFill>
                  </a:tcPr>
                </a:tc>
                <a:tc>
                  <a:txBody>
                    <a:bodyPr/>
                    <a:lstStyle/>
                    <a:p>
                      <a:pPr algn="ctr"/>
                      <a:r>
                        <a:rPr sz="750" b="0">
                          <a:solidFill>
                            <a:srgbClr val="1A1A1A"/>
                          </a:solidFill>
                        </a:rPr>
                        <a:t>85.3 %</a:t>
                      </a:r>
                    </a:p>
                  </a:txBody>
                  <a:tcPr>
                    <a:solidFill>
                      <a:srgbClr val="F5F7FA"/>
                    </a:solidFill>
                  </a:tcPr>
                </a:tc>
                <a:tc>
                  <a:txBody>
                    <a:bodyPr/>
                    <a:lstStyle/>
                    <a:p>
                      <a:pPr algn="ctr"/>
                      <a:r>
                        <a:rPr sz="750" b="0">
                          <a:solidFill>
                            <a:srgbClr val="1A1A1A"/>
                          </a:solidFill>
                        </a:rPr>
                        <a:t>LTM</a:t>
                      </a:r>
                    </a:p>
                  </a:txBody>
                  <a:tcPr>
                    <a:solidFill>
                      <a:srgbClr val="F5F7FA"/>
                    </a:solidFill>
                  </a:tcPr>
                </a:tc>
              </a:tr>
              <a:tr h="208799">
                <a:tc>
                  <a:txBody>
                    <a:bodyPr/>
                    <a:lstStyle/>
                    <a:p>
                      <a:pPr algn="ctr"/>
                      <a:r>
                        <a:rPr sz="750" b="0">
                          <a:solidFill>
                            <a:srgbClr val="1A1A1A"/>
                          </a:solidFill>
                        </a:rPr>
                        <a:t>Croissance</a:t>
                      </a:r>
                    </a:p>
                  </a:txBody>
                  <a:tcPr>
                    <a:noFill/>
                  </a:tcPr>
                </a:tc>
                <a:tc>
                  <a:txBody>
                    <a:bodyPr/>
                    <a:lstStyle/>
                    <a:p>
                      <a:pPr algn="ctr"/>
                      <a:r>
                        <a:rPr sz="750" b="0">
                          <a:solidFill>
                            <a:srgbClr val="1A1A1A"/>
                          </a:solidFill>
                        </a:rPr>
                        <a:t>+8.9 %</a:t>
                      </a:r>
                    </a:p>
                  </a:txBody>
                  <a:tcPr>
                    <a:noFill/>
                  </a:tcPr>
                </a:tc>
                <a:tc>
                  <a:txBody>
                    <a:bodyPr/>
                    <a:lstStyle/>
                    <a:p>
                      <a:pPr algn="ctr"/>
                      <a:r>
                        <a:rPr sz="750" b="0">
                          <a:solidFill>
                            <a:srgbClr val="1A1A1A"/>
                          </a:solidFill>
                        </a:rPr>
                        <a:t>YoY</a:t>
                      </a:r>
                    </a:p>
                  </a:txBody>
                  <a:tcPr>
                    <a:noFill/>
                  </a:tcPr>
                </a:tc>
              </a:tr>
              <a:tr h="208799">
                <a:tc>
                  <a:txBody>
                    <a:bodyPr/>
                    <a:lstStyle/>
                    <a:p>
                      <a:pPr algn="ctr"/>
                      <a:r>
                        <a:rPr sz="750" b="0">
                          <a:solidFill>
                            <a:srgbClr val="1A1A1A"/>
                          </a:solidFill>
                        </a:rPr>
                        <a:t>Momentum</a:t>
                      </a:r>
                    </a:p>
                  </a:txBody>
                  <a:tcPr>
                    <a:solidFill>
                      <a:srgbClr val="F5F7FA"/>
                    </a:solidFill>
                  </a:tcPr>
                </a:tc>
                <a:tc>
                  <a:txBody>
                    <a:bodyPr/>
                    <a:lstStyle/>
                    <a:p>
                      <a:pPr algn="ctr"/>
                      <a:r>
                        <a:rPr sz="750" b="0">
                          <a:solidFill>
                            <a:srgbClr val="1A1A1A"/>
                          </a:solidFill>
                        </a:rPr>
                        <a:t>+31.5 %</a:t>
                      </a:r>
                    </a:p>
                  </a:txBody>
                  <a:tcPr>
                    <a:solidFill>
                      <a:srgbClr val="F5F7FA"/>
                    </a:solidFill>
                  </a:tcPr>
                </a:tc>
                <a:tc>
                  <a:txBody>
                    <a:bodyPr/>
                    <a:lstStyle/>
                    <a:p>
                      <a:pPr algn="ctr"/>
                      <a:r>
                        <a:rPr sz="750" b="0">
                          <a:solidFill>
                            <a:srgbClr val="1A1A1A"/>
                          </a:solidFill>
                        </a:rPr>
                        <a:t>52W</a:t>
                      </a:r>
                    </a:p>
                  </a:txBody>
                  <a:tcPr>
                    <a:solidFill>
                      <a:srgbClr val="F5F7FA"/>
                    </a:solidFill>
                  </a:tcPr>
                </a:tc>
              </a:tr>
              <a:tr h="208799">
                <a:tc>
                  <a:txBody>
                    <a:bodyPr/>
                    <a:lstStyle/>
                    <a:p>
                      <a:pPr algn="ctr"/>
                      <a:r>
                        <a:rPr sz="750" b="0">
                          <a:solidFill>
                            <a:srgbClr val="1A1A1A"/>
                          </a:solidFill>
                        </a:rPr>
                        <a:t>Score Moyen</a:t>
                      </a:r>
                    </a:p>
                  </a:txBody>
                  <a:tcPr>
                    <a:noFill/>
                  </a:tcPr>
                </a:tc>
                <a:tc>
                  <a:txBody>
                    <a:bodyPr/>
                    <a:lstStyle/>
                    <a:p>
                      <a:pPr algn="ctr"/>
                      <a:r>
                        <a:rPr sz="750" b="0">
                          <a:solidFill>
                            <a:srgbClr val="1A1A1A"/>
                          </a:solidFill>
                        </a:rPr>
                        <a:t>50/100</a:t>
                      </a:r>
                    </a:p>
                  </a:txBody>
                  <a:tcPr>
                    <a:noFill/>
                  </a:tcPr>
                </a:tc>
                <a:tc>
                  <a:txBody>
                    <a:bodyPr/>
                    <a:lstStyle/>
                    <a:p>
                      <a:pPr algn="ctr"/>
                      <a:r>
                        <a:rPr sz="750" b="0">
                          <a:solidFill>
                            <a:srgbClr val="1A1A1A"/>
                          </a:solidFill>
                        </a:rPr>
                        <a:t>FinSight</a:t>
                      </a:r>
                    </a:p>
                  </a:txBody>
                  <a:tcPr>
                    <a:noFill/>
                  </a:tcPr>
                </a:tc>
              </a:tr>
              <a:tr h="208805">
                <a:tc>
                  <a:txBody>
                    <a:bodyPr/>
                    <a:lstStyle/>
                    <a:p>
                      <a:pPr algn="ctr"/>
                      <a:r>
                        <a:rPr sz="750" b="0">
                          <a:solidFill>
                            <a:srgbClr val="1A1A1A"/>
                          </a:solidFill>
                        </a:rPr>
                        <a:t>Nb Sociétés</a:t>
                      </a:r>
                    </a:p>
                  </a:txBody>
                  <a:tcPr>
                    <a:solidFill>
                      <a:srgbClr val="F5F7FA"/>
                    </a:solidFill>
                  </a:tcPr>
                </a:tc>
                <a:tc>
                  <a:txBody>
                    <a:bodyPr/>
                    <a:lstStyle/>
                    <a:p>
                      <a:pPr algn="ctr"/>
                      <a:r>
                        <a:rPr sz="750" b="0">
                          <a:solidFill>
                            <a:srgbClr val="1A1A1A"/>
                          </a:solidFill>
                        </a:rPr>
                        <a:t>15</a:t>
                      </a:r>
                    </a:p>
                  </a:txBody>
                  <a:tcPr>
                    <a:solidFill>
                      <a:srgbClr val="F5F7FA"/>
                    </a:solidFill>
                  </a:tcPr>
                </a:tc>
                <a:tc>
                  <a:txBody>
                    <a:bodyPr/>
                    <a:lstStyle/>
                    <a:p>
                      <a:pPr algn="ctr"/>
                      <a:r>
                        <a:rPr sz="750" b="0">
                          <a:solidFill>
                            <a:srgbClr val="1A1A1A"/>
                          </a:solidFill>
                        </a:rPr>
                        <a:t>Analysées</a:t>
                      </a:r>
                    </a:p>
                  </a:txBody>
                  <a:tcPr>
                    <a:solidFill>
                      <a:srgbClr val="F5F7FA"/>
                    </a:solidFill>
                  </a:tcPr>
                </a:tc>
              </a:tr>
            </a:tbl>
          </a:graphicData>
        </a:graphic>
      </p:graphicFrame>
      <p:sp>
        <p:nvSpPr>
          <p:cNvPr id="33" name="Rectangle 32"/>
          <p:cNvSpPr/>
          <p:nvPr/>
        </p:nvSpPr>
        <p:spPr>
          <a:xfrm>
            <a:off x="5436000" y="2469600"/>
            <a:ext cx="3384000" cy="22824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36000" y="2469600"/>
            <a:ext cx="36000" cy="2282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36000" y="2469600"/>
            <a:ext cx="3384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90000" y="2498400"/>
            <a:ext cx="3276000" cy="162000"/>
          </a:xfrm>
          <a:prstGeom prst="rect">
            <a:avLst/>
          </a:prstGeom>
          <a:noFill/>
        </p:spPr>
        <p:txBody>
          <a:bodyPr wrap="square">
            <a:spAutoFit/>
          </a:bodyPr>
          <a:lstStyle/>
          <a:p>
            <a:pPr algn="l"/>
            <a:r>
              <a:rPr sz="850" b="1" i="0">
                <a:solidFill>
                  <a:srgbClr val="FFFFFF"/>
                </a:solidFill>
              </a:rPr>
              <a:t>ETF DE RÉFÉRENCE : XLF</a:t>
            </a:r>
          </a:p>
        </p:txBody>
      </p:sp>
      <p:sp>
        <p:nvSpPr>
          <p:cNvPr id="37" name="TextBox 36"/>
          <p:cNvSpPr txBox="1"/>
          <p:nvPr/>
        </p:nvSpPr>
        <p:spPr>
          <a:xfrm>
            <a:off x="5508000" y="2739600"/>
            <a:ext cx="3240000" cy="144000"/>
          </a:xfrm>
          <a:prstGeom prst="rect">
            <a:avLst/>
          </a:prstGeom>
          <a:noFill/>
        </p:spPr>
        <p:txBody>
          <a:bodyPr wrap="square">
            <a:spAutoFit/>
          </a:bodyPr>
          <a:lstStyle/>
          <a:p>
            <a:pPr algn="l"/>
            <a:r>
              <a:rPr sz="750" b="1" i="0">
                <a:solidFill>
                  <a:srgbClr val="1B3A6B"/>
                </a:solidFill>
              </a:rPr>
              <a:t>Financial Select Sector SPDR Fund (sous-secteur Banks)</a:t>
            </a:r>
          </a:p>
        </p:txBody>
      </p:sp>
      <p:sp>
        <p:nvSpPr>
          <p:cNvPr id="38" name="TextBox 37"/>
          <p:cNvSpPr txBox="1"/>
          <p:nvPr/>
        </p:nvSpPr>
        <p:spPr>
          <a:xfrm>
            <a:off x="5508000" y="2883600"/>
            <a:ext cx="3240000" cy="115200"/>
          </a:xfrm>
          <a:prstGeom prst="rect">
            <a:avLst/>
          </a:prstGeom>
          <a:noFill/>
        </p:spPr>
        <p:txBody>
          <a:bodyPr wrap="square">
            <a:spAutoFit/>
          </a:bodyPr>
          <a:lstStyle/>
          <a:p>
            <a:pPr algn="l"/>
            <a:r>
              <a:rPr sz="700" b="0" i="0">
                <a:solidFill>
                  <a:srgbClr val="555555"/>
                </a:solidFill>
              </a:rPr>
              <a:t>Emetteur : State Street Global Advisors</a:t>
            </a:r>
          </a:p>
        </p:txBody>
      </p:sp>
      <p:sp>
        <p:nvSpPr>
          <p:cNvPr id="39" name="TextBox 38"/>
          <p:cNvSpPr txBox="1"/>
          <p:nvPr/>
        </p:nvSpPr>
        <p:spPr>
          <a:xfrm>
            <a:off x="5508000" y="2991600"/>
            <a:ext cx="3240000" cy="115200"/>
          </a:xfrm>
          <a:prstGeom prst="rect">
            <a:avLst/>
          </a:prstGeom>
          <a:noFill/>
        </p:spPr>
        <p:txBody>
          <a:bodyPr wrap="square">
            <a:spAutoFit/>
          </a:bodyPr>
          <a:lstStyle/>
          <a:p>
            <a:pPr algn="l"/>
            <a:r>
              <a:rPr sz="700" b="0" i="0">
                <a:solidFill>
                  <a:srgbClr val="555555"/>
                </a:solidFill>
              </a:rPr>
              <a:t>AUM : 47,8 Mds$  ·  TER : 0,00 %</a:t>
            </a:r>
          </a:p>
        </p:txBody>
      </p:sp>
      <p:sp>
        <p:nvSpPr>
          <p:cNvPr id="40" name="TextBox 39"/>
          <p:cNvSpPr txBox="1"/>
          <p:nvPr/>
        </p:nvSpPr>
        <p:spPr>
          <a:xfrm>
            <a:off x="5508000" y="3135600"/>
            <a:ext cx="3240000" cy="115200"/>
          </a:xfrm>
          <a:prstGeom prst="rect">
            <a:avLst/>
          </a:prstGeom>
          <a:noFill/>
        </p:spPr>
        <p:txBody>
          <a:bodyPr wrap="square">
            <a:spAutoFit/>
          </a:bodyPr>
          <a:lstStyle/>
          <a:p>
            <a:pPr algn="l"/>
            <a:r>
              <a:rPr sz="700" b="1" i="0">
                <a:solidFill>
                  <a:srgbClr val="1B3A6B"/>
                </a:solidFill>
              </a:rPr>
              <a:t>TOP 5 HOLDINGS</a:t>
            </a:r>
          </a:p>
        </p:txBody>
      </p:sp>
      <p:sp>
        <p:nvSpPr>
          <p:cNvPr id="41" name="TextBox 40"/>
          <p:cNvSpPr txBox="1"/>
          <p:nvPr/>
        </p:nvSpPr>
        <p:spPr>
          <a:xfrm>
            <a:off x="5508000" y="3250800"/>
            <a:ext cx="3240000" cy="108000"/>
          </a:xfrm>
          <a:prstGeom prst="rect">
            <a:avLst/>
          </a:prstGeom>
          <a:noFill/>
        </p:spPr>
        <p:txBody>
          <a:bodyPr wrap="square">
            <a:spAutoFit/>
          </a:bodyPr>
          <a:lstStyle/>
          <a:p>
            <a:pPr algn="l"/>
            <a:r>
              <a:rPr sz="680" b="0" i="0">
                <a:solidFill>
                  <a:srgbClr val="555555"/>
                </a:solidFill>
              </a:rPr>
              <a:t>BRK-B     Berkshire Hathaway Inc  12.4 %</a:t>
            </a:r>
          </a:p>
        </p:txBody>
      </p:sp>
      <p:sp>
        <p:nvSpPr>
          <p:cNvPr id="42" name="TextBox 41"/>
          <p:cNvSpPr txBox="1"/>
          <p:nvPr/>
        </p:nvSpPr>
        <p:spPr>
          <a:xfrm>
            <a:off x="5508000" y="3358800"/>
            <a:ext cx="3240000" cy="108000"/>
          </a:xfrm>
          <a:prstGeom prst="rect">
            <a:avLst/>
          </a:prstGeom>
          <a:noFill/>
        </p:spPr>
        <p:txBody>
          <a:bodyPr wrap="square">
            <a:spAutoFit/>
          </a:bodyPr>
          <a:lstStyle/>
          <a:p>
            <a:pPr algn="l"/>
            <a:r>
              <a:rPr sz="680" b="0" i="0">
                <a:solidFill>
                  <a:srgbClr val="555555"/>
                </a:solidFill>
              </a:rPr>
              <a:t>JPM       JPMorgan Chase &amp; Co     11.2 %</a:t>
            </a:r>
          </a:p>
        </p:txBody>
      </p:sp>
      <p:sp>
        <p:nvSpPr>
          <p:cNvPr id="43" name="TextBox 42"/>
          <p:cNvSpPr txBox="1"/>
          <p:nvPr/>
        </p:nvSpPr>
        <p:spPr>
          <a:xfrm>
            <a:off x="5508000" y="3466800"/>
            <a:ext cx="3240000" cy="108000"/>
          </a:xfrm>
          <a:prstGeom prst="rect">
            <a:avLst/>
          </a:prstGeom>
          <a:noFill/>
        </p:spPr>
        <p:txBody>
          <a:bodyPr wrap="square">
            <a:spAutoFit/>
          </a:bodyPr>
          <a:lstStyle/>
          <a:p>
            <a:pPr algn="l"/>
            <a:r>
              <a:rPr sz="680" b="0" i="0">
                <a:solidFill>
                  <a:srgbClr val="555555"/>
                </a:solidFill>
              </a:rPr>
              <a:t>V         Visa Inc Class A         7.2 %</a:t>
            </a:r>
          </a:p>
        </p:txBody>
      </p:sp>
      <p:sp>
        <p:nvSpPr>
          <p:cNvPr id="44" name="TextBox 43"/>
          <p:cNvSpPr txBox="1"/>
          <p:nvPr/>
        </p:nvSpPr>
        <p:spPr>
          <a:xfrm>
            <a:off x="5508000" y="3574800"/>
            <a:ext cx="3240000" cy="108000"/>
          </a:xfrm>
          <a:prstGeom prst="rect">
            <a:avLst/>
          </a:prstGeom>
          <a:noFill/>
        </p:spPr>
        <p:txBody>
          <a:bodyPr wrap="square">
            <a:spAutoFit/>
          </a:bodyPr>
          <a:lstStyle/>
          <a:p>
            <a:pPr algn="l"/>
            <a:r>
              <a:rPr sz="680" b="0" i="0">
                <a:solidFill>
                  <a:srgbClr val="555555"/>
                </a:solidFill>
              </a:rPr>
              <a:t>MA        Mastercard Inc Class A   5.8 %</a:t>
            </a:r>
          </a:p>
        </p:txBody>
      </p:sp>
      <p:sp>
        <p:nvSpPr>
          <p:cNvPr id="45" name="TextBox 44"/>
          <p:cNvSpPr txBox="1"/>
          <p:nvPr/>
        </p:nvSpPr>
        <p:spPr>
          <a:xfrm>
            <a:off x="5508000" y="3682800"/>
            <a:ext cx="3240000" cy="108000"/>
          </a:xfrm>
          <a:prstGeom prst="rect">
            <a:avLst/>
          </a:prstGeom>
          <a:noFill/>
        </p:spPr>
        <p:txBody>
          <a:bodyPr wrap="square">
            <a:spAutoFit/>
          </a:bodyPr>
          <a:lstStyle/>
          <a:p>
            <a:pPr algn="l"/>
            <a:r>
              <a:rPr sz="680" b="0" i="0">
                <a:solidFill>
                  <a:srgbClr val="555555"/>
                </a:solidFill>
              </a:rPr>
              <a:t>BAC       Bank of America Corp     4.6 %</a:t>
            </a:r>
          </a:p>
        </p:txBody>
      </p:sp>
      <p:sp>
        <p:nvSpPr>
          <p:cNvPr id="46" name="Rectangle 4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Ratios Comparatifs Sectoriels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Banques  ·  Comparaison multiples LTM — 15 sociétés vs médiane sectorielle</a:t>
            </a:r>
          </a:p>
        </p:txBody>
      </p:sp>
      <p:graphicFrame>
        <p:nvGraphicFramePr>
          <p:cNvPr id="15" name="Table 14"/>
          <p:cNvGraphicFramePr>
            <a:graphicFrameLocks noGrp="1"/>
          </p:cNvGraphicFramePr>
          <p:nvPr/>
        </p:nvGraphicFramePr>
        <p:xfrm>
          <a:off x="324000" y="900000"/>
          <a:ext cx="8495998" cy="1980000"/>
        </p:xfrm>
        <a:graphic>
          <a:graphicData uri="http://schemas.openxmlformats.org/drawingml/2006/table">
            <a:tbl>
              <a:tblPr firstRow="1" bandRow="1">
                <a:tableStyleId>{5C22544A-7EE6-4342-B048-85BDC9FD1C3A}</a:tableStyleId>
              </a:tblPr>
              <a:tblGrid>
                <a:gridCol w="1800000"/>
                <a:gridCol w="1080000"/>
                <a:gridCol w="1007999"/>
                <a:gridCol w="1007999"/>
                <a:gridCol w="1152000"/>
                <a:gridCol w="1224000"/>
                <a:gridCol w="1224000"/>
              </a:tblGrid>
              <a:tr h="198000">
                <a:tc>
                  <a:txBody>
                    <a:bodyPr/>
                    <a:lstStyle/>
                    <a:p>
                      <a:pPr algn="ctr"/>
                      <a:r>
                        <a:rPr sz="800" b="1">
                          <a:solidFill>
                            <a:srgbClr val="FFFFFF"/>
                          </a:solidFill>
                        </a:rPr>
                        <a:t>Société</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EV/Rev.</a:t>
                      </a:r>
                    </a:p>
                  </a:txBody>
                  <a:tcPr>
                    <a:solidFill>
                      <a:srgbClr val="1B3A6B"/>
                    </a:solidFill>
                  </a:tcPr>
                </a:tc>
                <a:tc>
                  <a:txBody>
                    <a:bodyPr/>
                    <a:lstStyle/>
                    <a:p>
                      <a:pPr algn="ctr"/>
                      <a:r>
                        <a:rPr sz="800" b="1">
                          <a:solidFill>
                            <a:srgbClr val="FFFFFF"/>
                          </a:solidFill>
                        </a:rPr>
                        <a:t>P/E</a:t>
                      </a:r>
                    </a:p>
                  </a:txBody>
                  <a:tcPr>
                    <a:solidFill>
                      <a:srgbClr val="1B3A6B"/>
                    </a:solidFill>
                  </a:tcPr>
                </a:tc>
                <a:tc>
                  <a:txBody>
                    <a:bodyPr/>
                    <a:lstStyle/>
                    <a:p>
                      <a:pPr algn="ctr"/>
                      <a:r>
                        <a:rPr sz="800" b="1">
                          <a:solidFill>
                            <a:srgbClr val="FFFFFF"/>
                          </a:solidFill>
                        </a:rPr>
                        <a:t>Mg Brute</a:t>
                      </a:r>
                    </a:p>
                  </a:txBody>
                  <a:tcPr>
                    <a:solidFill>
                      <a:srgbClr val="1B3A6B"/>
                    </a:solidFill>
                  </a:tcPr>
                </a:tc>
                <a:tc>
                  <a:txBody>
                    <a:bodyPr/>
                    <a:lstStyle/>
                    <a:p>
                      <a:pPr algn="ctr"/>
                      <a:r>
                        <a:rPr sz="800" b="1">
                          <a:solidFill>
                            <a:srgbClr val="FFFFFF"/>
                          </a:solidFill>
                        </a:rPr>
                        <a:t>Mg EBITDA</a:t>
                      </a:r>
                    </a:p>
                  </a:txBody>
                  <a:tcPr>
                    <a:solidFill>
                      <a:srgbClr val="1B3A6B"/>
                    </a:solidFill>
                  </a:tcPr>
                </a:tc>
                <a:tc>
                  <a:txBody>
                    <a:bodyPr/>
                    <a:lstStyle/>
                    <a:p>
                      <a:pPr algn="ctr"/>
                      <a:r>
                        <a:rPr sz="800" b="1">
                          <a:solidFill>
                            <a:srgbClr val="FFFFFF"/>
                          </a:solidFill>
                        </a:rPr>
                        <a:t>ROE</a:t>
                      </a:r>
                    </a:p>
                  </a:txBody>
                  <a:tcPr>
                    <a:solidFill>
                      <a:srgbClr val="1B3A6B"/>
                    </a:solidFill>
                  </a:tcPr>
                </a:tc>
              </a:tr>
              <a:tr h="198000">
                <a:tc>
                  <a:txBody>
                    <a:bodyPr/>
                    <a:lstStyle/>
                    <a:p>
                      <a:pPr algn="ctr"/>
                      <a:r>
                        <a:rPr sz="750" b="0">
                          <a:solidFill>
                            <a:srgbClr val="1A1A1A"/>
                          </a:solidFill>
                        </a:rPr>
                        <a:t>Regions Financial Corporatio</a:t>
                      </a:r>
                    </a:p>
                  </a:txBody>
                  <a:tcPr>
                    <a:noFill/>
                  </a:tcPr>
                </a:tc>
                <a:tc>
                  <a:txBody>
                    <a:bodyPr/>
                    <a:lstStyle/>
                    <a:p>
                      <a:pPr algn="ctr"/>
                      <a:r>
                        <a:rPr sz="750" b="0">
                          <a:solidFill>
                            <a:srgbClr val="1A1A1A"/>
                          </a:solidFill>
                        </a:rPr>
                        <a:t>3.6x</a:t>
                      </a:r>
                    </a:p>
                  </a:txBody>
                  <a:tcPr>
                    <a:noFill/>
                  </a:tcPr>
                </a:tc>
                <a:tc>
                  <a:txBody>
                    <a:bodyPr/>
                    <a:lstStyle/>
                    <a:p>
                      <a:pPr algn="ctr"/>
                      <a:r>
                        <a:rPr sz="750" b="0">
                          <a:solidFill>
                            <a:srgbClr val="1A1A1A"/>
                          </a:solidFill>
                        </a:rPr>
                        <a:t>2.3x</a:t>
                      </a:r>
                    </a:p>
                  </a:txBody>
                  <a:tcPr>
                    <a:noFill/>
                  </a:tcPr>
                </a:tc>
                <a:tc>
                  <a:txBody>
                    <a:bodyPr/>
                    <a:lstStyle/>
                    <a:p>
                      <a:pPr algn="ctr"/>
                      <a:r>
                        <a:rPr sz="750" b="0">
                          <a:solidFill>
                            <a:srgbClr val="1A1A1A"/>
                          </a:solidFill>
                        </a:rPr>
                        <a:t>11.0x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65.2 %</a:t>
                      </a:r>
                    </a:p>
                  </a:txBody>
                  <a:tcPr>
                    <a:noFill/>
                  </a:tcPr>
                </a:tc>
                <a:tc>
                  <a:txBody>
                    <a:bodyPr/>
                    <a:lstStyle/>
                    <a:p>
                      <a:pPr algn="ctr"/>
                      <a:r>
                        <a:rPr sz="750" b="0">
                          <a:solidFill>
                            <a:srgbClr val="1A1A1A"/>
                          </a:solidFill>
                        </a:rPr>
                        <a:t>12.2 %</a:t>
                      </a:r>
                    </a:p>
                  </a:txBody>
                  <a:tcPr>
                    <a:noFill/>
                  </a:tcPr>
                </a:tc>
              </a:tr>
              <a:tr h="198000">
                <a:tc>
                  <a:txBody>
                    <a:bodyPr/>
                    <a:lstStyle/>
                    <a:p>
                      <a:pPr algn="ctr"/>
                      <a:r>
                        <a:rPr sz="750" b="0">
                          <a:solidFill>
                            <a:srgbClr val="1A1A1A"/>
                          </a:solidFill>
                        </a:rPr>
                        <a:t>KeyCorp</a:t>
                      </a:r>
                    </a:p>
                  </a:txBody>
                  <a:tcPr>
                    <a:solidFill>
                      <a:srgbClr val="F5F7FA"/>
                    </a:solidFill>
                  </a:tcPr>
                </a:tc>
                <a:tc>
                  <a:txBody>
                    <a:bodyPr/>
                    <a:lstStyle/>
                    <a:p>
                      <a:pPr algn="ctr"/>
                      <a:r>
                        <a:rPr sz="750" b="0">
                          <a:solidFill>
                            <a:srgbClr val="1A1A1A"/>
                          </a:solidFill>
                        </a:rPr>
                        <a:t>5.4x</a:t>
                      </a:r>
                    </a:p>
                  </a:txBody>
                  <a:tcPr>
                    <a:solidFill>
                      <a:srgbClr val="F5F7FA"/>
                    </a:solidFill>
                  </a:tcPr>
                </a:tc>
                <a:tc>
                  <a:txBody>
                    <a:bodyPr/>
                    <a:lstStyle/>
                    <a:p>
                      <a:pPr algn="ctr"/>
                      <a:r>
                        <a:rPr sz="750" b="0">
                          <a:solidFill>
                            <a:srgbClr val="1A1A1A"/>
                          </a:solidFill>
                        </a:rPr>
                        <a:t>4.5x</a:t>
                      </a:r>
                    </a:p>
                  </a:txBody>
                  <a:tcPr>
                    <a:solidFill>
                      <a:srgbClr val="F5F7FA"/>
                    </a:solidFill>
                  </a:tcPr>
                </a:tc>
                <a:tc>
                  <a:txBody>
                    <a:bodyPr/>
                    <a:lstStyle/>
                    <a:p>
                      <a:pPr algn="ctr"/>
                      <a:r>
                        <a:rPr sz="750" b="0">
                          <a:solidFill>
                            <a:srgbClr val="1A1A1A"/>
                          </a:solidFill>
                        </a:rPr>
                        <a:t>12.6x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83.4 %</a:t>
                      </a:r>
                    </a:p>
                  </a:txBody>
                  <a:tcPr>
                    <a:solidFill>
                      <a:srgbClr val="F5F7FA"/>
                    </a:solidFill>
                  </a:tcPr>
                </a:tc>
                <a:tc>
                  <a:txBody>
                    <a:bodyPr/>
                    <a:lstStyle/>
                    <a:p>
                      <a:pPr algn="ctr"/>
                      <a:r>
                        <a:rPr sz="750" b="0">
                          <a:solidFill>
                            <a:srgbClr val="1A1A1A"/>
                          </a:solidFill>
                        </a:rPr>
                        <a:t>10.2 %</a:t>
                      </a:r>
                    </a:p>
                  </a:txBody>
                  <a:tcPr>
                    <a:solidFill>
                      <a:srgbClr val="F5F7FA"/>
                    </a:solidFill>
                  </a:tcPr>
                </a:tc>
              </a:tr>
              <a:tr h="198000">
                <a:tc>
                  <a:txBody>
                    <a:bodyPr/>
                    <a:lstStyle/>
                    <a:p>
                      <a:pPr algn="ctr"/>
                      <a:r>
                        <a:rPr sz="750" b="0">
                          <a:solidFill>
                            <a:srgbClr val="1A1A1A"/>
                          </a:solidFill>
                        </a:rPr>
                        <a:t>Morgan Stanley</a:t>
                      </a:r>
                    </a:p>
                  </a:txBody>
                  <a:tcPr>
                    <a:noFill/>
                  </a:tcPr>
                </a:tc>
                <a:tc>
                  <a:txBody>
                    <a:bodyPr/>
                    <a:lstStyle/>
                    <a:p>
                      <a:pPr algn="ctr"/>
                      <a:r>
                        <a:rPr sz="750" b="0">
                          <a:solidFill>
                            <a:srgbClr val="1A1A1A"/>
                          </a:solidFill>
                        </a:rPr>
                        <a:t>7.7x</a:t>
                      </a:r>
                    </a:p>
                  </a:txBody>
                  <a:tcPr>
                    <a:noFill/>
                  </a:tcPr>
                </a:tc>
                <a:tc>
                  <a:txBody>
                    <a:bodyPr/>
                    <a:lstStyle/>
                    <a:p>
                      <a:pPr algn="ctr"/>
                      <a:r>
                        <a:rPr sz="750" b="0">
                          <a:solidFill>
                            <a:srgbClr val="1A1A1A"/>
                          </a:solidFill>
                        </a:rPr>
                        <a:t>8.8x</a:t>
                      </a:r>
                    </a:p>
                  </a:txBody>
                  <a:tcPr>
                    <a:noFill/>
                  </a:tcPr>
                </a:tc>
                <a:tc>
                  <a:txBody>
                    <a:bodyPr/>
                    <a:lstStyle/>
                    <a:p>
                      <a:pPr algn="ctr"/>
                      <a:r>
                        <a:rPr sz="750" b="0">
                          <a:solidFill>
                            <a:srgbClr val="1A1A1A"/>
                          </a:solidFill>
                        </a:rPr>
                        <a:t>17.2x</a:t>
                      </a:r>
                    </a:p>
                  </a:txBody>
                  <a:tcPr>
                    <a:noFill/>
                  </a:tcPr>
                </a:tc>
                <a:tc>
                  <a:txBody>
                    <a:bodyPr/>
                    <a:lstStyle/>
                    <a:p>
                      <a:pPr algn="ctr"/>
                      <a:r>
                        <a:rPr sz="750" b="0">
                          <a:solidFill>
                            <a:srgbClr val="1A1A1A"/>
                          </a:solidFill>
                        </a:rPr>
                        <a:t>87.1 %</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16.5 %</a:t>
                      </a:r>
                    </a:p>
                  </a:txBody>
                  <a:tcPr>
                    <a:noFill/>
                  </a:tcPr>
                </a:tc>
              </a:tr>
              <a:tr h="198000">
                <a:tc>
                  <a:txBody>
                    <a:bodyPr/>
                    <a:lstStyle/>
                    <a:p>
                      <a:pPr algn="ctr"/>
                      <a:r>
                        <a:rPr sz="750" b="0">
                          <a:solidFill>
                            <a:srgbClr val="1A1A1A"/>
                          </a:solidFill>
                        </a:rPr>
                        <a:t>Truist Financial Corporation</a:t>
                      </a:r>
                    </a:p>
                  </a:txBody>
                  <a:tcPr>
                    <a:solidFill>
                      <a:srgbClr val="F5F7FA"/>
                    </a:solidFill>
                  </a:tcPr>
                </a:tc>
                <a:tc>
                  <a:txBody>
                    <a:bodyPr/>
                    <a:lstStyle/>
                    <a:p>
                      <a:pPr algn="ctr"/>
                      <a:r>
                        <a:rPr sz="750" b="0">
                          <a:solidFill>
                            <a:srgbClr val="1A1A1A"/>
                          </a:solidFill>
                        </a:rPr>
                        <a:t>5.2x</a:t>
                      </a:r>
                    </a:p>
                  </a:txBody>
                  <a:tcPr>
                    <a:solidFill>
                      <a:srgbClr val="F5F7FA"/>
                    </a:solidFill>
                  </a:tcPr>
                </a:tc>
                <a:tc>
                  <a:txBody>
                    <a:bodyPr/>
                    <a:lstStyle/>
                    <a:p>
                      <a:pPr algn="ctr"/>
                      <a:r>
                        <a:rPr sz="750" b="0">
                          <a:solidFill>
                            <a:srgbClr val="1A1A1A"/>
                          </a:solidFill>
                        </a:rPr>
                        <a:t>4.4x</a:t>
                      </a:r>
                    </a:p>
                  </a:txBody>
                  <a:tcPr>
                    <a:solidFill>
                      <a:srgbClr val="F5F7FA"/>
                    </a:solidFill>
                  </a:tcPr>
                </a:tc>
                <a:tc>
                  <a:txBody>
                    <a:bodyPr/>
                    <a:lstStyle/>
                    <a:p>
                      <a:pPr algn="ctr"/>
                      <a:r>
                        <a:rPr sz="750" b="0">
                          <a:solidFill>
                            <a:srgbClr val="1A1A1A"/>
                          </a:solidFill>
                        </a:rPr>
                        <a:t>11.6x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85.2 %</a:t>
                      </a:r>
                    </a:p>
                  </a:txBody>
                  <a:tcPr>
                    <a:solidFill>
                      <a:srgbClr val="F5F7FA"/>
                    </a:solidFill>
                  </a:tcPr>
                </a:tc>
                <a:tc>
                  <a:txBody>
                    <a:bodyPr/>
                    <a:lstStyle/>
                    <a:p>
                      <a:pPr algn="ctr"/>
                      <a:r>
                        <a:rPr sz="750" b="0">
                          <a:solidFill>
                            <a:srgbClr val="1A1A1A"/>
                          </a:solidFill>
                        </a:rPr>
                        <a:t>8.8 %</a:t>
                      </a:r>
                    </a:p>
                  </a:txBody>
                  <a:tcPr>
                    <a:solidFill>
                      <a:srgbClr val="F5F7FA"/>
                    </a:solidFill>
                  </a:tcPr>
                </a:tc>
              </a:tr>
              <a:tr h="198000">
                <a:tc>
                  <a:txBody>
                    <a:bodyPr/>
                    <a:lstStyle/>
                    <a:p>
                      <a:pPr algn="ctr"/>
                      <a:r>
                        <a:rPr sz="750" b="0">
                          <a:solidFill>
                            <a:srgbClr val="1A1A1A"/>
                          </a:solidFill>
                        </a:rPr>
                        <a:t>The Bank of New York Mellon </a:t>
                      </a:r>
                    </a:p>
                  </a:txBody>
                  <a:tcPr>
                    <a:noFill/>
                  </a:tcPr>
                </a:tc>
                <a:tc>
                  <a:txBody>
                    <a:bodyPr/>
                    <a:lstStyle/>
                    <a:p>
                      <a:pPr algn="ctr"/>
                      <a:r>
                        <a:rPr sz="750" b="0">
                          <a:solidFill>
                            <a:srgbClr val="1A1A1A"/>
                          </a:solidFill>
                        </a:rPr>
                        <a:t>-0.2x</a:t>
                      </a:r>
                    </a:p>
                  </a:txBody>
                  <a:tcPr>
                    <a:noFill/>
                  </a:tcPr>
                </a:tc>
                <a:tc>
                  <a:txBody>
                    <a:bodyPr/>
                    <a:lstStyle/>
                    <a:p>
                      <a:pPr algn="ctr"/>
                      <a:r>
                        <a:rPr sz="750" b="0">
                          <a:solidFill>
                            <a:srgbClr val="1A1A1A"/>
                          </a:solidFill>
                        </a:rPr>
                        <a:t>-0.2x</a:t>
                      </a:r>
                    </a:p>
                  </a:txBody>
                  <a:tcPr>
                    <a:noFill/>
                  </a:tcPr>
                </a:tc>
                <a:tc>
                  <a:txBody>
                    <a:bodyPr/>
                    <a:lstStyle/>
                    <a:p>
                      <a:pPr algn="ctr"/>
                      <a:r>
                        <a:rPr sz="750" b="0">
                          <a:solidFill>
                            <a:srgbClr val="1A1A1A"/>
                          </a:solidFill>
                        </a:rPr>
                        <a:t>16.2x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14.1 %</a:t>
                      </a:r>
                    </a:p>
                  </a:txBody>
                  <a:tcPr>
                    <a:noFill/>
                  </a:tcPr>
                </a:tc>
              </a:tr>
              <a:tr h="198000">
                <a:tc>
                  <a:txBody>
                    <a:bodyPr/>
                    <a:lstStyle/>
                    <a:p>
                      <a:pPr algn="ctr"/>
                      <a:r>
                        <a:rPr sz="750" b="0">
                          <a:solidFill>
                            <a:srgbClr val="1A1A1A"/>
                          </a:solidFill>
                        </a:rPr>
                        <a:t>The Goldman Sachs Group, Inc</a:t>
                      </a:r>
                    </a:p>
                  </a:txBody>
                  <a:tcPr>
                    <a:solidFill>
                      <a:srgbClr val="F5F7FA"/>
                    </a:solidFill>
                  </a:tcPr>
                </a:tc>
                <a:tc>
                  <a:txBody>
                    <a:bodyPr/>
                    <a:lstStyle/>
                    <a:p>
                      <a:pPr algn="ctr"/>
                      <a:r>
                        <a:rPr sz="750" b="0">
                          <a:solidFill>
                            <a:srgbClr val="1A1A1A"/>
                          </a:solidFill>
                        </a:rPr>
                        <a:t>5.4x</a:t>
                      </a:r>
                    </a:p>
                  </a:txBody>
                  <a:tcPr>
                    <a:solidFill>
                      <a:srgbClr val="F5F7FA"/>
                    </a:solidFill>
                  </a:tcPr>
                </a:tc>
                <a:tc>
                  <a:txBody>
                    <a:bodyPr/>
                    <a:lstStyle/>
                    <a:p>
                      <a:pPr algn="ctr"/>
                      <a:r>
                        <a:rPr sz="750" b="0">
                          <a:solidFill>
                            <a:srgbClr val="1A1A1A"/>
                          </a:solidFill>
                        </a:rPr>
                        <a:t>8.4x</a:t>
                      </a:r>
                    </a:p>
                  </a:txBody>
                  <a:tcPr>
                    <a:solidFill>
                      <a:srgbClr val="F5F7FA"/>
                    </a:solidFill>
                  </a:tcPr>
                </a:tc>
                <a:tc>
                  <a:txBody>
                    <a:bodyPr/>
                    <a:lstStyle/>
                    <a:p>
                      <a:pPr algn="ctr"/>
                      <a:r>
                        <a:rPr sz="750" b="0">
                          <a:solidFill>
                            <a:srgbClr val="1A1A1A"/>
                          </a:solidFill>
                        </a:rPr>
                        <a:t>15.6x</a:t>
                      </a:r>
                    </a:p>
                  </a:txBody>
                  <a:tcPr>
                    <a:solidFill>
                      <a:srgbClr val="F5F7FA"/>
                    </a:solidFill>
                  </a:tcPr>
                </a:tc>
                <a:tc>
                  <a:txBody>
                    <a:bodyPr/>
                    <a:lstStyle/>
                    <a:p>
                      <a:pPr algn="ctr"/>
                      <a:r>
                        <a:rPr sz="750" b="0">
                          <a:solidFill>
                            <a:srgbClr val="1A1A1A"/>
                          </a:solidFill>
                        </a:rPr>
                        <a:t>82.9 %</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15.6 %</a:t>
                      </a:r>
                    </a:p>
                  </a:txBody>
                  <a:tcPr>
                    <a:solidFill>
                      <a:srgbClr val="F5F7FA"/>
                    </a:solidFill>
                  </a:tcPr>
                </a:tc>
              </a:tr>
              <a:tr h="198000">
                <a:tc>
                  <a:txBody>
                    <a:bodyPr/>
                    <a:lstStyle/>
                    <a:p>
                      <a:pPr algn="ctr"/>
                      <a:r>
                        <a:rPr sz="750" b="0">
                          <a:solidFill>
                            <a:srgbClr val="1A1A1A"/>
                          </a:solidFill>
                        </a:rPr>
                        <a:t>U.S. Bancorp</a:t>
                      </a:r>
                    </a:p>
                  </a:txBody>
                  <a:tcPr>
                    <a:noFill/>
                  </a:tcPr>
                </a:tc>
                <a:tc>
                  <a:txBody>
                    <a:bodyPr/>
                    <a:lstStyle/>
                    <a:p>
                      <a:pPr algn="ctr"/>
                      <a:r>
                        <a:rPr sz="750" b="0">
                          <a:solidFill>
                            <a:srgbClr val="1A1A1A"/>
                          </a:solidFill>
                        </a:rPr>
                        <a:t>4.4x</a:t>
                      </a:r>
                    </a:p>
                  </a:txBody>
                  <a:tcPr>
                    <a:noFill/>
                  </a:tcPr>
                </a:tc>
                <a:tc>
                  <a:txBody>
                    <a:bodyPr/>
                    <a:lstStyle/>
                    <a:p>
                      <a:pPr algn="ctr"/>
                      <a:r>
                        <a:rPr sz="750" b="0">
                          <a:solidFill>
                            <a:srgbClr val="1A1A1A"/>
                          </a:solidFill>
                        </a:rPr>
                        <a:t>3.8x</a:t>
                      </a:r>
                    </a:p>
                  </a:txBody>
                  <a:tcPr>
                    <a:noFill/>
                  </a:tcPr>
                </a:tc>
                <a:tc>
                  <a:txBody>
                    <a:bodyPr/>
                    <a:lstStyle/>
                    <a:p>
                      <a:pPr algn="ctr"/>
                      <a:r>
                        <a:rPr sz="750" b="0">
                          <a:solidFill>
                            <a:srgbClr val="1A1A1A"/>
                          </a:solidFill>
                        </a:rPr>
                        <a:t>11.5x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86.5 %</a:t>
                      </a:r>
                    </a:p>
                  </a:txBody>
                  <a:tcPr>
                    <a:noFill/>
                  </a:tcPr>
                </a:tc>
                <a:tc>
                  <a:txBody>
                    <a:bodyPr/>
                    <a:lstStyle/>
                    <a:p>
                      <a:pPr algn="ctr"/>
                      <a:r>
                        <a:rPr sz="750" b="0">
                          <a:solidFill>
                            <a:srgbClr val="1A1A1A"/>
                          </a:solidFill>
                        </a:rPr>
                        <a:t>13.0 %</a:t>
                      </a:r>
                    </a:p>
                  </a:txBody>
                  <a:tcPr>
                    <a:noFill/>
                  </a:tcPr>
                </a:tc>
              </a:tr>
              <a:tr h="198000">
                <a:tc>
                  <a:txBody>
                    <a:bodyPr/>
                    <a:lstStyle/>
                    <a:p>
                      <a:pPr algn="ctr"/>
                      <a:r>
                        <a:rPr sz="750" b="0">
                          <a:solidFill>
                            <a:srgbClr val="1A1A1A"/>
                          </a:solidFill>
                        </a:rPr>
                        <a:t>The PNC Financial Services G</a:t>
                      </a:r>
                    </a:p>
                  </a:txBody>
                  <a:tcPr>
                    <a:solidFill>
                      <a:srgbClr val="F5F7FA"/>
                    </a:solidFill>
                  </a:tcPr>
                </a:tc>
                <a:tc>
                  <a:txBody>
                    <a:bodyPr/>
                    <a:lstStyle/>
                    <a:p>
                      <a:pPr algn="ctr"/>
                      <a:r>
                        <a:rPr sz="750" b="0">
                          <a:solidFill>
                            <a:srgbClr val="1A1A1A"/>
                          </a:solidFill>
                        </a:rPr>
                        <a:t>5.4x</a:t>
                      </a:r>
                    </a:p>
                  </a:txBody>
                  <a:tcPr>
                    <a:solidFill>
                      <a:srgbClr val="F5F7FA"/>
                    </a:solidFill>
                  </a:tcPr>
                </a:tc>
                <a:tc>
                  <a:txBody>
                    <a:bodyPr/>
                    <a:lstStyle/>
                    <a:p>
                      <a:pPr algn="ctr"/>
                      <a:r>
                        <a:rPr sz="750" b="0">
                          <a:solidFill>
                            <a:srgbClr val="1A1A1A"/>
                          </a:solidFill>
                        </a:rPr>
                        <a:t>4.6x</a:t>
                      </a:r>
                    </a:p>
                  </a:txBody>
                  <a:tcPr>
                    <a:solidFill>
                      <a:srgbClr val="F5F7FA"/>
                    </a:solidFill>
                  </a:tcPr>
                </a:tc>
                <a:tc>
                  <a:txBody>
                    <a:bodyPr/>
                    <a:lstStyle/>
                    <a:p>
                      <a:pPr algn="ctr"/>
                      <a:r>
                        <a:rPr sz="750" b="0">
                          <a:solidFill>
                            <a:srgbClr val="1A1A1A"/>
                          </a:solidFill>
                        </a:rPr>
                        <a:t>12.9x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85.4 %</a:t>
                      </a:r>
                    </a:p>
                  </a:txBody>
                  <a:tcPr>
                    <a:solidFill>
                      <a:srgbClr val="F5F7FA"/>
                    </a:solidFill>
                  </a:tcPr>
                </a:tc>
                <a:tc>
                  <a:txBody>
                    <a:bodyPr/>
                    <a:lstStyle/>
                    <a:p>
                      <a:pPr algn="ctr"/>
                      <a:r>
                        <a:rPr sz="750" b="0">
                          <a:solidFill>
                            <a:srgbClr val="1A1A1A"/>
                          </a:solidFill>
                        </a:rPr>
                        <a:t>11.4 %</a:t>
                      </a:r>
                    </a:p>
                  </a:txBody>
                  <a:tcPr>
                    <a:solidFill>
                      <a:srgbClr val="F5F7FA"/>
                    </a:solidFill>
                  </a:tcPr>
                </a:tc>
              </a:tr>
              <a:tr h="198000">
                <a:tc>
                  <a:txBody>
                    <a:bodyPr/>
                    <a:lstStyle/>
                    <a:p>
                      <a:pPr algn="ctr"/>
                      <a:r>
                        <a:rPr sz="750" b="0">
                          <a:solidFill>
                            <a:srgbClr val="1A1A1A"/>
                          </a:solidFill>
                        </a:rPr>
                        <a:t>MÉDIANE</a:t>
                      </a:r>
                    </a:p>
                  </a:txBody>
                  <a:tcPr>
                    <a:noFill/>
                  </a:tcPr>
                </a:tc>
                <a:tc>
                  <a:txBody>
                    <a:bodyPr/>
                    <a:lstStyle/>
                    <a:p>
                      <a:pPr algn="ctr"/>
                      <a:r>
                        <a:rPr sz="750" b="0">
                          <a:solidFill>
                            <a:srgbClr val="1A1A1A"/>
                          </a:solidFill>
                        </a:rPr>
                        <a:t>5.2x</a:t>
                      </a:r>
                    </a:p>
                  </a:txBody>
                  <a:tcPr>
                    <a:noFill/>
                  </a:tcPr>
                </a:tc>
                <a:tc>
                  <a:txBody>
                    <a:bodyPr/>
                    <a:lstStyle/>
                    <a:p>
                      <a:pPr algn="ctr"/>
                      <a:r>
                        <a:rPr sz="750" b="0">
                          <a:solidFill>
                            <a:srgbClr val="1A1A1A"/>
                          </a:solidFill>
                        </a:rPr>
                        <a:t>4.5x</a:t>
                      </a:r>
                    </a:p>
                  </a:txBody>
                  <a:tcPr>
                    <a:noFill/>
                  </a:tcPr>
                </a:tc>
                <a:tc>
                  <a:txBody>
                    <a:bodyPr/>
                    <a:lstStyle/>
                    <a:p>
                      <a:pPr algn="ctr"/>
                      <a:r>
                        <a:rPr sz="750" b="0">
                          <a:solidFill>
                            <a:srgbClr val="1A1A1A"/>
                          </a:solidFill>
                        </a:rPr>
                        <a:t>14.6x</a:t>
                      </a:r>
                    </a:p>
                  </a:txBody>
                  <a:tcPr>
                    <a:noFill/>
                  </a:tcPr>
                </a:tc>
                <a:tc>
                  <a:txBody>
                    <a:bodyPr/>
                    <a:lstStyle/>
                    <a:p>
                      <a:pPr algn="ctr"/>
                      <a:r>
                        <a:rPr sz="750" b="0">
                          <a:solidFill>
                            <a:srgbClr val="1A1A1A"/>
                          </a:solidFill>
                        </a:rPr>
                        <a:t>85.0 %</a:t>
                      </a:r>
                    </a:p>
                  </a:txBody>
                  <a:tcPr>
                    <a:noFill/>
                  </a:tcPr>
                </a:tc>
                <a:tc>
                  <a:txBody>
                    <a:bodyPr/>
                    <a:lstStyle/>
                    <a:p>
                      <a:pPr algn="ctr"/>
                      <a:r>
                        <a:rPr sz="750" b="0">
                          <a:solidFill>
                            <a:srgbClr val="1A1A1A"/>
                          </a:solidFill>
                        </a:rPr>
                        <a:t>85.3 %</a:t>
                      </a:r>
                    </a:p>
                  </a:txBody>
                  <a:tcPr>
                    <a:noFill/>
                  </a:tcPr>
                </a:tc>
                <a:tc>
                  <a:txBody>
                    <a:bodyPr/>
                    <a:lstStyle/>
                    <a:p>
                      <a:pPr algn="ctr"/>
                      <a:r>
                        <a:rPr sz="750" b="0">
                          <a:solidFill>
                            <a:srgbClr val="1A1A1A"/>
                          </a:solidFill>
                        </a:rPr>
                        <a:t>12.2 %</a:t>
                      </a:r>
                    </a:p>
                  </a:txBody>
                  <a:tcPr>
                    <a:noFill/>
                  </a:tcPr>
                </a:tc>
              </a:tr>
            </a:tbl>
          </a:graphicData>
        </a:graphic>
      </p:graphicFrame>
      <p:sp>
        <p:nvSpPr>
          <p:cNvPr id="16" name="Rectangle 15"/>
          <p:cNvSpPr/>
          <p:nvPr/>
        </p:nvSpPr>
        <p:spPr>
          <a:xfrm>
            <a:off x="324000" y="3131999"/>
            <a:ext cx="8496000" cy="1007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131999"/>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3150000"/>
            <a:ext cx="8352000" cy="216000"/>
          </a:xfrm>
          <a:prstGeom prst="rect">
            <a:avLst/>
          </a:prstGeom>
          <a:noFill/>
        </p:spPr>
        <p:txBody>
          <a:bodyPr wrap="square">
            <a:spAutoFit/>
          </a:bodyPr>
          <a:lstStyle/>
          <a:p>
            <a:pPr algn="l"/>
            <a:r>
              <a:rPr sz="850" b="1" i="0">
                <a:solidFill>
                  <a:srgbClr val="FFFFFF"/>
                </a:solidFill>
              </a:rPr>
              <a:t>LECTURE ANALYTIQUE</a:t>
            </a:r>
          </a:p>
        </p:txBody>
      </p:sp>
      <p:sp>
        <p:nvSpPr>
          <p:cNvPr id="19" name="TextBox 18"/>
          <p:cNvSpPr txBox="1"/>
          <p:nvPr/>
        </p:nvSpPr>
        <p:spPr>
          <a:xfrm>
            <a:off x="396000" y="3420000"/>
            <a:ext cx="8352000" cy="720000"/>
          </a:xfrm>
          <a:prstGeom prst="rect">
            <a:avLst/>
          </a:prstGeom>
          <a:noFill/>
        </p:spPr>
        <p:txBody>
          <a:bodyPr wrap="square">
            <a:spAutoFit/>
          </a:bodyPr>
          <a:lstStyle/>
          <a:p>
            <a:pPr algn="l"/>
            <a:r>
              <a:rPr sz="850" b="0" i="0">
                <a:solidFill>
                  <a:srgbClr val="555555"/>
                </a:solidFill>
              </a:rPr>
              <a:t>La Médiane EV/EBITDA sectorielle s établit a 5.2x LTM. Regions Financial Co (3.6x) se distingue comme le leader de qualité, combine a une marge EBITDA de 65.2 % et une croissance de +6.3 %. La dispersion des multiples revele l hétérogèneite des profils au sein du secteur Banques — une lecture croisée P/E vs EV/EBITDA permet d isoler les effets de structure de capital et les distorsions comptables.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Banques  ·  Drivers de croissance &amp; sensibilité macro</a:t>
            </a:r>
          </a:p>
        </p:txBody>
      </p:sp>
      <p:sp>
        <p:nvSpPr>
          <p:cNvPr id="15" name="Rectangle 14"/>
          <p:cNvSpPr/>
          <p:nvPr/>
        </p:nvSpPr>
        <p:spPr>
          <a:xfrm>
            <a:off x="324000" y="900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0000" y="900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72000"/>
            <a:ext cx="288000" cy="288000"/>
          </a:xfrm>
          <a:prstGeom prst="rect">
            <a:avLst/>
          </a:prstGeom>
          <a:noFill/>
        </p:spPr>
        <p:txBody>
          <a:bodyPr wrap="square">
            <a:spAutoFit/>
          </a:bodyPr>
          <a:lstStyle/>
          <a:p>
            <a:pPr algn="l"/>
            <a:r>
              <a:rPr sz="1400" b="1" i="0">
                <a:solidFill>
                  <a:srgbClr val="1A7A4A"/>
                </a:solidFill>
              </a:rPr>
              <a:t>▲</a:t>
            </a:r>
          </a:p>
        </p:txBody>
      </p:sp>
      <p:sp>
        <p:nvSpPr>
          <p:cNvPr id="18" name="TextBox 17"/>
          <p:cNvSpPr txBox="1"/>
          <p:nvPr/>
        </p:nvSpPr>
        <p:spPr>
          <a:xfrm>
            <a:off x="756000" y="954000"/>
            <a:ext cx="4932000" cy="251999"/>
          </a:xfrm>
          <a:prstGeom prst="rect">
            <a:avLst/>
          </a:prstGeom>
          <a:noFill/>
        </p:spPr>
        <p:txBody>
          <a:bodyPr wrap="square">
            <a:spAutoFit/>
          </a:bodyPr>
          <a:lstStyle/>
          <a:p>
            <a:pPr algn="l"/>
            <a:r>
              <a:rPr sz="1000" b="1" i="0">
                <a:solidFill>
                  <a:srgbClr val="1B3A6B"/>
                </a:solidFill>
              </a:rPr>
              <a:t>Marges d'intérêt</a:t>
            </a:r>
          </a:p>
        </p:txBody>
      </p:sp>
      <p:sp>
        <p:nvSpPr>
          <p:cNvPr id="19" name="TextBox 18"/>
          <p:cNvSpPr txBox="1"/>
          <p:nvPr/>
        </p:nvSpPr>
        <p:spPr>
          <a:xfrm>
            <a:off x="756000" y="1242000"/>
            <a:ext cx="4932000" cy="288000"/>
          </a:xfrm>
          <a:prstGeom prst="rect">
            <a:avLst/>
          </a:prstGeom>
          <a:noFill/>
        </p:spPr>
        <p:txBody>
          <a:bodyPr wrap="square">
            <a:spAutoFit/>
          </a:bodyPr>
          <a:lstStyle/>
          <a:p>
            <a:pPr algn="l"/>
            <a:r>
              <a:rPr sz="800" b="0" i="0">
                <a:solidFill>
                  <a:srgbClr val="555555"/>
                </a:solidFill>
              </a:rPr>
              <a:t>Une inversion de la courbe des taux pourrait élargir les marges nettes d'intérêt pour les banques avec un fort ancrage retail comme KEY.</a:t>
            </a:r>
          </a:p>
        </p:txBody>
      </p:sp>
      <p:sp>
        <p:nvSpPr>
          <p:cNvPr id="20" name="Rectangle 19"/>
          <p:cNvSpPr/>
          <p:nvPr/>
        </p:nvSpPr>
        <p:spPr>
          <a:xfrm>
            <a:off x="324000" y="1818000"/>
            <a:ext cx="36000" cy="68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0000" y="1818000"/>
            <a:ext cx="5400000" cy="684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96000" y="1890000"/>
            <a:ext cx="288000" cy="288000"/>
          </a:xfrm>
          <a:prstGeom prst="rect">
            <a:avLst/>
          </a:prstGeom>
          <a:noFill/>
        </p:spPr>
        <p:txBody>
          <a:bodyPr wrap="square">
            <a:spAutoFit/>
          </a:bodyPr>
          <a:lstStyle/>
          <a:p>
            <a:pPr algn="l"/>
            <a:r>
              <a:rPr sz="1400" b="1" i="0">
                <a:solidFill>
                  <a:srgbClr val="1A7A4A"/>
                </a:solidFill>
              </a:rPr>
              <a:t>▲</a:t>
            </a:r>
          </a:p>
        </p:txBody>
      </p:sp>
      <p:sp>
        <p:nvSpPr>
          <p:cNvPr id="23" name="TextBox 22"/>
          <p:cNvSpPr txBox="1"/>
          <p:nvPr/>
        </p:nvSpPr>
        <p:spPr>
          <a:xfrm>
            <a:off x="756000" y="1872000"/>
            <a:ext cx="4932000" cy="251999"/>
          </a:xfrm>
          <a:prstGeom prst="rect">
            <a:avLst/>
          </a:prstGeom>
          <a:noFill/>
        </p:spPr>
        <p:txBody>
          <a:bodyPr wrap="square">
            <a:spAutoFit/>
          </a:bodyPr>
          <a:lstStyle/>
          <a:p>
            <a:pPr algn="l"/>
            <a:r>
              <a:rPr sz="1000" b="1" i="0">
                <a:solidFill>
                  <a:srgbClr val="1B3A6B"/>
                </a:solidFill>
              </a:rPr>
              <a:t>Efficacité opérationnelle</a:t>
            </a:r>
          </a:p>
        </p:txBody>
      </p:sp>
      <p:sp>
        <p:nvSpPr>
          <p:cNvPr id="24" name="TextBox 23"/>
          <p:cNvSpPr txBox="1"/>
          <p:nvPr/>
        </p:nvSpPr>
        <p:spPr>
          <a:xfrm>
            <a:off x="756000" y="2160000"/>
            <a:ext cx="4932000" cy="288000"/>
          </a:xfrm>
          <a:prstGeom prst="rect">
            <a:avLst/>
          </a:prstGeom>
          <a:noFill/>
        </p:spPr>
        <p:txBody>
          <a:bodyPr wrap="square">
            <a:spAutoFit/>
          </a:bodyPr>
          <a:lstStyle/>
          <a:p>
            <a:pPr algn="l"/>
            <a:r>
              <a:rPr sz="800" b="0" i="0">
                <a:solidFill>
                  <a:srgbClr val="555555"/>
                </a:solidFill>
              </a:rPr>
              <a:t>Les programmes de réduction des coûts et de digitalisation pourraient soutenir les marges EBITDA au-delà des 85.3% actuels.</a:t>
            </a:r>
          </a:p>
        </p:txBody>
      </p:sp>
      <p:sp>
        <p:nvSpPr>
          <p:cNvPr id="25" name="Rectangle 24"/>
          <p:cNvSpPr/>
          <p:nvPr/>
        </p:nvSpPr>
        <p:spPr>
          <a:xfrm>
            <a:off x="324000" y="2736000"/>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0000" y="2736000"/>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2808000"/>
            <a:ext cx="288000" cy="288000"/>
          </a:xfrm>
          <a:prstGeom prst="rect">
            <a:avLst/>
          </a:prstGeom>
          <a:noFill/>
        </p:spPr>
        <p:txBody>
          <a:bodyPr wrap="square">
            <a:spAutoFit/>
          </a:bodyPr>
          <a:lstStyle/>
          <a:p>
            <a:pPr algn="l"/>
            <a:r>
              <a:rPr sz="1400" b="1" i="0">
                <a:solidFill>
                  <a:srgbClr val="A82020"/>
                </a:solidFill>
              </a:rPr>
              <a:t>▼</a:t>
            </a:r>
          </a:p>
        </p:txBody>
      </p:sp>
      <p:sp>
        <p:nvSpPr>
          <p:cNvPr id="28" name="TextBox 27"/>
          <p:cNvSpPr txBox="1"/>
          <p:nvPr/>
        </p:nvSpPr>
        <p:spPr>
          <a:xfrm>
            <a:off x="756000" y="2790000"/>
            <a:ext cx="4932000" cy="251999"/>
          </a:xfrm>
          <a:prstGeom prst="rect">
            <a:avLst/>
          </a:prstGeom>
          <a:noFill/>
        </p:spPr>
        <p:txBody>
          <a:bodyPr wrap="square">
            <a:spAutoFit/>
          </a:bodyPr>
          <a:lstStyle/>
          <a:p>
            <a:pPr algn="l"/>
            <a:r>
              <a:rPr sz="1000" b="1" i="0">
                <a:solidFill>
                  <a:srgbClr val="1B3A6B"/>
                </a:solidFill>
              </a:rPr>
              <a:t>Environnement macroéconomique</a:t>
            </a:r>
          </a:p>
        </p:txBody>
      </p:sp>
      <p:sp>
        <p:nvSpPr>
          <p:cNvPr id="29" name="TextBox 28"/>
          <p:cNvSpPr txBox="1"/>
          <p:nvPr/>
        </p:nvSpPr>
        <p:spPr>
          <a:xfrm>
            <a:off x="756000" y="3077999"/>
            <a:ext cx="4932000" cy="288000"/>
          </a:xfrm>
          <a:prstGeom prst="rect">
            <a:avLst/>
          </a:prstGeom>
          <a:noFill/>
        </p:spPr>
        <p:txBody>
          <a:bodyPr wrap="square">
            <a:spAutoFit/>
          </a:bodyPr>
          <a:lstStyle/>
          <a:p>
            <a:pPr algn="l"/>
            <a:r>
              <a:rPr sz="800" b="0" i="0">
                <a:solidFill>
                  <a:srgbClr val="555555"/>
                </a:solidFill>
              </a:rPr>
              <a:t>Un ralentissement économique prolongé pourrait réduire la demande de crédit et peser sur les revenus des banques comme RF.</a:t>
            </a:r>
          </a:p>
        </p:txBody>
      </p:sp>
      <p:sp>
        <p:nvSpPr>
          <p:cNvPr id="30" name="Rectangle 29"/>
          <p:cNvSpPr/>
          <p:nvPr/>
        </p:nvSpPr>
        <p:spPr>
          <a:xfrm>
            <a:off x="324000" y="3653999"/>
            <a:ext cx="36000" cy="68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0000" y="3653999"/>
            <a:ext cx="5400000" cy="684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96000" y="3725999"/>
            <a:ext cx="288000" cy="288000"/>
          </a:xfrm>
          <a:prstGeom prst="rect">
            <a:avLst/>
          </a:prstGeom>
          <a:noFill/>
        </p:spPr>
        <p:txBody>
          <a:bodyPr wrap="square">
            <a:spAutoFit/>
          </a:bodyPr>
          <a:lstStyle/>
          <a:p>
            <a:pPr algn="l"/>
            <a:r>
              <a:rPr sz="1400" b="1" i="0">
                <a:solidFill>
                  <a:srgbClr val="A82020"/>
                </a:solidFill>
              </a:rPr>
              <a:t>▼</a:t>
            </a:r>
          </a:p>
        </p:txBody>
      </p:sp>
      <p:sp>
        <p:nvSpPr>
          <p:cNvPr id="33" name="TextBox 32"/>
          <p:cNvSpPr txBox="1"/>
          <p:nvPr/>
        </p:nvSpPr>
        <p:spPr>
          <a:xfrm>
            <a:off x="756000" y="3707999"/>
            <a:ext cx="4932000" cy="251999"/>
          </a:xfrm>
          <a:prstGeom prst="rect">
            <a:avLst/>
          </a:prstGeom>
          <a:noFill/>
        </p:spPr>
        <p:txBody>
          <a:bodyPr wrap="square">
            <a:spAutoFit/>
          </a:bodyPr>
          <a:lstStyle/>
          <a:p>
            <a:pPr algn="l"/>
            <a:r>
              <a:rPr sz="1000" b="1" i="0">
                <a:solidFill>
                  <a:srgbClr val="1B3A6B"/>
                </a:solidFill>
              </a:rPr>
              <a:t>Risque géopolitique</a:t>
            </a:r>
          </a:p>
        </p:txBody>
      </p:sp>
      <p:sp>
        <p:nvSpPr>
          <p:cNvPr id="34" name="TextBox 33"/>
          <p:cNvSpPr txBox="1"/>
          <p:nvPr/>
        </p:nvSpPr>
        <p:spPr>
          <a:xfrm>
            <a:off x="756000" y="3995999"/>
            <a:ext cx="4932000" cy="288000"/>
          </a:xfrm>
          <a:prstGeom prst="rect">
            <a:avLst/>
          </a:prstGeom>
          <a:noFill/>
        </p:spPr>
        <p:txBody>
          <a:bodyPr wrap="square">
            <a:spAutoFit/>
          </a:bodyPr>
          <a:lstStyle/>
          <a:p>
            <a:pPr algn="l"/>
            <a:r>
              <a:rPr sz="800" b="0" i="0">
                <a:solidFill>
                  <a:srgbClr val="555555"/>
                </a:solidFill>
              </a:rPr>
              <a:t>Les tensions commerciales ou les crises souveraines pourraient déstabiliser les marchés financiers et impacter les activités de trading des banques comme MS.</a:t>
            </a:r>
          </a:p>
        </p:txBody>
      </p:sp>
      <p:sp>
        <p:nvSpPr>
          <p:cNvPr id="35" name="Rectangle 34"/>
          <p:cNvSpPr/>
          <p:nvPr/>
        </p:nvSpPr>
        <p:spPr>
          <a:xfrm>
            <a:off x="5976000" y="900000"/>
            <a:ext cx="2844000" cy="39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976000" y="1044000"/>
            <a:ext cx="2844000" cy="251999"/>
          </a:xfrm>
          <a:prstGeom prst="rect">
            <a:avLst/>
          </a:prstGeom>
          <a:noFill/>
        </p:spPr>
        <p:txBody>
          <a:bodyPr wrap="square">
            <a:spAutoFit/>
          </a:bodyPr>
          <a:lstStyle/>
          <a:p>
            <a:pPr algn="ctr"/>
            <a:r>
              <a:rPr sz="850" b="1" i="0">
                <a:solidFill>
                  <a:srgbClr val="1B3A6B"/>
                </a:solidFill>
              </a:rPr>
              <a:t>SIGNAL SECTORIEL</a:t>
            </a:r>
          </a:p>
        </p:txBody>
      </p:sp>
      <p:sp>
        <p:nvSpPr>
          <p:cNvPr id="37" name="Rectangle 36"/>
          <p:cNvSpPr/>
          <p:nvPr/>
        </p:nvSpPr>
        <p:spPr>
          <a:xfrm>
            <a:off x="6300000" y="1404000"/>
            <a:ext cx="2196000" cy="503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40000"/>
            <a:ext cx="2196000" cy="432000"/>
          </a:xfrm>
          <a:prstGeom prst="rect">
            <a:avLst/>
          </a:prstGeom>
          <a:noFill/>
        </p:spPr>
        <p:txBody>
          <a:bodyPr wrap="square">
            <a:spAutoFit/>
          </a:bodyPr>
          <a:lstStyle/>
          <a:p>
            <a:pPr algn="ctr"/>
            <a:r>
              <a:rPr sz="1200" b="1" i="0">
                <a:solidFill>
                  <a:srgbClr val="FFFFFF"/>
                </a:solidFill>
              </a:rPr>
              <a:t>● NEUTRE</a:t>
            </a:r>
          </a:p>
        </p:txBody>
      </p:sp>
      <p:sp>
        <p:nvSpPr>
          <p:cNvPr id="39" name="TextBox 38"/>
          <p:cNvSpPr txBox="1"/>
          <p:nvPr/>
        </p:nvSpPr>
        <p:spPr>
          <a:xfrm>
            <a:off x="5976000" y="2015999"/>
            <a:ext cx="2844000" cy="216000"/>
          </a:xfrm>
          <a:prstGeom prst="rect">
            <a:avLst/>
          </a:prstGeom>
          <a:noFill/>
        </p:spPr>
        <p:txBody>
          <a:bodyPr wrap="square">
            <a:spAutoFit/>
          </a:bodyPr>
          <a:lstStyle/>
          <a:p>
            <a:pPr algn="ctr"/>
            <a:r>
              <a:rPr sz="800" b="0" i="0">
                <a:solidFill>
                  <a:srgbClr val="555555"/>
                </a:solidFill>
              </a:rPr>
              <a:t>Score moyen FinSight</a:t>
            </a:r>
          </a:p>
        </p:txBody>
      </p:sp>
      <p:sp>
        <p:nvSpPr>
          <p:cNvPr id="40" name="TextBox 39"/>
          <p:cNvSpPr txBox="1"/>
          <p:nvPr/>
        </p:nvSpPr>
        <p:spPr>
          <a:xfrm>
            <a:off x="5976000" y="2232000"/>
            <a:ext cx="2844000" cy="468000"/>
          </a:xfrm>
          <a:prstGeom prst="rect">
            <a:avLst/>
          </a:prstGeom>
          <a:noFill/>
        </p:spPr>
        <p:txBody>
          <a:bodyPr wrap="square">
            <a:spAutoFit/>
          </a:bodyPr>
          <a:lstStyle/>
          <a:p>
            <a:pPr algn="ctr"/>
            <a:r>
              <a:rPr sz="2800" b="1" i="0">
                <a:solidFill>
                  <a:srgbClr val="1B3A6B"/>
                </a:solidFill>
              </a:rPr>
              <a:t>50/100</a:t>
            </a:r>
          </a:p>
        </p:txBody>
      </p:sp>
      <p:sp>
        <p:nvSpPr>
          <p:cNvPr id="41" name="TextBox 40"/>
          <p:cNvSpPr txBox="1"/>
          <p:nvPr/>
        </p:nvSpPr>
        <p:spPr>
          <a:xfrm>
            <a:off x="5976000" y="2808000"/>
            <a:ext cx="2844000" cy="251999"/>
          </a:xfrm>
          <a:prstGeom prst="rect">
            <a:avLst/>
          </a:prstGeom>
          <a:noFill/>
        </p:spPr>
        <p:txBody>
          <a:bodyPr wrap="square">
            <a:spAutoFit/>
          </a:bodyPr>
          <a:lstStyle/>
          <a:p>
            <a:pPr algn="ctr"/>
            <a:r>
              <a:rPr sz="800" b="0" i="0">
                <a:solidFill>
                  <a:srgbClr val="555555"/>
                </a:solidFill>
              </a:rPr>
              <a:t>WACC Médian : 9.3 %</a:t>
            </a:r>
          </a:p>
        </p:txBody>
      </p:sp>
      <p:sp>
        <p:nvSpPr>
          <p:cNvPr id="42" name="TextBox 41"/>
          <p:cNvSpPr txBox="1"/>
          <p:nvPr/>
        </p:nvSpPr>
        <p:spPr>
          <a:xfrm>
            <a:off x="5976000" y="3096000"/>
            <a:ext cx="2844000" cy="216000"/>
          </a:xfrm>
          <a:prstGeom prst="rect">
            <a:avLst/>
          </a:prstGeom>
          <a:noFill/>
        </p:spPr>
        <p:txBody>
          <a:bodyPr wrap="square">
            <a:spAutoFit/>
          </a:bodyPr>
          <a:lstStyle/>
          <a:p>
            <a:pPr algn="ctr"/>
            <a:r>
              <a:rPr sz="800" b="0" i="0">
                <a:solidFill>
                  <a:srgbClr val="AAAAAA"/>
                </a:solidFill>
              </a:rPr>
              <a:t>Horizon : 12 mois</a:t>
            </a:r>
          </a:p>
        </p:txBody>
      </p:sp>
      <p:sp>
        <p:nvSpPr>
          <p:cNvPr id="43" name="TextBox 42"/>
          <p:cNvSpPr txBox="1"/>
          <p:nvPr/>
        </p:nvSpPr>
        <p:spPr>
          <a:xfrm>
            <a:off x="5976000" y="3456000"/>
            <a:ext cx="2844000" cy="540000"/>
          </a:xfrm>
          <a:prstGeom prst="rect">
            <a:avLst/>
          </a:prstGeom>
          <a:noFill/>
        </p:spPr>
        <p:txBody>
          <a:bodyPr wrap="square">
            <a:spAutoFit/>
          </a:bodyPr>
          <a:lstStyle/>
          <a:p>
            <a:pPr algn="ctr"/>
            <a:r>
              <a:rPr sz="800" b="0" i="0">
                <a:solidFill>
                  <a:srgbClr val="2A5298"/>
                </a:solidFill>
              </a:rPr>
              <a:t>Le secteur bancaire semble en phase de transition entre un cycle de resserrement monétaire et un potentiel atterrissage économique.</a:t>
            </a:r>
          </a:p>
        </p:txBody>
      </p:sp>
      <p:sp>
        <p:nvSpPr>
          <p:cNvPr id="44" name="Rectangle 43"/>
          <p:cNvSpPr/>
          <p:nvPr/>
        </p:nvSpPr>
        <p:spPr>
          <a:xfrm>
            <a:off x="6083999" y="4031999"/>
            <a:ext cx="2628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76000" y="4086000"/>
            <a:ext cx="2844000" cy="180000"/>
          </a:xfrm>
          <a:prstGeom prst="rect">
            <a:avLst/>
          </a:prstGeom>
          <a:noFill/>
        </p:spPr>
        <p:txBody>
          <a:bodyPr wrap="square">
            <a:spAutoFit/>
          </a:bodyPr>
          <a:lstStyle/>
          <a:p>
            <a:pPr algn="ctr"/>
            <a:r>
              <a:rPr sz="700" b="1" i="0">
                <a:solidFill>
                  <a:srgbClr val="AAAAAA"/>
                </a:solidFill>
              </a:rPr>
              <a:t>CONTEXTE MACRO</a:t>
            </a:r>
          </a:p>
        </p:txBody>
      </p:sp>
      <p:sp>
        <p:nvSpPr>
          <p:cNvPr id="46" name="TextBox 45"/>
          <p:cNvSpPr txBox="1"/>
          <p:nvPr/>
        </p:nvSpPr>
        <p:spPr>
          <a:xfrm>
            <a:off x="5976000" y="4266000"/>
            <a:ext cx="2844000" cy="198000"/>
          </a:xfrm>
          <a:prstGeom prst="rect">
            <a:avLst/>
          </a:prstGeom>
          <a:noFill/>
        </p:spPr>
        <p:txBody>
          <a:bodyPr wrap="square">
            <a:spAutoFit/>
          </a:bodyPr>
          <a:lstStyle/>
          <a:p>
            <a:pPr algn="ctr"/>
            <a:r>
              <a:rPr sz="850" b="1" i="0">
                <a:solidFill>
                  <a:srgbClr val="1A7A4A"/>
                </a:solidFill>
              </a:rPr>
              <a:t>Régime : Bull</a:t>
            </a:r>
          </a:p>
        </p:txBody>
      </p:sp>
      <p:sp>
        <p:nvSpPr>
          <p:cNvPr id="47" name="TextBox 46"/>
          <p:cNvSpPr txBox="1"/>
          <p:nvPr/>
        </p:nvSpPr>
        <p:spPr>
          <a:xfrm>
            <a:off x="5976000" y="4482000"/>
            <a:ext cx="2844000" cy="180000"/>
          </a:xfrm>
          <a:prstGeom prst="rect">
            <a:avLst/>
          </a:prstGeom>
          <a:noFill/>
        </p:spPr>
        <p:txBody>
          <a:bodyPr wrap="square">
            <a:spAutoFit/>
          </a:bodyPr>
          <a:lstStyle/>
          <a:p>
            <a:pPr algn="ctr"/>
            <a:r>
              <a:rPr sz="750" b="0" i="0">
                <a:solidFill>
                  <a:srgbClr val="555555"/>
                </a:solidFill>
              </a:rPr>
              <a:t>Rec. 6M : 10%  (Faible)</a:t>
            </a:r>
          </a:p>
        </p:txBody>
      </p:sp>
      <p:sp>
        <p:nvSpPr>
          <p:cNvPr id="48" name="Rectangle 4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Décomposition par Sous-Secteur</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Banques  ·  4 industries GICS identifiées</a:t>
            </a:r>
          </a:p>
        </p:txBody>
      </p:sp>
      <p:graphicFrame>
        <p:nvGraphicFramePr>
          <p:cNvPr id="15" name="Table 14"/>
          <p:cNvGraphicFramePr>
            <a:graphicFrameLocks noGrp="1"/>
          </p:cNvGraphicFramePr>
          <p:nvPr/>
        </p:nvGraphicFramePr>
        <p:xfrm>
          <a:off x="324000" y="792000"/>
          <a:ext cx="8495997" cy="990000"/>
        </p:xfrm>
        <a:graphic>
          <a:graphicData uri="http://schemas.openxmlformats.org/drawingml/2006/table">
            <a:tbl>
              <a:tblPr firstRow="1" bandRow="1">
                <a:tableStyleId>{5C22544A-7EE6-4342-B048-85BDC9FD1C3A}</a:tableStyleId>
              </a:tblPr>
              <a:tblGrid>
                <a:gridCol w="2404528"/>
                <a:gridCol w="601132"/>
                <a:gridCol w="721358"/>
                <a:gridCol w="1122113"/>
                <a:gridCol w="1001886"/>
                <a:gridCol w="881660"/>
                <a:gridCol w="881660"/>
                <a:gridCol w="881660"/>
              </a:tblGrid>
              <a:tr h="198000">
                <a:tc>
                  <a:txBody>
                    <a:bodyPr/>
                    <a:lstStyle/>
                    <a:p>
                      <a:pPr algn="l"/>
                      <a:r>
                        <a:rPr sz="800" b="1">
                          <a:solidFill>
                            <a:srgbClr val="FFFFFF"/>
                          </a:solidFill>
                        </a:rPr>
                        <a:t>Sous-secteur</a:t>
                      </a:r>
                    </a:p>
                  </a:txBody>
                  <a:tcPr>
                    <a:solidFill>
                      <a:srgbClr val="1B3A6B"/>
                    </a:solidFill>
                  </a:tcPr>
                </a:tc>
                <a:tc>
                  <a:txBody>
                    <a:bodyPr/>
                    <a:lstStyle/>
                    <a:p>
                      <a:pPr algn="ctr"/>
                      <a:r>
                        <a:rPr sz="800" b="1">
                          <a:solidFill>
                            <a:srgbClr val="FFFFFF"/>
                          </a:solidFill>
                        </a:rPr>
                        <a:t>Nb</a:t>
                      </a:r>
                    </a:p>
                  </a:txBody>
                  <a:tcPr>
                    <a:solidFill>
                      <a:srgbClr val="1B3A6B"/>
                    </a:solidFill>
                  </a:tcPr>
                </a:tc>
                <a:tc>
                  <a:txBody>
                    <a:bodyPr/>
                    <a:lstStyle/>
                    <a:p>
                      <a:pPr algn="ctr"/>
                      <a:r>
                        <a:rPr sz="800" b="1">
                          <a:solidFill>
                            <a:srgbClr val="FFFFFF"/>
                          </a:solidFill>
                        </a:rPr>
                        <a:t>Score</a:t>
                      </a:r>
                    </a:p>
                  </a:txBody>
                  <a:tcPr>
                    <a:solidFill>
                      <a:srgbClr val="1B3A6B"/>
                    </a:solidFill>
                  </a:tcPr>
                </a:tc>
                <a:tc>
                  <a:txBody>
                    <a:bodyPr/>
                    <a:lstStyle/>
                    <a:p>
                      <a:pPr algn="ctr"/>
                      <a:r>
                        <a:rPr sz="800" b="1">
                          <a:solidFill>
                            <a:srgbClr val="FFFFFF"/>
                          </a:solidFill>
                        </a:rPr>
                        <a:t>Signal</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Marge</a:t>
                      </a:r>
                    </a:p>
                  </a:txBody>
                  <a:tcPr>
                    <a:solidFill>
                      <a:srgbClr val="1B3A6B"/>
                    </a:solidFill>
                  </a:tcPr>
                </a:tc>
                <a:tc>
                  <a:txBody>
                    <a:bodyPr/>
                    <a:lstStyle/>
                    <a:p>
                      <a:pPr algn="ctr"/>
                      <a:r>
                        <a:rPr sz="800" b="1">
                          <a:solidFill>
                            <a:srgbClr val="FFFFFF"/>
                          </a:solidFill>
                        </a:rPr>
                        <a:t>Croiss.</a:t>
                      </a:r>
                    </a:p>
                  </a:txBody>
                  <a:tcPr>
                    <a:solidFill>
                      <a:srgbClr val="1B3A6B"/>
                    </a:solidFill>
                  </a:tcPr>
                </a:tc>
                <a:tc>
                  <a:txBody>
                    <a:bodyPr/>
                    <a:lstStyle/>
                    <a:p>
                      <a:pPr algn="ctr"/>
                      <a:r>
                        <a:rPr sz="800" b="1">
                          <a:solidFill>
                            <a:srgbClr val="FFFFFF"/>
                          </a:solidFill>
                        </a:rPr>
                        <a:t>Mom.</a:t>
                      </a:r>
                    </a:p>
                  </a:txBody>
                  <a:tcPr>
                    <a:solidFill>
                      <a:srgbClr val="1B3A6B"/>
                    </a:solidFill>
                  </a:tcPr>
                </a:tc>
              </a:tr>
              <a:tr h="198000">
                <a:tc>
                  <a:txBody>
                    <a:bodyPr/>
                    <a:lstStyle/>
                    <a:p>
                      <a:pPr algn="l"/>
                      <a:r>
                        <a:rPr sz="800">
                          <a:solidFill>
                            <a:srgbClr val="1A1A1A"/>
                          </a:solidFill>
                        </a:rPr>
                        <a:t>Capital Markets</a:t>
                      </a:r>
                    </a:p>
                  </a:txBody>
                  <a:tcPr>
                    <a:solidFill>
                      <a:srgbClr val="F5F7FA"/>
                    </a:solidFill>
                  </a:tcPr>
                </a:tc>
                <a:tc>
                  <a:txBody>
                    <a:bodyPr/>
                    <a:lstStyle/>
                    <a:p>
                      <a:pPr algn="ctr"/>
                      <a:r>
                        <a:rPr sz="800">
                          <a:solidFill>
                            <a:srgbClr val="1A1A1A"/>
                          </a:solidFill>
                        </a:rPr>
                        <a:t>3</a:t>
                      </a:r>
                    </a:p>
                  </a:txBody>
                  <a:tcPr>
                    <a:solidFill>
                      <a:srgbClr val="F5F7FA"/>
                    </a:solidFill>
                  </a:tcPr>
                </a:tc>
                <a:tc>
                  <a:txBody>
                    <a:bodyPr/>
                    <a:lstStyle/>
                    <a:p>
                      <a:pPr algn="ctr"/>
                      <a:r>
                        <a:rPr sz="800">
                          <a:solidFill>
                            <a:srgbClr val="1A1A1A"/>
                          </a:solidFill>
                        </a:rPr>
                        <a:t>58</a:t>
                      </a:r>
                    </a:p>
                  </a:txBody>
                  <a:tcPr>
                    <a:solidFill>
                      <a:srgbClr val="F5F7FA"/>
                    </a:solidFill>
                  </a:tcPr>
                </a:tc>
                <a:tc>
                  <a:txBody>
                    <a:bodyPr/>
                    <a:lstStyle/>
                    <a:p>
                      <a:pPr algn="ctr"/>
                      <a:r>
                        <a:rPr sz="800" b="1">
                          <a:solidFill>
                            <a:srgbClr val="B06000"/>
                          </a:solidFill>
                        </a:rPr>
                        <a:t>Neutre</a:t>
                      </a:r>
                    </a:p>
                  </a:txBody>
                  <a:tcPr>
                    <a:solidFill>
                      <a:srgbClr val="F5F7FA"/>
                    </a:solidFill>
                  </a:tcPr>
                </a:tc>
                <a:tc>
                  <a:txBody>
                    <a:bodyPr/>
                    <a:lstStyle/>
                    <a:p>
                      <a:pPr algn="ctr"/>
                      <a:r>
                        <a:rPr sz="800">
                          <a:solidFill>
                            <a:srgbClr val="1A1A1A"/>
                          </a:solidFill>
                        </a:rPr>
                        <a:t>7.7x</a:t>
                      </a:r>
                    </a:p>
                  </a:txBody>
                  <a:tcPr>
                    <a:solidFill>
                      <a:srgbClr val="F5F7FA"/>
                    </a:solidFill>
                  </a:tcPr>
                </a:tc>
                <a:tc>
                  <a:txBody>
                    <a:bodyPr/>
                    <a:lstStyle/>
                    <a:p>
                      <a:pPr algn="ctr"/>
                      <a:r>
                        <a:rPr sz="800">
                          <a:solidFill>
                            <a:srgbClr val="1A1A1A"/>
                          </a:solidFill>
                        </a:rPr>
                        <a:t>69.3%</a:t>
                      </a:r>
                    </a:p>
                  </a:txBody>
                  <a:tcPr>
                    <a:solidFill>
                      <a:srgbClr val="F5F7FA"/>
                    </a:solidFill>
                  </a:tcPr>
                </a:tc>
                <a:tc>
                  <a:txBody>
                    <a:bodyPr/>
                    <a:lstStyle/>
                    <a:p>
                      <a:pPr algn="ctr"/>
                      <a:r>
                        <a:rPr sz="800">
                          <a:solidFill>
                            <a:srgbClr val="1A1A1A"/>
                          </a:solidFill>
                        </a:rPr>
                        <a:t>+14.5%</a:t>
                      </a:r>
                    </a:p>
                  </a:txBody>
                  <a:tcPr>
                    <a:solidFill>
                      <a:srgbClr val="F5F7FA"/>
                    </a:solidFill>
                  </a:tcPr>
                </a:tc>
                <a:tc>
                  <a:txBody>
                    <a:bodyPr/>
                    <a:lstStyle/>
                    <a:p>
                      <a:pPr algn="ctr"/>
                      <a:r>
                        <a:rPr sz="800">
                          <a:solidFill>
                            <a:srgbClr val="1A1A1A"/>
                          </a:solidFill>
                        </a:rPr>
                        <a:t>+45.9%</a:t>
                      </a:r>
                    </a:p>
                  </a:txBody>
                  <a:tcPr>
                    <a:solidFill>
                      <a:srgbClr val="F5F7FA"/>
                    </a:solidFill>
                  </a:tcPr>
                </a:tc>
              </a:tr>
              <a:tr h="198000">
                <a:tc>
                  <a:txBody>
                    <a:bodyPr/>
                    <a:lstStyle/>
                    <a:p>
                      <a:pPr algn="l"/>
                      <a:r>
                        <a:rPr sz="800">
                          <a:solidFill>
                            <a:srgbClr val="1A1A1A"/>
                          </a:solidFill>
                        </a:rPr>
                        <a:t>Banks - Regional</a:t>
                      </a:r>
                    </a:p>
                  </a:txBody>
                  <a:tcPr>
                    <a:solidFill>
                      <a:srgbClr val="FFFFFF"/>
                    </a:solidFill>
                  </a:tcPr>
                </a:tc>
                <a:tc>
                  <a:txBody>
                    <a:bodyPr/>
                    <a:lstStyle/>
                    <a:p>
                      <a:pPr algn="ctr"/>
                      <a:r>
                        <a:rPr sz="800">
                          <a:solidFill>
                            <a:srgbClr val="1A1A1A"/>
                          </a:solidFill>
                        </a:rPr>
                        <a:t>6</a:t>
                      </a:r>
                    </a:p>
                  </a:txBody>
                  <a:tcPr>
                    <a:solidFill>
                      <a:srgbClr val="FFFFFF"/>
                    </a:solidFill>
                  </a:tcPr>
                </a:tc>
                <a:tc>
                  <a:txBody>
                    <a:bodyPr/>
                    <a:lstStyle/>
                    <a:p>
                      <a:pPr algn="ctr"/>
                      <a:r>
                        <a:rPr sz="800">
                          <a:solidFill>
                            <a:srgbClr val="1A1A1A"/>
                          </a:solidFill>
                        </a:rPr>
                        <a:t>57</a:t>
                      </a:r>
                    </a:p>
                  </a:txBody>
                  <a:tcPr>
                    <a:solidFill>
                      <a:srgbClr val="FFFFFF"/>
                    </a:solidFill>
                  </a:tcPr>
                </a:tc>
                <a:tc>
                  <a:txBody>
                    <a:bodyPr/>
                    <a:lstStyle/>
                    <a:p>
                      <a:pPr algn="ctr"/>
                      <a:r>
                        <a:rPr sz="800" b="1">
                          <a:solidFill>
                            <a:srgbClr val="B06000"/>
                          </a:solidFill>
                        </a:rPr>
                        <a:t>Neutre</a:t>
                      </a:r>
                    </a:p>
                  </a:txBody>
                  <a:tcPr>
                    <a:solidFill>
                      <a:srgbClr val="FFFFFF"/>
                    </a:solidFill>
                  </a:tcPr>
                </a:tc>
                <a:tc>
                  <a:txBody>
                    <a:bodyPr/>
                    <a:lstStyle/>
                    <a:p>
                      <a:pPr algn="ctr"/>
                      <a:r>
                        <a:rPr sz="800">
                          <a:solidFill>
                            <a:srgbClr val="1A1A1A"/>
                          </a:solidFill>
                        </a:rPr>
                        <a:t>5.1x</a:t>
                      </a:r>
                    </a:p>
                  </a:txBody>
                  <a:tcPr>
                    <a:solidFill>
                      <a:srgbClr val="FFFFFF"/>
                    </a:solidFill>
                  </a:tcPr>
                </a:tc>
                <a:tc>
                  <a:txBody>
                    <a:bodyPr/>
                    <a:lstStyle/>
                    <a:p>
                      <a:pPr algn="ctr"/>
                      <a:r>
                        <a:rPr sz="800">
                          <a:solidFill>
                            <a:srgbClr val="1A1A1A"/>
                          </a:solidFill>
                        </a:rPr>
                        <a:t>85.3%</a:t>
                      </a:r>
                    </a:p>
                  </a:txBody>
                  <a:tcPr>
                    <a:solidFill>
                      <a:srgbClr val="FFFFFF"/>
                    </a:solidFill>
                  </a:tcPr>
                </a:tc>
                <a:tc>
                  <a:txBody>
                    <a:bodyPr/>
                    <a:lstStyle/>
                    <a:p>
                      <a:pPr algn="ctr"/>
                      <a:r>
                        <a:rPr sz="800">
                          <a:solidFill>
                            <a:srgbClr val="1A1A1A"/>
                          </a:solidFill>
                        </a:rPr>
                        <a:t>+10.5%</a:t>
                      </a:r>
                    </a:p>
                  </a:txBody>
                  <a:tcPr>
                    <a:solidFill>
                      <a:srgbClr val="FFFFFF"/>
                    </a:solidFill>
                  </a:tcPr>
                </a:tc>
                <a:tc>
                  <a:txBody>
                    <a:bodyPr/>
                    <a:lstStyle/>
                    <a:p>
                      <a:pPr algn="ctr"/>
                      <a:r>
                        <a:rPr sz="800">
                          <a:solidFill>
                            <a:srgbClr val="1A1A1A"/>
                          </a:solidFill>
                        </a:rPr>
                        <a:t>+32.8%</a:t>
                      </a:r>
                    </a:p>
                  </a:txBody>
                  <a:tcPr>
                    <a:solidFill>
                      <a:srgbClr val="FFFFFF"/>
                    </a:solidFill>
                  </a:tcPr>
                </a:tc>
              </a:tr>
              <a:tr h="198000">
                <a:tc>
                  <a:txBody>
                    <a:bodyPr/>
                    <a:lstStyle/>
                    <a:p>
                      <a:pPr algn="l"/>
                      <a:r>
                        <a:rPr sz="800">
                          <a:solidFill>
                            <a:srgbClr val="1A1A1A"/>
                          </a:solidFill>
                        </a:rPr>
                        <a:t>Banks - Diversified</a:t>
                      </a:r>
                    </a:p>
                  </a:txBody>
                  <a:tcPr>
                    <a:solidFill>
                      <a:srgbClr val="F5F7FA"/>
                    </a:solidFill>
                  </a:tcPr>
                </a:tc>
                <a:tc>
                  <a:txBody>
                    <a:bodyPr/>
                    <a:lstStyle/>
                    <a:p>
                      <a:pPr algn="ctr"/>
                      <a:r>
                        <a:rPr sz="800">
                          <a:solidFill>
                            <a:srgbClr val="1A1A1A"/>
                          </a:solidFill>
                        </a:rPr>
                        <a:t>5</a:t>
                      </a:r>
                    </a:p>
                  </a:txBody>
                  <a:tcPr>
                    <a:solidFill>
                      <a:srgbClr val="F5F7FA"/>
                    </a:solidFill>
                  </a:tcPr>
                </a:tc>
                <a:tc>
                  <a:txBody>
                    <a:bodyPr/>
                    <a:lstStyle/>
                    <a:p>
                      <a:pPr algn="ctr"/>
                      <a:r>
                        <a:rPr sz="800">
                          <a:solidFill>
                            <a:srgbClr val="1A1A1A"/>
                          </a:solidFill>
                        </a:rPr>
                        <a:t>43</a:t>
                      </a:r>
                    </a:p>
                  </a:txBody>
                  <a:tcPr>
                    <a:solidFill>
                      <a:srgbClr val="F5F7FA"/>
                    </a:solidFill>
                  </a:tcPr>
                </a:tc>
                <a:tc>
                  <a:txBody>
                    <a:bodyPr/>
                    <a:lstStyle/>
                    <a:p>
                      <a:pPr algn="ctr"/>
                      <a:r>
                        <a:rPr sz="800" b="1">
                          <a:solidFill>
                            <a:srgbClr val="B06000"/>
                          </a:solidFill>
                        </a:rPr>
                        <a:t>Neutre</a:t>
                      </a:r>
                    </a:p>
                  </a:txBody>
                  <a:tcPr>
                    <a:solidFill>
                      <a:srgbClr val="F5F7FA"/>
                    </a:solidFill>
                  </a:tcPr>
                </a:tc>
                <a:tc>
                  <a:txBody>
                    <a:bodyPr/>
                    <a:lstStyle/>
                    <a:p>
                      <a:pPr algn="ctr"/>
                      <a:r>
                        <a:rPr sz="800">
                          <a:solidFill>
                            <a:srgbClr val="1A1A1A"/>
                          </a:solidFill>
                        </a:rPr>
                        <a:t>4.0x</a:t>
                      </a:r>
                    </a:p>
                  </a:txBody>
                  <a:tcPr>
                    <a:solidFill>
                      <a:srgbClr val="F5F7FA"/>
                    </a:solidFill>
                  </a:tcPr>
                </a:tc>
                <a:tc>
                  <a:txBody>
                    <a:bodyPr/>
                    <a:lstStyle/>
                    <a:p>
                      <a:pPr algn="ctr"/>
                      <a:r>
                        <a:rPr sz="800">
                          <a:solidFill>
                            <a:srgbClr val="1A1A1A"/>
                          </a:solidFill>
                        </a:rPr>
                        <a:t>92.8%</a:t>
                      </a:r>
                    </a:p>
                  </a:txBody>
                  <a:tcPr>
                    <a:solidFill>
                      <a:srgbClr val="F5F7FA"/>
                    </a:solidFill>
                  </a:tcPr>
                </a:tc>
                <a:tc>
                  <a:txBody>
                    <a:bodyPr/>
                    <a:lstStyle/>
                    <a:p>
                      <a:pPr algn="ctr"/>
                      <a:r>
                        <a:rPr sz="800">
                          <a:solidFill>
                            <a:srgbClr val="1A1A1A"/>
                          </a:solidFill>
                        </a:rPr>
                        <a:t>+6.8%</a:t>
                      </a:r>
                    </a:p>
                  </a:txBody>
                  <a:tcPr>
                    <a:solidFill>
                      <a:srgbClr val="F5F7FA"/>
                    </a:solidFill>
                  </a:tcPr>
                </a:tc>
                <a:tc>
                  <a:txBody>
                    <a:bodyPr/>
                    <a:lstStyle/>
                    <a:p>
                      <a:pPr algn="ctr"/>
                      <a:r>
                        <a:rPr sz="800">
                          <a:solidFill>
                            <a:srgbClr val="1A1A1A"/>
                          </a:solidFill>
                        </a:rPr>
                        <a:t>+23.6%</a:t>
                      </a:r>
                    </a:p>
                  </a:txBody>
                  <a:tcPr>
                    <a:solidFill>
                      <a:srgbClr val="F5F7FA"/>
                    </a:solidFill>
                  </a:tcPr>
                </a:tc>
              </a:tr>
              <a:tr h="198000">
                <a:tc>
                  <a:txBody>
                    <a:bodyPr/>
                    <a:lstStyle/>
                    <a:p>
                      <a:pPr algn="l"/>
                      <a:r>
                        <a:rPr sz="800">
                          <a:solidFill>
                            <a:srgbClr val="1A1A1A"/>
                          </a:solidFill>
                        </a:rPr>
                        <a:t>Asset Management</a:t>
                      </a:r>
                    </a:p>
                  </a:txBody>
                  <a:tcPr>
                    <a:solidFill>
                      <a:srgbClr val="FFFFFF"/>
                    </a:solidFill>
                  </a:tcPr>
                </a:tc>
                <a:tc>
                  <a:txBody>
                    <a:bodyPr/>
                    <a:lstStyle/>
                    <a:p>
                      <a:pPr algn="ctr"/>
                      <a:r>
                        <a:rPr sz="800">
                          <a:solidFill>
                            <a:srgbClr val="1A1A1A"/>
                          </a:solidFill>
                        </a:rPr>
                        <a:t>1</a:t>
                      </a:r>
                    </a:p>
                  </a:txBody>
                  <a:tcPr>
                    <a:solidFill>
                      <a:srgbClr val="FFFFFF"/>
                    </a:solidFill>
                  </a:tcPr>
                </a:tc>
                <a:tc>
                  <a:txBody>
                    <a:bodyPr/>
                    <a:lstStyle/>
                    <a:p>
                      <a:pPr algn="ctr"/>
                      <a:r>
                        <a:rPr sz="800">
                          <a:solidFill>
                            <a:srgbClr val="1A1A1A"/>
                          </a:solidFill>
                        </a:rPr>
                        <a:t>20</a:t>
                      </a:r>
                    </a:p>
                  </a:txBody>
                  <a:tcPr>
                    <a:solidFill>
                      <a:srgbClr val="FFFFFF"/>
                    </a:solidFill>
                  </a:tcPr>
                </a:tc>
                <a:tc>
                  <a:txBody>
                    <a:bodyPr/>
                    <a:lstStyle/>
                    <a:p>
                      <a:pPr algn="ctr"/>
                      <a:r>
                        <a:rPr sz="800" b="1">
                          <a:solidFill>
                            <a:srgbClr val="A82020"/>
                          </a:solidFill>
                        </a:rPr>
                        <a:t>Sous-pondérer</a:t>
                      </a:r>
                    </a:p>
                  </a:txBody>
                  <a:tcPr>
                    <a:solidFill>
                      <a:srgbClr val="FFFFFF"/>
                    </a:solidFill>
                  </a:tcPr>
                </a:tc>
                <a:tc>
                  <a:txBody>
                    <a:bodyPr/>
                    <a:lstStyle/>
                    <a:p>
                      <a:pPr algn="ctr"/>
                      <a:r>
                        <a:rPr sz="800">
                          <a:solidFill>
                            <a:srgbClr val="1A1A1A"/>
                          </a:solidFill>
                        </a:rPr>
                        <a:t>17.6x</a:t>
                      </a:r>
                    </a:p>
                  </a:txBody>
                  <a:tcPr>
                    <a:solidFill>
                      <a:srgbClr val="FFFFFF"/>
                    </a:solidFill>
                  </a:tcPr>
                </a:tc>
                <a:tc>
                  <a:txBody>
                    <a:bodyPr/>
                    <a:lstStyle/>
                    <a:p>
                      <a:pPr algn="ctr"/>
                      <a:r>
                        <a:rPr sz="800">
                          <a:solidFill>
                            <a:srgbClr val="1A1A1A"/>
                          </a:solidFill>
                        </a:rPr>
                        <a:t>38.6%</a:t>
                      </a:r>
                    </a:p>
                  </a:txBody>
                  <a:tcPr>
                    <a:solidFill>
                      <a:srgbClr val="FFFFFF"/>
                    </a:solidFill>
                  </a:tcPr>
                </a:tc>
                <a:tc>
                  <a:txBody>
                    <a:bodyPr/>
                    <a:lstStyle/>
                    <a:p>
                      <a:pPr algn="ctr"/>
                      <a:r>
                        <a:rPr sz="800">
                          <a:solidFill>
                            <a:srgbClr val="1A1A1A"/>
                          </a:solidFill>
                        </a:rPr>
                        <a:t>+18.7%</a:t>
                      </a:r>
                    </a:p>
                  </a:txBody>
                  <a:tcPr>
                    <a:solidFill>
                      <a:srgbClr val="FFFFFF"/>
                    </a:solidFill>
                  </a:tcPr>
                </a:tc>
                <a:tc>
                  <a:txBody>
                    <a:bodyPr/>
                    <a:lstStyle/>
                    <a:p>
                      <a:pPr algn="ctr"/>
                      <a:r>
                        <a:rPr sz="800">
                          <a:solidFill>
                            <a:srgbClr val="1A1A1A"/>
                          </a:solidFill>
                        </a:rPr>
                        <a:t>+9.8%</a:t>
                      </a:r>
                    </a:p>
                  </a:txBody>
                  <a:tcPr>
                    <a:solidFill>
                      <a:srgbClr val="FFFFFF"/>
                    </a:solidFill>
                  </a:tcPr>
                </a:tc>
              </a:tr>
            </a:tbl>
          </a:graphicData>
        </a:graphic>
      </p:graphicFrame>
      <p:sp>
        <p:nvSpPr>
          <p:cNvPr id="16" name="Rectangle 15"/>
          <p:cNvSpPr/>
          <p:nvPr/>
        </p:nvSpPr>
        <p:spPr>
          <a:xfrm>
            <a:off x="324000" y="2214000"/>
            <a:ext cx="8496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2260800"/>
            <a:ext cx="8352000" cy="162000"/>
          </a:xfrm>
          <a:prstGeom prst="rect">
            <a:avLst/>
          </a:prstGeom>
          <a:noFill/>
        </p:spPr>
        <p:txBody>
          <a:bodyPr wrap="square">
            <a:spAutoFit/>
          </a:bodyPr>
          <a:lstStyle/>
          <a:p>
            <a:pPr algn="l"/>
            <a:r>
              <a:rPr sz="1000" b="1" i="0">
                <a:solidFill>
                  <a:srgbClr val="FFFFFF"/>
                </a:solidFill>
              </a:rPr>
              <a:t>DISPERSION MARQUÉE — Capital Markets domine (+38 pts)</a:t>
            </a:r>
          </a:p>
        </p:txBody>
      </p:sp>
      <p:sp>
        <p:nvSpPr>
          <p:cNvPr id="18" name="Rectangle 17"/>
          <p:cNvSpPr/>
          <p:nvPr/>
        </p:nvSpPr>
        <p:spPr>
          <a:xfrm>
            <a:off x="324000" y="2502000"/>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2502000"/>
            <a:ext cx="43200" cy="162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000" y="2556000"/>
            <a:ext cx="8424000" cy="1530000"/>
          </a:xfrm>
          <a:prstGeom prst="rect">
            <a:avLst/>
          </a:prstGeom>
          <a:noFill/>
        </p:spPr>
        <p:txBody>
          <a:bodyPr wrap="square">
            <a:spAutoFit/>
          </a:bodyPr>
          <a:lstStyle/>
          <a:p>
            <a:pPr algn="l"/>
            <a:r>
              <a:rPr sz="900" b="0" i="0">
                <a:solidFill>
                  <a:srgbClr val="555555"/>
                </a:solidFill>
              </a:rPr>
              <a:t>Le sous-segment Capital Markets ressort en tête du classement avec un score composite de 58/100 et un signal neutre, porté par 3 acteurs dont MS, GS, SCHW. La valorisation médiane ressort sur 7.7x EV/EBITDA avec une marge EBITDA de 69.3% et une trajectoire top-line à +14.5% YoY. À l'inverse, Asset Management ferme la Marché (20/100, signal sous-pondérer), reflétant des fondamentaux sous pression ou une valorisation déjà tendue. L'écart de 38 points entre les extrêmes du classement justifie une approche sélective plutôt qu'une exposition beta uniforme au secteur. Cette cartographie guide le calibrage d'allocation sous-sectorielle : Surpondérer les segments avec score ≥ 60 et momentum positif, Sous-pondérer les segments avec marges compressees ou croissance negative, et conserver une exposition neutre aux segments en transition.</a:t>
            </a:r>
          </a:p>
        </p:txBody>
      </p:sp>
      <p:sp>
        <p:nvSpPr>
          <p:cNvPr id="21" name="Rectangle 2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Sociétés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15 sociétés analysées — scores FinSight, scatter &amp;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Sociétés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15 sociétés analysées  ·  Banques  ·  Global  ·  Tri par score FinSight decroissant</a:t>
            </a:r>
          </a:p>
        </p:txBody>
      </p:sp>
      <p:graphicFrame>
        <p:nvGraphicFramePr>
          <p:cNvPr id="15" name="Table 14"/>
          <p:cNvGraphicFramePr>
            <a:graphicFrameLocks noGrp="1"/>
          </p:cNvGraphicFramePr>
          <p:nvPr/>
        </p:nvGraphicFramePr>
        <p:xfrm>
          <a:off x="324000" y="900000"/>
          <a:ext cx="8495998" cy="1620000"/>
        </p:xfrm>
        <a:graphic>
          <a:graphicData uri="http://schemas.openxmlformats.org/drawingml/2006/table">
            <a:tbl>
              <a:tblPr firstRow="1" bandRow="1">
                <a:tableStyleId>{5C22544A-7EE6-4342-B048-85BDC9FD1C3A}</a:tableStyleId>
              </a:tblPr>
              <a:tblGrid>
                <a:gridCol w="288000"/>
                <a:gridCol w="648000"/>
                <a:gridCol w="1440000"/>
                <a:gridCol w="720000"/>
                <a:gridCol w="648000"/>
                <a:gridCol w="720000"/>
                <a:gridCol w="864000"/>
                <a:gridCol w="1007999"/>
                <a:gridCol w="1007999"/>
                <a:gridCol w="1152000"/>
              </a:tblGrid>
              <a:tr h="180000">
                <a:tc>
                  <a:txBody>
                    <a:bodyPr/>
                    <a:lstStyle/>
                    <a:p>
                      <a:pPr algn="ctr"/>
                      <a:r>
                        <a:rPr sz="750" b="1">
                          <a:solidFill>
                            <a:srgbClr val="FFFFFF"/>
                          </a:solidFill>
                        </a:rPr>
                        <a:t>#</a:t>
                      </a:r>
                    </a:p>
                  </a:txBody>
                  <a:tcPr>
                    <a:solidFill>
                      <a:srgbClr val="1B3A6B"/>
                    </a:solidFill>
                  </a:tcPr>
                </a:tc>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Score</a:t>
                      </a:r>
                    </a:p>
                  </a:txBody>
                  <a:tcPr>
                    <a:solidFill>
                      <a:srgbClr val="1B3A6B"/>
                    </a:solidFill>
                  </a:tcPr>
                </a:tc>
                <a:tc>
                  <a:txBody>
                    <a:bodyPr/>
                    <a:lstStyle/>
                    <a:p>
                      <a:pPr algn="ctr"/>
                      <a:r>
                        <a:rPr sz="750" b="1">
                          <a:solidFill>
                            <a:srgbClr val="FFFFFF"/>
                          </a:solidFill>
                        </a:rPr>
                        <a:t>Reco</a:t>
                      </a:r>
                    </a:p>
                  </a:txBody>
                  <a:tcPr>
                    <a:solidFill>
                      <a:srgbClr val="1B3A6B"/>
                    </a:solidFill>
                  </a:tcPr>
                </a:tc>
                <a:tc>
                  <a:txBody>
                    <a:bodyPr/>
                    <a:lstStyle/>
                    <a:p>
                      <a:pPr algn="ctr"/>
                      <a:r>
                        <a:rPr sz="750" b="1">
                          <a:solidFill>
                            <a:srgbClr val="FFFFFF"/>
                          </a:solidFill>
                        </a:rPr>
                        <a:t>Cours</a:t>
                      </a:r>
                    </a:p>
                  </a:txBody>
                  <a:tcPr>
                    <a:solidFill>
                      <a:srgbClr val="1B3A6B"/>
                    </a:solidFill>
                  </a:tcPr>
                </a:tc>
                <a:tc>
                  <a:txBody>
                    <a:bodyPr/>
                    <a:lstStyle/>
                    <a:p>
                      <a:pPr algn="ctr"/>
                      <a:r>
                        <a:rPr sz="750" b="1">
                          <a:solidFill>
                            <a:srgbClr val="FFFFFF"/>
                          </a:solidFill>
                        </a:rPr>
                        <a:t>EV/EBITDA</a:t>
                      </a:r>
                    </a:p>
                  </a:txBody>
                  <a:tcPr>
                    <a:solidFill>
                      <a:srgbClr val="1B3A6B"/>
                    </a:solidFill>
                  </a:tcPr>
                </a:tc>
                <a:tc>
                  <a:txBody>
                    <a:bodyPr/>
                    <a:lstStyle/>
                    <a:p>
                      <a:pPr algn="ctr"/>
                      <a:r>
                        <a:rPr sz="750" b="1">
                          <a:solidFill>
                            <a:srgbClr val="FFFFFF"/>
                          </a:solidFill>
                        </a:rPr>
                        <a:t>Mg EBITDA</a:t>
                      </a:r>
                    </a:p>
                  </a:txBody>
                  <a:tcPr>
                    <a:solidFill>
                      <a:srgbClr val="1B3A6B"/>
                    </a:solidFill>
                  </a:tcPr>
                </a:tc>
                <a:tc>
                  <a:txBody>
                    <a:bodyPr/>
                    <a:lstStyle/>
                    <a:p>
                      <a:pPr algn="ctr"/>
                      <a:r>
                        <a:rPr sz="750" b="1">
                          <a:solidFill>
                            <a:srgbClr val="FFFFFF"/>
                          </a:solidFill>
                        </a:rPr>
                        <a:t>Croissance</a:t>
                      </a:r>
                    </a:p>
                  </a:txBody>
                  <a:tcPr>
                    <a:solidFill>
                      <a:srgbClr val="1B3A6B"/>
                    </a:solidFill>
                  </a:tcPr>
                </a:tc>
                <a:tc>
                  <a:txBody>
                    <a:bodyPr/>
                    <a:lstStyle/>
                    <a:p>
                      <a:pPr algn="ctr"/>
                      <a:r>
                        <a:rPr sz="750" b="1">
                          <a:solidFill>
                            <a:srgbClr val="FFFFFF"/>
                          </a:solidFill>
                        </a:rPr>
                        <a:t>Momentum</a:t>
                      </a:r>
                    </a:p>
                  </a:txBody>
                  <a:tcPr>
                    <a:solidFill>
                      <a:srgbClr val="1B3A6B"/>
                    </a:solidFill>
                  </a:tcPr>
                </a:tc>
              </a:tr>
              <a:tr h="180000">
                <a:tc>
                  <a:txBody>
                    <a:bodyPr/>
                    <a:lstStyle/>
                    <a:p>
                      <a:pPr algn="ctr"/>
                      <a:r>
                        <a:rPr sz="750" b="0">
                          <a:solidFill>
                            <a:srgbClr val="1A1A1A"/>
                          </a:solidFill>
                        </a:rPr>
                        <a:t>1</a:t>
                      </a:r>
                    </a:p>
                  </a:txBody>
                  <a:tcPr>
                    <a:noFill/>
                  </a:tcPr>
                </a:tc>
                <a:tc>
                  <a:txBody>
                    <a:bodyPr/>
                    <a:lstStyle/>
                    <a:p>
                      <a:pPr algn="ctr"/>
                      <a:r>
                        <a:rPr sz="750" b="0">
                          <a:solidFill>
                            <a:srgbClr val="1A1A1A"/>
                          </a:solidFill>
                        </a:rPr>
                        <a:t>RF</a:t>
                      </a:r>
                    </a:p>
                  </a:txBody>
                  <a:tcPr>
                    <a:noFill/>
                  </a:tcPr>
                </a:tc>
                <a:tc>
                  <a:txBody>
                    <a:bodyPr/>
                    <a:lstStyle/>
                    <a:p>
                      <a:pPr algn="ctr"/>
                      <a:r>
                        <a:rPr sz="750" b="0">
                          <a:solidFill>
                            <a:srgbClr val="1A1A1A"/>
                          </a:solidFill>
                        </a:rPr>
                        <a:t>Regions Financial Corpora</a:t>
                      </a:r>
                    </a:p>
                  </a:txBody>
                  <a:tcPr>
                    <a:noFill/>
                  </a:tcPr>
                </a:tc>
                <a:tc>
                  <a:txBody>
                    <a:bodyPr/>
                    <a:lstStyle/>
                    <a:p>
                      <a:pPr algn="ctr"/>
                      <a:r>
                        <a:rPr sz="750" b="0">
                          <a:solidFill>
                            <a:srgbClr val="1A1A1A"/>
                          </a:solidFill>
                        </a:rPr>
                        <a:t>68/100</a:t>
                      </a:r>
                    </a:p>
                  </a:txBody>
                  <a:tcPr>
                    <a:noFill/>
                  </a:tcPr>
                </a:tc>
                <a:tc>
                  <a:txBody>
                    <a:bodyPr/>
                    <a:lstStyle/>
                    <a:p>
                      <a:pPr algn="ctr"/>
                      <a:r>
                        <a:rPr sz="750" b="0">
                          <a:solidFill>
                            <a:srgbClr val="1A1A1A"/>
                          </a:solidFill>
                        </a:rPr>
                        <a:t>BUY</a:t>
                      </a:r>
                    </a:p>
                  </a:txBody>
                  <a:tcPr>
                    <a:noFill/>
                  </a:tcPr>
                </a:tc>
                <a:tc>
                  <a:txBody>
                    <a:bodyPr/>
                    <a:lstStyle/>
                    <a:p>
                      <a:pPr algn="ctr"/>
                      <a:r>
                        <a:rPr sz="750" b="0">
                          <a:solidFill>
                            <a:srgbClr val="1A1A1A"/>
                          </a:solidFill>
                        </a:rPr>
                        <a:t>27.75</a:t>
                      </a:r>
                    </a:p>
                  </a:txBody>
                  <a:tcPr>
                    <a:noFill/>
                  </a:tcPr>
                </a:tc>
                <a:tc>
                  <a:txBody>
                    <a:bodyPr/>
                    <a:lstStyle/>
                    <a:p>
                      <a:pPr algn="ctr"/>
                      <a:r>
                        <a:rPr sz="750" b="0">
                          <a:solidFill>
                            <a:srgbClr val="1A1A1A"/>
                          </a:solidFill>
                        </a:rPr>
                        <a:t>3.6x</a:t>
                      </a:r>
                    </a:p>
                  </a:txBody>
                  <a:tcPr>
                    <a:noFill/>
                  </a:tcPr>
                </a:tc>
                <a:tc>
                  <a:txBody>
                    <a:bodyPr/>
                    <a:lstStyle/>
                    <a:p>
                      <a:pPr algn="ctr"/>
                      <a:r>
                        <a:rPr sz="750" b="0">
                          <a:solidFill>
                            <a:srgbClr val="1A1A1A"/>
                          </a:solidFill>
                        </a:rPr>
                        <a:t>65.2 %</a:t>
                      </a:r>
                    </a:p>
                  </a:txBody>
                  <a:tcPr>
                    <a:noFill/>
                  </a:tcPr>
                </a:tc>
                <a:tc>
                  <a:txBody>
                    <a:bodyPr/>
                    <a:lstStyle/>
                    <a:p>
                      <a:pPr algn="ctr"/>
                      <a:r>
                        <a:rPr sz="750" b="0">
                          <a:solidFill>
                            <a:srgbClr val="1A1A1A"/>
                          </a:solidFill>
                        </a:rPr>
                        <a:t>+6.3 %</a:t>
                      </a:r>
                    </a:p>
                  </a:txBody>
                  <a:tcPr>
                    <a:noFill/>
                  </a:tcPr>
                </a:tc>
                <a:tc>
                  <a:txBody>
                    <a:bodyPr/>
                    <a:lstStyle/>
                    <a:p>
                      <a:pPr algn="ctr"/>
                      <a:r>
                        <a:rPr sz="750" b="0">
                          <a:solidFill>
                            <a:srgbClr val="1A1A1A"/>
                          </a:solidFill>
                        </a:rPr>
                        <a:t>+34.9 %</a:t>
                      </a:r>
                    </a:p>
                  </a:txBody>
                  <a:tcPr>
                    <a:noFill/>
                  </a:tcPr>
                </a:tc>
              </a:tr>
              <a:tr h="180000">
                <a:tc>
                  <a:txBody>
                    <a:bodyPr/>
                    <a:lstStyle/>
                    <a:p>
                      <a:pPr algn="ctr"/>
                      <a:r>
                        <a:rPr sz="750" b="0">
                          <a:solidFill>
                            <a:srgbClr val="1A1A1A"/>
                          </a:solidFill>
                        </a:rPr>
                        <a:t>2</a:t>
                      </a:r>
                    </a:p>
                  </a:txBody>
                  <a:tcPr>
                    <a:solidFill>
                      <a:srgbClr val="F5F7FA"/>
                    </a:solidFill>
                  </a:tcPr>
                </a:tc>
                <a:tc>
                  <a:txBody>
                    <a:bodyPr/>
                    <a:lstStyle/>
                    <a:p>
                      <a:pPr algn="ctr"/>
                      <a:r>
                        <a:rPr sz="750" b="0">
                          <a:solidFill>
                            <a:srgbClr val="1A1A1A"/>
                          </a:solidFill>
                        </a:rPr>
                        <a:t>KEY</a:t>
                      </a:r>
                    </a:p>
                  </a:txBody>
                  <a:tcPr>
                    <a:solidFill>
                      <a:srgbClr val="F5F7FA"/>
                    </a:solidFill>
                  </a:tcPr>
                </a:tc>
                <a:tc>
                  <a:txBody>
                    <a:bodyPr/>
                    <a:lstStyle/>
                    <a:p>
                      <a:pPr algn="ctr"/>
                      <a:r>
                        <a:rPr sz="750" b="0">
                          <a:solidFill>
                            <a:srgbClr val="1A1A1A"/>
                          </a:solidFill>
                        </a:rPr>
                        <a:t>KeyCorp</a:t>
                      </a:r>
                    </a:p>
                  </a:txBody>
                  <a:tcPr>
                    <a:solidFill>
                      <a:srgbClr val="F5F7FA"/>
                    </a:solidFill>
                  </a:tcPr>
                </a:tc>
                <a:tc>
                  <a:txBody>
                    <a:bodyPr/>
                    <a:lstStyle/>
                    <a:p>
                      <a:pPr algn="ctr"/>
                      <a:r>
                        <a:rPr sz="750" b="0">
                          <a:solidFill>
                            <a:srgbClr val="1A1A1A"/>
                          </a:solidFill>
                        </a:rPr>
                        <a:t>64/100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21.63</a:t>
                      </a:r>
                    </a:p>
                  </a:txBody>
                  <a:tcPr>
                    <a:solidFill>
                      <a:srgbClr val="F5F7FA"/>
                    </a:solidFill>
                  </a:tcPr>
                </a:tc>
                <a:tc>
                  <a:txBody>
                    <a:bodyPr/>
                    <a:lstStyle/>
                    <a:p>
                      <a:pPr algn="ctr"/>
                      <a:r>
                        <a:rPr sz="750" b="0">
                          <a:solidFill>
                            <a:srgbClr val="1A1A1A"/>
                          </a:solidFill>
                        </a:rPr>
                        <a:t>5.4x</a:t>
                      </a:r>
                    </a:p>
                  </a:txBody>
                  <a:tcPr>
                    <a:solidFill>
                      <a:srgbClr val="F5F7FA"/>
                    </a:solidFill>
                  </a:tcPr>
                </a:tc>
                <a:tc>
                  <a:txBody>
                    <a:bodyPr/>
                    <a:lstStyle/>
                    <a:p>
                      <a:pPr algn="ctr"/>
                      <a:r>
                        <a:rPr sz="750" b="0">
                          <a:solidFill>
                            <a:srgbClr val="1A1A1A"/>
                          </a:solidFill>
                        </a:rPr>
                        <a:t>83.4 %</a:t>
                      </a:r>
                    </a:p>
                  </a:txBody>
                  <a:tcPr>
                    <a:solidFill>
                      <a:srgbClr val="F5F7FA"/>
                    </a:solidFill>
                  </a:tcPr>
                </a:tc>
                <a:tc>
                  <a:txBody>
                    <a:bodyPr/>
                    <a:lstStyle/>
                    <a:p>
                      <a:pPr algn="ctr"/>
                      <a:r>
                        <a:rPr sz="750" b="0">
                          <a:solidFill>
                            <a:srgbClr val="1A1A1A"/>
                          </a:solidFill>
                        </a:rPr>
                        <a:t>+65.7 %</a:t>
                      </a:r>
                    </a:p>
                  </a:txBody>
                  <a:tcPr>
                    <a:solidFill>
                      <a:srgbClr val="F5F7FA"/>
                    </a:solidFill>
                  </a:tcPr>
                </a:tc>
                <a:tc>
                  <a:txBody>
                    <a:bodyPr/>
                    <a:lstStyle/>
                    <a:p>
                      <a:pPr algn="ctr"/>
                      <a:r>
                        <a:rPr sz="750" b="0">
                          <a:solidFill>
                            <a:srgbClr val="1A1A1A"/>
                          </a:solidFill>
                        </a:rPr>
                        <a:t>+42.6 %</a:t>
                      </a:r>
                    </a:p>
                  </a:txBody>
                  <a:tcPr>
                    <a:solidFill>
                      <a:srgbClr val="F5F7FA"/>
                    </a:solidFill>
                  </a:tcPr>
                </a:tc>
              </a:tr>
              <a:tr h="180000">
                <a:tc>
                  <a:txBody>
                    <a:bodyPr/>
                    <a:lstStyle/>
                    <a:p>
                      <a:pPr algn="ctr"/>
                      <a:r>
                        <a:rPr sz="750" b="0">
                          <a:solidFill>
                            <a:srgbClr val="1A1A1A"/>
                          </a:solidFill>
                        </a:rPr>
                        <a:t>3</a:t>
                      </a:r>
                    </a:p>
                  </a:txBody>
                  <a:tcPr>
                    <a:noFill/>
                  </a:tcPr>
                </a:tc>
                <a:tc>
                  <a:txBody>
                    <a:bodyPr/>
                    <a:lstStyle/>
                    <a:p>
                      <a:pPr algn="ctr"/>
                      <a:r>
                        <a:rPr sz="750" b="0">
                          <a:solidFill>
                            <a:srgbClr val="1A1A1A"/>
                          </a:solidFill>
                        </a:rPr>
                        <a:t>MS</a:t>
                      </a:r>
                    </a:p>
                  </a:txBody>
                  <a:tcPr>
                    <a:noFill/>
                  </a:tcPr>
                </a:tc>
                <a:tc>
                  <a:txBody>
                    <a:bodyPr/>
                    <a:lstStyle/>
                    <a:p>
                      <a:pPr algn="ctr"/>
                      <a:r>
                        <a:rPr sz="750" b="0">
                          <a:solidFill>
                            <a:srgbClr val="1A1A1A"/>
                          </a:solidFill>
                        </a:rPr>
                        <a:t>Morgan Stanley</a:t>
                      </a:r>
                    </a:p>
                  </a:txBody>
                  <a:tcPr>
                    <a:noFill/>
                  </a:tcPr>
                </a:tc>
                <a:tc>
                  <a:txBody>
                    <a:bodyPr/>
                    <a:lstStyle/>
                    <a:p>
                      <a:pPr algn="ctr"/>
                      <a:r>
                        <a:rPr sz="750" b="0">
                          <a:solidFill>
                            <a:srgbClr val="1A1A1A"/>
                          </a:solidFill>
                        </a:rPr>
                        <a:t>61/100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183.34</a:t>
                      </a:r>
                    </a:p>
                  </a:txBody>
                  <a:tcPr>
                    <a:noFill/>
                  </a:tcPr>
                </a:tc>
                <a:tc>
                  <a:txBody>
                    <a:bodyPr/>
                    <a:lstStyle/>
                    <a:p>
                      <a:pPr algn="ctr"/>
                      <a:r>
                        <a:rPr sz="750" b="0">
                          <a:solidFill>
                            <a:srgbClr val="1A1A1A"/>
                          </a:solidFill>
                        </a:rPr>
                        <a:t>7.7x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+14.5 %</a:t>
                      </a:r>
                    </a:p>
                  </a:txBody>
                  <a:tcPr>
                    <a:noFill/>
                  </a:tcPr>
                </a:tc>
                <a:tc>
                  <a:txBody>
                    <a:bodyPr/>
                    <a:lstStyle/>
                    <a:p>
                      <a:pPr algn="ctr"/>
                      <a:r>
                        <a:rPr sz="750" b="0">
                          <a:solidFill>
                            <a:srgbClr val="1A1A1A"/>
                          </a:solidFill>
                        </a:rPr>
                        <a:t>+45.9 %</a:t>
                      </a:r>
                    </a:p>
                  </a:txBody>
                  <a:tcPr>
                    <a:noFill/>
                  </a:tcPr>
                </a:tc>
              </a:tr>
              <a:tr h="180000">
                <a:tc>
                  <a:txBody>
                    <a:bodyPr/>
                    <a:lstStyle/>
                    <a:p>
                      <a:pPr algn="ctr"/>
                      <a:r>
                        <a:rPr sz="750" b="0">
                          <a:solidFill>
                            <a:srgbClr val="1A1A1A"/>
                          </a:solidFill>
                        </a:rPr>
                        <a:t>4</a:t>
                      </a:r>
                    </a:p>
                  </a:txBody>
                  <a:tcPr>
                    <a:solidFill>
                      <a:srgbClr val="F5F7FA"/>
                    </a:solidFill>
                  </a:tcPr>
                </a:tc>
                <a:tc>
                  <a:txBody>
                    <a:bodyPr/>
                    <a:lstStyle/>
                    <a:p>
                      <a:pPr algn="ctr"/>
                      <a:r>
                        <a:rPr sz="750" b="0">
                          <a:solidFill>
                            <a:srgbClr val="1A1A1A"/>
                          </a:solidFill>
                        </a:rPr>
                        <a:t>TFC</a:t>
                      </a:r>
                    </a:p>
                  </a:txBody>
                  <a:tcPr>
                    <a:solidFill>
                      <a:srgbClr val="F5F7FA"/>
                    </a:solidFill>
                  </a:tcPr>
                </a:tc>
                <a:tc>
                  <a:txBody>
                    <a:bodyPr/>
                    <a:lstStyle/>
                    <a:p>
                      <a:pPr algn="ctr"/>
                      <a:r>
                        <a:rPr sz="750" b="0">
                          <a:solidFill>
                            <a:srgbClr val="1A1A1A"/>
                          </a:solidFill>
                        </a:rPr>
                        <a:t>Truist Financial Corporat</a:t>
                      </a:r>
                    </a:p>
                  </a:txBody>
                  <a:tcPr>
                    <a:solidFill>
                      <a:srgbClr val="F5F7FA"/>
                    </a:solidFill>
                  </a:tcPr>
                </a:tc>
                <a:tc>
                  <a:txBody>
                    <a:bodyPr/>
                    <a:lstStyle/>
                    <a:p>
                      <a:pPr algn="ctr"/>
                      <a:r>
                        <a:rPr sz="750" b="0">
                          <a:solidFill>
                            <a:srgbClr val="1A1A1A"/>
                          </a:solidFill>
                        </a:rPr>
                        <a:t>61/100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49.53</a:t>
                      </a:r>
                    </a:p>
                  </a:txBody>
                  <a:tcPr>
                    <a:solidFill>
                      <a:srgbClr val="F5F7FA"/>
                    </a:solidFill>
                  </a:tcPr>
                </a:tc>
                <a:tc>
                  <a:txBody>
                    <a:bodyPr/>
                    <a:lstStyle/>
                    <a:p>
                      <a:pPr algn="ctr"/>
                      <a:r>
                        <a:rPr sz="750" b="0">
                          <a:solidFill>
                            <a:srgbClr val="1A1A1A"/>
                          </a:solidFill>
                        </a:rPr>
                        <a:t>5.2x</a:t>
                      </a:r>
                    </a:p>
                  </a:txBody>
                  <a:tcPr>
                    <a:solidFill>
                      <a:srgbClr val="F5F7FA"/>
                    </a:solidFill>
                  </a:tcPr>
                </a:tc>
                <a:tc>
                  <a:txBody>
                    <a:bodyPr/>
                    <a:lstStyle/>
                    <a:p>
                      <a:pPr algn="ctr"/>
                      <a:r>
                        <a:rPr sz="750" b="0">
                          <a:solidFill>
                            <a:srgbClr val="1A1A1A"/>
                          </a:solidFill>
                        </a:rPr>
                        <a:t>85.2 %</a:t>
                      </a:r>
                    </a:p>
                  </a:txBody>
                  <a:tcPr>
                    <a:solidFill>
                      <a:srgbClr val="F5F7FA"/>
                    </a:solidFill>
                  </a:tcPr>
                </a:tc>
                <a:tc>
                  <a:txBody>
                    <a:bodyPr/>
                    <a:lstStyle/>
                    <a:p>
                      <a:pPr algn="ctr"/>
                      <a:r>
                        <a:rPr sz="750" b="0">
                          <a:solidFill>
                            <a:srgbClr val="1A1A1A"/>
                          </a:solidFill>
                        </a:rPr>
                        <a:t>+53.0 %</a:t>
                      </a:r>
                    </a:p>
                  </a:txBody>
                  <a:tcPr>
                    <a:solidFill>
                      <a:srgbClr val="F5F7FA"/>
                    </a:solidFill>
                  </a:tcPr>
                </a:tc>
                <a:tc>
                  <a:txBody>
                    <a:bodyPr/>
                    <a:lstStyle/>
                    <a:p>
                      <a:pPr algn="ctr"/>
                      <a:r>
                        <a:rPr sz="750" b="0">
                          <a:solidFill>
                            <a:srgbClr val="1A1A1A"/>
                          </a:solidFill>
                        </a:rPr>
                        <a:t>+31.4 %</a:t>
                      </a:r>
                    </a:p>
                  </a:txBody>
                  <a:tcPr>
                    <a:solidFill>
                      <a:srgbClr val="F5F7FA"/>
                    </a:solidFill>
                  </a:tcPr>
                </a:tc>
              </a:tr>
              <a:tr h="180000">
                <a:tc>
                  <a:txBody>
                    <a:bodyPr/>
                    <a:lstStyle/>
                    <a:p>
                      <a:pPr algn="ctr"/>
                      <a:r>
                        <a:rPr sz="750" b="0">
                          <a:solidFill>
                            <a:srgbClr val="1A1A1A"/>
                          </a:solidFill>
                        </a:rPr>
                        <a:t>5</a:t>
                      </a:r>
                    </a:p>
                  </a:txBody>
                  <a:tcPr>
                    <a:noFill/>
                  </a:tcPr>
                </a:tc>
                <a:tc>
                  <a:txBody>
                    <a:bodyPr/>
                    <a:lstStyle/>
                    <a:p>
                      <a:pPr algn="ctr"/>
                      <a:r>
                        <a:rPr sz="750" b="0">
                          <a:solidFill>
                            <a:srgbClr val="1A1A1A"/>
                          </a:solidFill>
                        </a:rPr>
                        <a:t>BK</a:t>
                      </a:r>
                    </a:p>
                  </a:txBody>
                  <a:tcPr>
                    <a:noFill/>
                  </a:tcPr>
                </a:tc>
                <a:tc>
                  <a:txBody>
                    <a:bodyPr/>
                    <a:lstStyle/>
                    <a:p>
                      <a:pPr algn="ctr"/>
                      <a:r>
                        <a:rPr sz="750" b="0">
                          <a:solidFill>
                            <a:srgbClr val="1A1A1A"/>
                          </a:solidFill>
                        </a:rPr>
                        <a:t>The Bank of New York Mell</a:t>
                      </a:r>
                    </a:p>
                  </a:txBody>
                  <a:tcPr>
                    <a:noFill/>
                  </a:tcPr>
                </a:tc>
                <a:tc>
                  <a:txBody>
                    <a:bodyPr/>
                    <a:lstStyle/>
                    <a:p>
                      <a:pPr algn="ctr"/>
                      <a:r>
                        <a:rPr sz="750" b="0">
                          <a:solidFill>
                            <a:srgbClr val="1A1A1A"/>
                          </a:solidFill>
                        </a:rPr>
                        <a:t>61/100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130.51</a:t>
                      </a:r>
                    </a:p>
                  </a:txBody>
                  <a:tcPr>
                    <a:noFill/>
                  </a:tcPr>
                </a:tc>
                <a:tc>
                  <a:txBody>
                    <a:bodyPr/>
                    <a:lstStyle/>
                    <a:p>
                      <a:pPr algn="ctr"/>
                      <a:r>
                        <a:rPr sz="750" b="0">
                          <a:solidFill>
                            <a:srgbClr val="1A1A1A"/>
                          </a:solidFill>
                        </a:rPr>
                        <a:t>-0.2x</a:t>
                      </a:r>
                    </a:p>
                  </a:txBody>
                  <a:tcPr>
                    <a:noFill/>
                  </a:tcPr>
                </a:tc>
                <a:tc>
                  <a:txBody>
                    <a:bodyPr/>
                    <a:lstStyle/>
                    <a:p>
                      <a:pPr algn="ctr"/>
                      <a:r>
                        <a:rPr sz="750" b="0">
                          <a:solidFill>
                            <a:srgbClr val="1A1A1A"/>
                          </a:solidFill>
                        </a:rPr>
                        <a:t>—</a:t>
                      </a:r>
                    </a:p>
                  </a:txBody>
                  <a:tcPr>
                    <a:noFill/>
                  </a:tcPr>
                </a:tc>
                <a:tc>
                  <a:txBody>
                    <a:bodyPr/>
                    <a:lstStyle/>
                    <a:p>
                      <a:pPr algn="ctr"/>
                      <a:r>
                        <a:rPr sz="750" b="0">
                          <a:solidFill>
                            <a:srgbClr val="1A1A1A"/>
                          </a:solidFill>
                        </a:rPr>
                        <a:t>+8.2 %</a:t>
                      </a:r>
                    </a:p>
                  </a:txBody>
                  <a:tcPr>
                    <a:noFill/>
                  </a:tcPr>
                </a:tc>
                <a:tc>
                  <a:txBody>
                    <a:bodyPr/>
                    <a:lstStyle/>
                    <a:p>
                      <a:pPr algn="ctr"/>
                      <a:r>
                        <a:rPr sz="750" b="0">
                          <a:solidFill>
                            <a:srgbClr val="1A1A1A"/>
                          </a:solidFill>
                        </a:rPr>
                        <a:t>+49.5 %</a:t>
                      </a:r>
                    </a:p>
                  </a:txBody>
                  <a:tcPr>
                    <a:noFill/>
                  </a:tcPr>
                </a:tc>
              </a:tr>
              <a:tr h="180000">
                <a:tc>
                  <a:txBody>
                    <a:bodyPr/>
                    <a:lstStyle/>
                    <a:p>
                      <a:pPr algn="ctr"/>
                      <a:r>
                        <a:rPr sz="750" b="0">
                          <a:solidFill>
                            <a:srgbClr val="1A1A1A"/>
                          </a:solidFill>
                        </a:rPr>
                        <a:t>6</a:t>
                      </a:r>
                    </a:p>
                  </a:txBody>
                  <a:tcPr>
                    <a:solidFill>
                      <a:srgbClr val="F5F7FA"/>
                    </a:solidFill>
                  </a:tcPr>
                </a:tc>
                <a:tc>
                  <a:txBody>
                    <a:bodyPr/>
                    <a:lstStyle/>
                    <a:p>
                      <a:pPr algn="ctr"/>
                      <a:r>
                        <a:rPr sz="750" b="0">
                          <a:solidFill>
                            <a:srgbClr val="1A1A1A"/>
                          </a:solidFill>
                        </a:rPr>
                        <a:t>GS</a:t>
                      </a:r>
                    </a:p>
                  </a:txBody>
                  <a:tcPr>
                    <a:solidFill>
                      <a:srgbClr val="F5F7FA"/>
                    </a:solidFill>
                  </a:tcPr>
                </a:tc>
                <a:tc>
                  <a:txBody>
                    <a:bodyPr/>
                    <a:lstStyle/>
                    <a:p>
                      <a:pPr algn="ctr"/>
                      <a:r>
                        <a:rPr sz="750" b="0">
                          <a:solidFill>
                            <a:srgbClr val="1A1A1A"/>
                          </a:solidFill>
                        </a:rPr>
                        <a:t>The Goldman Sachs Group, </a:t>
                      </a:r>
                    </a:p>
                  </a:txBody>
                  <a:tcPr>
                    <a:solidFill>
                      <a:srgbClr val="F5F7FA"/>
                    </a:solidFill>
                  </a:tcPr>
                </a:tc>
                <a:tc>
                  <a:txBody>
                    <a:bodyPr/>
                    <a:lstStyle/>
                    <a:p>
                      <a:pPr algn="ctr"/>
                      <a:r>
                        <a:rPr sz="750" b="0">
                          <a:solidFill>
                            <a:srgbClr val="1A1A1A"/>
                          </a:solidFill>
                        </a:rPr>
                        <a:t>59/100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909.63</a:t>
                      </a:r>
                    </a:p>
                  </a:txBody>
                  <a:tcPr>
                    <a:solidFill>
                      <a:srgbClr val="F5F7FA"/>
                    </a:solidFill>
                  </a:tcPr>
                </a:tc>
                <a:tc>
                  <a:txBody>
                    <a:bodyPr/>
                    <a:lstStyle/>
                    <a:p>
                      <a:pPr algn="ctr"/>
                      <a:r>
                        <a:rPr sz="750" b="0">
                          <a:solidFill>
                            <a:srgbClr val="1A1A1A"/>
                          </a:solidFill>
                        </a:rPr>
                        <a:t>5.4x</a:t>
                      </a:r>
                    </a:p>
                  </a:txBody>
                  <a:tcPr>
                    <a:solidFill>
                      <a:srgbClr val="F5F7FA"/>
                    </a:solidFill>
                  </a:tcPr>
                </a:tc>
                <a:tc>
                  <a:txBody>
                    <a:bodyPr/>
                    <a:lstStyle/>
                    <a:p>
                      <a:pPr algn="ctr"/>
                      <a:r>
                        <a:rPr sz="750" b="0">
                          <a:solidFill>
                            <a:srgbClr val="1A1A1A"/>
                          </a:solidFill>
                        </a:rPr>
                        <a:t>—</a:t>
                      </a:r>
                    </a:p>
                  </a:txBody>
                  <a:tcPr>
                    <a:solidFill>
                      <a:srgbClr val="F5F7FA"/>
                    </a:solidFill>
                  </a:tcPr>
                </a:tc>
                <a:tc>
                  <a:txBody>
                    <a:bodyPr/>
                    <a:lstStyle/>
                    <a:p>
                      <a:pPr algn="ctr"/>
                      <a:r>
                        <a:rPr sz="750" b="0">
                          <a:solidFill>
                            <a:srgbClr val="1A1A1A"/>
                          </a:solidFill>
                        </a:rPr>
                        <a:t>+8.9 %</a:t>
                      </a:r>
                    </a:p>
                  </a:txBody>
                  <a:tcPr>
                    <a:solidFill>
                      <a:srgbClr val="F5F7FA"/>
                    </a:solidFill>
                  </a:tcPr>
                </a:tc>
                <a:tc>
                  <a:txBody>
                    <a:bodyPr/>
                    <a:lstStyle/>
                    <a:p>
                      <a:pPr algn="ctr"/>
                      <a:r>
                        <a:rPr sz="750" b="0">
                          <a:solidFill>
                            <a:srgbClr val="1A1A1A"/>
                          </a:solidFill>
                        </a:rPr>
                        <a:t>+54.6 %</a:t>
                      </a:r>
                    </a:p>
                  </a:txBody>
                  <a:tcPr>
                    <a:solidFill>
                      <a:srgbClr val="F5F7FA"/>
                    </a:solidFill>
                  </a:tcPr>
                </a:tc>
              </a:tr>
              <a:tr h="180000">
                <a:tc>
                  <a:txBody>
                    <a:bodyPr/>
                    <a:lstStyle/>
                    <a:p>
                      <a:pPr algn="ctr"/>
                      <a:r>
                        <a:rPr sz="750" b="0">
                          <a:solidFill>
                            <a:srgbClr val="1A1A1A"/>
                          </a:solidFill>
                        </a:rPr>
                        <a:t>7</a:t>
                      </a:r>
                    </a:p>
                  </a:txBody>
                  <a:tcPr>
                    <a:noFill/>
                  </a:tcPr>
                </a:tc>
                <a:tc>
                  <a:txBody>
                    <a:bodyPr/>
                    <a:lstStyle/>
                    <a:p>
                      <a:pPr algn="ctr"/>
                      <a:r>
                        <a:rPr sz="750" b="0">
                          <a:solidFill>
                            <a:srgbClr val="1A1A1A"/>
                          </a:solidFill>
                        </a:rPr>
                        <a:t>USB</a:t>
                      </a:r>
                    </a:p>
                  </a:txBody>
                  <a:tcPr>
                    <a:noFill/>
                  </a:tcPr>
                </a:tc>
                <a:tc>
                  <a:txBody>
                    <a:bodyPr/>
                    <a:lstStyle/>
                    <a:p>
                      <a:pPr algn="ctr"/>
                      <a:r>
                        <a:rPr sz="750" b="0">
                          <a:solidFill>
                            <a:srgbClr val="1A1A1A"/>
                          </a:solidFill>
                        </a:rPr>
                        <a:t>U.S. Bancorp</a:t>
                      </a:r>
                    </a:p>
                  </a:txBody>
                  <a:tcPr>
                    <a:noFill/>
                  </a:tcPr>
                </a:tc>
                <a:tc>
                  <a:txBody>
                    <a:bodyPr/>
                    <a:lstStyle/>
                    <a:p>
                      <a:pPr algn="ctr"/>
                      <a:r>
                        <a:rPr sz="750" b="0">
                          <a:solidFill>
                            <a:srgbClr val="1A1A1A"/>
                          </a:solidFill>
                        </a:rPr>
                        <a:t>57/100</a:t>
                      </a:r>
                    </a:p>
                  </a:txBody>
                  <a:tcPr>
                    <a:noFill/>
                  </a:tcPr>
                </a:tc>
                <a:tc>
                  <a:txBody>
                    <a:bodyPr/>
                    <a:lstStyle/>
                    <a:p>
                      <a:pPr algn="ctr"/>
                      <a:r>
                        <a:rPr sz="750" b="0">
                          <a:solidFill>
                            <a:srgbClr val="1A1A1A"/>
                          </a:solidFill>
                        </a:rPr>
                        <a:t>HOLD</a:t>
                      </a:r>
                    </a:p>
                  </a:txBody>
                  <a:tcPr>
                    <a:noFill/>
                  </a:tcPr>
                </a:tc>
                <a:tc>
                  <a:txBody>
                    <a:bodyPr/>
                    <a:lstStyle/>
                    <a:p>
                      <a:pPr algn="ctr"/>
                      <a:r>
                        <a:rPr sz="750" b="0">
                          <a:solidFill>
                            <a:srgbClr val="1A1A1A"/>
                          </a:solidFill>
                        </a:rPr>
                        <a:t>56.09</a:t>
                      </a:r>
                    </a:p>
                  </a:txBody>
                  <a:tcPr>
                    <a:noFill/>
                  </a:tcPr>
                </a:tc>
                <a:tc>
                  <a:txBody>
                    <a:bodyPr/>
                    <a:lstStyle/>
                    <a:p>
                      <a:pPr algn="ctr"/>
                      <a:r>
                        <a:rPr sz="750" b="0">
                          <a:solidFill>
                            <a:srgbClr val="1A1A1A"/>
                          </a:solidFill>
                        </a:rPr>
                        <a:t>4.4x</a:t>
                      </a:r>
                    </a:p>
                  </a:txBody>
                  <a:tcPr>
                    <a:noFill/>
                  </a:tcPr>
                </a:tc>
                <a:tc>
                  <a:txBody>
                    <a:bodyPr/>
                    <a:lstStyle/>
                    <a:p>
                      <a:pPr algn="ctr"/>
                      <a:r>
                        <a:rPr sz="750" b="0">
                          <a:solidFill>
                            <a:srgbClr val="1A1A1A"/>
                          </a:solidFill>
                        </a:rPr>
                        <a:t>86.5 %</a:t>
                      </a:r>
                    </a:p>
                  </a:txBody>
                  <a:tcPr>
                    <a:noFill/>
                  </a:tcPr>
                </a:tc>
                <a:tc>
                  <a:txBody>
                    <a:bodyPr/>
                    <a:lstStyle/>
                    <a:p>
                      <a:pPr algn="ctr"/>
                      <a:r>
                        <a:rPr sz="750" b="0">
                          <a:solidFill>
                            <a:srgbClr val="1A1A1A"/>
                          </a:solidFill>
                        </a:rPr>
                        <a:t>+4.4 %</a:t>
                      </a:r>
                    </a:p>
                  </a:txBody>
                  <a:tcPr>
                    <a:noFill/>
                  </a:tcPr>
                </a:tc>
                <a:tc>
                  <a:txBody>
                    <a:bodyPr/>
                    <a:lstStyle/>
                    <a:p>
                      <a:pPr algn="ctr"/>
                      <a:r>
                        <a:rPr sz="750" b="0">
                          <a:solidFill>
                            <a:srgbClr val="1A1A1A"/>
                          </a:solidFill>
                        </a:rPr>
                        <a:t>+34.1 %</a:t>
                      </a:r>
                    </a:p>
                  </a:txBody>
                  <a:tcPr>
                    <a:noFill/>
                  </a:tcPr>
                </a:tc>
              </a:tr>
              <a:tr h="180000">
                <a:tc>
                  <a:txBody>
                    <a:bodyPr/>
                    <a:lstStyle/>
                    <a:p>
                      <a:pPr algn="ctr"/>
                      <a:r>
                        <a:rPr sz="750" b="0">
                          <a:solidFill>
                            <a:srgbClr val="1A1A1A"/>
                          </a:solidFill>
                        </a:rPr>
                        <a:t>8</a:t>
                      </a:r>
                    </a:p>
                  </a:txBody>
                  <a:tcPr>
                    <a:solidFill>
                      <a:srgbClr val="F5F7FA"/>
                    </a:solidFill>
                  </a:tcPr>
                </a:tc>
                <a:tc>
                  <a:txBody>
                    <a:bodyPr/>
                    <a:lstStyle/>
                    <a:p>
                      <a:pPr algn="ctr"/>
                      <a:r>
                        <a:rPr sz="750" b="0">
                          <a:solidFill>
                            <a:srgbClr val="1A1A1A"/>
                          </a:solidFill>
                        </a:rPr>
                        <a:t>PNC</a:t>
                      </a:r>
                    </a:p>
                  </a:txBody>
                  <a:tcPr>
                    <a:solidFill>
                      <a:srgbClr val="F5F7FA"/>
                    </a:solidFill>
                  </a:tcPr>
                </a:tc>
                <a:tc>
                  <a:txBody>
                    <a:bodyPr/>
                    <a:lstStyle/>
                    <a:p>
                      <a:pPr algn="ctr"/>
                      <a:r>
                        <a:rPr sz="750" b="0">
                          <a:solidFill>
                            <a:srgbClr val="1A1A1A"/>
                          </a:solidFill>
                        </a:rPr>
                        <a:t>The PNC Financial Service</a:t>
                      </a:r>
                    </a:p>
                  </a:txBody>
                  <a:tcPr>
                    <a:solidFill>
                      <a:srgbClr val="F5F7FA"/>
                    </a:solidFill>
                  </a:tcPr>
                </a:tc>
                <a:tc>
                  <a:txBody>
                    <a:bodyPr/>
                    <a:lstStyle/>
                    <a:p>
                      <a:pPr algn="ctr"/>
                      <a:r>
                        <a:rPr sz="750" b="0">
                          <a:solidFill>
                            <a:srgbClr val="1A1A1A"/>
                          </a:solidFill>
                        </a:rPr>
                        <a:t>54/100</a:t>
                      </a:r>
                    </a:p>
                  </a:txBody>
                  <a:tcPr>
                    <a:solidFill>
                      <a:srgbClr val="F5F7FA"/>
                    </a:solidFill>
                  </a:tcPr>
                </a:tc>
                <a:tc>
                  <a:txBody>
                    <a:bodyPr/>
                    <a:lstStyle/>
                    <a:p>
                      <a:pPr algn="ctr"/>
                      <a:r>
                        <a:rPr sz="750" b="0">
                          <a:solidFill>
                            <a:srgbClr val="1A1A1A"/>
                          </a:solidFill>
                        </a:rPr>
                        <a:t>HOLD</a:t>
                      </a:r>
                    </a:p>
                  </a:txBody>
                  <a:tcPr>
                    <a:solidFill>
                      <a:srgbClr val="F5F7FA"/>
                    </a:solidFill>
                  </a:tcPr>
                </a:tc>
                <a:tc>
                  <a:txBody>
                    <a:bodyPr/>
                    <a:lstStyle/>
                    <a:p>
                      <a:pPr algn="ctr"/>
                      <a:r>
                        <a:rPr sz="750" b="0">
                          <a:solidFill>
                            <a:srgbClr val="1A1A1A"/>
                          </a:solidFill>
                        </a:rPr>
                        <a:t>221.2</a:t>
                      </a:r>
                    </a:p>
                  </a:txBody>
                  <a:tcPr>
                    <a:solidFill>
                      <a:srgbClr val="F5F7FA"/>
                    </a:solidFill>
                  </a:tcPr>
                </a:tc>
                <a:tc>
                  <a:txBody>
                    <a:bodyPr/>
                    <a:lstStyle/>
                    <a:p>
                      <a:pPr algn="ctr"/>
                      <a:r>
                        <a:rPr sz="750" b="0">
                          <a:solidFill>
                            <a:srgbClr val="1A1A1A"/>
                          </a:solidFill>
                        </a:rPr>
                        <a:t>5.4x</a:t>
                      </a:r>
                    </a:p>
                  </a:txBody>
                  <a:tcPr>
                    <a:solidFill>
                      <a:srgbClr val="F5F7FA"/>
                    </a:solidFill>
                  </a:tcPr>
                </a:tc>
                <a:tc>
                  <a:txBody>
                    <a:bodyPr/>
                    <a:lstStyle/>
                    <a:p>
                      <a:pPr algn="ctr"/>
                      <a:r>
                        <a:rPr sz="750" b="0">
                          <a:solidFill>
                            <a:srgbClr val="1A1A1A"/>
                          </a:solidFill>
                        </a:rPr>
                        <a:t>85.4 %</a:t>
                      </a:r>
                    </a:p>
                  </a:txBody>
                  <a:tcPr>
                    <a:solidFill>
                      <a:srgbClr val="F5F7FA"/>
                    </a:solidFill>
                  </a:tcPr>
                </a:tc>
                <a:tc>
                  <a:txBody>
                    <a:bodyPr/>
                    <a:lstStyle/>
                    <a:p>
                      <a:pPr algn="ctr"/>
                      <a:r>
                        <a:rPr sz="750" b="0">
                          <a:solidFill>
                            <a:srgbClr val="1A1A1A"/>
                          </a:solidFill>
                        </a:rPr>
                        <a:t>+10.9 %</a:t>
                      </a:r>
                    </a:p>
                  </a:txBody>
                  <a:tcPr>
                    <a:solidFill>
                      <a:srgbClr val="F5F7FA"/>
                    </a:solidFill>
                  </a:tcPr>
                </a:tc>
                <a:tc>
                  <a:txBody>
                    <a:bodyPr/>
                    <a:lstStyle/>
                    <a:p>
                      <a:pPr algn="ctr"/>
                      <a:r>
                        <a:rPr sz="750" b="0">
                          <a:solidFill>
                            <a:srgbClr val="1A1A1A"/>
                          </a:solidFill>
                        </a:rPr>
                        <a:t>+31.5 %</a:t>
                      </a:r>
                    </a:p>
                  </a:txBody>
                  <a:tcPr>
                    <a:solidFill>
                      <a:srgbClr val="F5F7FA"/>
                    </a:solidFill>
                  </a:tcPr>
                </a:tc>
              </a:tr>
            </a:tbl>
          </a:graphicData>
        </a:graphic>
      </p:graphicFrame>
      <p:sp>
        <p:nvSpPr>
          <p:cNvPr id="16" name="Rectangle 15"/>
          <p:cNvSpPr/>
          <p:nvPr/>
        </p:nvSpPr>
        <p:spPr>
          <a:xfrm>
            <a:off x="324000" y="2951999"/>
            <a:ext cx="8496000" cy="162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951999"/>
            <a:ext cx="36000" cy="162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006000"/>
            <a:ext cx="8280000" cy="216000"/>
          </a:xfrm>
          <a:prstGeom prst="rect">
            <a:avLst/>
          </a:prstGeom>
          <a:noFill/>
        </p:spPr>
        <p:txBody>
          <a:bodyPr wrap="square">
            <a:spAutoFit/>
          </a:bodyPr>
          <a:lstStyle/>
          <a:p>
            <a:pPr algn="l"/>
            <a:r>
              <a:rPr sz="900" b="1" i="0">
                <a:solidFill>
                  <a:srgbClr val="1B3A6B"/>
                </a:solidFill>
              </a:rPr>
              <a:t>Banques — 1 BUY / 9 HOLD / 5 SELL · Regions Financial Corp en tête (68/100)</a:t>
            </a:r>
          </a:p>
        </p:txBody>
      </p:sp>
      <p:sp>
        <p:nvSpPr>
          <p:cNvPr id="19" name="TextBox 18"/>
          <p:cNvSpPr txBox="1"/>
          <p:nvPr/>
        </p:nvSpPr>
        <p:spPr>
          <a:xfrm>
            <a:off x="468000" y="3257999"/>
            <a:ext cx="8280000" cy="1260000"/>
          </a:xfrm>
          <a:prstGeom prst="rect">
            <a:avLst/>
          </a:prstGeom>
          <a:noFill/>
        </p:spPr>
        <p:txBody>
          <a:bodyPr wrap="square">
            <a:spAutoFit/>
          </a:bodyPr>
          <a:lstStyle/>
          <a:p>
            <a:pPr algn="l"/>
            <a:r>
              <a:rPr sz="850" b="0" i="0">
                <a:solidFill>
                  <a:srgbClr val="555555"/>
                </a:solidFill>
              </a:rPr>
              <a:t>Le secteur Banques présente 1 BUY / 9 HOLD / 5 SELL sur 15 valeurs analysées. Regions Financial Corp (score 68/100) constitue le coeur offensif recommande — fondamentaux solides et visibilité supérieure sur les revenus. La répartition des recommandations reflète un positionnément selectif cohérent avec la phase sectorielle actuelle. Les catalyseurs identifies — résultats trimestriels, guidance annuel, opérations M&amp;A — constituent les événements cles a surveiller pour un renforcement conditionnel des positions.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Classement EV/EBITDA</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acteur  ·  Tri croissant  ·  Vert = sous Médiane (opportunité relative)  ·  Top 15</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RF offre la meilleure asymétrie — EV/EBITDA de 3.6x sous la Médiane de 5.3x avec un score FinSight de 68/100.
MS traite en prime (7.7x vs Médiane 5.3x) — vérifier si la croissance justifié ce multiple.
Médiane sectorielle : 5.3x. Les barres vertes sous cette ligne sont les candidats privilegies a analyser via Analyse Société individuelle (DCF, WACC, scénarios).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Scores FinSight Detailles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Décomposition par dimension  ·  Value · Growth · Quality · Momentum  ·  Score 0-100</a:t>
            </a:r>
          </a:p>
        </p:txBody>
      </p:sp>
      <p:graphicFrame>
        <p:nvGraphicFramePr>
          <p:cNvPr id="15" name="Table 14"/>
          <p:cNvGraphicFramePr>
            <a:graphicFrameLocks noGrp="1"/>
          </p:cNvGraphicFramePr>
          <p:nvPr/>
        </p:nvGraphicFramePr>
        <p:xfrm>
          <a:off x="324000" y="900000"/>
          <a:ext cx="8495997" cy="3110400"/>
        </p:xfrm>
        <a:graphic>
          <a:graphicData uri="http://schemas.openxmlformats.org/drawingml/2006/table">
            <a:tbl>
              <a:tblPr firstRow="1" bandRow="1">
                <a:tableStyleId>{5C22544A-7EE6-4342-B048-85BDC9FD1C3A}</a:tableStyleId>
              </a:tblPr>
              <a:tblGrid>
                <a:gridCol w="783041"/>
                <a:gridCol w="1761843"/>
                <a:gridCol w="1174562"/>
                <a:gridCol w="861345"/>
                <a:gridCol w="861345"/>
                <a:gridCol w="1096258"/>
                <a:gridCol w="1174562"/>
                <a:gridCol w="783041"/>
              </a:tblGrid>
              <a:tr h="2592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Score Global</a:t>
                      </a:r>
                    </a:p>
                  </a:txBody>
                  <a:tcPr>
                    <a:solidFill>
                      <a:srgbClr val="1B3A6B"/>
                    </a:solidFill>
                  </a:tcPr>
                </a:tc>
                <a:tc>
                  <a:txBody>
                    <a:bodyPr/>
                    <a:lstStyle/>
                    <a:p>
                      <a:pPr algn="ctr"/>
                      <a:r>
                        <a:rPr sz="750" b="1">
                          <a:solidFill>
                            <a:srgbClr val="FFFFFF"/>
                          </a:solidFill>
                        </a:rPr>
                        <a:t>Value</a:t>
                      </a:r>
                    </a:p>
                  </a:txBody>
                  <a:tcPr>
                    <a:solidFill>
                      <a:srgbClr val="1B3A6B"/>
                    </a:solidFill>
                  </a:tcPr>
                </a:tc>
                <a:tc>
                  <a:txBody>
                    <a:bodyPr/>
                    <a:lstStyle/>
                    <a:p>
                      <a:pPr algn="ctr"/>
                      <a:r>
                        <a:rPr sz="750" b="1">
                          <a:solidFill>
                            <a:srgbClr val="FFFFFF"/>
                          </a:solidFill>
                        </a:rPr>
                        <a:t>Growth</a:t>
                      </a:r>
                    </a:p>
                  </a:txBody>
                  <a:tcPr>
                    <a:solidFill>
                      <a:srgbClr val="1B3A6B"/>
                    </a:solidFill>
                  </a:tcPr>
                </a:tc>
                <a:tc>
                  <a:txBody>
                    <a:bodyPr/>
                    <a:lstStyle/>
                    <a:p>
                      <a:pPr algn="ctr"/>
                      <a:r>
                        <a:rPr sz="750" b="1">
                          <a:solidFill>
                            <a:srgbClr val="FFFFFF"/>
                          </a:solidFill>
                        </a:rPr>
                        <a:t>Quality</a:t>
                      </a:r>
                    </a:p>
                  </a:txBody>
                  <a:tcPr>
                    <a:solidFill>
                      <a:srgbClr val="1B3A6B"/>
                    </a:solidFill>
                  </a:tcPr>
                </a:tc>
                <a:tc>
                  <a:txBody>
                    <a:bodyPr/>
                    <a:lstStyle/>
                    <a:p>
                      <a:pPr algn="ctr"/>
                      <a:r>
                        <a:rPr sz="750" b="1">
                          <a:solidFill>
                            <a:srgbClr val="FFFFFF"/>
                          </a:solidFill>
                        </a:rPr>
                        <a:t>Momentum</a:t>
                      </a:r>
                    </a:p>
                  </a:txBody>
                  <a:tcPr>
                    <a:solidFill>
                      <a:srgbClr val="1B3A6B"/>
                    </a:solidFill>
                  </a:tcPr>
                </a:tc>
                <a:tc>
                  <a:txBody>
                    <a:bodyPr/>
                    <a:lstStyle/>
                    <a:p>
                      <a:pPr algn="ctr"/>
                      <a:r>
                        <a:rPr sz="750" b="1">
                          <a:solidFill>
                            <a:srgbClr val="FFFFFF"/>
                          </a:solidFill>
                        </a:rPr>
                        <a:t>Reco</a:t>
                      </a:r>
                    </a:p>
                  </a:txBody>
                  <a:tcPr>
                    <a:solidFill>
                      <a:srgbClr val="1B3A6B"/>
                    </a:solidFill>
                  </a:tcPr>
                </a:tc>
              </a:tr>
              <a:tr h="259200">
                <a:tc>
                  <a:txBody>
                    <a:bodyPr/>
                    <a:lstStyle/>
                    <a:p>
                      <a:pPr algn="ctr"/>
                      <a:r>
                        <a:rPr sz="750" b="0">
                          <a:solidFill>
                            <a:srgbClr val="1A1A1A"/>
                          </a:solidFill>
                        </a:rPr>
                        <a:t>RF</a:t>
                      </a:r>
                    </a:p>
                  </a:txBody>
                  <a:tcPr>
                    <a:noFill/>
                  </a:tcPr>
                </a:tc>
                <a:tc>
                  <a:txBody>
                    <a:bodyPr/>
                    <a:lstStyle/>
                    <a:p>
                      <a:pPr algn="ctr"/>
                      <a:r>
                        <a:rPr sz="750" b="0">
                          <a:solidFill>
                            <a:srgbClr val="1A1A1A"/>
                          </a:solidFill>
                        </a:rPr>
                        <a:t>Regions Financial Corpora</a:t>
                      </a:r>
                    </a:p>
                  </a:txBody>
                  <a:tcPr>
                    <a:noFill/>
                  </a:tcPr>
                </a:tc>
                <a:tc>
                  <a:txBody>
                    <a:bodyPr/>
                    <a:lstStyle/>
                    <a:p>
                      <a:pPr algn="ctr"/>
                      <a:r>
                        <a:rPr sz="750" b="0">
                          <a:solidFill>
                            <a:srgbClr val="1A1A1A"/>
                          </a:solidFill>
                        </a:rPr>
                        <a:t>68/100</a:t>
                      </a:r>
                    </a:p>
                  </a:txBody>
                  <a:tcPr>
                    <a:noFill/>
                  </a:tcPr>
                </a:tc>
                <a:tc>
                  <a:txBody>
                    <a:bodyPr/>
                    <a:lstStyle/>
                    <a:p>
                      <a:pPr algn="ctr"/>
                      <a:r>
                        <a:rPr sz="750" b="1">
                          <a:solidFill>
                            <a:srgbClr val="1A7A4A"/>
                          </a:solidFill>
                        </a:rPr>
                        <a:t>100</a:t>
                      </a:r>
                    </a:p>
                  </a:txBody>
                  <a:tcPr>
                    <a:solidFill>
                      <a:srgbClr val="C8E6C9"/>
                    </a:solidFill>
                  </a:tcPr>
                </a:tc>
                <a:tc>
                  <a:txBody>
                    <a:bodyPr/>
                    <a:lstStyle/>
                    <a:p>
                      <a:pPr algn="ctr"/>
                      <a:r>
                        <a:rPr sz="750" b="1">
                          <a:solidFill>
                            <a:srgbClr val="B06000"/>
                          </a:solidFill>
                        </a:rPr>
                        <a:t>50</a:t>
                      </a:r>
                    </a:p>
                  </a:txBody>
                  <a:tcPr>
                    <a:solidFill>
                      <a:srgbClr val="FFF3E0"/>
                    </a:solidFill>
                  </a:tcPr>
                </a:tc>
                <a:tc>
                  <a:txBody>
                    <a:bodyPr/>
                    <a:lstStyle/>
                    <a:p>
                      <a:pPr algn="ctr"/>
                      <a:r>
                        <a:rPr sz="750" b="1">
                          <a:solidFill>
                            <a:srgbClr val="B06000"/>
                          </a:solidFill>
                        </a:rPr>
                        <a:t>57</a:t>
                      </a:r>
                    </a:p>
                  </a:txBody>
                  <a:tcPr>
                    <a:solidFill>
                      <a:srgbClr val="FFF3E0"/>
                    </a:solidFill>
                  </a:tcPr>
                </a:tc>
                <a:tc>
                  <a:txBody>
                    <a:bodyPr/>
                    <a:lstStyle/>
                    <a:p>
                      <a:pPr algn="ctr"/>
                      <a:r>
                        <a:rPr sz="750" b="1">
                          <a:solidFill>
                            <a:srgbClr val="B06000"/>
                          </a:solidFill>
                        </a:rPr>
                        <a:t>64</a:t>
                      </a:r>
                    </a:p>
                  </a:txBody>
                  <a:tcPr>
                    <a:solidFill>
                      <a:srgbClr val="FFF3E0"/>
                    </a:solidFill>
                  </a:tcPr>
                </a:tc>
                <a:tc>
                  <a:txBody>
                    <a:bodyPr/>
                    <a:lstStyle/>
                    <a:p>
                      <a:pPr algn="ctr"/>
                      <a:r>
                        <a:rPr sz="750" b="0">
                          <a:solidFill>
                            <a:srgbClr val="1A1A1A"/>
                          </a:solidFill>
                        </a:rPr>
                        <a:t>BUY</a:t>
                      </a:r>
                    </a:p>
                  </a:txBody>
                  <a:tcPr>
                    <a:noFill/>
                  </a:tcPr>
                </a:tc>
              </a:tr>
              <a:tr h="259200">
                <a:tc>
                  <a:txBody>
                    <a:bodyPr/>
                    <a:lstStyle/>
                    <a:p>
                      <a:pPr algn="ctr"/>
                      <a:r>
                        <a:rPr sz="750" b="0">
                          <a:solidFill>
                            <a:srgbClr val="1A1A1A"/>
                          </a:solidFill>
                        </a:rPr>
                        <a:t>KEY</a:t>
                      </a:r>
                    </a:p>
                  </a:txBody>
                  <a:tcPr>
                    <a:noFill/>
                  </a:tcPr>
                </a:tc>
                <a:tc>
                  <a:txBody>
                    <a:bodyPr/>
                    <a:lstStyle/>
                    <a:p>
                      <a:pPr algn="ctr"/>
                      <a:r>
                        <a:rPr sz="750" b="0">
                          <a:solidFill>
                            <a:srgbClr val="1A1A1A"/>
                          </a:solidFill>
                        </a:rPr>
                        <a:t>KeyCorp</a:t>
                      </a:r>
                    </a:p>
                  </a:txBody>
                  <a:tcPr>
                    <a:noFill/>
                  </a:tcPr>
                </a:tc>
                <a:tc>
                  <a:txBody>
                    <a:bodyPr/>
                    <a:lstStyle/>
                    <a:p>
                      <a:pPr algn="ctr"/>
                      <a:r>
                        <a:rPr sz="750" b="0">
                          <a:solidFill>
                            <a:srgbClr val="1A1A1A"/>
                          </a:solidFill>
                        </a:rPr>
                        <a:t>64/100</a:t>
                      </a:r>
                    </a:p>
                  </a:txBody>
                  <a:tcPr>
                    <a:noFill/>
                  </a:tcPr>
                </a:tc>
                <a:tc>
                  <a:txBody>
                    <a:bodyPr/>
                    <a:lstStyle/>
                    <a:p>
                      <a:pPr algn="ctr"/>
                      <a:r>
                        <a:rPr sz="750" b="1">
                          <a:solidFill>
                            <a:srgbClr val="B06000"/>
                          </a:solidFill>
                        </a:rPr>
                        <a:t>64</a:t>
                      </a:r>
                    </a:p>
                  </a:txBody>
                  <a:tcPr>
                    <a:solidFill>
                      <a:srgbClr val="FFF3E0"/>
                    </a:solidFill>
                  </a:tcPr>
                </a:tc>
                <a:tc>
                  <a:txBody>
                    <a:bodyPr/>
                    <a:lstStyle/>
                    <a:p>
                      <a:pPr algn="ctr"/>
                      <a:r>
                        <a:rPr sz="750" b="1">
                          <a:solidFill>
                            <a:srgbClr val="1A7A4A"/>
                          </a:solidFill>
                        </a:rPr>
                        <a:t>100</a:t>
                      </a:r>
                    </a:p>
                  </a:txBody>
                  <a:tcPr>
                    <a:solidFill>
                      <a:srgbClr val="C8E6C9"/>
                    </a:solidFill>
                  </a:tcPr>
                </a:tc>
                <a:tc>
                  <a:txBody>
                    <a:bodyPr/>
                    <a:lstStyle/>
                    <a:p>
                      <a:pPr algn="ctr"/>
                      <a:r>
                        <a:rPr sz="750" b="1">
                          <a:solidFill>
                            <a:srgbClr val="A82020"/>
                          </a:solidFill>
                        </a:rPr>
                        <a:t>21</a:t>
                      </a:r>
                    </a:p>
                  </a:txBody>
                  <a:tcPr>
                    <a:solidFill>
                      <a:srgbClr val="FFEBEE"/>
                    </a:solidFill>
                  </a:tcPr>
                </a:tc>
                <a:tc>
                  <a:txBody>
                    <a:bodyPr/>
                    <a:lstStyle/>
                    <a:p>
                      <a:pPr algn="ctr"/>
                      <a:r>
                        <a:rPr sz="750" b="1">
                          <a:solidFill>
                            <a:srgbClr val="1A7A4A"/>
                          </a:solidFill>
                        </a:rPr>
                        <a:t>71</a:t>
                      </a:r>
                    </a:p>
                  </a:txBody>
                  <a:tcPr>
                    <a:solidFill>
                      <a:srgbClr val="C8E6C9"/>
                    </a:solidFill>
                  </a:tcPr>
                </a:tc>
                <a:tc>
                  <a:txBody>
                    <a:bodyPr/>
                    <a:lstStyle/>
                    <a:p>
                      <a:pPr algn="ctr"/>
                      <a:r>
                        <a:rPr sz="750" b="0">
                          <a:solidFill>
                            <a:srgbClr val="1A1A1A"/>
                          </a:solidFill>
                        </a:rPr>
                        <a:t>HOLD</a:t>
                      </a:r>
                    </a:p>
                  </a:txBody>
                  <a:tcPr>
                    <a:noFill/>
                  </a:tcPr>
                </a:tc>
              </a:tr>
              <a:tr h="259200">
                <a:tc>
                  <a:txBody>
                    <a:bodyPr/>
                    <a:lstStyle/>
                    <a:p>
                      <a:pPr algn="ctr"/>
                      <a:r>
                        <a:rPr sz="750" b="0">
                          <a:solidFill>
                            <a:srgbClr val="1A1A1A"/>
                          </a:solidFill>
                        </a:rPr>
                        <a:t>MS</a:t>
                      </a:r>
                    </a:p>
                  </a:txBody>
                  <a:tcPr>
                    <a:noFill/>
                  </a:tcPr>
                </a:tc>
                <a:tc>
                  <a:txBody>
                    <a:bodyPr/>
                    <a:lstStyle/>
                    <a:p>
                      <a:pPr algn="ctr"/>
                      <a:r>
                        <a:rPr sz="750" b="0">
                          <a:solidFill>
                            <a:srgbClr val="1A1A1A"/>
                          </a:solidFill>
                        </a:rPr>
                        <a:t>Morgan Stanley</a:t>
                      </a:r>
                    </a:p>
                  </a:txBody>
                  <a:tcPr>
                    <a:noFill/>
                  </a:tcPr>
                </a:tc>
                <a:tc>
                  <a:txBody>
                    <a:bodyPr/>
                    <a:lstStyle/>
                    <a:p>
                      <a:pPr algn="ctr"/>
                      <a:r>
                        <a:rPr sz="750" b="0">
                          <a:solidFill>
                            <a:srgbClr val="1A1A1A"/>
                          </a:solidFill>
                        </a:rPr>
                        <a:t>61/100</a:t>
                      </a:r>
                    </a:p>
                  </a:txBody>
                  <a:tcPr>
                    <a:noFill/>
                  </a:tcPr>
                </a:tc>
                <a:tc>
                  <a:txBody>
                    <a:bodyPr/>
                    <a:lstStyle/>
                    <a:p>
                      <a:pPr algn="ctr"/>
                      <a:r>
                        <a:rPr sz="750" b="1">
                          <a:solidFill>
                            <a:srgbClr val="A82020"/>
                          </a:solidFill>
                        </a:rPr>
                        <a:t>14</a:t>
                      </a:r>
                    </a:p>
                  </a:txBody>
                  <a:tcPr>
                    <a:solidFill>
                      <a:srgbClr val="FFEBEE"/>
                    </a:solidFill>
                  </a:tcPr>
                </a:tc>
                <a:tc>
                  <a:txBody>
                    <a:bodyPr/>
                    <a:lstStyle/>
                    <a:p>
                      <a:pPr algn="ctr"/>
                      <a:r>
                        <a:rPr sz="750" b="1">
                          <a:solidFill>
                            <a:srgbClr val="1A7A4A"/>
                          </a:solidFill>
                        </a:rPr>
                        <a:t>79</a:t>
                      </a:r>
                    </a:p>
                  </a:txBody>
                  <a:tcPr>
                    <a:solidFill>
                      <a:srgbClr val="C8E6C9"/>
                    </a:solidFill>
                  </a:tcPr>
                </a:tc>
                <a:tc>
                  <a:txBody>
                    <a:bodyPr/>
                    <a:lstStyle/>
                    <a:p>
                      <a:pPr algn="ctr"/>
                      <a:r>
                        <a:rPr sz="750" b="1">
                          <a:solidFill>
                            <a:srgbClr val="1A7A4A"/>
                          </a:solidFill>
                        </a:rPr>
                        <a:t>71</a:t>
                      </a:r>
                    </a:p>
                  </a:txBody>
                  <a:tcPr>
                    <a:solidFill>
                      <a:srgbClr val="C8E6C9"/>
                    </a:solidFill>
                  </a:tcPr>
                </a:tc>
                <a:tc>
                  <a:txBody>
                    <a:bodyPr/>
                    <a:lstStyle/>
                    <a:p>
                      <a:pPr algn="ctr"/>
                      <a:r>
                        <a:rPr sz="750" b="1">
                          <a:solidFill>
                            <a:srgbClr val="1A7A4A"/>
                          </a:solidFill>
                        </a:rPr>
                        <a:t>79</a:t>
                      </a:r>
                    </a:p>
                  </a:txBody>
                  <a:tcPr>
                    <a:solidFill>
                      <a:srgbClr val="C8E6C9"/>
                    </a:solidFill>
                  </a:tcPr>
                </a:tc>
                <a:tc>
                  <a:txBody>
                    <a:bodyPr/>
                    <a:lstStyle/>
                    <a:p>
                      <a:pPr algn="ctr"/>
                      <a:r>
                        <a:rPr sz="750" b="0">
                          <a:solidFill>
                            <a:srgbClr val="1A1A1A"/>
                          </a:solidFill>
                        </a:rPr>
                        <a:t>HOLD</a:t>
                      </a:r>
                    </a:p>
                  </a:txBody>
                  <a:tcPr>
                    <a:noFill/>
                  </a:tcPr>
                </a:tc>
              </a:tr>
              <a:tr h="259200">
                <a:tc>
                  <a:txBody>
                    <a:bodyPr/>
                    <a:lstStyle/>
                    <a:p>
                      <a:pPr algn="ctr"/>
                      <a:r>
                        <a:rPr sz="750" b="0">
                          <a:solidFill>
                            <a:srgbClr val="1A1A1A"/>
                          </a:solidFill>
                        </a:rPr>
                        <a:t>TFC</a:t>
                      </a:r>
                    </a:p>
                  </a:txBody>
                  <a:tcPr>
                    <a:noFill/>
                  </a:tcPr>
                </a:tc>
                <a:tc>
                  <a:txBody>
                    <a:bodyPr/>
                    <a:lstStyle/>
                    <a:p>
                      <a:pPr algn="ctr"/>
                      <a:r>
                        <a:rPr sz="750" b="0">
                          <a:solidFill>
                            <a:srgbClr val="1A1A1A"/>
                          </a:solidFill>
                        </a:rPr>
                        <a:t>Truist Financial Corporat</a:t>
                      </a:r>
                    </a:p>
                  </a:txBody>
                  <a:tcPr>
                    <a:noFill/>
                  </a:tcPr>
                </a:tc>
                <a:tc>
                  <a:txBody>
                    <a:bodyPr/>
                    <a:lstStyle/>
                    <a:p>
                      <a:pPr algn="ctr"/>
                      <a:r>
                        <a:rPr sz="750" b="0">
                          <a:solidFill>
                            <a:srgbClr val="1A1A1A"/>
                          </a:solidFill>
                        </a:rPr>
                        <a:t>61/100</a:t>
                      </a:r>
                    </a:p>
                  </a:txBody>
                  <a:tcPr>
                    <a:noFill/>
                  </a:tcPr>
                </a:tc>
                <a:tc>
                  <a:txBody>
                    <a:bodyPr/>
                    <a:lstStyle/>
                    <a:p>
                      <a:pPr algn="ctr"/>
                      <a:r>
                        <a:rPr sz="750" b="1">
                          <a:solidFill>
                            <a:srgbClr val="1A7A4A"/>
                          </a:solidFill>
                        </a:rPr>
                        <a:t>93</a:t>
                      </a:r>
                    </a:p>
                  </a:txBody>
                  <a:tcPr>
                    <a:solidFill>
                      <a:srgbClr val="C8E6C9"/>
                    </a:solidFill>
                  </a:tcPr>
                </a:tc>
                <a:tc>
                  <a:txBody>
                    <a:bodyPr/>
                    <a:lstStyle/>
                    <a:p>
                      <a:pPr algn="ctr"/>
                      <a:r>
                        <a:rPr sz="750" b="1">
                          <a:solidFill>
                            <a:srgbClr val="1A7A4A"/>
                          </a:solidFill>
                        </a:rPr>
                        <a:t>93</a:t>
                      </a:r>
                    </a:p>
                  </a:txBody>
                  <a:tcPr>
                    <a:solidFill>
                      <a:srgbClr val="C8E6C9"/>
                    </a:solidFill>
                  </a:tcPr>
                </a:tc>
                <a:tc>
                  <a:txBody>
                    <a:bodyPr/>
                    <a:lstStyle/>
                    <a:p>
                      <a:pPr algn="ctr"/>
                      <a:r>
                        <a:rPr sz="750" b="1">
                          <a:solidFill>
                            <a:srgbClr val="A82020"/>
                          </a:solidFill>
                        </a:rPr>
                        <a:t>14</a:t>
                      </a:r>
                    </a:p>
                  </a:txBody>
                  <a:tcPr>
                    <a:solidFill>
                      <a:srgbClr val="FFEBEE"/>
                    </a:solidFill>
                  </a:tcPr>
                </a:tc>
                <a:tc>
                  <a:txBody>
                    <a:bodyPr/>
                    <a:lstStyle/>
                    <a:p>
                      <a:pPr algn="ctr"/>
                      <a:r>
                        <a:rPr sz="750" b="1">
                          <a:solidFill>
                            <a:srgbClr val="A82020"/>
                          </a:solidFill>
                        </a:rPr>
                        <a:t>43</a:t>
                      </a:r>
                    </a:p>
                  </a:txBody>
                  <a:tcPr>
                    <a:solidFill>
                      <a:srgbClr val="FFEBEE"/>
                    </a:solidFill>
                  </a:tcPr>
                </a:tc>
                <a:tc>
                  <a:txBody>
                    <a:bodyPr/>
                    <a:lstStyle/>
                    <a:p>
                      <a:pPr algn="ctr"/>
                      <a:r>
                        <a:rPr sz="750" b="0">
                          <a:solidFill>
                            <a:srgbClr val="1A1A1A"/>
                          </a:solidFill>
                        </a:rPr>
                        <a:t>HOLD</a:t>
                      </a:r>
                    </a:p>
                  </a:txBody>
                  <a:tcPr>
                    <a:noFill/>
                  </a:tcPr>
                </a:tc>
              </a:tr>
              <a:tr h="259200">
                <a:tc>
                  <a:txBody>
                    <a:bodyPr/>
                    <a:lstStyle/>
                    <a:p>
                      <a:pPr algn="ctr"/>
                      <a:r>
                        <a:rPr sz="750" b="0">
                          <a:solidFill>
                            <a:srgbClr val="1A1A1A"/>
                          </a:solidFill>
                        </a:rPr>
                        <a:t>BK</a:t>
                      </a:r>
                    </a:p>
                  </a:txBody>
                  <a:tcPr>
                    <a:noFill/>
                  </a:tcPr>
                </a:tc>
                <a:tc>
                  <a:txBody>
                    <a:bodyPr/>
                    <a:lstStyle/>
                    <a:p>
                      <a:pPr algn="ctr"/>
                      <a:r>
                        <a:rPr sz="750" b="0">
                          <a:solidFill>
                            <a:srgbClr val="1A1A1A"/>
                          </a:solidFill>
                        </a:rPr>
                        <a:t>The Bank of New York Mell</a:t>
                      </a:r>
                    </a:p>
                  </a:txBody>
                  <a:tcPr>
                    <a:noFill/>
                  </a:tcPr>
                </a:tc>
                <a:tc>
                  <a:txBody>
                    <a:bodyPr/>
                    <a:lstStyle/>
                    <a:p>
                      <a:pPr algn="ctr"/>
                      <a:r>
                        <a:rPr sz="750" b="0">
                          <a:solidFill>
                            <a:srgbClr val="1A1A1A"/>
                          </a:solidFill>
                        </a:rPr>
                        <a:t>61/100</a:t>
                      </a:r>
                    </a:p>
                  </a:txBody>
                  <a:tcPr>
                    <a:noFill/>
                  </a:tcPr>
                </a:tc>
                <a:tc>
                  <a:txBody>
                    <a:bodyPr/>
                    <a:lstStyle/>
                    <a:p>
                      <a:pPr algn="ctr"/>
                      <a:r>
                        <a:rPr sz="750" b="1">
                          <a:solidFill>
                            <a:srgbClr val="A82020"/>
                          </a:solidFill>
                        </a:rPr>
                        <a:t>21</a:t>
                      </a:r>
                    </a:p>
                  </a:txBody>
                  <a:tcPr>
                    <a:solidFill>
                      <a:srgbClr val="FFEBEE"/>
                    </a:solidFill>
                  </a:tcPr>
                </a:tc>
                <a:tc>
                  <a:txBody>
                    <a:bodyPr/>
                    <a:lstStyle/>
                    <a:p>
                      <a:pPr algn="ctr"/>
                      <a:r>
                        <a:rPr sz="750" b="1">
                          <a:solidFill>
                            <a:srgbClr val="B06000"/>
                          </a:solidFill>
                        </a:rPr>
                        <a:t>57</a:t>
                      </a:r>
                    </a:p>
                  </a:txBody>
                  <a:tcPr>
                    <a:solidFill>
                      <a:srgbClr val="FFF3E0"/>
                    </a:solidFill>
                  </a:tcPr>
                </a:tc>
                <a:tc>
                  <a:txBody>
                    <a:bodyPr/>
                    <a:lstStyle/>
                    <a:p>
                      <a:pPr algn="ctr"/>
                      <a:r>
                        <a:rPr sz="750" b="1">
                          <a:solidFill>
                            <a:srgbClr val="1A7A4A"/>
                          </a:solidFill>
                        </a:rPr>
                        <a:t>79</a:t>
                      </a:r>
                    </a:p>
                  </a:txBody>
                  <a:tcPr>
                    <a:solidFill>
                      <a:srgbClr val="C8E6C9"/>
                    </a:solidFill>
                  </a:tcPr>
                </a:tc>
                <a:tc>
                  <a:txBody>
                    <a:bodyPr/>
                    <a:lstStyle/>
                    <a:p>
                      <a:pPr algn="ctr"/>
                      <a:r>
                        <a:rPr sz="750" b="1">
                          <a:solidFill>
                            <a:srgbClr val="1A7A4A"/>
                          </a:solidFill>
                        </a:rPr>
                        <a:t>86</a:t>
                      </a:r>
                    </a:p>
                  </a:txBody>
                  <a:tcPr>
                    <a:solidFill>
                      <a:srgbClr val="C8E6C9"/>
                    </a:solidFill>
                  </a:tcPr>
                </a:tc>
                <a:tc>
                  <a:txBody>
                    <a:bodyPr/>
                    <a:lstStyle/>
                    <a:p>
                      <a:pPr algn="ctr"/>
                      <a:r>
                        <a:rPr sz="750" b="0">
                          <a:solidFill>
                            <a:srgbClr val="1A1A1A"/>
                          </a:solidFill>
                        </a:rPr>
                        <a:t>HOLD</a:t>
                      </a:r>
                    </a:p>
                  </a:txBody>
                  <a:tcPr>
                    <a:noFill/>
                  </a:tcPr>
                </a:tc>
              </a:tr>
              <a:tr h="259200">
                <a:tc>
                  <a:txBody>
                    <a:bodyPr/>
                    <a:lstStyle/>
                    <a:p>
                      <a:pPr algn="ctr"/>
                      <a:r>
                        <a:rPr sz="750" b="0">
                          <a:solidFill>
                            <a:srgbClr val="1A1A1A"/>
                          </a:solidFill>
                        </a:rPr>
                        <a:t>GS</a:t>
                      </a:r>
                    </a:p>
                  </a:txBody>
                  <a:tcPr>
                    <a:noFill/>
                  </a:tcPr>
                </a:tc>
                <a:tc>
                  <a:txBody>
                    <a:bodyPr/>
                    <a:lstStyle/>
                    <a:p>
                      <a:pPr algn="ctr"/>
                      <a:r>
                        <a:rPr sz="750" b="0">
                          <a:solidFill>
                            <a:srgbClr val="1A1A1A"/>
                          </a:solidFill>
                        </a:rPr>
                        <a:t>The Goldman Sachs Group, </a:t>
                      </a:r>
                    </a:p>
                  </a:txBody>
                  <a:tcPr>
                    <a:noFill/>
                  </a:tcPr>
                </a:tc>
                <a:tc>
                  <a:txBody>
                    <a:bodyPr/>
                    <a:lstStyle/>
                    <a:p>
                      <a:pPr algn="ctr"/>
                      <a:r>
                        <a:rPr sz="750" b="0">
                          <a:solidFill>
                            <a:srgbClr val="1A1A1A"/>
                          </a:solidFill>
                        </a:rPr>
                        <a:t>59/100</a:t>
                      </a:r>
                    </a:p>
                  </a:txBody>
                  <a:tcPr>
                    <a:noFill/>
                  </a:tcPr>
                </a:tc>
                <a:tc>
                  <a:txBody>
                    <a:bodyPr/>
                    <a:lstStyle/>
                    <a:p>
                      <a:pPr algn="ctr"/>
                      <a:r>
                        <a:rPr sz="750" b="1">
                          <a:solidFill>
                            <a:srgbClr val="A82020"/>
                          </a:solidFill>
                        </a:rPr>
                        <a:t>29</a:t>
                      </a:r>
                    </a:p>
                  </a:txBody>
                  <a:tcPr>
                    <a:solidFill>
                      <a:srgbClr val="FFEBEE"/>
                    </a:solidFill>
                  </a:tcPr>
                </a:tc>
                <a:tc>
                  <a:txBody>
                    <a:bodyPr/>
                    <a:lstStyle/>
                    <a:p>
                      <a:pPr algn="ctr"/>
                      <a:r>
                        <a:rPr sz="750" b="1">
                          <a:solidFill>
                            <a:srgbClr val="A82020"/>
                          </a:solidFill>
                        </a:rPr>
                        <a:t>29</a:t>
                      </a:r>
                    </a:p>
                  </a:txBody>
                  <a:tcPr>
                    <a:solidFill>
                      <a:srgbClr val="FFEBEE"/>
                    </a:solidFill>
                  </a:tcPr>
                </a:tc>
                <a:tc>
                  <a:txBody>
                    <a:bodyPr/>
                    <a:lstStyle/>
                    <a:p>
                      <a:pPr algn="ctr"/>
                      <a:r>
                        <a:rPr sz="750" b="1">
                          <a:solidFill>
                            <a:srgbClr val="1A7A4A"/>
                          </a:solidFill>
                        </a:rPr>
                        <a:t>86</a:t>
                      </a:r>
                    </a:p>
                  </a:txBody>
                  <a:tcPr>
                    <a:solidFill>
                      <a:srgbClr val="C8E6C9"/>
                    </a:solidFill>
                  </a:tcPr>
                </a:tc>
                <a:tc>
                  <a:txBody>
                    <a:bodyPr/>
                    <a:lstStyle/>
                    <a:p>
                      <a:pPr algn="ctr"/>
                      <a:r>
                        <a:rPr sz="750" b="1">
                          <a:solidFill>
                            <a:srgbClr val="1A7A4A"/>
                          </a:solidFill>
                        </a:rPr>
                        <a:t>93</a:t>
                      </a:r>
                    </a:p>
                  </a:txBody>
                  <a:tcPr>
                    <a:solidFill>
                      <a:srgbClr val="C8E6C9"/>
                    </a:solidFill>
                  </a:tcPr>
                </a:tc>
                <a:tc>
                  <a:txBody>
                    <a:bodyPr/>
                    <a:lstStyle/>
                    <a:p>
                      <a:pPr algn="ctr"/>
                      <a:r>
                        <a:rPr sz="750" b="0">
                          <a:solidFill>
                            <a:srgbClr val="1A1A1A"/>
                          </a:solidFill>
                        </a:rPr>
                        <a:t>HOLD</a:t>
                      </a:r>
                    </a:p>
                  </a:txBody>
                  <a:tcPr>
                    <a:noFill/>
                  </a:tcPr>
                </a:tc>
              </a:tr>
              <a:tr h="259200">
                <a:tc>
                  <a:txBody>
                    <a:bodyPr/>
                    <a:lstStyle/>
                    <a:p>
                      <a:pPr algn="ctr"/>
                      <a:r>
                        <a:rPr sz="750" b="0">
                          <a:solidFill>
                            <a:srgbClr val="1A1A1A"/>
                          </a:solidFill>
                        </a:rPr>
                        <a:t>USB</a:t>
                      </a:r>
                    </a:p>
                  </a:txBody>
                  <a:tcPr>
                    <a:noFill/>
                  </a:tcPr>
                </a:tc>
                <a:tc>
                  <a:txBody>
                    <a:bodyPr/>
                    <a:lstStyle/>
                    <a:p>
                      <a:pPr algn="ctr"/>
                      <a:r>
                        <a:rPr sz="750" b="0">
                          <a:solidFill>
                            <a:srgbClr val="1A1A1A"/>
                          </a:solidFill>
                        </a:rPr>
                        <a:t>U.S. Bancorp</a:t>
                      </a:r>
                    </a:p>
                  </a:txBody>
                  <a:tcPr>
                    <a:noFill/>
                  </a:tcPr>
                </a:tc>
                <a:tc>
                  <a:txBody>
                    <a:bodyPr/>
                    <a:lstStyle/>
                    <a:p>
                      <a:pPr algn="ctr"/>
                      <a:r>
                        <a:rPr sz="750" b="0">
                          <a:solidFill>
                            <a:srgbClr val="1A1A1A"/>
                          </a:solidFill>
                        </a:rPr>
                        <a:t>57/100</a:t>
                      </a:r>
                    </a:p>
                  </a:txBody>
                  <a:tcPr>
                    <a:noFill/>
                  </a:tcPr>
                </a:tc>
                <a:tc>
                  <a:txBody>
                    <a:bodyPr/>
                    <a:lstStyle/>
                    <a:p>
                      <a:pPr algn="ctr"/>
                      <a:r>
                        <a:rPr sz="750" b="1">
                          <a:solidFill>
                            <a:srgbClr val="1A7A4A"/>
                          </a:solidFill>
                        </a:rPr>
                        <a:t>86</a:t>
                      </a:r>
                    </a:p>
                  </a:txBody>
                  <a:tcPr>
                    <a:solidFill>
                      <a:srgbClr val="C8E6C9"/>
                    </a:solidFill>
                  </a:tcPr>
                </a:tc>
                <a:tc>
                  <a:txBody>
                    <a:bodyPr/>
                    <a:lstStyle/>
                    <a:p>
                      <a:pPr algn="ctr"/>
                      <a:r>
                        <a:rPr sz="750" b="1">
                          <a:solidFill>
                            <a:srgbClr val="A82020"/>
                          </a:solidFill>
                        </a:rPr>
                        <a:t>36</a:t>
                      </a:r>
                    </a:p>
                  </a:txBody>
                  <a:tcPr>
                    <a:solidFill>
                      <a:srgbClr val="FFEBEE"/>
                    </a:solidFill>
                  </a:tcPr>
                </a:tc>
                <a:tc>
                  <a:txBody>
                    <a:bodyPr/>
                    <a:lstStyle/>
                    <a:p>
                      <a:pPr algn="ctr"/>
                      <a:r>
                        <a:rPr sz="750" b="1">
                          <a:solidFill>
                            <a:srgbClr val="B06000"/>
                          </a:solidFill>
                        </a:rPr>
                        <a:t>50</a:t>
                      </a:r>
                    </a:p>
                  </a:txBody>
                  <a:tcPr>
                    <a:solidFill>
                      <a:srgbClr val="FFF3E0"/>
                    </a:solidFill>
                  </a:tcPr>
                </a:tc>
                <a:tc>
                  <a:txBody>
                    <a:bodyPr/>
                    <a:lstStyle/>
                    <a:p>
                      <a:pPr algn="ctr"/>
                      <a:r>
                        <a:rPr sz="750" b="1">
                          <a:solidFill>
                            <a:srgbClr val="B06000"/>
                          </a:solidFill>
                        </a:rPr>
                        <a:t>57</a:t>
                      </a:r>
                    </a:p>
                  </a:txBody>
                  <a:tcPr>
                    <a:solidFill>
                      <a:srgbClr val="FFF3E0"/>
                    </a:solidFill>
                  </a:tcPr>
                </a:tc>
                <a:tc>
                  <a:txBody>
                    <a:bodyPr/>
                    <a:lstStyle/>
                    <a:p>
                      <a:pPr algn="ctr"/>
                      <a:r>
                        <a:rPr sz="750" b="0">
                          <a:solidFill>
                            <a:srgbClr val="1A1A1A"/>
                          </a:solidFill>
                        </a:rPr>
                        <a:t>HOLD</a:t>
                      </a:r>
                    </a:p>
                  </a:txBody>
                  <a:tcPr>
                    <a:noFill/>
                  </a:tcPr>
                </a:tc>
              </a:tr>
              <a:tr h="259200">
                <a:tc>
                  <a:txBody>
                    <a:bodyPr/>
                    <a:lstStyle/>
                    <a:p>
                      <a:pPr algn="ctr"/>
                      <a:r>
                        <a:rPr sz="750" b="0">
                          <a:solidFill>
                            <a:srgbClr val="1A1A1A"/>
                          </a:solidFill>
                        </a:rPr>
                        <a:t>PNC</a:t>
                      </a:r>
                    </a:p>
                  </a:txBody>
                  <a:tcPr>
                    <a:noFill/>
                  </a:tcPr>
                </a:tc>
                <a:tc>
                  <a:txBody>
                    <a:bodyPr/>
                    <a:lstStyle/>
                    <a:p>
                      <a:pPr algn="ctr"/>
                      <a:r>
                        <a:rPr sz="750" b="0">
                          <a:solidFill>
                            <a:srgbClr val="1A1A1A"/>
                          </a:solidFill>
                        </a:rPr>
                        <a:t>The PNC Financial Service</a:t>
                      </a:r>
                    </a:p>
                  </a:txBody>
                  <a:tcPr>
                    <a:noFill/>
                  </a:tcPr>
                </a:tc>
                <a:tc>
                  <a:txBody>
                    <a:bodyPr/>
                    <a:lstStyle/>
                    <a:p>
                      <a:pPr algn="ctr"/>
                      <a:r>
                        <a:rPr sz="750" b="0">
                          <a:solidFill>
                            <a:srgbClr val="1A1A1A"/>
                          </a:solidFill>
                        </a:rPr>
                        <a:t>54/100</a:t>
                      </a:r>
                    </a:p>
                  </a:txBody>
                  <a:tcPr>
                    <a:noFill/>
                  </a:tcPr>
                </a:tc>
                <a:tc>
                  <a:txBody>
                    <a:bodyPr/>
                    <a:lstStyle/>
                    <a:p>
                      <a:pPr algn="ctr"/>
                      <a:r>
                        <a:rPr sz="750" b="1">
                          <a:solidFill>
                            <a:srgbClr val="B06000"/>
                          </a:solidFill>
                        </a:rPr>
                        <a:t>57</a:t>
                      </a:r>
                    </a:p>
                  </a:txBody>
                  <a:tcPr>
                    <a:solidFill>
                      <a:srgbClr val="FFF3E0"/>
                    </a:solidFill>
                  </a:tcPr>
                </a:tc>
                <a:tc>
                  <a:txBody>
                    <a:bodyPr/>
                    <a:lstStyle/>
                    <a:p>
                      <a:pPr algn="ctr"/>
                      <a:r>
                        <a:rPr sz="750" b="1">
                          <a:solidFill>
                            <a:srgbClr val="A82020"/>
                          </a:solidFill>
                        </a:rPr>
                        <a:t>43</a:t>
                      </a:r>
                    </a:p>
                  </a:txBody>
                  <a:tcPr>
                    <a:solidFill>
                      <a:srgbClr val="FFEBEE"/>
                    </a:solidFill>
                  </a:tcPr>
                </a:tc>
                <a:tc>
                  <a:txBody>
                    <a:bodyPr/>
                    <a:lstStyle/>
                    <a:p>
                      <a:pPr algn="ctr"/>
                      <a:r>
                        <a:rPr sz="750" b="1">
                          <a:solidFill>
                            <a:srgbClr val="B06000"/>
                          </a:solidFill>
                        </a:rPr>
                        <a:t>64</a:t>
                      </a:r>
                    </a:p>
                  </a:txBody>
                  <a:tcPr>
                    <a:solidFill>
                      <a:srgbClr val="FFF3E0"/>
                    </a:solidFill>
                  </a:tcPr>
                </a:tc>
                <a:tc>
                  <a:txBody>
                    <a:bodyPr/>
                    <a:lstStyle/>
                    <a:p>
                      <a:pPr algn="ctr"/>
                      <a:r>
                        <a:rPr sz="750" b="1">
                          <a:solidFill>
                            <a:srgbClr val="B06000"/>
                          </a:solidFill>
                        </a:rPr>
                        <a:t>50</a:t>
                      </a:r>
                    </a:p>
                  </a:txBody>
                  <a:tcPr>
                    <a:solidFill>
                      <a:srgbClr val="FFF3E0"/>
                    </a:solidFill>
                  </a:tcPr>
                </a:tc>
                <a:tc>
                  <a:txBody>
                    <a:bodyPr/>
                    <a:lstStyle/>
                    <a:p>
                      <a:pPr algn="ctr"/>
                      <a:r>
                        <a:rPr sz="750" b="0">
                          <a:solidFill>
                            <a:srgbClr val="1A1A1A"/>
                          </a:solidFill>
                        </a:rPr>
                        <a:t>HOLD</a:t>
                      </a:r>
                    </a:p>
                  </a:txBody>
                  <a:tcPr>
                    <a:noFill/>
                  </a:tcPr>
                </a:tc>
              </a:tr>
              <a:tr h="259200">
                <a:tc>
                  <a:txBody>
                    <a:bodyPr/>
                    <a:lstStyle/>
                    <a:p>
                      <a:pPr algn="ctr"/>
                      <a:r>
                        <a:rPr sz="750" b="0">
                          <a:solidFill>
                            <a:srgbClr val="1A1A1A"/>
                          </a:solidFill>
                        </a:rPr>
                        <a:t>SCHW</a:t>
                      </a:r>
                    </a:p>
                  </a:txBody>
                  <a:tcPr>
                    <a:noFill/>
                  </a:tcPr>
                </a:tc>
                <a:tc>
                  <a:txBody>
                    <a:bodyPr/>
                    <a:lstStyle/>
                    <a:p>
                      <a:pPr algn="ctr"/>
                      <a:r>
                        <a:rPr sz="750" b="0">
                          <a:solidFill>
                            <a:srgbClr val="1A1A1A"/>
                          </a:solidFill>
                        </a:rPr>
                        <a:t>The Charles Schwab Corpor</a:t>
                      </a:r>
                    </a:p>
                  </a:txBody>
                  <a:tcPr>
                    <a:noFill/>
                  </a:tcPr>
                </a:tc>
                <a:tc>
                  <a:txBody>
                    <a:bodyPr/>
                    <a:lstStyle/>
                    <a:p>
                      <a:pPr algn="ctr"/>
                      <a:r>
                        <a:rPr sz="750" b="0">
                          <a:solidFill>
                            <a:srgbClr val="1A1A1A"/>
                          </a:solidFill>
                        </a:rPr>
                        <a:t>54/100</a:t>
                      </a:r>
                    </a:p>
                  </a:txBody>
                  <a:tcPr>
                    <a:noFill/>
                  </a:tcPr>
                </a:tc>
                <a:tc>
                  <a:txBody>
                    <a:bodyPr/>
                    <a:lstStyle/>
                    <a:p>
                      <a:pPr algn="ctr"/>
                      <a:r>
                        <a:rPr sz="750" b="1">
                          <a:solidFill>
                            <a:srgbClr val="A82020"/>
                          </a:solidFill>
                        </a:rPr>
                        <a:t>7</a:t>
                      </a:r>
                    </a:p>
                  </a:txBody>
                  <a:tcPr>
                    <a:solidFill>
                      <a:srgbClr val="FFEBEE"/>
                    </a:solidFill>
                  </a:tcPr>
                </a:tc>
                <a:tc>
                  <a:txBody>
                    <a:bodyPr/>
                    <a:lstStyle/>
                    <a:p>
                      <a:pPr algn="ctr"/>
                      <a:r>
                        <a:rPr sz="750" b="1">
                          <a:solidFill>
                            <a:srgbClr val="1A7A4A"/>
                          </a:solidFill>
                        </a:rPr>
                        <a:t>86</a:t>
                      </a:r>
                    </a:p>
                  </a:txBody>
                  <a:tcPr>
                    <a:solidFill>
                      <a:srgbClr val="C8E6C9"/>
                    </a:solidFill>
                  </a:tcPr>
                </a:tc>
                <a:tc>
                  <a:txBody>
                    <a:bodyPr/>
                    <a:lstStyle/>
                    <a:p>
                      <a:pPr algn="ctr"/>
                      <a:r>
                        <a:rPr sz="750" b="1">
                          <a:solidFill>
                            <a:srgbClr val="1A7A4A"/>
                          </a:solidFill>
                        </a:rPr>
                        <a:t>100</a:t>
                      </a:r>
                    </a:p>
                  </a:txBody>
                  <a:tcPr>
                    <a:solidFill>
                      <a:srgbClr val="C8E6C9"/>
                    </a:solidFill>
                  </a:tcPr>
                </a:tc>
                <a:tc>
                  <a:txBody>
                    <a:bodyPr/>
                    <a:lstStyle/>
                    <a:p>
                      <a:pPr algn="ctr"/>
                      <a:r>
                        <a:rPr sz="750" b="1">
                          <a:solidFill>
                            <a:srgbClr val="A82020"/>
                          </a:solidFill>
                        </a:rPr>
                        <a:t>21</a:t>
                      </a:r>
                    </a:p>
                  </a:txBody>
                  <a:tcPr>
                    <a:solidFill>
                      <a:srgbClr val="FFEBEE"/>
                    </a:solidFill>
                  </a:tcPr>
                </a:tc>
                <a:tc>
                  <a:txBody>
                    <a:bodyPr/>
                    <a:lstStyle/>
                    <a:p>
                      <a:pPr algn="ctr"/>
                      <a:r>
                        <a:rPr sz="750" b="0">
                          <a:solidFill>
                            <a:srgbClr val="1A1A1A"/>
                          </a:solidFill>
                        </a:rPr>
                        <a:t>HOLD</a:t>
                      </a:r>
                    </a:p>
                  </a:txBody>
                  <a:tcPr>
                    <a:noFill/>
                  </a:tcPr>
                </a:tc>
              </a:tr>
              <a:tr h="259200">
                <a:tc>
                  <a:txBody>
                    <a:bodyPr/>
                    <a:lstStyle/>
                    <a:p>
                      <a:pPr algn="ctr"/>
                      <a:r>
                        <a:rPr sz="750" b="0">
                          <a:solidFill>
                            <a:srgbClr val="1A1A1A"/>
                          </a:solidFill>
                        </a:rPr>
                        <a:t>JPM</a:t>
                      </a:r>
                    </a:p>
                  </a:txBody>
                  <a:tcPr>
                    <a:noFill/>
                  </a:tcPr>
                </a:tc>
                <a:tc>
                  <a:txBody>
                    <a:bodyPr/>
                    <a:lstStyle/>
                    <a:p>
                      <a:pPr algn="ctr"/>
                      <a:r>
                        <a:rPr sz="750" b="0">
                          <a:solidFill>
                            <a:srgbClr val="1A1A1A"/>
                          </a:solidFill>
                        </a:rPr>
                        <a:t>JPMorgan Chase &amp; Co.</a:t>
                      </a:r>
                    </a:p>
                  </a:txBody>
                  <a:tcPr>
                    <a:noFill/>
                  </a:tcPr>
                </a:tc>
                <a:tc>
                  <a:txBody>
                    <a:bodyPr/>
                    <a:lstStyle/>
                    <a:p>
                      <a:pPr algn="ctr"/>
                      <a:r>
                        <a:rPr sz="750" b="0">
                          <a:solidFill>
                            <a:srgbClr val="1A1A1A"/>
                          </a:solidFill>
                        </a:rPr>
                        <a:t>45/100</a:t>
                      </a:r>
                    </a:p>
                  </a:txBody>
                  <a:tcPr>
                    <a:noFill/>
                  </a:tcPr>
                </a:tc>
                <a:tc>
                  <a:txBody>
                    <a:bodyPr/>
                    <a:lstStyle/>
                    <a:p>
                      <a:pPr algn="ctr"/>
                      <a:r>
                        <a:rPr sz="750" b="1">
                          <a:solidFill>
                            <a:srgbClr val="A82020"/>
                          </a:solidFill>
                        </a:rPr>
                        <a:t>36</a:t>
                      </a:r>
                    </a:p>
                  </a:txBody>
                  <a:tcPr>
                    <a:solidFill>
                      <a:srgbClr val="FFEBEE"/>
                    </a:solidFill>
                  </a:tcPr>
                </a:tc>
                <a:tc>
                  <a:txBody>
                    <a:bodyPr/>
                    <a:lstStyle/>
                    <a:p>
                      <a:pPr algn="ctr"/>
                      <a:r>
                        <a:rPr sz="750" b="1">
                          <a:solidFill>
                            <a:srgbClr val="A82020"/>
                          </a:solidFill>
                        </a:rPr>
                        <a:t>21</a:t>
                      </a:r>
                    </a:p>
                  </a:txBody>
                  <a:tcPr>
                    <a:solidFill>
                      <a:srgbClr val="FFEBEE"/>
                    </a:solidFill>
                  </a:tcPr>
                </a:tc>
                <a:tc>
                  <a:txBody>
                    <a:bodyPr/>
                    <a:lstStyle/>
                    <a:p>
                      <a:pPr algn="ctr"/>
                      <a:r>
                        <a:rPr sz="750" b="1">
                          <a:solidFill>
                            <a:srgbClr val="1A7A4A"/>
                          </a:solidFill>
                        </a:rPr>
                        <a:t>93</a:t>
                      </a:r>
                    </a:p>
                  </a:txBody>
                  <a:tcPr>
                    <a:solidFill>
                      <a:srgbClr val="C8E6C9"/>
                    </a:solidFill>
                  </a:tcPr>
                </a:tc>
                <a:tc>
                  <a:txBody>
                    <a:bodyPr/>
                    <a:lstStyle/>
                    <a:p>
                      <a:pPr algn="ctr"/>
                      <a:r>
                        <a:rPr sz="750" b="1">
                          <a:solidFill>
                            <a:srgbClr val="A82020"/>
                          </a:solidFill>
                        </a:rPr>
                        <a:t>29</a:t>
                      </a:r>
                    </a:p>
                  </a:txBody>
                  <a:tcPr>
                    <a:solidFill>
                      <a:srgbClr val="FFEBEE"/>
                    </a:solidFill>
                  </a:tcPr>
                </a:tc>
                <a:tc>
                  <a:txBody>
                    <a:bodyPr/>
                    <a:lstStyle/>
                    <a:p>
                      <a:pPr algn="ctr"/>
                      <a:r>
                        <a:rPr sz="750" b="0">
                          <a:solidFill>
                            <a:srgbClr val="1A1A1A"/>
                          </a:solidFill>
                        </a:rPr>
                        <a:t>HOLD</a:t>
                      </a:r>
                    </a:p>
                  </a:txBody>
                  <a:tcPr>
                    <a:noFill/>
                  </a:tcPr>
                </a:tc>
              </a:tr>
              <a:tr h="259200">
                <a:tc>
                  <a:txBody>
                    <a:bodyPr/>
                    <a:lstStyle/>
                    <a:p>
                      <a:pPr algn="ctr"/>
                      <a:r>
                        <a:rPr sz="750" b="0">
                          <a:solidFill>
                            <a:srgbClr val="1A1A1A"/>
                          </a:solidFill>
                        </a:rPr>
                        <a:t>... et 5 autrès valeurs (voir rapport PDF)</a:t>
                      </a:r>
                    </a:p>
                  </a:txBody>
                  <a:tcPr>
                    <a:noFill/>
                  </a:tcPr>
                </a:tc>
                <a:tc>
                  <a:txBody>
                    <a:bodyPr/>
                    <a:lstStyle/>
                    <a:p>
                      <a:pPr algn="ctr"/>
                      <a:r>
                        <a:rPr sz="750" b="0">
                          <a:solidFill>
                            <a:srgbClr val="1A1A1A"/>
                          </a:solidFill>
                        </a:rPr>
                        <a:t/>
                      </a:r>
                    </a:p>
                  </a:txBody>
                  <a:tcPr>
                    <a:noFill/>
                  </a:tcPr>
                </a:tc>
                <a:tc>
                  <a:txBody>
                    <a:bodyPr/>
                    <a:lstStyle/>
                    <a:p>
                      <a:pPr algn="ctr"/>
                      <a:r>
                        <a:rPr sz="750" b="0">
                          <a:solidFill>
                            <a:srgbClr val="1A1A1A"/>
                          </a:solidFill>
                        </a:rPr>
                        <a:t/>
                      </a:r>
                    </a:p>
                  </a:txBody>
                  <a:tcPr>
                    <a:noFill/>
                  </a:tcPr>
                </a:tc>
                <a:tc>
                  <a:txBody>
                    <a:bodyPr/>
                    <a:lstStyle/>
                    <a:p>
                      <a:pPr algn="ctr"/>
                      <a:r>
                        <a:rPr sz="750" b="0">
                          <a:solidFill>
                            <a:srgbClr val="1A1A1A"/>
                          </a:solidFill>
                        </a:rPr>
                        <a:t/>
                      </a:r>
                    </a:p>
                  </a:txBody>
                  <a:tcPr>
                    <a:noFill/>
                  </a:tcPr>
                </a:tc>
                <a:tc>
                  <a:txBody>
                    <a:bodyPr/>
                    <a:lstStyle/>
                    <a:p>
                      <a:pPr algn="ctr"/>
                      <a:r>
                        <a:rPr sz="750" b="0">
                          <a:solidFill>
                            <a:srgbClr val="1A1A1A"/>
                          </a:solidFill>
                        </a:rPr>
                        <a:t/>
                      </a:r>
                    </a:p>
                  </a:txBody>
                  <a:tcPr>
                    <a:noFill/>
                  </a:tcPr>
                </a:tc>
                <a:tc>
                  <a:txBody>
                    <a:bodyPr/>
                    <a:lstStyle/>
                    <a:p>
                      <a:pPr algn="ctr"/>
                      <a:r>
                        <a:rPr sz="750" b="0">
                          <a:solidFill>
                            <a:srgbClr val="1A1A1A"/>
                          </a:solidFill>
                        </a:rPr>
                        <a:t/>
                      </a:r>
                    </a:p>
                  </a:txBody>
                  <a:tcPr>
                    <a:noFill/>
                  </a:tcPr>
                </a:tc>
                <a:tc>
                  <a:txBody>
                    <a:bodyPr/>
                    <a:lstStyle/>
                    <a:p>
                      <a:pPr algn="ctr"/>
                      <a:r>
                        <a:rPr sz="750" b="0">
                          <a:solidFill>
                            <a:srgbClr val="1A1A1A"/>
                          </a:solidFill>
                        </a:rPr>
                        <a:t/>
                      </a:r>
                    </a:p>
                  </a:txBody>
                  <a:tcPr>
                    <a:noFill/>
                  </a:tcPr>
                </a:tc>
                <a:tc>
                  <a:txBody>
                    <a:bodyPr/>
                    <a:lstStyle/>
                    <a:p>
                      <a:pPr algn="ctr"/>
                      <a:r>
                        <a:rPr sz="750" b="0">
                          <a:solidFill>
                            <a:srgbClr val="1A1A1A"/>
                          </a:solidFill>
                        </a:rPr>
                        <a:t/>
                      </a:r>
                    </a:p>
                  </a:txBody>
                  <a:tcPr>
                    <a:noFill/>
                  </a:tcPr>
                </a:tc>
              </a:tr>
            </a:tbl>
          </a:graphicData>
        </a:graphic>
      </p:graphicFrame>
      <p:sp>
        <p:nvSpPr>
          <p:cNvPr id="16" name="Rectangle 15"/>
          <p:cNvSpPr/>
          <p:nvPr/>
        </p:nvSpPr>
        <p:spPr>
          <a:xfrm>
            <a:off x="324000" y="4136400"/>
            <a:ext cx="8496000" cy="10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41364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6000" y="4154400"/>
            <a:ext cx="8352000" cy="216000"/>
          </a:xfrm>
          <a:prstGeom prst="rect">
            <a:avLst/>
          </a:prstGeom>
          <a:noFill/>
        </p:spPr>
        <p:txBody>
          <a:bodyPr wrap="square">
            <a:spAutoFit/>
          </a:bodyPr>
          <a:lstStyle/>
          <a:p>
            <a:pPr algn="l"/>
            <a:r>
              <a:rPr sz="750" b="1" i="0">
                <a:solidFill>
                  <a:srgbClr val="FFFFFF"/>
                </a:solidFill>
              </a:rPr>
              <a:t>SYNTHÈSE SCORES  ·  Score &gt;= 75 = fort  ·  50-74 = moyen  ·  &lt; 50 = faible  ·  Pondérations : Value / Growth / Quality / Momentum = 25 % chacun</a:t>
            </a:r>
          </a:p>
        </p:txBody>
      </p:sp>
      <p:sp>
        <p:nvSpPr>
          <p:cNvPr id="19" name="TextBox 18"/>
          <p:cNvSpPr txBox="1"/>
          <p:nvPr/>
        </p:nvSpPr>
        <p:spPr>
          <a:xfrm>
            <a:off x="396000" y="4442400"/>
            <a:ext cx="8352000" cy="720000"/>
          </a:xfrm>
          <a:prstGeom prst="rect">
            <a:avLst/>
          </a:prstGeom>
          <a:noFill/>
        </p:spPr>
        <p:txBody>
          <a:bodyPr wrap="square">
            <a:spAutoFit/>
          </a:bodyPr>
          <a:lstStyle/>
          <a:p>
            <a:pPr algn="l"/>
            <a:r>
              <a:rPr sz="850" b="0" i="0">
                <a:solidFill>
                  <a:srgbClr val="555555"/>
                </a:solidFill>
              </a:rPr>
              <a:t>Regions Financial Corpora présente le profil le plus équilibre du secteur (68/100) avec des scores Value=100, Growth=50, Quality=57, Momentum=64. La dispersion des scores entre les 15 sociétés Reflète des profils hétérogènes — une allocation selective privilegiant les leaders qualitatifs est recommandee dans la configuration sectorielle actuelle.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&amp; Valorisations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Synthèse Top 3, distribution EV/EBITDA &amp; zone d'entree optimale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Sociétés — Synthèse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detaillee  ·  Top 3 par score FinSight  ·  Catalyseurs &amp; risques identifies</a:t>
            </a:r>
          </a:p>
        </p:txBody>
      </p:sp>
      <p:sp>
        <p:nvSpPr>
          <p:cNvPr id="15" name="Rectangle 14"/>
          <p:cNvSpPr/>
          <p:nvPr/>
        </p:nvSpPr>
        <p:spPr>
          <a:xfrm>
            <a:off x="32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403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000" y="972000"/>
            <a:ext cx="1655999" cy="288000"/>
          </a:xfrm>
          <a:prstGeom prst="rect">
            <a:avLst/>
          </a:prstGeom>
          <a:noFill/>
        </p:spPr>
        <p:txBody>
          <a:bodyPr wrap="square">
            <a:spAutoFit/>
          </a:bodyPr>
          <a:lstStyle/>
          <a:p>
            <a:pPr algn="l"/>
            <a:r>
              <a:rPr sz="1300" b="1" i="0">
                <a:solidFill>
                  <a:srgbClr val="1B3A6B"/>
                </a:solidFill>
              </a:rPr>
              <a:t>RF</a:t>
            </a:r>
          </a:p>
        </p:txBody>
      </p:sp>
      <p:sp>
        <p:nvSpPr>
          <p:cNvPr id="18" name="Rectangle 17"/>
          <p:cNvSpPr/>
          <p:nvPr/>
        </p:nvSpPr>
        <p:spPr>
          <a:xfrm>
            <a:off x="2232000" y="972000"/>
            <a:ext cx="792000" cy="251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32000" y="979200"/>
            <a:ext cx="792000" cy="234000"/>
          </a:xfrm>
          <a:prstGeom prst="rect">
            <a:avLst/>
          </a:prstGeom>
          <a:noFill/>
        </p:spPr>
        <p:txBody>
          <a:bodyPr wrap="square">
            <a:spAutoFit/>
          </a:bodyPr>
          <a:lstStyle/>
          <a:p>
            <a:pPr algn="ctr"/>
            <a:r>
              <a:rPr sz="900" b="1" i="0">
                <a:solidFill>
                  <a:srgbClr val="FFFFFF"/>
                </a:solidFill>
              </a:rPr>
              <a:t>BUY</a:t>
            </a:r>
          </a:p>
        </p:txBody>
      </p:sp>
      <p:sp>
        <p:nvSpPr>
          <p:cNvPr id="20" name="TextBox 19"/>
          <p:cNvSpPr txBox="1"/>
          <p:nvPr/>
        </p:nvSpPr>
        <p:spPr>
          <a:xfrm>
            <a:off x="468000" y="1260000"/>
            <a:ext cx="2556000" cy="180000"/>
          </a:xfrm>
          <a:prstGeom prst="rect">
            <a:avLst/>
          </a:prstGeom>
          <a:noFill/>
        </p:spPr>
        <p:txBody>
          <a:bodyPr wrap="square">
            <a:spAutoFit/>
          </a:bodyPr>
          <a:lstStyle/>
          <a:p>
            <a:pPr algn="l"/>
            <a:r>
              <a:rPr sz="800" b="0" i="0">
                <a:solidFill>
                  <a:srgbClr val="555555"/>
                </a:solidFill>
              </a:rPr>
              <a:t>Regions Financial Co</a:t>
            </a:r>
          </a:p>
        </p:txBody>
      </p:sp>
      <p:sp>
        <p:nvSpPr>
          <p:cNvPr id="21" name="Rectangle 20"/>
          <p:cNvSpPr/>
          <p:nvPr/>
        </p:nvSpPr>
        <p:spPr>
          <a:xfrm>
            <a:off x="46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3999" y="1548000"/>
            <a:ext cx="1368000" cy="216000"/>
          </a:xfrm>
          <a:prstGeom prst="rect">
            <a:avLst/>
          </a:prstGeom>
          <a:noFill/>
        </p:spPr>
        <p:txBody>
          <a:bodyPr wrap="square">
            <a:spAutoFit/>
          </a:bodyPr>
          <a:lstStyle/>
          <a:p>
            <a:pPr algn="l"/>
            <a:r>
              <a:rPr sz="900" b="1" i="0">
                <a:solidFill>
                  <a:srgbClr val="FFFFFF"/>
                </a:solidFill>
              </a:rPr>
              <a:t>Cible : 33</a:t>
            </a:r>
          </a:p>
        </p:txBody>
      </p:sp>
      <p:sp>
        <p:nvSpPr>
          <p:cNvPr id="23" name="TextBox 22"/>
          <p:cNvSpPr txBox="1"/>
          <p:nvPr/>
        </p:nvSpPr>
        <p:spPr>
          <a:xfrm>
            <a:off x="1908000" y="1548000"/>
            <a:ext cx="1080000" cy="216000"/>
          </a:xfrm>
          <a:prstGeom prst="rect">
            <a:avLst/>
          </a:prstGeom>
          <a:noFill/>
        </p:spPr>
        <p:txBody>
          <a:bodyPr wrap="square">
            <a:spAutoFit/>
          </a:bodyPr>
          <a:lstStyle/>
          <a:p>
            <a:pPr algn="l"/>
            <a:r>
              <a:rPr sz="900" b="0" i="0">
                <a:solidFill>
                  <a:srgbClr val="FFFFFF"/>
                </a:solidFill>
              </a:rPr>
              <a:t>Upside : +20 %</a:t>
            </a:r>
          </a:p>
        </p:txBody>
      </p:sp>
      <p:sp>
        <p:nvSpPr>
          <p:cNvPr id="24" name="TextBox 23"/>
          <p:cNvSpPr txBox="1"/>
          <p:nvPr/>
        </p:nvSpPr>
        <p:spPr>
          <a:xfrm>
            <a:off x="46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25" name="Rectangle 24"/>
          <p:cNvSpPr/>
          <p:nvPr/>
        </p:nvSpPr>
        <p:spPr>
          <a:xfrm>
            <a:off x="46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2214000"/>
            <a:ext cx="1368000" cy="223200"/>
          </a:xfrm>
          <a:prstGeom prst="rect">
            <a:avLst/>
          </a:prstGeom>
          <a:noFill/>
        </p:spPr>
        <p:txBody>
          <a:bodyPr wrap="square">
            <a:spAutoFit/>
          </a:bodyPr>
          <a:lstStyle/>
          <a:p>
            <a:pPr algn="l"/>
            <a:r>
              <a:rPr sz="800" b="0" i="0">
                <a:solidFill>
                  <a:srgbClr val="555555"/>
                </a:solidFill>
              </a:rPr>
              <a:t>P/E</a:t>
            </a:r>
          </a:p>
        </p:txBody>
      </p:sp>
      <p:sp>
        <p:nvSpPr>
          <p:cNvPr id="27" name="TextBox 26"/>
          <p:cNvSpPr txBox="1"/>
          <p:nvPr/>
        </p:nvSpPr>
        <p:spPr>
          <a:xfrm>
            <a:off x="1908000" y="2214000"/>
            <a:ext cx="1080000" cy="223200"/>
          </a:xfrm>
          <a:prstGeom prst="rect">
            <a:avLst/>
          </a:prstGeom>
          <a:noFill/>
        </p:spPr>
        <p:txBody>
          <a:bodyPr wrap="square">
            <a:spAutoFit/>
          </a:bodyPr>
          <a:lstStyle/>
          <a:p>
            <a:pPr algn="r"/>
            <a:r>
              <a:rPr sz="850" b="1" i="0">
                <a:solidFill>
                  <a:srgbClr val="1B3A6B"/>
                </a:solidFill>
              </a:rPr>
              <a:t>11.0x</a:t>
            </a:r>
          </a:p>
        </p:txBody>
      </p:sp>
      <p:sp>
        <p:nvSpPr>
          <p:cNvPr id="28" name="Rectangle 27"/>
          <p:cNvSpPr/>
          <p:nvPr/>
        </p:nvSpPr>
        <p:spPr>
          <a:xfrm>
            <a:off x="46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3999" y="2484000"/>
            <a:ext cx="1368000" cy="223200"/>
          </a:xfrm>
          <a:prstGeom prst="rect">
            <a:avLst/>
          </a:prstGeom>
          <a:noFill/>
        </p:spPr>
        <p:txBody>
          <a:bodyPr wrap="square">
            <a:spAutoFit/>
          </a:bodyPr>
          <a:lstStyle/>
          <a:p>
            <a:pPr algn="l"/>
            <a:r>
              <a:rPr sz="800" b="0" i="0">
                <a:solidFill>
                  <a:srgbClr val="555555"/>
                </a:solidFill>
              </a:rPr>
              <a:t>P/B</a:t>
            </a:r>
          </a:p>
        </p:txBody>
      </p:sp>
      <p:sp>
        <p:nvSpPr>
          <p:cNvPr id="30" name="TextBox 29"/>
          <p:cNvSpPr txBox="1"/>
          <p:nvPr/>
        </p:nvSpPr>
        <p:spPr>
          <a:xfrm>
            <a:off x="1908000" y="2484000"/>
            <a:ext cx="1080000" cy="223200"/>
          </a:xfrm>
          <a:prstGeom prst="rect">
            <a:avLst/>
          </a:prstGeom>
          <a:noFill/>
        </p:spPr>
        <p:txBody>
          <a:bodyPr wrap="square">
            <a:spAutoFit/>
          </a:bodyPr>
          <a:lstStyle/>
          <a:p>
            <a:pPr algn="r"/>
            <a:r>
              <a:rPr sz="850" b="1" i="0">
                <a:solidFill>
                  <a:srgbClr val="1B3A6B"/>
                </a:solidFill>
              </a:rPr>
              <a:t>1.4x</a:t>
            </a:r>
          </a:p>
        </p:txBody>
      </p:sp>
      <p:sp>
        <p:nvSpPr>
          <p:cNvPr id="31" name="Rectangle 30"/>
          <p:cNvSpPr/>
          <p:nvPr/>
        </p:nvSpPr>
        <p:spPr>
          <a:xfrm>
            <a:off x="46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2754000"/>
            <a:ext cx="1368000" cy="223200"/>
          </a:xfrm>
          <a:prstGeom prst="rect">
            <a:avLst/>
          </a:prstGeom>
          <a:noFill/>
        </p:spPr>
        <p:txBody>
          <a:bodyPr wrap="square">
            <a:spAutoFit/>
          </a:bodyPr>
          <a:lstStyle/>
          <a:p>
            <a:pPr algn="l"/>
            <a:r>
              <a:rPr sz="800" b="0" i="0">
                <a:solidFill>
                  <a:srgbClr val="555555"/>
                </a:solidFill>
              </a:rPr>
              <a:t>ROE</a:t>
            </a:r>
          </a:p>
        </p:txBody>
      </p:sp>
      <p:sp>
        <p:nvSpPr>
          <p:cNvPr id="33" name="TextBox 32"/>
          <p:cNvSpPr txBox="1"/>
          <p:nvPr/>
        </p:nvSpPr>
        <p:spPr>
          <a:xfrm>
            <a:off x="1908000" y="2754000"/>
            <a:ext cx="1080000" cy="223200"/>
          </a:xfrm>
          <a:prstGeom prst="rect">
            <a:avLst/>
          </a:prstGeom>
          <a:noFill/>
        </p:spPr>
        <p:txBody>
          <a:bodyPr wrap="square">
            <a:spAutoFit/>
          </a:bodyPr>
          <a:lstStyle/>
          <a:p>
            <a:pPr algn="r"/>
            <a:r>
              <a:rPr sz="850" b="1" i="0">
                <a:solidFill>
                  <a:srgbClr val="1B3A6B"/>
                </a:solidFill>
              </a:rPr>
              <a:t>12.2 %</a:t>
            </a:r>
          </a:p>
        </p:txBody>
      </p:sp>
      <p:sp>
        <p:nvSpPr>
          <p:cNvPr id="34" name="TextBox 33"/>
          <p:cNvSpPr txBox="1"/>
          <p:nvPr/>
        </p:nvSpPr>
        <p:spPr>
          <a:xfrm>
            <a:off x="46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35" name="Rectangle 34"/>
          <p:cNvSpPr/>
          <p:nvPr/>
        </p:nvSpPr>
        <p:spPr>
          <a:xfrm>
            <a:off x="46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0000" y="3258000"/>
            <a:ext cx="2412000" cy="450000"/>
          </a:xfrm>
          <a:prstGeom prst="rect">
            <a:avLst/>
          </a:prstGeom>
          <a:noFill/>
        </p:spPr>
        <p:txBody>
          <a:bodyPr wrap="square">
            <a:spAutoFit/>
          </a:bodyPr>
          <a:lstStyle/>
          <a:p>
            <a:pPr algn="l"/>
            <a:r>
              <a:rPr sz="750" b="0" i="0">
                <a:solidFill>
                  <a:srgbClr val="555555"/>
                </a:solidFill>
              </a:rPr>
              <a:t>La stabilisation ou baisse des taux directeurs pourrait réduire la pression sur les marges nettes d'intérêt des banques comme RF et KEY.</a:t>
            </a:r>
          </a:p>
        </p:txBody>
      </p:sp>
      <p:sp>
        <p:nvSpPr>
          <p:cNvPr id="38" name="TextBox 37"/>
          <p:cNvSpPr txBox="1"/>
          <p:nvPr/>
        </p:nvSpPr>
        <p:spPr>
          <a:xfrm>
            <a:off x="46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39" name="Rectangle 38"/>
          <p:cNvSpPr/>
          <p:nvPr/>
        </p:nvSpPr>
        <p:spPr>
          <a:xfrm>
            <a:off x="46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6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0000" y="4014000"/>
            <a:ext cx="2412000" cy="450000"/>
          </a:xfrm>
          <a:prstGeom prst="rect">
            <a:avLst/>
          </a:prstGeom>
          <a:noFill/>
        </p:spPr>
        <p:txBody>
          <a:bodyPr wrap="square">
            <a:spAutoFit/>
          </a:bodyPr>
          <a:lstStyle/>
          <a:p>
            <a:pPr algn="l"/>
            <a:r>
              <a:rPr sz="750" b="0" i="0">
                <a:solidFill>
                  <a:srgbClr val="555555"/>
                </a:solidFill>
              </a:rPr>
              <a:t>Les nouvelles règles prudentielles (Bâle IV) pourraient alourdir les coûts en capital et peser sur la rentabilité des banques européennes.</a:t>
            </a:r>
          </a:p>
        </p:txBody>
      </p:sp>
      <p:sp>
        <p:nvSpPr>
          <p:cNvPr id="42" name="Rectangle 41"/>
          <p:cNvSpPr/>
          <p:nvPr/>
        </p:nvSpPr>
        <p:spPr>
          <a:xfrm>
            <a:off x="3204000"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204000" y="900000"/>
            <a:ext cx="36000" cy="403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48000" y="972000"/>
            <a:ext cx="1655999" cy="288000"/>
          </a:xfrm>
          <a:prstGeom prst="rect">
            <a:avLst/>
          </a:prstGeom>
          <a:noFill/>
        </p:spPr>
        <p:txBody>
          <a:bodyPr wrap="square">
            <a:spAutoFit/>
          </a:bodyPr>
          <a:lstStyle/>
          <a:p>
            <a:pPr algn="l"/>
            <a:r>
              <a:rPr sz="1300" b="1" i="0">
                <a:solidFill>
                  <a:srgbClr val="1B3A6B"/>
                </a:solidFill>
              </a:rPr>
              <a:t>KEY</a:t>
            </a:r>
          </a:p>
        </p:txBody>
      </p:sp>
      <p:sp>
        <p:nvSpPr>
          <p:cNvPr id="45" name="Rectangle 44"/>
          <p:cNvSpPr/>
          <p:nvPr/>
        </p:nvSpPr>
        <p:spPr>
          <a:xfrm>
            <a:off x="5112000" y="972000"/>
            <a:ext cx="792000" cy="25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12000" y="979200"/>
            <a:ext cx="792000" cy="234000"/>
          </a:xfrm>
          <a:prstGeom prst="rect">
            <a:avLst/>
          </a:prstGeom>
          <a:noFill/>
        </p:spPr>
        <p:txBody>
          <a:bodyPr wrap="square">
            <a:spAutoFit/>
          </a:bodyPr>
          <a:lstStyle/>
          <a:p>
            <a:pPr algn="ctr"/>
            <a:r>
              <a:rPr sz="900" b="1" i="0">
                <a:solidFill>
                  <a:srgbClr val="FFFFFF"/>
                </a:solidFill>
              </a:rPr>
              <a:t>HOLD</a:t>
            </a:r>
          </a:p>
        </p:txBody>
      </p:sp>
      <p:sp>
        <p:nvSpPr>
          <p:cNvPr id="47" name="TextBox 46"/>
          <p:cNvSpPr txBox="1"/>
          <p:nvPr/>
        </p:nvSpPr>
        <p:spPr>
          <a:xfrm>
            <a:off x="3348000" y="1260000"/>
            <a:ext cx="2556000" cy="180000"/>
          </a:xfrm>
          <a:prstGeom prst="rect">
            <a:avLst/>
          </a:prstGeom>
          <a:noFill/>
        </p:spPr>
        <p:txBody>
          <a:bodyPr wrap="square">
            <a:spAutoFit/>
          </a:bodyPr>
          <a:lstStyle/>
          <a:p>
            <a:pPr algn="l"/>
            <a:r>
              <a:rPr sz="800" b="0" i="0">
                <a:solidFill>
                  <a:srgbClr val="555555"/>
                </a:solidFill>
              </a:rPr>
              <a:t>KeyCorp</a:t>
            </a:r>
          </a:p>
        </p:txBody>
      </p:sp>
      <p:sp>
        <p:nvSpPr>
          <p:cNvPr id="48" name="Rectangle 47"/>
          <p:cNvSpPr/>
          <p:nvPr/>
        </p:nvSpPr>
        <p:spPr>
          <a:xfrm>
            <a:off x="3348000"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4000" y="1548000"/>
            <a:ext cx="1368000" cy="216000"/>
          </a:xfrm>
          <a:prstGeom prst="rect">
            <a:avLst/>
          </a:prstGeom>
          <a:noFill/>
        </p:spPr>
        <p:txBody>
          <a:bodyPr wrap="square">
            <a:spAutoFit/>
          </a:bodyPr>
          <a:lstStyle/>
          <a:p>
            <a:pPr algn="l"/>
            <a:r>
              <a:rPr sz="900" b="1" i="0">
                <a:solidFill>
                  <a:srgbClr val="FFFFFF"/>
                </a:solidFill>
              </a:rPr>
              <a:t>Cible : 23</a:t>
            </a:r>
          </a:p>
        </p:txBody>
      </p:sp>
      <p:sp>
        <p:nvSpPr>
          <p:cNvPr id="50" name="TextBox 49"/>
          <p:cNvSpPr txBox="1"/>
          <p:nvPr/>
        </p:nvSpPr>
        <p:spPr>
          <a:xfrm>
            <a:off x="4788000" y="1548000"/>
            <a:ext cx="1080000" cy="216000"/>
          </a:xfrm>
          <a:prstGeom prst="rect">
            <a:avLst/>
          </a:prstGeom>
          <a:noFill/>
        </p:spPr>
        <p:txBody>
          <a:bodyPr wrap="square">
            <a:spAutoFit/>
          </a:bodyPr>
          <a:lstStyle/>
          <a:p>
            <a:pPr algn="l"/>
            <a:r>
              <a:rPr sz="900" b="0" i="0">
                <a:solidFill>
                  <a:srgbClr val="FFFFFF"/>
                </a:solidFill>
              </a:rPr>
              <a:t>Upside : +8 %</a:t>
            </a:r>
          </a:p>
        </p:txBody>
      </p:sp>
      <p:sp>
        <p:nvSpPr>
          <p:cNvPr id="51" name="TextBox 50"/>
          <p:cNvSpPr txBox="1"/>
          <p:nvPr/>
        </p:nvSpPr>
        <p:spPr>
          <a:xfrm>
            <a:off x="3348000"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52" name="Rectangle 51"/>
          <p:cNvSpPr/>
          <p:nvPr/>
        </p:nvSpPr>
        <p:spPr>
          <a:xfrm>
            <a:off x="3348000"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4000" y="2214000"/>
            <a:ext cx="1368000" cy="223200"/>
          </a:xfrm>
          <a:prstGeom prst="rect">
            <a:avLst/>
          </a:prstGeom>
          <a:noFill/>
        </p:spPr>
        <p:txBody>
          <a:bodyPr wrap="square">
            <a:spAutoFit/>
          </a:bodyPr>
          <a:lstStyle/>
          <a:p>
            <a:pPr algn="l"/>
            <a:r>
              <a:rPr sz="800" b="0" i="0">
                <a:solidFill>
                  <a:srgbClr val="555555"/>
                </a:solidFill>
              </a:rPr>
              <a:t>P/E</a:t>
            </a:r>
          </a:p>
        </p:txBody>
      </p:sp>
      <p:sp>
        <p:nvSpPr>
          <p:cNvPr id="54" name="TextBox 53"/>
          <p:cNvSpPr txBox="1"/>
          <p:nvPr/>
        </p:nvSpPr>
        <p:spPr>
          <a:xfrm>
            <a:off x="4788000" y="2214000"/>
            <a:ext cx="1080000" cy="223200"/>
          </a:xfrm>
          <a:prstGeom prst="rect">
            <a:avLst/>
          </a:prstGeom>
          <a:noFill/>
        </p:spPr>
        <p:txBody>
          <a:bodyPr wrap="square">
            <a:spAutoFit/>
          </a:bodyPr>
          <a:lstStyle/>
          <a:p>
            <a:pPr algn="r"/>
            <a:r>
              <a:rPr sz="850" b="1" i="0">
                <a:solidFill>
                  <a:srgbClr val="1B3A6B"/>
                </a:solidFill>
              </a:rPr>
              <a:t>12.6x</a:t>
            </a:r>
          </a:p>
        </p:txBody>
      </p:sp>
      <p:sp>
        <p:nvSpPr>
          <p:cNvPr id="55" name="Rectangle 54"/>
          <p:cNvSpPr/>
          <p:nvPr/>
        </p:nvSpPr>
        <p:spPr>
          <a:xfrm>
            <a:off x="3348000"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84000" y="2484000"/>
            <a:ext cx="1368000" cy="223200"/>
          </a:xfrm>
          <a:prstGeom prst="rect">
            <a:avLst/>
          </a:prstGeom>
          <a:noFill/>
        </p:spPr>
        <p:txBody>
          <a:bodyPr wrap="square">
            <a:spAutoFit/>
          </a:bodyPr>
          <a:lstStyle/>
          <a:p>
            <a:pPr algn="l"/>
            <a:r>
              <a:rPr sz="800" b="0" i="0">
                <a:solidFill>
                  <a:srgbClr val="555555"/>
                </a:solidFill>
              </a:rPr>
              <a:t>P/B</a:t>
            </a:r>
          </a:p>
        </p:txBody>
      </p:sp>
      <p:sp>
        <p:nvSpPr>
          <p:cNvPr id="57" name="TextBox 56"/>
          <p:cNvSpPr txBox="1"/>
          <p:nvPr/>
        </p:nvSpPr>
        <p:spPr>
          <a:xfrm>
            <a:off x="4788000" y="2484000"/>
            <a:ext cx="1080000" cy="223200"/>
          </a:xfrm>
          <a:prstGeom prst="rect">
            <a:avLst/>
          </a:prstGeom>
          <a:noFill/>
        </p:spPr>
        <p:txBody>
          <a:bodyPr wrap="square">
            <a:spAutoFit/>
          </a:bodyPr>
          <a:lstStyle/>
          <a:p>
            <a:pPr algn="r"/>
            <a:r>
              <a:rPr sz="850" b="1" i="0">
                <a:solidFill>
                  <a:srgbClr val="1B3A6B"/>
                </a:solidFill>
              </a:rPr>
              <a:t>1.3x</a:t>
            </a:r>
          </a:p>
        </p:txBody>
      </p:sp>
      <p:sp>
        <p:nvSpPr>
          <p:cNvPr id="58" name="Rectangle 57"/>
          <p:cNvSpPr/>
          <p:nvPr/>
        </p:nvSpPr>
        <p:spPr>
          <a:xfrm>
            <a:off x="3348000"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4000" y="2754000"/>
            <a:ext cx="1368000" cy="223200"/>
          </a:xfrm>
          <a:prstGeom prst="rect">
            <a:avLst/>
          </a:prstGeom>
          <a:noFill/>
        </p:spPr>
        <p:txBody>
          <a:bodyPr wrap="square">
            <a:spAutoFit/>
          </a:bodyPr>
          <a:lstStyle/>
          <a:p>
            <a:pPr algn="l"/>
            <a:r>
              <a:rPr sz="800" b="0" i="0">
                <a:solidFill>
                  <a:srgbClr val="555555"/>
                </a:solidFill>
              </a:rPr>
              <a:t>ROE</a:t>
            </a:r>
          </a:p>
        </p:txBody>
      </p:sp>
      <p:sp>
        <p:nvSpPr>
          <p:cNvPr id="60" name="TextBox 59"/>
          <p:cNvSpPr txBox="1"/>
          <p:nvPr/>
        </p:nvSpPr>
        <p:spPr>
          <a:xfrm>
            <a:off x="4788000" y="2754000"/>
            <a:ext cx="1080000" cy="223200"/>
          </a:xfrm>
          <a:prstGeom prst="rect">
            <a:avLst/>
          </a:prstGeom>
          <a:noFill/>
        </p:spPr>
        <p:txBody>
          <a:bodyPr wrap="square">
            <a:spAutoFit/>
          </a:bodyPr>
          <a:lstStyle/>
          <a:p>
            <a:pPr algn="r"/>
            <a:r>
              <a:rPr sz="850" b="1" i="0">
                <a:solidFill>
                  <a:srgbClr val="1B3A6B"/>
                </a:solidFill>
              </a:rPr>
              <a:t>10.2 %</a:t>
            </a:r>
          </a:p>
        </p:txBody>
      </p:sp>
      <p:sp>
        <p:nvSpPr>
          <p:cNvPr id="61" name="TextBox 60"/>
          <p:cNvSpPr txBox="1"/>
          <p:nvPr/>
        </p:nvSpPr>
        <p:spPr>
          <a:xfrm>
            <a:off x="3348000"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62" name="Rectangle 61"/>
          <p:cNvSpPr/>
          <p:nvPr/>
        </p:nvSpPr>
        <p:spPr>
          <a:xfrm>
            <a:off x="3348000"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348000"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20000" y="3258000"/>
            <a:ext cx="2412000" cy="450000"/>
          </a:xfrm>
          <a:prstGeom prst="rect">
            <a:avLst/>
          </a:prstGeom>
          <a:noFill/>
        </p:spPr>
        <p:txBody>
          <a:bodyPr wrap="square">
            <a:spAutoFit/>
          </a:bodyPr>
          <a:lstStyle/>
          <a:p>
            <a:pPr algn="l"/>
            <a:r>
              <a:rPr sz="750" b="0" i="0">
                <a:solidFill>
                  <a:srgbClr val="555555"/>
                </a:solidFill>
              </a:rPr>
              <a:t>Une croissance des revenus de +8.9% suggère une dynamique commerciale solide, notamment dans les segments de banque de détail et gestion d'actifs.</a:t>
            </a:r>
          </a:p>
        </p:txBody>
      </p:sp>
      <p:sp>
        <p:nvSpPr>
          <p:cNvPr id="65" name="TextBox 64"/>
          <p:cNvSpPr txBox="1"/>
          <p:nvPr/>
        </p:nvSpPr>
        <p:spPr>
          <a:xfrm>
            <a:off x="3348000"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66" name="Rectangle 65"/>
          <p:cNvSpPr/>
          <p:nvPr/>
        </p:nvSpPr>
        <p:spPr>
          <a:xfrm>
            <a:off x="3348000"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348000"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420000" y="4014000"/>
            <a:ext cx="2412000" cy="450000"/>
          </a:xfrm>
          <a:prstGeom prst="rect">
            <a:avLst/>
          </a:prstGeom>
          <a:noFill/>
        </p:spPr>
        <p:txBody>
          <a:bodyPr wrap="square">
            <a:spAutoFit/>
          </a:bodyPr>
          <a:lstStyle/>
          <a:p>
            <a:pPr algn="l"/>
            <a:r>
              <a:rPr sz="750" b="0" i="0">
                <a:solidFill>
                  <a:srgbClr val="555555"/>
                </a:solidFill>
              </a:rPr>
              <a:t>Un durcissement des conditions de crédit dans un contexte de ralentissement économique pourrait dégrader la qualité des actifs.</a:t>
            </a:r>
          </a:p>
        </p:txBody>
      </p:sp>
      <p:sp>
        <p:nvSpPr>
          <p:cNvPr id="69" name="Rectangle 68"/>
          <p:cNvSpPr/>
          <p:nvPr/>
        </p:nvSpPr>
        <p:spPr>
          <a:xfrm>
            <a:off x="6083999" y="900000"/>
            <a:ext cx="2736000" cy="403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083999" y="900000"/>
            <a:ext cx="36000" cy="403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27999" y="972000"/>
            <a:ext cx="1655999" cy="288000"/>
          </a:xfrm>
          <a:prstGeom prst="rect">
            <a:avLst/>
          </a:prstGeom>
          <a:noFill/>
        </p:spPr>
        <p:txBody>
          <a:bodyPr wrap="square">
            <a:spAutoFit/>
          </a:bodyPr>
          <a:lstStyle/>
          <a:p>
            <a:pPr algn="l"/>
            <a:r>
              <a:rPr sz="1300" b="1" i="0">
                <a:solidFill>
                  <a:srgbClr val="1B3A6B"/>
                </a:solidFill>
              </a:rPr>
              <a:t>MS</a:t>
            </a:r>
          </a:p>
        </p:txBody>
      </p:sp>
      <p:sp>
        <p:nvSpPr>
          <p:cNvPr id="72" name="Rectangle 71"/>
          <p:cNvSpPr/>
          <p:nvPr/>
        </p:nvSpPr>
        <p:spPr>
          <a:xfrm>
            <a:off x="7992000" y="972000"/>
            <a:ext cx="792000" cy="251999"/>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92000" y="979200"/>
            <a:ext cx="792000" cy="234000"/>
          </a:xfrm>
          <a:prstGeom prst="rect">
            <a:avLst/>
          </a:prstGeom>
          <a:noFill/>
        </p:spPr>
        <p:txBody>
          <a:bodyPr wrap="square">
            <a:spAutoFit/>
          </a:bodyPr>
          <a:lstStyle/>
          <a:p>
            <a:pPr algn="ctr"/>
            <a:r>
              <a:rPr sz="900" b="1" i="0">
                <a:solidFill>
                  <a:srgbClr val="FFFFFF"/>
                </a:solidFill>
              </a:rPr>
              <a:t>HOLD</a:t>
            </a:r>
          </a:p>
        </p:txBody>
      </p:sp>
      <p:sp>
        <p:nvSpPr>
          <p:cNvPr id="74" name="TextBox 73"/>
          <p:cNvSpPr txBox="1"/>
          <p:nvPr/>
        </p:nvSpPr>
        <p:spPr>
          <a:xfrm>
            <a:off x="6227999" y="1260000"/>
            <a:ext cx="2556000" cy="180000"/>
          </a:xfrm>
          <a:prstGeom prst="rect">
            <a:avLst/>
          </a:prstGeom>
          <a:noFill/>
        </p:spPr>
        <p:txBody>
          <a:bodyPr wrap="square">
            <a:spAutoFit/>
          </a:bodyPr>
          <a:lstStyle/>
          <a:p>
            <a:pPr algn="l"/>
            <a:r>
              <a:rPr sz="800" b="0" i="0">
                <a:solidFill>
                  <a:srgbClr val="555555"/>
                </a:solidFill>
              </a:rPr>
              <a:t>Morgan Stanley</a:t>
            </a:r>
          </a:p>
        </p:txBody>
      </p:sp>
      <p:sp>
        <p:nvSpPr>
          <p:cNvPr id="75" name="Rectangle 74"/>
          <p:cNvSpPr/>
          <p:nvPr/>
        </p:nvSpPr>
        <p:spPr>
          <a:xfrm>
            <a:off x="6227999" y="1512000"/>
            <a:ext cx="2556000" cy="432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999" y="1548000"/>
            <a:ext cx="1368000" cy="216000"/>
          </a:xfrm>
          <a:prstGeom prst="rect">
            <a:avLst/>
          </a:prstGeom>
          <a:noFill/>
        </p:spPr>
        <p:txBody>
          <a:bodyPr wrap="square">
            <a:spAutoFit/>
          </a:bodyPr>
          <a:lstStyle/>
          <a:p>
            <a:pPr algn="l"/>
            <a:r>
              <a:rPr sz="900" b="1" i="0">
                <a:solidFill>
                  <a:srgbClr val="FFFFFF"/>
                </a:solidFill>
              </a:rPr>
              <a:t>Cible : 198</a:t>
            </a:r>
          </a:p>
        </p:txBody>
      </p:sp>
      <p:sp>
        <p:nvSpPr>
          <p:cNvPr id="77" name="TextBox 76"/>
          <p:cNvSpPr txBox="1"/>
          <p:nvPr/>
        </p:nvSpPr>
        <p:spPr>
          <a:xfrm>
            <a:off x="7667999" y="1548000"/>
            <a:ext cx="1080000" cy="216000"/>
          </a:xfrm>
          <a:prstGeom prst="rect">
            <a:avLst/>
          </a:prstGeom>
          <a:noFill/>
        </p:spPr>
        <p:txBody>
          <a:bodyPr wrap="square">
            <a:spAutoFit/>
          </a:bodyPr>
          <a:lstStyle/>
          <a:p>
            <a:pPr algn="l"/>
            <a:r>
              <a:rPr sz="900" b="0" i="0">
                <a:solidFill>
                  <a:srgbClr val="FFFFFF"/>
                </a:solidFill>
              </a:rPr>
              <a:t>Upside : +8 %</a:t>
            </a:r>
          </a:p>
        </p:txBody>
      </p:sp>
      <p:sp>
        <p:nvSpPr>
          <p:cNvPr id="78" name="TextBox 77"/>
          <p:cNvSpPr txBox="1"/>
          <p:nvPr/>
        </p:nvSpPr>
        <p:spPr>
          <a:xfrm>
            <a:off x="6227999" y="2015999"/>
            <a:ext cx="2556000" cy="180000"/>
          </a:xfrm>
          <a:prstGeom prst="rect">
            <a:avLst/>
          </a:prstGeom>
          <a:noFill/>
        </p:spPr>
        <p:txBody>
          <a:bodyPr wrap="square">
            <a:spAutoFit/>
          </a:bodyPr>
          <a:lstStyle/>
          <a:p>
            <a:pPr algn="l"/>
            <a:r>
              <a:rPr sz="750" b="1" i="0">
                <a:solidFill>
                  <a:srgbClr val="1B3A6B"/>
                </a:solidFill>
              </a:rPr>
              <a:t>Ratios cles</a:t>
            </a:r>
          </a:p>
        </p:txBody>
      </p:sp>
      <p:sp>
        <p:nvSpPr>
          <p:cNvPr id="79" name="Rectangle 78"/>
          <p:cNvSpPr/>
          <p:nvPr/>
        </p:nvSpPr>
        <p:spPr>
          <a:xfrm>
            <a:off x="6227999" y="219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263999" y="2214000"/>
            <a:ext cx="1368000" cy="223200"/>
          </a:xfrm>
          <a:prstGeom prst="rect">
            <a:avLst/>
          </a:prstGeom>
          <a:noFill/>
        </p:spPr>
        <p:txBody>
          <a:bodyPr wrap="square">
            <a:spAutoFit/>
          </a:bodyPr>
          <a:lstStyle/>
          <a:p>
            <a:pPr algn="l"/>
            <a:r>
              <a:rPr sz="800" b="0" i="0">
                <a:solidFill>
                  <a:srgbClr val="555555"/>
                </a:solidFill>
              </a:rPr>
              <a:t>P/E</a:t>
            </a:r>
          </a:p>
        </p:txBody>
      </p:sp>
      <p:sp>
        <p:nvSpPr>
          <p:cNvPr id="81" name="TextBox 80"/>
          <p:cNvSpPr txBox="1"/>
          <p:nvPr/>
        </p:nvSpPr>
        <p:spPr>
          <a:xfrm>
            <a:off x="7667999" y="2214000"/>
            <a:ext cx="1080000" cy="223200"/>
          </a:xfrm>
          <a:prstGeom prst="rect">
            <a:avLst/>
          </a:prstGeom>
          <a:noFill/>
        </p:spPr>
        <p:txBody>
          <a:bodyPr wrap="square">
            <a:spAutoFit/>
          </a:bodyPr>
          <a:lstStyle/>
          <a:p>
            <a:pPr algn="r"/>
            <a:r>
              <a:rPr sz="850" b="1" i="0">
                <a:solidFill>
                  <a:srgbClr val="1B3A6B"/>
                </a:solidFill>
              </a:rPr>
              <a:t>17.2x</a:t>
            </a:r>
          </a:p>
        </p:txBody>
      </p:sp>
      <p:sp>
        <p:nvSpPr>
          <p:cNvPr id="82" name="Rectangle 81"/>
          <p:cNvSpPr/>
          <p:nvPr/>
        </p:nvSpPr>
        <p:spPr>
          <a:xfrm>
            <a:off x="6227999" y="246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263999" y="2484000"/>
            <a:ext cx="1368000" cy="223200"/>
          </a:xfrm>
          <a:prstGeom prst="rect">
            <a:avLst/>
          </a:prstGeom>
          <a:noFill/>
        </p:spPr>
        <p:txBody>
          <a:bodyPr wrap="square">
            <a:spAutoFit/>
          </a:bodyPr>
          <a:lstStyle/>
          <a:p>
            <a:pPr algn="l"/>
            <a:r>
              <a:rPr sz="800" b="0" i="0">
                <a:solidFill>
                  <a:srgbClr val="555555"/>
                </a:solidFill>
              </a:rPr>
              <a:t>P/B</a:t>
            </a:r>
          </a:p>
        </p:txBody>
      </p:sp>
      <p:sp>
        <p:nvSpPr>
          <p:cNvPr id="84" name="TextBox 83"/>
          <p:cNvSpPr txBox="1"/>
          <p:nvPr/>
        </p:nvSpPr>
        <p:spPr>
          <a:xfrm>
            <a:off x="7667999" y="2484000"/>
            <a:ext cx="1080000" cy="223200"/>
          </a:xfrm>
          <a:prstGeom prst="rect">
            <a:avLst/>
          </a:prstGeom>
          <a:noFill/>
        </p:spPr>
        <p:txBody>
          <a:bodyPr wrap="square">
            <a:spAutoFit/>
          </a:bodyPr>
          <a:lstStyle/>
          <a:p>
            <a:pPr algn="r"/>
            <a:r>
              <a:rPr sz="850" b="1" i="0">
                <a:solidFill>
                  <a:srgbClr val="1B3A6B"/>
                </a:solidFill>
              </a:rPr>
              <a:t>2.9x</a:t>
            </a:r>
          </a:p>
        </p:txBody>
      </p:sp>
      <p:sp>
        <p:nvSpPr>
          <p:cNvPr id="85" name="Rectangle 84"/>
          <p:cNvSpPr/>
          <p:nvPr/>
        </p:nvSpPr>
        <p:spPr>
          <a:xfrm>
            <a:off x="6227999" y="2736000"/>
            <a:ext cx="2556000" cy="259200"/>
          </a:xfrm>
          <a:prstGeom prst="rect">
            <a:avLst/>
          </a:prstGeom>
          <a:solidFill>
            <a:srgbClr val="E8E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999" y="2754000"/>
            <a:ext cx="1368000" cy="223200"/>
          </a:xfrm>
          <a:prstGeom prst="rect">
            <a:avLst/>
          </a:prstGeom>
          <a:noFill/>
        </p:spPr>
        <p:txBody>
          <a:bodyPr wrap="square">
            <a:spAutoFit/>
          </a:bodyPr>
          <a:lstStyle/>
          <a:p>
            <a:pPr algn="l"/>
            <a:r>
              <a:rPr sz="800" b="0" i="0">
                <a:solidFill>
                  <a:srgbClr val="555555"/>
                </a:solidFill>
              </a:rPr>
              <a:t>ROE</a:t>
            </a:r>
          </a:p>
        </p:txBody>
      </p:sp>
      <p:sp>
        <p:nvSpPr>
          <p:cNvPr id="87" name="TextBox 86"/>
          <p:cNvSpPr txBox="1"/>
          <p:nvPr/>
        </p:nvSpPr>
        <p:spPr>
          <a:xfrm>
            <a:off x="7667999" y="2754000"/>
            <a:ext cx="1080000" cy="223200"/>
          </a:xfrm>
          <a:prstGeom prst="rect">
            <a:avLst/>
          </a:prstGeom>
          <a:noFill/>
        </p:spPr>
        <p:txBody>
          <a:bodyPr wrap="square">
            <a:spAutoFit/>
          </a:bodyPr>
          <a:lstStyle/>
          <a:p>
            <a:pPr algn="r"/>
            <a:r>
              <a:rPr sz="850" b="1" i="0">
                <a:solidFill>
                  <a:srgbClr val="1B3A6B"/>
                </a:solidFill>
              </a:rPr>
              <a:t>16.5 %</a:t>
            </a:r>
          </a:p>
        </p:txBody>
      </p:sp>
      <p:sp>
        <p:nvSpPr>
          <p:cNvPr id="88" name="TextBox 87"/>
          <p:cNvSpPr txBox="1"/>
          <p:nvPr/>
        </p:nvSpPr>
        <p:spPr>
          <a:xfrm>
            <a:off x="6227999" y="3060000"/>
            <a:ext cx="2556000" cy="180000"/>
          </a:xfrm>
          <a:prstGeom prst="rect">
            <a:avLst/>
          </a:prstGeom>
          <a:noFill/>
        </p:spPr>
        <p:txBody>
          <a:bodyPr wrap="square">
            <a:spAutoFit/>
          </a:bodyPr>
          <a:lstStyle/>
          <a:p>
            <a:pPr algn="l"/>
            <a:r>
              <a:rPr sz="750" b="1" i="0">
                <a:solidFill>
                  <a:srgbClr val="1A7A4A"/>
                </a:solidFill>
              </a:rPr>
              <a:t>Catalyseur</a:t>
            </a:r>
          </a:p>
        </p:txBody>
      </p:sp>
      <p:sp>
        <p:nvSpPr>
          <p:cNvPr id="89" name="Rectangle 88"/>
          <p:cNvSpPr/>
          <p:nvPr/>
        </p:nvSpPr>
        <p:spPr>
          <a:xfrm>
            <a:off x="6227999" y="3240000"/>
            <a:ext cx="2556000" cy="503999"/>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227999" y="3240000"/>
            <a:ext cx="36000" cy="503999"/>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300000" y="3258000"/>
            <a:ext cx="2412000" cy="450000"/>
          </a:xfrm>
          <a:prstGeom prst="rect">
            <a:avLst/>
          </a:prstGeom>
          <a:noFill/>
        </p:spPr>
        <p:txBody>
          <a:bodyPr wrap="square">
            <a:spAutoFit/>
          </a:bodyPr>
          <a:lstStyle/>
          <a:p>
            <a:pPr algn="l"/>
            <a:r>
              <a:rPr sz="750" b="0" i="0">
                <a:solidFill>
                  <a:srgbClr val="555555"/>
                </a:solidFill>
              </a:rPr>
              <a:t>Le momentum à +31.5% sur 52 semaines pour les valeurs comme MS indique un regain d'intérêt des investisseurs pour les banques bien capitalisées.</a:t>
            </a:r>
          </a:p>
        </p:txBody>
      </p:sp>
      <p:sp>
        <p:nvSpPr>
          <p:cNvPr id="92" name="TextBox 91"/>
          <p:cNvSpPr txBox="1"/>
          <p:nvPr/>
        </p:nvSpPr>
        <p:spPr>
          <a:xfrm>
            <a:off x="6227999" y="3780000"/>
            <a:ext cx="2556000" cy="180000"/>
          </a:xfrm>
          <a:prstGeom prst="rect">
            <a:avLst/>
          </a:prstGeom>
          <a:noFill/>
        </p:spPr>
        <p:txBody>
          <a:bodyPr wrap="square">
            <a:spAutoFit/>
          </a:bodyPr>
          <a:lstStyle/>
          <a:p>
            <a:pPr algn="l"/>
            <a:r>
              <a:rPr sz="750" b="1" i="0">
                <a:solidFill>
                  <a:srgbClr val="A82020"/>
                </a:solidFill>
              </a:rPr>
              <a:t>Risque principal</a:t>
            </a:r>
          </a:p>
        </p:txBody>
      </p:sp>
      <p:sp>
        <p:nvSpPr>
          <p:cNvPr id="93" name="Rectangle 92"/>
          <p:cNvSpPr/>
          <p:nvPr/>
        </p:nvSpPr>
        <p:spPr>
          <a:xfrm>
            <a:off x="6227999" y="3996000"/>
            <a:ext cx="2556000" cy="503999"/>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6227999" y="3996000"/>
            <a:ext cx="36000" cy="503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300000" y="4014000"/>
            <a:ext cx="2412000" cy="450000"/>
          </a:xfrm>
          <a:prstGeom prst="rect">
            <a:avLst/>
          </a:prstGeom>
          <a:noFill/>
        </p:spPr>
        <p:txBody>
          <a:bodyPr wrap="square">
            <a:spAutoFit/>
          </a:bodyPr>
          <a:lstStyle/>
          <a:p>
            <a:pPr algn="l"/>
            <a:r>
              <a:rPr sz="750" b="0" i="0">
                <a:solidFill>
                  <a:srgbClr val="555555"/>
                </a:solidFill>
              </a:rPr>
              <a:t>La montée en puissance des fintechs et néobanques menace les parts de marché traditionnelles des banques établies.</a:t>
            </a:r>
          </a:p>
        </p:txBody>
      </p:sp>
      <p:sp>
        <p:nvSpPr>
          <p:cNvPr id="96" name="Rectangle 95"/>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par société vs médiane sectorielle (5.2x)  ·  Vert = sous médiane  ·  Rouge = prime</a:t>
            </a:r>
          </a:p>
        </p:txBody>
      </p:sp>
      <p:pic>
        <p:nvPicPr>
          <p:cNvPr id="15" name="Picture 14" descr="image.png"/>
          <p:cNvPicPr>
            <a:picLocks noChangeAspect="1"/>
          </p:cNvPicPr>
          <p:nvPr/>
        </p:nvPicPr>
        <p:blipFill>
          <a:blip r:embed="rId2"/>
          <a:stretch>
            <a:fillRect/>
          </a:stretch>
        </p:blipFill>
        <p:spPr>
          <a:xfrm>
            <a:off x="324000" y="827999"/>
            <a:ext cx="5292000" cy="4104000"/>
          </a:xfrm>
          <a:prstGeom prst="rect">
            <a:avLst/>
          </a:prstGeom>
        </p:spPr>
      </p:pic>
      <p:sp>
        <p:nvSpPr>
          <p:cNvPr id="16" name="Rectangle 15"/>
          <p:cNvSpPr/>
          <p:nvPr/>
        </p:nvSpPr>
        <p:spPr>
          <a:xfrm>
            <a:off x="5796000" y="827999"/>
            <a:ext cx="3024000" cy="410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796000" y="827999"/>
            <a:ext cx="3024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68000" y="846000"/>
            <a:ext cx="2916000" cy="216000"/>
          </a:xfrm>
          <a:prstGeom prst="rect">
            <a:avLst/>
          </a:prstGeom>
          <a:noFill/>
        </p:spPr>
        <p:txBody>
          <a:bodyPr wrap="square">
            <a:spAutoFit/>
          </a:bodyPr>
          <a:lstStyle/>
          <a:p>
            <a:pPr algn="l"/>
            <a:r>
              <a:rPr sz="850" b="1" i="0">
                <a:solidFill>
                  <a:srgbClr val="FFFFFF"/>
                </a:solidFill>
              </a:rPr>
              <a:t>CE QUE LE GRAPHIQUE REVELE</a:t>
            </a:r>
          </a:p>
        </p:txBody>
      </p:sp>
      <p:sp>
        <p:nvSpPr>
          <p:cNvPr id="19" name="TextBox 18"/>
          <p:cNvSpPr txBox="1"/>
          <p:nvPr/>
        </p:nvSpPr>
        <p:spPr>
          <a:xfrm>
            <a:off x="5868000" y="1116000"/>
            <a:ext cx="2880000" cy="3780000"/>
          </a:xfrm>
          <a:prstGeom prst="rect">
            <a:avLst/>
          </a:prstGeom>
          <a:noFill/>
        </p:spPr>
        <p:txBody>
          <a:bodyPr wrap="square">
            <a:spAutoFit/>
          </a:bodyPr>
          <a:lstStyle/>
          <a:p>
            <a:pPr algn="l"/>
            <a:r>
              <a:rPr sz="850" b="0" i="0">
                <a:solidFill>
                  <a:srgbClr val="555555"/>
                </a:solidFill>
              </a:rPr>
              <a:t>OBSERVATION. Le secteur affiche un ecart entre la valeur la plus basse (-0.2x) et la plus haute (17.6x), soit un ratio de 1.0x. La mediane s'etablit a 5.2x avec 3 acteur(s) en prime marquee (&gt;+15% vs mediane) et 6 en decote significative (&lt;-15%).
IMPLICATIONS. RF combine la decote (EV/EBITDA 3.6x) avec un score FinSight de 68/100 : asymetrie positive la plus credible du secteur, declencheur d'une analyse societe approfondie. A l'oppose, BLK (17.6x) concentre le risque de derating : toute deception de croissance ou guidance decevante comprimerait le multiple en priorite sur ce nom.
ACTION. La compression des multiples indique un secteur quasi-homogene : l'approche indicielle (ETF) capture l'essentiel du rendement attendu, le cout d'effort du stock-picking n'est pas justifie sauf conviction forte sur un catalyseur idiosyncratique.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Conditions d'entree favorable  ·  Cours &lt; DCF Base x 0,90 + momentum négatif + sentiment négatif</a:t>
            </a:r>
          </a:p>
        </p:txBody>
      </p:sp>
      <p:sp>
        <p:nvSpPr>
          <p:cNvPr id="15" name="Rectangle 14"/>
          <p:cNvSpPr/>
          <p:nvPr/>
        </p:nvSpPr>
        <p:spPr>
          <a:xfrm>
            <a:off x="324000" y="900000"/>
            <a:ext cx="8496000" cy="32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32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8316000" cy="288000"/>
          </a:xfrm>
          <a:prstGeom prst="rect">
            <a:avLst/>
          </a:prstGeom>
          <a:noFill/>
        </p:spPr>
        <p:txBody>
          <a:bodyPr wrap="square">
            <a:spAutoFit/>
          </a:bodyPr>
          <a:lstStyle/>
          <a:p>
            <a:pPr algn="l"/>
            <a:r>
              <a:rPr sz="850" b="0" i="0">
                <a:solidFill>
                  <a:srgbClr val="555555"/>
                </a:solidFill>
              </a:rPr>
              <a:t>La zone d'entree optimale est définie par la convergence de 3 signaux : décote &gt; 10 % vs DCF Base · momentum 52W négatif · sentiment FinBERT négatif.</a:t>
            </a:r>
          </a:p>
        </p:txBody>
      </p:sp>
      <p:graphicFrame>
        <p:nvGraphicFramePr>
          <p:cNvPr id="18" name="Table 17"/>
          <p:cNvGraphicFramePr>
            <a:graphicFrameLocks noGrp="1"/>
          </p:cNvGraphicFramePr>
          <p:nvPr/>
        </p:nvGraphicFramePr>
        <p:xfrm>
          <a:off x="324000" y="1260000"/>
          <a:ext cx="8495997" cy="1684800"/>
        </p:xfrm>
        <a:graphic>
          <a:graphicData uri="http://schemas.openxmlformats.org/drawingml/2006/table">
            <a:tbl>
              <a:tblPr firstRow="1" bandRow="1">
                <a:tableStyleId>{5C22544A-7EE6-4342-B048-85BDC9FD1C3A}</a:tableStyleId>
              </a:tblPr>
              <a:tblGrid>
                <a:gridCol w="765405"/>
                <a:gridCol w="1722162"/>
                <a:gridCol w="1071567"/>
                <a:gridCol w="1224648"/>
                <a:gridCol w="1148108"/>
                <a:gridCol w="1607351"/>
                <a:gridCol w="956756"/>
              </a:tblGrid>
              <a:tr h="187200">
                <a:tc>
                  <a:txBody>
                    <a:bodyPr/>
                    <a:lstStyle/>
                    <a:p>
                      <a:pPr algn="ctr"/>
                      <a:r>
                        <a:rPr sz="750" b="1">
                          <a:solidFill>
                            <a:srgbClr val="FFFFFF"/>
                          </a:solidFill>
                        </a:rPr>
                        <a:t>Ticker</a:t>
                      </a:r>
                    </a:p>
                  </a:txBody>
                  <a:tcPr>
                    <a:solidFill>
                      <a:srgbClr val="1B3A6B"/>
                    </a:solidFill>
                  </a:tcPr>
                </a:tc>
                <a:tc>
                  <a:txBody>
                    <a:bodyPr/>
                    <a:lstStyle/>
                    <a:p>
                      <a:pPr algn="ctr"/>
                      <a:r>
                        <a:rPr sz="750" b="1">
                          <a:solidFill>
                            <a:srgbClr val="FFFFFF"/>
                          </a:solidFill>
                        </a:rPr>
                        <a:t>Société</a:t>
                      </a:r>
                    </a:p>
                  </a:txBody>
                  <a:tcPr>
                    <a:solidFill>
                      <a:srgbClr val="1B3A6B"/>
                    </a:solidFill>
                  </a:tcPr>
                </a:tc>
                <a:tc>
                  <a:txBody>
                    <a:bodyPr/>
                    <a:lstStyle/>
                    <a:p>
                      <a:pPr algn="ctr"/>
                      <a:r>
                        <a:rPr sz="750" b="1">
                          <a:solidFill>
                            <a:srgbClr val="FFFFFF"/>
                          </a:solidFill>
                        </a:rPr>
                        <a:t>Cours actuel</a:t>
                      </a:r>
                    </a:p>
                  </a:txBody>
                  <a:tcPr>
                    <a:solidFill>
                      <a:srgbClr val="1B3A6B"/>
                    </a:solidFill>
                  </a:tcPr>
                </a:tc>
                <a:tc>
                  <a:txBody>
                    <a:bodyPr/>
                    <a:lstStyle/>
                    <a:p>
                      <a:pPr algn="ctr"/>
                      <a:r>
                        <a:rPr sz="750" b="1">
                          <a:solidFill>
                            <a:srgbClr val="FFFFFF"/>
                          </a:solidFill>
                        </a:rPr>
                        <a:t>DCF Base (est.)</a:t>
                      </a:r>
                    </a:p>
                  </a:txBody>
                  <a:tcPr>
                    <a:solidFill>
                      <a:srgbClr val="1B3A6B"/>
                    </a:solidFill>
                  </a:tcPr>
                </a:tc>
                <a:tc>
                  <a:txBody>
                    <a:bodyPr/>
                    <a:lstStyle/>
                    <a:p>
                      <a:pPr algn="ctr"/>
                      <a:r>
                        <a:rPr sz="750" b="1">
                          <a:solidFill>
                            <a:srgbClr val="FFFFFF"/>
                          </a:solidFill>
                        </a:rPr>
                        <a:t>Zone d achat</a:t>
                      </a:r>
                    </a:p>
                  </a:txBody>
                  <a:tcPr>
                    <a:solidFill>
                      <a:srgbClr val="1B3A6B"/>
                    </a:solidFill>
                  </a:tcPr>
                </a:tc>
                <a:tc>
                  <a:txBody>
                    <a:bodyPr/>
                    <a:lstStyle/>
                    <a:p>
                      <a:pPr algn="ctr"/>
                      <a:r>
                        <a:rPr sz="750" b="1">
                          <a:solidFill>
                            <a:srgbClr val="FFFFFF"/>
                          </a:solidFill>
                        </a:rPr>
                        <a:t>Signal</a:t>
                      </a:r>
                    </a:p>
                  </a:txBody>
                  <a:tcPr>
                    <a:solidFill>
                      <a:srgbClr val="1B3A6B"/>
                    </a:solidFill>
                  </a:tcPr>
                </a:tc>
                <a:tc>
                  <a:txBody>
                    <a:bodyPr/>
                    <a:lstStyle/>
                    <a:p>
                      <a:pPr algn="ctr"/>
                      <a:r>
                        <a:rPr sz="750" b="1">
                          <a:solidFill>
                            <a:srgbClr val="FFFFFF"/>
                          </a:solidFill>
                        </a:rPr>
                        <a:t>Proba. 12M</a:t>
                      </a:r>
                    </a:p>
                  </a:txBody>
                  <a:tcPr>
                    <a:solidFill>
                      <a:srgbClr val="1B3A6B"/>
                    </a:solidFill>
                  </a:tcPr>
                </a:tc>
              </a:tr>
              <a:tr h="187200">
                <a:tc>
                  <a:txBody>
                    <a:bodyPr/>
                    <a:lstStyle/>
                    <a:p>
                      <a:pPr algn="ctr"/>
                      <a:r>
                        <a:rPr sz="750" b="0">
                          <a:solidFill>
                            <a:srgbClr val="1A1A1A"/>
                          </a:solidFill>
                        </a:rPr>
                        <a:t>RF</a:t>
                      </a:r>
                    </a:p>
                  </a:txBody>
                  <a:tcPr>
                    <a:noFill/>
                  </a:tcPr>
                </a:tc>
                <a:tc>
                  <a:txBody>
                    <a:bodyPr/>
                    <a:lstStyle/>
                    <a:p>
                      <a:pPr algn="ctr"/>
                      <a:r>
                        <a:rPr sz="750" b="0">
                          <a:solidFill>
                            <a:srgbClr val="1A1A1A"/>
                          </a:solidFill>
                        </a:rPr>
                        <a:t>Regions Financial Corpor</a:t>
                      </a:r>
                    </a:p>
                  </a:txBody>
                  <a:tcPr>
                    <a:noFill/>
                  </a:tcPr>
                </a:tc>
                <a:tc>
                  <a:txBody>
                    <a:bodyPr/>
                    <a:lstStyle/>
                    <a:p>
                      <a:pPr algn="ctr"/>
                      <a:r>
                        <a:rPr sz="750" b="0">
                          <a:solidFill>
                            <a:srgbClr val="1A1A1A"/>
                          </a:solidFill>
                        </a:rPr>
                        <a:t>27.75</a:t>
                      </a:r>
                    </a:p>
                  </a:txBody>
                  <a:tcPr>
                    <a:noFill/>
                  </a:tcPr>
                </a:tc>
                <a:tc>
                  <a:txBody>
                    <a:bodyPr/>
                    <a:lstStyle/>
                    <a:p>
                      <a:pPr algn="ctr"/>
                      <a:r>
                        <a:rPr sz="750" b="0">
                          <a:solidFill>
                            <a:srgbClr val="1A1A1A"/>
                          </a:solidFill>
                        </a:rPr>
                        <a:t>31.9</a:t>
                      </a:r>
                    </a:p>
                  </a:txBody>
                  <a:tcPr>
                    <a:noFill/>
                  </a:tcPr>
                </a:tc>
                <a:tc>
                  <a:txBody>
                    <a:bodyPr/>
                    <a:lstStyle/>
                    <a:p>
                      <a:pPr algn="ctr"/>
                      <a:r>
                        <a:rPr sz="750" b="0">
                          <a:solidFill>
                            <a:srgbClr val="1A1A1A"/>
                          </a:solidFill>
                        </a:rPr>
                        <a:t>&lt; 26.4</a:t>
                      </a:r>
                    </a:p>
                  </a:txBody>
                  <a:tcPr>
                    <a:noFill/>
                  </a:tcPr>
                </a:tc>
                <a:tc>
                  <a:txBody>
                    <a:bodyPr/>
                    <a:lstStyle/>
                    <a:p>
                      <a:pPr algn="ctr"/>
                      <a:r>
                        <a:rPr sz="750" b="0">
                          <a:solidFill>
                            <a:srgbClr val="1A1A1A"/>
                          </a:solidFill>
                        </a:rPr>
                        <a:t>Entree attractive</a:t>
                      </a:r>
                    </a:p>
                  </a:txBody>
                  <a:tcPr>
                    <a:noFill/>
                  </a:tcPr>
                </a:tc>
                <a:tc>
                  <a:txBody>
                    <a:bodyPr/>
                    <a:lstStyle/>
                    <a:p>
                      <a:pPr algn="ctr"/>
                      <a:r>
                        <a:rPr sz="750" b="0">
                          <a:solidFill>
                            <a:srgbClr val="1A1A1A"/>
                          </a:solidFill>
                        </a:rPr>
                        <a:t>~68 %</a:t>
                      </a:r>
                    </a:p>
                  </a:txBody>
                  <a:tcPr>
                    <a:noFill/>
                  </a:tcPr>
                </a:tc>
              </a:tr>
              <a:tr h="187200">
                <a:tc>
                  <a:txBody>
                    <a:bodyPr/>
                    <a:lstStyle/>
                    <a:p>
                      <a:pPr algn="ctr"/>
                      <a:r>
                        <a:rPr sz="750" b="0">
                          <a:solidFill>
                            <a:srgbClr val="1A1A1A"/>
                          </a:solidFill>
                        </a:rPr>
                        <a:t>KEY</a:t>
                      </a:r>
                    </a:p>
                  </a:txBody>
                  <a:tcPr>
                    <a:solidFill>
                      <a:srgbClr val="F5F7FA"/>
                    </a:solidFill>
                  </a:tcPr>
                </a:tc>
                <a:tc>
                  <a:txBody>
                    <a:bodyPr/>
                    <a:lstStyle/>
                    <a:p>
                      <a:pPr algn="ctr"/>
                      <a:r>
                        <a:rPr sz="750" b="0">
                          <a:solidFill>
                            <a:srgbClr val="1A1A1A"/>
                          </a:solidFill>
                        </a:rPr>
                        <a:t>KeyCorp</a:t>
                      </a:r>
                    </a:p>
                  </a:txBody>
                  <a:tcPr>
                    <a:solidFill>
                      <a:srgbClr val="F5F7FA"/>
                    </a:solidFill>
                  </a:tcPr>
                </a:tc>
                <a:tc>
                  <a:txBody>
                    <a:bodyPr/>
                    <a:lstStyle/>
                    <a:p>
                      <a:pPr algn="ctr"/>
                      <a:r>
                        <a:rPr sz="750" b="0">
                          <a:solidFill>
                            <a:srgbClr val="1A1A1A"/>
                          </a:solidFill>
                        </a:rPr>
                        <a:t>21.63</a:t>
                      </a:r>
                    </a:p>
                  </a:txBody>
                  <a:tcPr>
                    <a:solidFill>
                      <a:srgbClr val="F5F7FA"/>
                    </a:solidFill>
                  </a:tcPr>
                </a:tc>
                <a:tc>
                  <a:txBody>
                    <a:bodyPr/>
                    <a:lstStyle/>
                    <a:p>
                      <a:pPr algn="ctr"/>
                      <a:r>
                        <a:rPr sz="750" b="0">
                          <a:solidFill>
                            <a:srgbClr val="1A1A1A"/>
                          </a:solidFill>
                        </a:rPr>
                        <a:t>24.9</a:t>
                      </a:r>
                    </a:p>
                  </a:txBody>
                  <a:tcPr>
                    <a:solidFill>
                      <a:srgbClr val="F5F7FA"/>
                    </a:solidFill>
                  </a:tcPr>
                </a:tc>
                <a:tc>
                  <a:txBody>
                    <a:bodyPr/>
                    <a:lstStyle/>
                    <a:p>
                      <a:pPr algn="ctr"/>
                      <a:r>
                        <a:rPr sz="750" b="0">
                          <a:solidFill>
                            <a:srgbClr val="1A1A1A"/>
                          </a:solidFill>
                        </a:rPr>
                        <a:t>&lt; 20.5</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87200">
                <a:tc>
                  <a:txBody>
                    <a:bodyPr/>
                    <a:lstStyle/>
                    <a:p>
                      <a:pPr algn="ctr"/>
                      <a:r>
                        <a:rPr sz="750" b="0">
                          <a:solidFill>
                            <a:srgbClr val="1A1A1A"/>
                          </a:solidFill>
                        </a:rPr>
                        <a:t>MS</a:t>
                      </a:r>
                    </a:p>
                  </a:txBody>
                  <a:tcPr>
                    <a:noFill/>
                  </a:tcPr>
                </a:tc>
                <a:tc>
                  <a:txBody>
                    <a:bodyPr/>
                    <a:lstStyle/>
                    <a:p>
                      <a:pPr algn="ctr"/>
                      <a:r>
                        <a:rPr sz="750" b="0">
                          <a:solidFill>
                            <a:srgbClr val="1A1A1A"/>
                          </a:solidFill>
                        </a:rPr>
                        <a:t>Morgan Stanley</a:t>
                      </a:r>
                    </a:p>
                  </a:txBody>
                  <a:tcPr>
                    <a:noFill/>
                  </a:tcPr>
                </a:tc>
                <a:tc>
                  <a:txBody>
                    <a:bodyPr/>
                    <a:lstStyle/>
                    <a:p>
                      <a:pPr algn="ctr"/>
                      <a:r>
                        <a:rPr sz="750" b="0">
                          <a:solidFill>
                            <a:srgbClr val="1A1A1A"/>
                          </a:solidFill>
                        </a:rPr>
                        <a:t>183.34</a:t>
                      </a:r>
                    </a:p>
                  </a:txBody>
                  <a:tcPr>
                    <a:noFill/>
                  </a:tcPr>
                </a:tc>
                <a:tc>
                  <a:txBody>
                    <a:bodyPr/>
                    <a:lstStyle/>
                    <a:p>
                      <a:pPr algn="ctr"/>
                      <a:r>
                        <a:rPr sz="750" b="0">
                          <a:solidFill>
                            <a:srgbClr val="1A1A1A"/>
                          </a:solidFill>
                        </a:rPr>
                        <a:t>210.8</a:t>
                      </a:r>
                    </a:p>
                  </a:txBody>
                  <a:tcPr>
                    <a:noFill/>
                  </a:tcPr>
                </a:tc>
                <a:tc>
                  <a:txBody>
                    <a:bodyPr/>
                    <a:lstStyle/>
                    <a:p>
                      <a:pPr algn="ctr"/>
                      <a:r>
                        <a:rPr sz="750" b="0">
                          <a:solidFill>
                            <a:srgbClr val="1A1A1A"/>
                          </a:solidFill>
                        </a:rPr>
                        <a:t>&lt; 174.2</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87200">
                <a:tc>
                  <a:txBody>
                    <a:bodyPr/>
                    <a:lstStyle/>
                    <a:p>
                      <a:pPr algn="ctr"/>
                      <a:r>
                        <a:rPr sz="750" b="0">
                          <a:solidFill>
                            <a:srgbClr val="1A1A1A"/>
                          </a:solidFill>
                        </a:rPr>
                        <a:t>TFC</a:t>
                      </a:r>
                    </a:p>
                  </a:txBody>
                  <a:tcPr>
                    <a:solidFill>
                      <a:srgbClr val="F5F7FA"/>
                    </a:solidFill>
                  </a:tcPr>
                </a:tc>
                <a:tc>
                  <a:txBody>
                    <a:bodyPr/>
                    <a:lstStyle/>
                    <a:p>
                      <a:pPr algn="ctr"/>
                      <a:r>
                        <a:rPr sz="750" b="0">
                          <a:solidFill>
                            <a:srgbClr val="1A1A1A"/>
                          </a:solidFill>
                        </a:rPr>
                        <a:t>Truist Financial Corpora</a:t>
                      </a:r>
                    </a:p>
                  </a:txBody>
                  <a:tcPr>
                    <a:solidFill>
                      <a:srgbClr val="F5F7FA"/>
                    </a:solidFill>
                  </a:tcPr>
                </a:tc>
                <a:tc>
                  <a:txBody>
                    <a:bodyPr/>
                    <a:lstStyle/>
                    <a:p>
                      <a:pPr algn="ctr"/>
                      <a:r>
                        <a:rPr sz="750" b="0">
                          <a:solidFill>
                            <a:srgbClr val="1A1A1A"/>
                          </a:solidFill>
                        </a:rPr>
                        <a:t>49.53</a:t>
                      </a:r>
                    </a:p>
                  </a:txBody>
                  <a:tcPr>
                    <a:solidFill>
                      <a:srgbClr val="F5F7FA"/>
                    </a:solidFill>
                  </a:tcPr>
                </a:tc>
                <a:tc>
                  <a:txBody>
                    <a:bodyPr/>
                    <a:lstStyle/>
                    <a:p>
                      <a:pPr algn="ctr"/>
                      <a:r>
                        <a:rPr sz="750" b="0">
                          <a:solidFill>
                            <a:srgbClr val="1A1A1A"/>
                          </a:solidFill>
                        </a:rPr>
                        <a:t>57.0</a:t>
                      </a:r>
                    </a:p>
                  </a:txBody>
                  <a:tcPr>
                    <a:solidFill>
                      <a:srgbClr val="F5F7FA"/>
                    </a:solidFill>
                  </a:tcPr>
                </a:tc>
                <a:tc>
                  <a:txBody>
                    <a:bodyPr/>
                    <a:lstStyle/>
                    <a:p>
                      <a:pPr algn="ctr"/>
                      <a:r>
                        <a:rPr sz="750" b="0">
                          <a:solidFill>
                            <a:srgbClr val="1A1A1A"/>
                          </a:solidFill>
                        </a:rPr>
                        <a:t>&lt; 47.1</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87200">
                <a:tc>
                  <a:txBody>
                    <a:bodyPr/>
                    <a:lstStyle/>
                    <a:p>
                      <a:pPr algn="ctr"/>
                      <a:r>
                        <a:rPr sz="750" b="0">
                          <a:solidFill>
                            <a:srgbClr val="1A1A1A"/>
                          </a:solidFill>
                        </a:rPr>
                        <a:t>BK</a:t>
                      </a:r>
                    </a:p>
                  </a:txBody>
                  <a:tcPr>
                    <a:noFill/>
                  </a:tcPr>
                </a:tc>
                <a:tc>
                  <a:txBody>
                    <a:bodyPr/>
                    <a:lstStyle/>
                    <a:p>
                      <a:pPr algn="ctr"/>
                      <a:r>
                        <a:rPr sz="750" b="0">
                          <a:solidFill>
                            <a:srgbClr val="1A1A1A"/>
                          </a:solidFill>
                        </a:rPr>
                        <a:t>The Bank of New York Mel</a:t>
                      </a:r>
                    </a:p>
                  </a:txBody>
                  <a:tcPr>
                    <a:noFill/>
                  </a:tcPr>
                </a:tc>
                <a:tc>
                  <a:txBody>
                    <a:bodyPr/>
                    <a:lstStyle/>
                    <a:p>
                      <a:pPr algn="ctr"/>
                      <a:r>
                        <a:rPr sz="750" b="0">
                          <a:solidFill>
                            <a:srgbClr val="1A1A1A"/>
                          </a:solidFill>
                        </a:rPr>
                        <a:t>130.51</a:t>
                      </a:r>
                    </a:p>
                  </a:txBody>
                  <a:tcPr>
                    <a:noFill/>
                  </a:tcPr>
                </a:tc>
                <a:tc>
                  <a:txBody>
                    <a:bodyPr/>
                    <a:lstStyle/>
                    <a:p>
                      <a:pPr algn="ctr"/>
                      <a:r>
                        <a:rPr sz="750" b="0">
                          <a:solidFill>
                            <a:srgbClr val="1A1A1A"/>
                          </a:solidFill>
                        </a:rPr>
                        <a:t>150.1</a:t>
                      </a:r>
                    </a:p>
                  </a:txBody>
                  <a:tcPr>
                    <a:noFill/>
                  </a:tcPr>
                </a:tc>
                <a:tc>
                  <a:txBody>
                    <a:bodyPr/>
                    <a:lstStyle/>
                    <a:p>
                      <a:pPr algn="ctr"/>
                      <a:r>
                        <a:rPr sz="750" b="0">
                          <a:solidFill>
                            <a:srgbClr val="1A1A1A"/>
                          </a:solidFill>
                        </a:rPr>
                        <a:t>&lt; 124.0</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87200">
                <a:tc>
                  <a:txBody>
                    <a:bodyPr/>
                    <a:lstStyle/>
                    <a:p>
                      <a:pPr algn="ctr"/>
                      <a:r>
                        <a:rPr sz="750" b="0">
                          <a:solidFill>
                            <a:srgbClr val="1A1A1A"/>
                          </a:solidFill>
                        </a:rPr>
                        <a:t>GS</a:t>
                      </a:r>
                    </a:p>
                  </a:txBody>
                  <a:tcPr>
                    <a:solidFill>
                      <a:srgbClr val="F5F7FA"/>
                    </a:solidFill>
                  </a:tcPr>
                </a:tc>
                <a:tc>
                  <a:txBody>
                    <a:bodyPr/>
                    <a:lstStyle/>
                    <a:p>
                      <a:pPr algn="ctr"/>
                      <a:r>
                        <a:rPr sz="750" b="0">
                          <a:solidFill>
                            <a:srgbClr val="1A1A1A"/>
                          </a:solidFill>
                        </a:rPr>
                        <a:t>The Goldman Sachs Group,</a:t>
                      </a:r>
                    </a:p>
                  </a:txBody>
                  <a:tcPr>
                    <a:solidFill>
                      <a:srgbClr val="F5F7FA"/>
                    </a:solidFill>
                  </a:tcPr>
                </a:tc>
                <a:tc>
                  <a:txBody>
                    <a:bodyPr/>
                    <a:lstStyle/>
                    <a:p>
                      <a:pPr algn="ctr"/>
                      <a:r>
                        <a:rPr sz="750" b="0">
                          <a:solidFill>
                            <a:srgbClr val="1A1A1A"/>
                          </a:solidFill>
                        </a:rPr>
                        <a:t>909.63</a:t>
                      </a:r>
                    </a:p>
                  </a:txBody>
                  <a:tcPr>
                    <a:solidFill>
                      <a:srgbClr val="F5F7FA"/>
                    </a:solidFill>
                  </a:tcPr>
                </a:tc>
                <a:tc>
                  <a:txBody>
                    <a:bodyPr/>
                    <a:lstStyle/>
                    <a:p>
                      <a:pPr algn="ctr"/>
                      <a:r>
                        <a:rPr sz="750" b="0">
                          <a:solidFill>
                            <a:srgbClr val="1A1A1A"/>
                          </a:solidFill>
                        </a:rPr>
                        <a:t>1046.1</a:t>
                      </a:r>
                    </a:p>
                  </a:txBody>
                  <a:tcPr>
                    <a:solidFill>
                      <a:srgbClr val="F5F7FA"/>
                    </a:solidFill>
                  </a:tcPr>
                </a:tc>
                <a:tc>
                  <a:txBody>
                    <a:bodyPr/>
                    <a:lstStyle/>
                    <a:p>
                      <a:pPr algn="ctr"/>
                      <a:r>
                        <a:rPr sz="750" b="0">
                          <a:solidFill>
                            <a:srgbClr val="1A1A1A"/>
                          </a:solidFill>
                        </a:rPr>
                        <a:t>&lt; 864.1</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r h="187200">
                <a:tc>
                  <a:txBody>
                    <a:bodyPr/>
                    <a:lstStyle/>
                    <a:p>
                      <a:pPr algn="ctr"/>
                      <a:r>
                        <a:rPr sz="750" b="0">
                          <a:solidFill>
                            <a:srgbClr val="1A1A1A"/>
                          </a:solidFill>
                        </a:rPr>
                        <a:t>USB</a:t>
                      </a:r>
                    </a:p>
                  </a:txBody>
                  <a:tcPr>
                    <a:noFill/>
                  </a:tcPr>
                </a:tc>
                <a:tc>
                  <a:txBody>
                    <a:bodyPr/>
                    <a:lstStyle/>
                    <a:p>
                      <a:pPr algn="ctr"/>
                      <a:r>
                        <a:rPr sz="750" b="0">
                          <a:solidFill>
                            <a:srgbClr val="1A1A1A"/>
                          </a:solidFill>
                        </a:rPr>
                        <a:t>U.S. Bancorp</a:t>
                      </a:r>
                    </a:p>
                  </a:txBody>
                  <a:tcPr>
                    <a:noFill/>
                  </a:tcPr>
                </a:tc>
                <a:tc>
                  <a:txBody>
                    <a:bodyPr/>
                    <a:lstStyle/>
                    <a:p>
                      <a:pPr algn="ctr"/>
                      <a:r>
                        <a:rPr sz="750" b="0">
                          <a:solidFill>
                            <a:srgbClr val="1A1A1A"/>
                          </a:solidFill>
                        </a:rPr>
                        <a:t>56.09</a:t>
                      </a:r>
                    </a:p>
                  </a:txBody>
                  <a:tcPr>
                    <a:noFill/>
                  </a:tcPr>
                </a:tc>
                <a:tc>
                  <a:txBody>
                    <a:bodyPr/>
                    <a:lstStyle/>
                    <a:p>
                      <a:pPr algn="ctr"/>
                      <a:r>
                        <a:rPr sz="750" b="0">
                          <a:solidFill>
                            <a:srgbClr val="1A1A1A"/>
                          </a:solidFill>
                        </a:rPr>
                        <a:t>64.5</a:t>
                      </a:r>
                    </a:p>
                  </a:txBody>
                  <a:tcPr>
                    <a:noFill/>
                  </a:tcPr>
                </a:tc>
                <a:tc>
                  <a:txBody>
                    <a:bodyPr/>
                    <a:lstStyle/>
                    <a:p>
                      <a:pPr algn="ctr"/>
                      <a:r>
                        <a:rPr sz="750" b="0">
                          <a:solidFill>
                            <a:srgbClr val="1A1A1A"/>
                          </a:solidFill>
                        </a:rPr>
                        <a:t>&lt; 53.3</a:t>
                      </a:r>
                    </a:p>
                  </a:txBody>
                  <a:tcPr>
                    <a:noFill/>
                  </a:tcPr>
                </a:tc>
                <a:tc>
                  <a:txBody>
                    <a:bodyPr/>
                    <a:lstStyle/>
                    <a:p>
                      <a:pPr algn="ctr"/>
                      <a:r>
                        <a:rPr sz="750" b="0">
                          <a:solidFill>
                            <a:srgbClr val="1A1A1A"/>
                          </a:solidFill>
                        </a:rPr>
                        <a:t>Proche zone</a:t>
                      </a:r>
                    </a:p>
                  </a:txBody>
                  <a:tcPr>
                    <a:noFill/>
                  </a:tcPr>
                </a:tc>
                <a:tc>
                  <a:txBody>
                    <a:bodyPr/>
                    <a:lstStyle/>
                    <a:p>
                      <a:pPr algn="ctr"/>
                      <a:r>
                        <a:rPr sz="750" b="0">
                          <a:solidFill>
                            <a:srgbClr val="1A1A1A"/>
                          </a:solidFill>
                        </a:rPr>
                        <a:t>~52 %</a:t>
                      </a:r>
                    </a:p>
                  </a:txBody>
                  <a:tcPr>
                    <a:noFill/>
                  </a:tcPr>
                </a:tc>
              </a:tr>
              <a:tr h="187200">
                <a:tc>
                  <a:txBody>
                    <a:bodyPr/>
                    <a:lstStyle/>
                    <a:p>
                      <a:pPr algn="ctr"/>
                      <a:r>
                        <a:rPr sz="750" b="0">
                          <a:solidFill>
                            <a:srgbClr val="1A1A1A"/>
                          </a:solidFill>
                        </a:rPr>
                        <a:t>PNC</a:t>
                      </a:r>
                    </a:p>
                  </a:txBody>
                  <a:tcPr>
                    <a:solidFill>
                      <a:srgbClr val="F5F7FA"/>
                    </a:solidFill>
                  </a:tcPr>
                </a:tc>
                <a:tc>
                  <a:txBody>
                    <a:bodyPr/>
                    <a:lstStyle/>
                    <a:p>
                      <a:pPr algn="ctr"/>
                      <a:r>
                        <a:rPr sz="750" b="0">
                          <a:solidFill>
                            <a:srgbClr val="1A1A1A"/>
                          </a:solidFill>
                        </a:rPr>
                        <a:t>The PNC Financial Servic</a:t>
                      </a:r>
                    </a:p>
                  </a:txBody>
                  <a:tcPr>
                    <a:solidFill>
                      <a:srgbClr val="F5F7FA"/>
                    </a:solidFill>
                  </a:tcPr>
                </a:tc>
                <a:tc>
                  <a:txBody>
                    <a:bodyPr/>
                    <a:lstStyle/>
                    <a:p>
                      <a:pPr algn="ctr"/>
                      <a:r>
                        <a:rPr sz="750" b="0">
                          <a:solidFill>
                            <a:srgbClr val="1A1A1A"/>
                          </a:solidFill>
                        </a:rPr>
                        <a:t>221.2</a:t>
                      </a:r>
                    </a:p>
                  </a:txBody>
                  <a:tcPr>
                    <a:solidFill>
                      <a:srgbClr val="F5F7FA"/>
                    </a:solidFill>
                  </a:tcPr>
                </a:tc>
                <a:tc>
                  <a:txBody>
                    <a:bodyPr/>
                    <a:lstStyle/>
                    <a:p>
                      <a:pPr algn="ctr"/>
                      <a:r>
                        <a:rPr sz="750" b="0">
                          <a:solidFill>
                            <a:srgbClr val="1A1A1A"/>
                          </a:solidFill>
                        </a:rPr>
                        <a:t>254.4</a:t>
                      </a:r>
                    </a:p>
                  </a:txBody>
                  <a:tcPr>
                    <a:solidFill>
                      <a:srgbClr val="F5F7FA"/>
                    </a:solidFill>
                  </a:tcPr>
                </a:tc>
                <a:tc>
                  <a:txBody>
                    <a:bodyPr/>
                    <a:lstStyle/>
                    <a:p>
                      <a:pPr algn="ctr"/>
                      <a:r>
                        <a:rPr sz="750" b="0">
                          <a:solidFill>
                            <a:srgbClr val="1A1A1A"/>
                          </a:solidFill>
                        </a:rPr>
                        <a:t>&lt; 210.1</a:t>
                      </a:r>
                    </a:p>
                  </a:txBody>
                  <a:tcPr>
                    <a:solidFill>
                      <a:srgbClr val="F5F7FA"/>
                    </a:solidFill>
                  </a:tcPr>
                </a:tc>
                <a:tc>
                  <a:txBody>
                    <a:bodyPr/>
                    <a:lstStyle/>
                    <a:p>
                      <a:pPr algn="ctr"/>
                      <a:r>
                        <a:rPr sz="750" b="0">
                          <a:solidFill>
                            <a:srgbClr val="1A1A1A"/>
                          </a:solidFill>
                        </a:rPr>
                        <a:t>Proche zone</a:t>
                      </a:r>
                    </a:p>
                  </a:txBody>
                  <a:tcPr>
                    <a:solidFill>
                      <a:srgbClr val="F5F7FA"/>
                    </a:solidFill>
                  </a:tcPr>
                </a:tc>
                <a:tc>
                  <a:txBody>
                    <a:bodyPr/>
                    <a:lstStyle/>
                    <a:p>
                      <a:pPr algn="ctr"/>
                      <a:r>
                        <a:rPr sz="750" b="0">
                          <a:solidFill>
                            <a:srgbClr val="1A1A1A"/>
                          </a:solidFill>
                        </a:rPr>
                        <a:t>~52 %</a:t>
                      </a:r>
                    </a:p>
                  </a:txBody>
                  <a:tcPr>
                    <a:solidFill>
                      <a:srgbClr val="F5F7FA"/>
                    </a:solidFill>
                  </a:tcPr>
                </a:tc>
              </a:tr>
            </a:tbl>
          </a:graphicData>
        </a:graphic>
      </p:graphicFrame>
      <p:sp>
        <p:nvSpPr>
          <p:cNvPr id="19" name="Rectangle 18"/>
          <p:cNvSpPr/>
          <p:nvPr/>
        </p:nvSpPr>
        <p:spPr>
          <a:xfrm>
            <a:off x="324000" y="3304800"/>
            <a:ext cx="8496000" cy="9000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 y="3304800"/>
            <a:ext cx="36000" cy="90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8000" y="3333600"/>
            <a:ext cx="8316000" cy="180000"/>
          </a:xfrm>
          <a:prstGeom prst="rect">
            <a:avLst/>
          </a:prstGeom>
          <a:noFill/>
        </p:spPr>
        <p:txBody>
          <a:bodyPr wrap="square">
            <a:spAutoFit/>
          </a:bodyPr>
          <a:lstStyle/>
          <a:p>
            <a:pPr algn="l"/>
            <a:r>
              <a:rPr sz="750" b="1" i="0">
                <a:solidFill>
                  <a:srgbClr val="B06000"/>
                </a:solidFill>
              </a:rPr>
              <a:t>NOTE METHODOLOGIQUE</a:t>
            </a:r>
          </a:p>
        </p:txBody>
      </p:sp>
      <p:sp>
        <p:nvSpPr>
          <p:cNvPr id="22" name="TextBox 21"/>
          <p:cNvSpPr txBox="1"/>
          <p:nvPr/>
        </p:nvSpPr>
        <p:spPr>
          <a:xfrm>
            <a:off x="468000" y="3520800"/>
            <a:ext cx="8316000" cy="666000"/>
          </a:xfrm>
          <a:prstGeom prst="rect">
            <a:avLst/>
          </a:prstGeom>
          <a:noFill/>
        </p:spPr>
        <p:txBody>
          <a:bodyPr wrap="square">
            <a:spAutoFit/>
          </a:bodyPr>
          <a:lstStyle/>
          <a:p>
            <a:pPr algn="l"/>
            <a:r>
              <a:rPr sz="750" b="0" i="0">
                <a:solidFill>
                  <a:srgbClr val="555555"/>
                </a:solidFill>
              </a:rPr>
              <a:t>La probabilité de rendement positif a 12 mois est calculée sur des configurations similaires identifiees en backtesting sur Données historiques (2010-2024). Elle ne constitue pas une garantie de performance future.</a:t>
            </a:r>
          </a:p>
        </p:txBody>
      </p:sp>
      <p:sp>
        <p:nvSpPr>
          <p:cNvPr id="23" name="Rectangle 22"/>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Sentiment &amp; Méthodologie</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Conditions d'invalidation, FinBERT agrégé &amp; data lineage</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&amp; Conditions d'Invalidation</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des risques structurels  ·  Thèse contraire  ·  Protocole Avocat du Diable</a:t>
            </a:r>
          </a:p>
        </p:txBody>
      </p:sp>
      <p:sp>
        <p:nvSpPr>
          <p:cNvPr id="15" name="Rectangle 14"/>
          <p:cNvSpPr/>
          <p:nvPr/>
        </p:nvSpPr>
        <p:spPr>
          <a:xfrm>
            <a:off x="324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917999"/>
            <a:ext cx="2520000" cy="216000"/>
          </a:xfrm>
          <a:prstGeom prst="rect">
            <a:avLst/>
          </a:prstGeom>
          <a:noFill/>
        </p:spPr>
        <p:txBody>
          <a:bodyPr wrap="square">
            <a:spAutoFit/>
          </a:bodyPr>
          <a:lstStyle/>
          <a:p>
            <a:pPr algn="l"/>
            <a:r>
              <a:rPr sz="850" b="1" i="0">
                <a:solidFill>
                  <a:srgbClr val="FFFFFF"/>
                </a:solidFill>
              </a:rPr>
              <a:t>Réglementation</a:t>
            </a:r>
          </a:p>
        </p:txBody>
      </p:sp>
      <p:sp>
        <p:nvSpPr>
          <p:cNvPr id="18" name="TextBox 17"/>
          <p:cNvSpPr txBox="1"/>
          <p:nvPr/>
        </p:nvSpPr>
        <p:spPr>
          <a:xfrm>
            <a:off x="396000" y="1188000"/>
            <a:ext cx="2520000" cy="792000"/>
          </a:xfrm>
          <a:prstGeom prst="rect">
            <a:avLst/>
          </a:prstGeom>
          <a:noFill/>
        </p:spPr>
        <p:txBody>
          <a:bodyPr wrap="square">
            <a:spAutoFit/>
          </a:bodyPr>
          <a:lstStyle/>
          <a:p>
            <a:pPr algn="l"/>
            <a:r>
              <a:rPr sz="850" b="0" i="0">
                <a:solidFill>
                  <a:srgbClr val="555555"/>
                </a:solidFill>
              </a:rPr>
              <a:t>Les nouvelles règles prudentielles (Bâle IV) pourraient alourdir les coûts en capital et peser sur la rentabilité des banques européennes.</a:t>
            </a:r>
          </a:p>
        </p:txBody>
      </p:sp>
      <p:sp>
        <p:nvSpPr>
          <p:cNvPr id="19" name="Rectangle 18"/>
          <p:cNvSpPr/>
          <p:nvPr/>
        </p:nvSpPr>
        <p:spPr>
          <a:xfrm>
            <a:off x="3240000"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40000"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11999" y="917999"/>
            <a:ext cx="2520000" cy="216000"/>
          </a:xfrm>
          <a:prstGeom prst="rect">
            <a:avLst/>
          </a:prstGeom>
          <a:noFill/>
        </p:spPr>
        <p:txBody>
          <a:bodyPr wrap="square">
            <a:spAutoFit/>
          </a:bodyPr>
          <a:lstStyle/>
          <a:p>
            <a:pPr algn="l"/>
            <a:r>
              <a:rPr sz="850" b="1" i="0">
                <a:solidFill>
                  <a:srgbClr val="FFFFFF"/>
                </a:solidFill>
              </a:rPr>
              <a:t>Crédit</a:t>
            </a:r>
          </a:p>
        </p:txBody>
      </p:sp>
      <p:sp>
        <p:nvSpPr>
          <p:cNvPr id="22" name="TextBox 21"/>
          <p:cNvSpPr txBox="1"/>
          <p:nvPr/>
        </p:nvSpPr>
        <p:spPr>
          <a:xfrm>
            <a:off x="3311999" y="1188000"/>
            <a:ext cx="2520000" cy="792000"/>
          </a:xfrm>
          <a:prstGeom prst="rect">
            <a:avLst/>
          </a:prstGeom>
          <a:noFill/>
        </p:spPr>
        <p:txBody>
          <a:bodyPr wrap="square">
            <a:spAutoFit/>
          </a:bodyPr>
          <a:lstStyle/>
          <a:p>
            <a:pPr algn="l"/>
            <a:r>
              <a:rPr sz="850" b="0" i="0">
                <a:solidFill>
                  <a:srgbClr val="555555"/>
                </a:solidFill>
              </a:rPr>
              <a:t>Un durcissement des conditions de crédit dans un contexte de ralentissement économique pourrait dégrader la qualité des actifs.</a:t>
            </a:r>
          </a:p>
        </p:txBody>
      </p:sp>
      <p:sp>
        <p:nvSpPr>
          <p:cNvPr id="23" name="Rectangle 22"/>
          <p:cNvSpPr/>
          <p:nvPr/>
        </p:nvSpPr>
        <p:spPr>
          <a:xfrm>
            <a:off x="6155999" y="900000"/>
            <a:ext cx="2700000" cy="1152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5999" y="900000"/>
            <a:ext cx="2700000" cy="251999"/>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27999" y="917999"/>
            <a:ext cx="2520000" cy="216000"/>
          </a:xfrm>
          <a:prstGeom prst="rect">
            <a:avLst/>
          </a:prstGeom>
          <a:noFill/>
        </p:spPr>
        <p:txBody>
          <a:bodyPr wrap="square">
            <a:spAutoFit/>
          </a:bodyPr>
          <a:lstStyle/>
          <a:p>
            <a:pPr algn="l"/>
            <a:r>
              <a:rPr sz="850" b="1" i="0">
                <a:solidFill>
                  <a:srgbClr val="FFFFFF"/>
                </a:solidFill>
              </a:rPr>
              <a:t>Concurrence</a:t>
            </a:r>
          </a:p>
        </p:txBody>
      </p:sp>
      <p:sp>
        <p:nvSpPr>
          <p:cNvPr id="26" name="TextBox 25"/>
          <p:cNvSpPr txBox="1"/>
          <p:nvPr/>
        </p:nvSpPr>
        <p:spPr>
          <a:xfrm>
            <a:off x="6227999" y="1188000"/>
            <a:ext cx="2520000" cy="792000"/>
          </a:xfrm>
          <a:prstGeom prst="rect">
            <a:avLst/>
          </a:prstGeom>
          <a:noFill/>
        </p:spPr>
        <p:txBody>
          <a:bodyPr wrap="square">
            <a:spAutoFit/>
          </a:bodyPr>
          <a:lstStyle/>
          <a:p>
            <a:pPr algn="l"/>
            <a:r>
              <a:rPr sz="850" b="0" i="0">
                <a:solidFill>
                  <a:srgbClr val="555555"/>
                </a:solidFill>
              </a:rPr>
              <a:t>La montée en puissance des fintechs et néobanques menace les parts de marché traditionnelles des banques établies.</a:t>
            </a:r>
          </a:p>
        </p:txBody>
      </p:sp>
      <p:sp>
        <p:nvSpPr>
          <p:cNvPr id="27" name="TextBox 26"/>
          <p:cNvSpPr txBox="1"/>
          <p:nvPr/>
        </p:nvSpPr>
        <p:spPr>
          <a:xfrm>
            <a:off x="324000" y="2196000"/>
            <a:ext cx="8496000" cy="216000"/>
          </a:xfrm>
          <a:prstGeom prst="rect">
            <a:avLst/>
          </a:prstGeom>
          <a:noFill/>
        </p:spPr>
        <p:txBody>
          <a:bodyPr wrap="square">
            <a:spAutoFit/>
          </a:bodyPr>
          <a:lstStyle/>
          <a:p>
            <a:pPr algn="l"/>
            <a:r>
              <a:rPr sz="900" b="1" i="0">
                <a:solidFill>
                  <a:srgbClr val="1B3A6B"/>
                </a:solidFill>
              </a:rPr>
              <a:t>Conditions d'invalidation de la thèse</a:t>
            </a:r>
          </a:p>
        </p:txBody>
      </p:sp>
      <p:graphicFrame>
        <p:nvGraphicFramePr>
          <p:cNvPr id="28" name="Table 27"/>
          <p:cNvGraphicFramePr>
            <a:graphicFrameLocks noGrp="1"/>
          </p:cNvGraphicFramePr>
          <p:nvPr/>
        </p:nvGraphicFramePr>
        <p:xfrm>
          <a:off x="324000" y="2448000"/>
          <a:ext cx="8496000" cy="1116000"/>
        </p:xfrm>
        <a:graphic>
          <a:graphicData uri="http://schemas.openxmlformats.org/drawingml/2006/table">
            <a:tbl>
              <a:tblPr firstRow="1" bandRow="1">
                <a:tableStyleId>{5C22544A-7EE6-4342-B048-85BDC9FD1C3A}</a:tableStyleId>
              </a:tblPr>
              <a:tblGrid>
                <a:gridCol w="1260000"/>
                <a:gridCol w="5940000"/>
                <a:gridCol w="1296000"/>
              </a:tblGrid>
              <a:tr h="223200">
                <a:tc>
                  <a:txBody>
                    <a:bodyPr/>
                    <a:lstStyle/>
                    <a:p>
                      <a:pPr algn="ctr"/>
                      <a:r>
                        <a:rPr sz="800" b="1">
                          <a:solidFill>
                            <a:srgbClr val="FFFFFF"/>
                          </a:solidFill>
                        </a:rPr>
                        <a:t>Axe</a:t>
                      </a:r>
                    </a:p>
                  </a:txBody>
                  <a:tcPr>
                    <a:solidFill>
                      <a:srgbClr val="1B3A6B"/>
                    </a:solidFill>
                  </a:tcPr>
                </a:tc>
                <a:tc>
                  <a:txBody>
                    <a:bodyPr/>
                    <a:lstStyle/>
                    <a:p>
                      <a:pPr algn="ctr"/>
                      <a:r>
                        <a:rPr sz="800" b="1">
                          <a:solidFill>
                            <a:srgbClr val="FFFFFF"/>
                          </a:solidFill>
                        </a:rPr>
                        <a:t>Condition d'invalidation</a:t>
                      </a:r>
                    </a:p>
                  </a:txBody>
                  <a:tcPr>
                    <a:solidFill>
                      <a:srgbClr val="1B3A6B"/>
                    </a:solidFill>
                  </a:tcPr>
                </a:tc>
                <a:tc>
                  <a:txBody>
                    <a:bodyPr/>
                    <a:lstStyle/>
                    <a:p>
                      <a:pPr algn="ctr"/>
                      <a:r>
                        <a:rPr sz="800" b="1">
                          <a:solidFill>
                            <a:srgbClr val="FFFFFF"/>
                          </a:solidFill>
                        </a:rPr>
                        <a:t>Horizon</a:t>
                      </a:r>
                    </a:p>
                  </a:txBody>
                  <a:tcPr>
                    <a:solidFill>
                      <a:srgbClr val="1B3A6B"/>
                    </a:solidFill>
                  </a:tcPr>
                </a:tc>
              </a:tr>
              <a:tr h="223200">
                <a:tc>
                  <a:txBody>
                    <a:bodyPr/>
                    <a:lstStyle/>
                    <a:p>
                      <a:pPr algn="ctr"/>
                      <a:r>
                        <a:rPr sz="800" b="0">
                          <a:solidFill>
                            <a:srgbClr val="1A1A1A"/>
                          </a:solidFill>
                        </a:rPr>
                        <a:t>Macro</a:t>
                      </a:r>
                    </a:p>
                  </a:txBody>
                  <a:tcPr>
                    <a:noFill/>
                  </a:tcPr>
                </a:tc>
                <a:tc>
                  <a:txBody>
                    <a:bodyPr/>
                    <a:lstStyle/>
                    <a:p>
                      <a:pPr algn="ctr"/>
                      <a:r>
                        <a:rPr sz="800" b="0">
                          <a:solidFill>
                            <a:srgbClr val="1A1A1A"/>
                          </a:solidFill>
                        </a:rPr>
                        <a:t>Récession confirmee — 2 trimestrès négatifs</a:t>
                      </a:r>
                    </a:p>
                  </a:txBody>
                  <a:tcPr>
                    <a:noFill/>
                  </a:tcPr>
                </a:tc>
                <a:tc>
                  <a:txBody>
                    <a:bodyPr/>
                    <a:lstStyle/>
                    <a:p>
                      <a:pPr algn="ctr"/>
                      <a:r>
                        <a:rPr sz="800" b="0">
                          <a:solidFill>
                            <a:srgbClr val="1A1A1A"/>
                          </a:solidFill>
                        </a:rPr>
                        <a:t>6-9 mois</a:t>
                      </a:r>
                    </a:p>
                  </a:txBody>
                  <a:tcPr>
                    <a:noFill/>
                  </a:tcPr>
                </a:tc>
              </a:tr>
              <a:tr h="223200">
                <a:tc>
                  <a:txBody>
                    <a:bodyPr/>
                    <a:lstStyle/>
                    <a:p>
                      <a:pPr algn="ctr"/>
                      <a:r>
                        <a:rPr sz="800" b="0">
                          <a:solidFill>
                            <a:srgbClr val="1A1A1A"/>
                          </a:solidFill>
                        </a:rPr>
                        <a:t>Sectoriel</a:t>
                      </a:r>
                    </a:p>
                  </a:txBody>
                  <a:tcPr>
                    <a:solidFill>
                      <a:srgbClr val="F5F7FA"/>
                    </a:solidFill>
                  </a:tcPr>
                </a:tc>
                <a:tc>
                  <a:txBody>
                    <a:bodyPr/>
                    <a:lstStyle/>
                    <a:p>
                      <a:pPr algn="ctr"/>
                      <a:r>
                        <a:rPr sz="800" b="0">
                          <a:solidFill>
                            <a:srgbClr val="1A1A1A"/>
                          </a:solidFill>
                        </a:rPr>
                        <a:t>Score moyen &lt; 35 — dégradation generalisee</a:t>
                      </a:r>
                    </a:p>
                  </a:txBody>
                  <a:tcPr>
                    <a:solidFill>
                      <a:srgbClr val="F5F7FA"/>
                    </a:solidFill>
                  </a:tcPr>
                </a:tc>
                <a:tc>
                  <a:txBody>
                    <a:bodyPr/>
                    <a:lstStyle/>
                    <a:p>
                      <a:pPr algn="ctr"/>
                      <a:r>
                        <a:rPr sz="800" b="0">
                          <a:solidFill>
                            <a:srgbClr val="1A1A1A"/>
                          </a:solidFill>
                        </a:rPr>
                        <a:t>6-12 mois</a:t>
                      </a:r>
                    </a:p>
                  </a:txBody>
                  <a:tcPr>
                    <a:solidFill>
                      <a:srgbClr val="F5F7FA"/>
                    </a:solidFill>
                  </a:tcPr>
                </a:tc>
              </a:tr>
              <a:tr h="223200">
                <a:tc>
                  <a:txBody>
                    <a:bodyPr/>
                    <a:lstStyle/>
                    <a:p>
                      <a:pPr algn="ctr"/>
                      <a:r>
                        <a:rPr sz="800" b="0">
                          <a:solidFill>
                            <a:srgbClr val="1A1A1A"/>
                          </a:solidFill>
                        </a:rPr>
                        <a:t>Fondamental</a:t>
                      </a:r>
                    </a:p>
                  </a:txBody>
                  <a:tcPr>
                    <a:noFill/>
                  </a:tcPr>
                </a:tc>
                <a:tc>
                  <a:txBody>
                    <a:bodyPr/>
                    <a:lstStyle/>
                    <a:p>
                      <a:pPr algn="ctr"/>
                      <a:r>
                        <a:rPr sz="800" b="0">
                          <a:solidFill>
                            <a:srgbClr val="1A1A1A"/>
                          </a:solidFill>
                        </a:rPr>
                        <a:t>Révision baissière EPS &gt; 15 %</a:t>
                      </a:r>
                    </a:p>
                  </a:txBody>
                  <a:tcPr>
                    <a:noFill/>
                  </a:tcPr>
                </a:tc>
                <a:tc>
                  <a:txBody>
                    <a:bodyPr/>
                    <a:lstStyle/>
                    <a:p>
                      <a:pPr algn="ctr"/>
                      <a:r>
                        <a:rPr sz="800" b="0">
                          <a:solidFill>
                            <a:srgbClr val="1A1A1A"/>
                          </a:solidFill>
                        </a:rPr>
                        <a:t>3-6 mois</a:t>
                      </a:r>
                    </a:p>
                  </a:txBody>
                  <a:tcPr>
                    <a:noFill/>
                  </a:tcPr>
                </a:tc>
              </a:tr>
              <a:tr h="223200">
                <a:tc>
                  <a:txBody>
                    <a:bodyPr/>
                    <a:lstStyle/>
                    <a:p>
                      <a:pPr algn="ctr"/>
                      <a:r>
                        <a:rPr sz="800" b="0">
                          <a:solidFill>
                            <a:srgbClr val="1A1A1A"/>
                          </a:solidFill>
                        </a:rPr>
                        <a:t>Réglementaire</a:t>
                      </a:r>
                    </a:p>
                  </a:txBody>
                  <a:tcPr>
                    <a:solidFill>
                      <a:srgbClr val="F5F7FA"/>
                    </a:solidFill>
                  </a:tcPr>
                </a:tc>
                <a:tc>
                  <a:txBody>
                    <a:bodyPr/>
                    <a:lstStyle/>
                    <a:p>
                      <a:pPr algn="ctr"/>
                      <a:r>
                        <a:rPr sz="800" b="0">
                          <a:solidFill>
                            <a:srgbClr val="1A1A1A"/>
                          </a:solidFill>
                        </a:rPr>
                        <a:t>Mesures restrictives majeures</a:t>
                      </a:r>
                    </a:p>
                  </a:txBody>
                  <a:tcPr>
                    <a:solidFill>
                      <a:srgbClr val="F5F7FA"/>
                    </a:solidFill>
                  </a:tcPr>
                </a:tc>
                <a:tc>
                  <a:txBody>
                    <a:bodyPr/>
                    <a:lstStyle/>
                    <a:p>
                      <a:pPr algn="ctr"/>
                      <a:r>
                        <a:rPr sz="800" b="0">
                          <a:solidFill>
                            <a:srgbClr val="1A1A1A"/>
                          </a:solidFill>
                        </a:rPr>
                        <a:t>Variable</a:t>
                      </a:r>
                    </a:p>
                  </a:txBody>
                  <a:tcPr>
                    <a:solidFill>
                      <a:srgbClr val="F5F7FA"/>
                    </a:solidFill>
                  </a:tcPr>
                </a:tc>
              </a:tr>
            </a:tbl>
          </a:graphicData>
        </a:graphic>
      </p:graphicFrame>
      <p:sp>
        <p:nvSpPr>
          <p:cNvPr id="29" name="TextBox 28"/>
          <p:cNvSpPr txBox="1"/>
          <p:nvPr/>
        </p:nvSpPr>
        <p:spPr>
          <a:xfrm>
            <a:off x="324000" y="3708000"/>
            <a:ext cx="8496000" cy="198000"/>
          </a:xfrm>
          <a:prstGeom prst="rect">
            <a:avLst/>
          </a:prstGeom>
          <a:noFill/>
        </p:spPr>
        <p:txBody>
          <a:bodyPr wrap="square">
            <a:spAutoFit/>
          </a:bodyPr>
          <a:lstStyle/>
          <a:p>
            <a:pPr algn="l"/>
            <a:r>
              <a:rPr sz="850" b="1" i="0">
                <a:solidFill>
                  <a:srgbClr val="1B3A6B"/>
                </a:solidFill>
              </a:rPr>
              <a:t>Sante financière agregee du secteur</a:t>
            </a:r>
          </a:p>
        </p:txBody>
      </p:sp>
      <p:sp>
        <p:nvSpPr>
          <p:cNvPr id="30" name="Rectangle 29"/>
          <p:cNvSpPr/>
          <p:nvPr/>
        </p:nvSpPr>
        <p:spPr>
          <a:xfrm>
            <a:off x="324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3924000"/>
            <a:ext cx="36000" cy="79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999" y="3960000"/>
            <a:ext cx="2538000" cy="360000"/>
          </a:xfrm>
          <a:prstGeom prst="rect">
            <a:avLst/>
          </a:prstGeom>
          <a:noFill/>
        </p:spPr>
        <p:txBody>
          <a:bodyPr wrap="square">
            <a:spAutoFit/>
          </a:bodyPr>
          <a:lstStyle/>
          <a:p>
            <a:pPr algn="l"/>
            <a:r>
              <a:rPr sz="2200" b="1" i="0">
                <a:solidFill>
                  <a:srgbClr val="1B3A6B"/>
                </a:solidFill>
              </a:rPr>
              <a:t>0.9x</a:t>
            </a:r>
          </a:p>
        </p:txBody>
      </p:sp>
      <p:sp>
        <p:nvSpPr>
          <p:cNvPr id="33" name="TextBox 32"/>
          <p:cNvSpPr txBox="1"/>
          <p:nvPr/>
        </p:nvSpPr>
        <p:spPr>
          <a:xfrm>
            <a:off x="413999" y="4338000"/>
            <a:ext cx="2538000" cy="162000"/>
          </a:xfrm>
          <a:prstGeom prst="rect">
            <a:avLst/>
          </a:prstGeom>
          <a:noFill/>
        </p:spPr>
        <p:txBody>
          <a:bodyPr wrap="square">
            <a:spAutoFit/>
          </a:bodyPr>
          <a:lstStyle/>
          <a:p>
            <a:pPr algn="l"/>
            <a:r>
              <a:rPr sz="850" b="0" i="0">
                <a:solidFill>
                  <a:srgbClr val="555555"/>
                </a:solidFill>
              </a:rPr>
              <a:t>ND/EBITDA Médian</a:t>
            </a:r>
          </a:p>
        </p:txBody>
      </p:sp>
      <p:sp>
        <p:nvSpPr>
          <p:cNvPr id="34" name="TextBox 33"/>
          <p:cNvSpPr txBox="1"/>
          <p:nvPr/>
        </p:nvSpPr>
        <p:spPr>
          <a:xfrm>
            <a:off x="413999" y="4500000"/>
            <a:ext cx="2538000" cy="144000"/>
          </a:xfrm>
          <a:prstGeom prst="rect">
            <a:avLst/>
          </a:prstGeom>
          <a:noFill/>
        </p:spPr>
        <p:txBody>
          <a:bodyPr wrap="square">
            <a:spAutoFit/>
          </a:bodyPr>
          <a:lstStyle/>
          <a:p>
            <a:pPr algn="l"/>
            <a:r>
              <a:rPr sz="800" b="0" i="0">
                <a:solidFill>
                  <a:srgbClr val="AAAAAA"/>
                </a:solidFill>
              </a:rPr>
              <a:t>levier sectoriel</a:t>
            </a:r>
          </a:p>
        </p:txBody>
      </p:sp>
      <p:sp>
        <p:nvSpPr>
          <p:cNvPr id="35" name="Rectangle 34"/>
          <p:cNvSpPr/>
          <p:nvPr/>
        </p:nvSpPr>
        <p:spPr>
          <a:xfrm>
            <a:off x="3276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76000" y="3924000"/>
            <a:ext cx="36000" cy="792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66000" y="3960000"/>
            <a:ext cx="2538000" cy="360000"/>
          </a:xfrm>
          <a:prstGeom prst="rect">
            <a:avLst/>
          </a:prstGeom>
          <a:noFill/>
        </p:spPr>
        <p:txBody>
          <a:bodyPr wrap="square">
            <a:spAutoFit/>
          </a:bodyPr>
          <a:lstStyle/>
          <a:p>
            <a:pPr algn="l"/>
            <a:r>
              <a:rPr sz="2200" b="1" i="0">
                <a:solidFill>
                  <a:srgbClr val="1B3A6B"/>
                </a:solidFill>
              </a:rPr>
              <a:t>4.9%</a:t>
            </a:r>
          </a:p>
        </p:txBody>
      </p:sp>
      <p:sp>
        <p:nvSpPr>
          <p:cNvPr id="38" name="TextBox 37"/>
          <p:cNvSpPr txBox="1"/>
          <p:nvPr/>
        </p:nvSpPr>
        <p:spPr>
          <a:xfrm>
            <a:off x="3366000" y="4338000"/>
            <a:ext cx="2538000" cy="162000"/>
          </a:xfrm>
          <a:prstGeom prst="rect">
            <a:avLst/>
          </a:prstGeom>
          <a:noFill/>
        </p:spPr>
        <p:txBody>
          <a:bodyPr wrap="square">
            <a:spAutoFit/>
          </a:bodyPr>
          <a:lstStyle/>
          <a:p>
            <a:pPr algn="l"/>
            <a:r>
              <a:rPr sz="850" b="0" i="0">
                <a:solidFill>
                  <a:srgbClr val="555555"/>
                </a:solidFill>
              </a:rPr>
              <a:t>FCF Yield Médian</a:t>
            </a:r>
          </a:p>
        </p:txBody>
      </p:sp>
      <p:sp>
        <p:nvSpPr>
          <p:cNvPr id="39" name="TextBox 38"/>
          <p:cNvSpPr txBox="1"/>
          <p:nvPr/>
        </p:nvSpPr>
        <p:spPr>
          <a:xfrm>
            <a:off x="3366000" y="4500000"/>
            <a:ext cx="2538000" cy="144000"/>
          </a:xfrm>
          <a:prstGeom prst="rect">
            <a:avLst/>
          </a:prstGeom>
          <a:noFill/>
        </p:spPr>
        <p:txBody>
          <a:bodyPr wrap="square">
            <a:spAutoFit/>
          </a:bodyPr>
          <a:lstStyle/>
          <a:p>
            <a:pPr algn="l"/>
            <a:r>
              <a:rPr sz="800" b="0" i="0">
                <a:solidFill>
                  <a:srgbClr val="AAAAAA"/>
                </a:solidFill>
              </a:rPr>
              <a:t>Génération cash</a:t>
            </a:r>
          </a:p>
        </p:txBody>
      </p:sp>
      <p:sp>
        <p:nvSpPr>
          <p:cNvPr id="40" name="Rectangle 39"/>
          <p:cNvSpPr/>
          <p:nvPr/>
        </p:nvSpPr>
        <p:spPr>
          <a:xfrm>
            <a:off x="6228000" y="3924000"/>
            <a:ext cx="2664000" cy="79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28000" y="3924000"/>
            <a:ext cx="36000" cy="79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18000" y="3960000"/>
            <a:ext cx="2538000" cy="360000"/>
          </a:xfrm>
          <a:prstGeom prst="rect">
            <a:avLst/>
          </a:prstGeom>
          <a:noFill/>
        </p:spPr>
        <p:txBody>
          <a:bodyPr wrap="square">
            <a:spAutoFit/>
          </a:bodyPr>
          <a:lstStyle/>
          <a:p>
            <a:pPr algn="l"/>
            <a:r>
              <a:rPr sz="2200" b="1" i="0">
                <a:solidFill>
                  <a:srgbClr val="1B3A6B"/>
                </a:solidFill>
              </a:rPr>
              <a:t>54/100</a:t>
            </a:r>
          </a:p>
        </p:txBody>
      </p:sp>
      <p:sp>
        <p:nvSpPr>
          <p:cNvPr id="43" name="TextBox 42"/>
          <p:cNvSpPr txBox="1"/>
          <p:nvPr/>
        </p:nvSpPr>
        <p:spPr>
          <a:xfrm>
            <a:off x="6318000" y="4338000"/>
            <a:ext cx="2538000" cy="162000"/>
          </a:xfrm>
          <a:prstGeom prst="rect">
            <a:avLst/>
          </a:prstGeom>
          <a:noFill/>
        </p:spPr>
        <p:txBody>
          <a:bodyPr wrap="square">
            <a:spAutoFit/>
          </a:bodyPr>
          <a:lstStyle/>
          <a:p>
            <a:pPr algn="l"/>
            <a:r>
              <a:rPr sz="850" b="0" i="0">
                <a:solidFill>
                  <a:srgbClr val="555555"/>
                </a:solidFill>
              </a:rPr>
              <a:t>Score santé moyen</a:t>
            </a:r>
          </a:p>
        </p:txBody>
      </p:sp>
      <p:sp>
        <p:nvSpPr>
          <p:cNvPr id="44" name="TextBox 43"/>
          <p:cNvSpPr txBox="1"/>
          <p:nvPr/>
        </p:nvSpPr>
        <p:spPr>
          <a:xfrm>
            <a:off x="6318000" y="4500000"/>
            <a:ext cx="2538000" cy="144000"/>
          </a:xfrm>
          <a:prstGeom prst="rect">
            <a:avLst/>
          </a:prstGeom>
          <a:noFill/>
        </p:spPr>
        <p:txBody>
          <a:bodyPr wrap="square">
            <a:spAutoFit/>
          </a:bodyPr>
          <a:lstStyle/>
          <a:p>
            <a:pPr algn="l"/>
            <a:r>
              <a:rPr sz="800" b="0" i="0">
                <a:solidFill>
                  <a:srgbClr val="AAAAAA"/>
                </a:solidFill>
              </a:rPr>
              <a:t>solidité bilans</a:t>
            </a:r>
          </a:p>
        </p:txBody>
      </p:sp>
      <p:sp>
        <p:nvSpPr>
          <p:cNvPr id="45" name="Rectangle 44"/>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de Marché — FinBERT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sémantique FinBERT  ·  Articles récents  ·  15 sociétés</a:t>
            </a:r>
          </a:p>
        </p:txBody>
      </p:sp>
      <p:sp>
        <p:nvSpPr>
          <p:cNvPr id="15" name="Rectangle 14"/>
          <p:cNvSpPr/>
          <p:nvPr/>
        </p:nvSpPr>
        <p:spPr>
          <a:xfrm>
            <a:off x="324000" y="900000"/>
            <a:ext cx="1908000" cy="93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36000" cy="936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36000"/>
            <a:ext cx="1764000" cy="432000"/>
          </a:xfrm>
          <a:prstGeom prst="rect">
            <a:avLst/>
          </a:prstGeom>
          <a:noFill/>
        </p:spPr>
        <p:txBody>
          <a:bodyPr wrap="square">
            <a:spAutoFit/>
          </a:bodyPr>
          <a:lstStyle/>
          <a:p>
            <a:pPr algn="l"/>
            <a:r>
              <a:rPr sz="2800" b="1" i="0">
                <a:solidFill>
                  <a:srgbClr val="1B3A6B"/>
                </a:solidFill>
              </a:rPr>
              <a:t>0.22</a:t>
            </a:r>
          </a:p>
        </p:txBody>
      </p:sp>
      <p:sp>
        <p:nvSpPr>
          <p:cNvPr id="18" name="TextBox 17"/>
          <p:cNvSpPr txBox="1"/>
          <p:nvPr/>
        </p:nvSpPr>
        <p:spPr>
          <a:xfrm>
            <a:off x="432000" y="1368000"/>
            <a:ext cx="1764000" cy="198000"/>
          </a:xfrm>
          <a:prstGeom prst="rect">
            <a:avLst/>
          </a:prstGeom>
          <a:noFill/>
        </p:spPr>
        <p:txBody>
          <a:bodyPr wrap="square">
            <a:spAutoFit/>
          </a:bodyPr>
          <a:lstStyle/>
          <a:p>
            <a:pPr algn="l"/>
            <a:r>
              <a:rPr sz="750" b="0" i="0">
                <a:solidFill>
                  <a:srgbClr val="555555"/>
                </a:solidFill>
              </a:rPr>
              <a:t>Score agrégé FinBERT</a:t>
            </a:r>
          </a:p>
        </p:txBody>
      </p:sp>
      <p:sp>
        <p:nvSpPr>
          <p:cNvPr id="19" name="TextBox 18"/>
          <p:cNvSpPr txBox="1"/>
          <p:nvPr/>
        </p:nvSpPr>
        <p:spPr>
          <a:xfrm>
            <a:off x="432000" y="1565999"/>
            <a:ext cx="1764000" cy="162000"/>
          </a:xfrm>
          <a:prstGeom prst="rect">
            <a:avLst/>
          </a:prstGeom>
          <a:noFill/>
        </p:spPr>
        <p:txBody>
          <a:bodyPr wrap="square">
            <a:spAutoFit/>
          </a:bodyPr>
          <a:lstStyle/>
          <a:p>
            <a:pPr algn="l"/>
            <a:r>
              <a:rPr sz="750" b="0" i="0">
                <a:solidFill>
                  <a:srgbClr val="AAAAAA"/>
                </a:solidFill>
              </a:rPr>
              <a:t>Neutre positif modéré</a:t>
            </a:r>
          </a:p>
        </p:txBody>
      </p:sp>
      <p:sp>
        <p:nvSpPr>
          <p:cNvPr id="20" name="Rectangle 19"/>
          <p:cNvSpPr/>
          <p:nvPr/>
        </p:nvSpPr>
        <p:spPr>
          <a:xfrm>
            <a:off x="2412000" y="900000"/>
            <a:ext cx="960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12000" y="917999"/>
            <a:ext cx="900000" cy="216000"/>
          </a:xfrm>
          <a:prstGeom prst="rect">
            <a:avLst/>
          </a:prstGeom>
          <a:noFill/>
        </p:spPr>
        <p:txBody>
          <a:bodyPr wrap="square">
            <a:spAutoFit/>
          </a:bodyPr>
          <a:lstStyle/>
          <a:p>
            <a:pPr algn="l"/>
            <a:r>
              <a:rPr sz="850" b="1" i="0">
                <a:solidFill>
                  <a:srgbClr val="1A1A1A"/>
                </a:solidFill>
              </a:rPr>
              <a:t>Positif</a:t>
            </a:r>
          </a:p>
        </p:txBody>
      </p:sp>
      <p:sp>
        <p:nvSpPr>
          <p:cNvPr id="22" name="TextBox 21"/>
          <p:cNvSpPr txBox="1"/>
          <p:nvPr/>
        </p:nvSpPr>
        <p:spPr>
          <a:xfrm>
            <a:off x="6156000" y="917999"/>
            <a:ext cx="1980000" cy="216000"/>
          </a:xfrm>
          <a:prstGeom prst="rect">
            <a:avLst/>
          </a:prstGeom>
          <a:noFill/>
        </p:spPr>
        <p:txBody>
          <a:bodyPr wrap="square">
            <a:spAutoFit/>
          </a:bodyPr>
          <a:lstStyle/>
          <a:p>
            <a:pPr algn="l"/>
            <a:r>
              <a:rPr sz="850" b="0" i="0">
                <a:solidFill>
                  <a:srgbClr val="555555"/>
                </a:solidFill>
              </a:rPr>
              <a:t>4 articles (27 %)</a:t>
            </a:r>
          </a:p>
        </p:txBody>
      </p:sp>
      <p:sp>
        <p:nvSpPr>
          <p:cNvPr id="23" name="Rectangle 22"/>
          <p:cNvSpPr/>
          <p:nvPr/>
        </p:nvSpPr>
        <p:spPr>
          <a:xfrm>
            <a:off x="2412000" y="1224000"/>
            <a:ext cx="1679999"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412000" y="1242000"/>
            <a:ext cx="900000" cy="216000"/>
          </a:xfrm>
          <a:prstGeom prst="rect">
            <a:avLst/>
          </a:prstGeom>
          <a:noFill/>
        </p:spPr>
        <p:txBody>
          <a:bodyPr wrap="square">
            <a:spAutoFit/>
          </a:bodyPr>
          <a:lstStyle/>
          <a:p>
            <a:pPr algn="l"/>
            <a:r>
              <a:rPr sz="850" b="1" i="0">
                <a:solidFill>
                  <a:srgbClr val="1A1A1A"/>
                </a:solidFill>
              </a:rPr>
              <a:t>Neutre</a:t>
            </a:r>
          </a:p>
        </p:txBody>
      </p:sp>
      <p:sp>
        <p:nvSpPr>
          <p:cNvPr id="25" name="TextBox 24"/>
          <p:cNvSpPr txBox="1"/>
          <p:nvPr/>
        </p:nvSpPr>
        <p:spPr>
          <a:xfrm>
            <a:off x="6156000" y="1242000"/>
            <a:ext cx="1980000" cy="216000"/>
          </a:xfrm>
          <a:prstGeom prst="rect">
            <a:avLst/>
          </a:prstGeom>
          <a:noFill/>
        </p:spPr>
        <p:txBody>
          <a:bodyPr wrap="square">
            <a:spAutoFit/>
          </a:bodyPr>
          <a:lstStyle/>
          <a:p>
            <a:pPr algn="l"/>
            <a:r>
              <a:rPr sz="850" b="0" i="0">
                <a:solidFill>
                  <a:srgbClr val="555555"/>
                </a:solidFill>
              </a:rPr>
              <a:t>7 articles (47 %)</a:t>
            </a:r>
          </a:p>
        </p:txBody>
      </p:sp>
      <p:sp>
        <p:nvSpPr>
          <p:cNvPr id="26" name="Rectangle 25"/>
          <p:cNvSpPr/>
          <p:nvPr/>
        </p:nvSpPr>
        <p:spPr>
          <a:xfrm>
            <a:off x="2412000" y="1548000"/>
            <a:ext cx="960000" cy="23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12000" y="1565999"/>
            <a:ext cx="900000" cy="216000"/>
          </a:xfrm>
          <a:prstGeom prst="rect">
            <a:avLst/>
          </a:prstGeom>
          <a:noFill/>
        </p:spPr>
        <p:txBody>
          <a:bodyPr wrap="square">
            <a:spAutoFit/>
          </a:bodyPr>
          <a:lstStyle/>
          <a:p>
            <a:pPr algn="l"/>
            <a:r>
              <a:rPr sz="850" b="1" i="0">
                <a:solidFill>
                  <a:srgbClr val="1A1A1A"/>
                </a:solidFill>
              </a:rPr>
              <a:t>Négatif</a:t>
            </a:r>
          </a:p>
        </p:txBody>
      </p:sp>
      <p:sp>
        <p:nvSpPr>
          <p:cNvPr id="28" name="TextBox 27"/>
          <p:cNvSpPr txBox="1"/>
          <p:nvPr/>
        </p:nvSpPr>
        <p:spPr>
          <a:xfrm>
            <a:off x="6156000" y="1565999"/>
            <a:ext cx="1980000" cy="216000"/>
          </a:xfrm>
          <a:prstGeom prst="rect">
            <a:avLst/>
          </a:prstGeom>
          <a:noFill/>
        </p:spPr>
        <p:txBody>
          <a:bodyPr wrap="square">
            <a:spAutoFit/>
          </a:bodyPr>
          <a:lstStyle/>
          <a:p>
            <a:pPr algn="l"/>
            <a:r>
              <a:rPr sz="850" b="0" i="0">
                <a:solidFill>
                  <a:srgbClr val="555555"/>
                </a:solidFill>
              </a:rPr>
              <a:t>4 articles (27 %)</a:t>
            </a:r>
          </a:p>
        </p:txBody>
      </p:sp>
      <p:sp>
        <p:nvSpPr>
          <p:cNvPr id="29" name="TextBox 28"/>
          <p:cNvSpPr txBox="1"/>
          <p:nvPr/>
        </p:nvSpPr>
        <p:spPr>
          <a:xfrm>
            <a:off x="324000" y="1908000"/>
            <a:ext cx="8496000" cy="216000"/>
          </a:xfrm>
          <a:prstGeom prst="rect">
            <a:avLst/>
          </a:prstGeom>
          <a:noFill/>
        </p:spPr>
        <p:txBody>
          <a:bodyPr wrap="square">
            <a:spAutoFit/>
          </a:bodyPr>
          <a:lstStyle/>
          <a:p>
            <a:pPr algn="l"/>
            <a:r>
              <a:rPr sz="850" b="1" i="0">
                <a:solidFill>
                  <a:srgbClr val="1B3A6B"/>
                </a:solidFill>
              </a:rPr>
              <a:t>Thèmes dominants</a:t>
            </a:r>
          </a:p>
        </p:txBody>
      </p:sp>
      <p:sp>
        <p:nvSpPr>
          <p:cNvPr id="30" name="Rectangle 29"/>
          <p:cNvSpPr/>
          <p:nvPr/>
        </p:nvSpPr>
        <p:spPr>
          <a:xfrm>
            <a:off x="324000" y="2124000"/>
            <a:ext cx="4104000" cy="396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4000" y="2124000"/>
            <a:ext cx="36000" cy="39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000" y="2142000"/>
            <a:ext cx="3851999" cy="360000"/>
          </a:xfrm>
          <a:prstGeom prst="rect">
            <a:avLst/>
          </a:prstGeom>
          <a:noFill/>
        </p:spPr>
        <p:txBody>
          <a:bodyPr wrap="square">
            <a:spAutoFit/>
          </a:bodyPr>
          <a:lstStyle/>
          <a:p>
            <a:pPr algn="l"/>
            <a:r>
              <a:rPr sz="800" b="0" i="0">
                <a:solidFill>
                  <a:srgbClr val="555555"/>
                </a:solidFill>
              </a:rPr>
              <a:t>+ Taux d'intérêt — La stabilisation ou baisse des taux directeurs pourrait réduire la pression sur les</a:t>
            </a:r>
          </a:p>
        </p:txBody>
      </p:sp>
      <p:sp>
        <p:nvSpPr>
          <p:cNvPr id="33" name="Rectangle 32"/>
          <p:cNvSpPr/>
          <p:nvPr/>
        </p:nvSpPr>
        <p:spPr>
          <a:xfrm>
            <a:off x="4716000" y="2124000"/>
            <a:ext cx="4104000" cy="396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16000" y="2124000"/>
            <a:ext cx="36000" cy="39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0000" y="2142000"/>
            <a:ext cx="3851999" cy="360000"/>
          </a:xfrm>
          <a:prstGeom prst="rect">
            <a:avLst/>
          </a:prstGeom>
          <a:noFill/>
        </p:spPr>
        <p:txBody>
          <a:bodyPr wrap="square">
            <a:spAutoFit/>
          </a:bodyPr>
          <a:lstStyle/>
          <a:p>
            <a:pPr algn="l"/>
            <a:r>
              <a:rPr sz="800" b="0" i="0">
                <a:solidFill>
                  <a:srgbClr val="555555"/>
                </a:solidFill>
              </a:rPr>
              <a:t>- Réglementation — Les nouvelles règles prudentielles (Bâle IV) pourraient alourdir les coûts en capital et</a:t>
            </a:r>
          </a:p>
        </p:txBody>
      </p:sp>
      <p:sp>
        <p:nvSpPr>
          <p:cNvPr id="36" name="Rectangle 35"/>
          <p:cNvSpPr/>
          <p:nvPr/>
        </p:nvSpPr>
        <p:spPr>
          <a:xfrm>
            <a:off x="324000" y="2664000"/>
            <a:ext cx="8496000" cy="19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24000" y="2664000"/>
            <a:ext cx="8496000" cy="25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6000" y="2682000"/>
            <a:ext cx="8352000" cy="216000"/>
          </a:xfrm>
          <a:prstGeom prst="rect">
            <a:avLst/>
          </a:prstGeom>
          <a:noFill/>
        </p:spPr>
        <p:txBody>
          <a:bodyPr wrap="square">
            <a:spAutoFit/>
          </a:bodyPr>
          <a:lstStyle/>
          <a:p>
            <a:pPr algn="l"/>
            <a:r>
              <a:rPr sz="850" b="1" i="0">
                <a:solidFill>
                  <a:srgbClr val="FFFFFF"/>
                </a:solidFill>
              </a:rPr>
              <a:t>LECTURE ANALYTIQUE DU SENTIMENT</a:t>
            </a:r>
          </a:p>
        </p:txBody>
      </p:sp>
      <p:sp>
        <p:nvSpPr>
          <p:cNvPr id="39" name="TextBox 38"/>
          <p:cNvSpPr txBox="1"/>
          <p:nvPr/>
        </p:nvSpPr>
        <p:spPr>
          <a:xfrm>
            <a:off x="396000" y="2951999"/>
            <a:ext cx="8352000" cy="1620000"/>
          </a:xfrm>
          <a:prstGeom prst="rect">
            <a:avLst/>
          </a:prstGeom>
          <a:noFill/>
        </p:spPr>
        <p:txBody>
          <a:bodyPr wrap="square">
            <a:spAutoFit/>
          </a:bodyPr>
          <a:lstStyle/>
          <a:p>
            <a:pPr algn="l"/>
            <a:r>
              <a:rPr sz="850" b="0" i="0">
                <a:solidFill>
                  <a:srgbClr val="555555"/>
                </a:solidFill>
              </a:rPr>
              <a:t>Le sentiment agrégé FinBERT sur le secteur Banques (Global) ressort légèrement positif (0.22), avec 27% d'articles a tonalité positive sur 15 analysés. La dispersion inter-valeurs est prononcée : leader (+0.25) Porté la composanté haussière tandis que retardataire (-0.10) reflète les pressions structurelles. Cette hétérogénéité valide une approche sélective plutôt que directionnelle sur le secteur — le sentiment moyen masque des situations fondamentalement différentes entre leaders et retardataires. La composanté thématique (catalyseurs vs risques) suggère que les flux narratifs restent orientés positivement, avec des newsflows soutenus sur la croissance et les marges. Le suivi du ratio Positif/Négatif dans les prochaines semaines constitue un indicateur avancé pour anticiper les rotations sectorielles.</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Boursière Relative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Banques  ·  Global  ·  Indexe a 100 au debut de la période</a:t>
            </a:r>
          </a:p>
        </p:txBody>
      </p:sp>
      <p:pic>
        <p:nvPicPr>
          <p:cNvPr id="15" name="Picture 14" descr="image.png"/>
          <p:cNvPicPr>
            <a:picLocks noChangeAspect="1"/>
          </p:cNvPicPr>
          <p:nvPr/>
        </p:nvPicPr>
        <p:blipFill>
          <a:blip r:embed="rId2"/>
          <a:stretch>
            <a:fillRect/>
          </a:stretch>
        </p:blipFill>
        <p:spPr>
          <a:xfrm>
            <a:off x="324000" y="827999"/>
            <a:ext cx="5940000" cy="3671999"/>
          </a:xfrm>
          <a:prstGeom prst="rect">
            <a:avLst/>
          </a:prstGeom>
        </p:spPr>
      </p:pic>
      <p:sp>
        <p:nvSpPr>
          <p:cNvPr id="16" name="Rectangle 15"/>
          <p:cNvSpPr/>
          <p:nvPr/>
        </p:nvSpPr>
        <p:spPr>
          <a:xfrm>
            <a:off x="6336000" y="827999"/>
            <a:ext cx="2448000" cy="367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36000" y="827999"/>
            <a:ext cx="2448000" cy="23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8000" y="846000"/>
            <a:ext cx="2340000" cy="198000"/>
          </a:xfrm>
          <a:prstGeom prst="rect">
            <a:avLst/>
          </a:prstGeom>
          <a:noFill/>
        </p:spPr>
        <p:txBody>
          <a:bodyPr wrap="square">
            <a:spAutoFit/>
          </a:bodyPr>
          <a:lstStyle/>
          <a:p>
            <a:pPr algn="l"/>
            <a:r>
              <a:rPr sz="800" b="1" i="0">
                <a:solidFill>
                  <a:srgbClr val="FFFFFF"/>
                </a:solidFill>
              </a:rPr>
              <a:t>LECTURE ANALYTIQUE</a:t>
            </a:r>
          </a:p>
        </p:txBody>
      </p:sp>
      <p:sp>
        <p:nvSpPr>
          <p:cNvPr id="19" name="TextBox 18"/>
          <p:cNvSpPr txBox="1"/>
          <p:nvPr/>
        </p:nvSpPr>
        <p:spPr>
          <a:xfrm>
            <a:off x="6408000" y="1152000"/>
            <a:ext cx="2304000" cy="324000"/>
          </a:xfrm>
          <a:prstGeom prst="rect">
            <a:avLst/>
          </a:prstGeom>
          <a:noFill/>
        </p:spPr>
        <p:txBody>
          <a:bodyPr wrap="square">
            <a:spAutoFit/>
          </a:bodyPr>
          <a:lstStyle/>
          <a:p>
            <a:pPr algn="l"/>
            <a:r>
              <a:rPr sz="700" b="1" i="0">
                <a:solidFill>
                  <a:srgbClr val="1B3A6B"/>
                </a:solidFill>
              </a:rPr>
              <a:t>MEILLEURE PERFORMANCE</a:t>
            </a:r>
          </a:p>
        </p:txBody>
      </p:sp>
      <p:sp>
        <p:nvSpPr>
          <p:cNvPr id="20" name="TextBox 19"/>
          <p:cNvSpPr txBox="1"/>
          <p:nvPr/>
        </p:nvSpPr>
        <p:spPr>
          <a:xfrm>
            <a:off x="6408000" y="1314000"/>
            <a:ext cx="2304000" cy="324000"/>
          </a:xfrm>
          <a:prstGeom prst="rect">
            <a:avLst/>
          </a:prstGeom>
          <a:noFill/>
        </p:spPr>
        <p:txBody>
          <a:bodyPr wrap="square">
            <a:spAutoFit/>
          </a:bodyPr>
          <a:lstStyle/>
          <a:p>
            <a:pPr algn="l"/>
            <a:r>
              <a:rPr sz="900" b="1" i="0">
                <a:solidFill>
                  <a:srgbClr val="1B3A6B"/>
                </a:solidFill>
              </a:rPr>
              <a:t>C  +76%  sur 52 semaines</a:t>
            </a:r>
          </a:p>
        </p:txBody>
      </p:sp>
      <p:sp>
        <p:nvSpPr>
          <p:cNvPr id="21" name="TextBox 20"/>
          <p:cNvSpPr txBox="1"/>
          <p:nvPr/>
        </p:nvSpPr>
        <p:spPr>
          <a:xfrm>
            <a:off x="6408000" y="1655999"/>
            <a:ext cx="2304000" cy="324000"/>
          </a:xfrm>
          <a:prstGeom prst="rect">
            <a:avLst/>
          </a:prstGeom>
          <a:noFill/>
        </p:spPr>
        <p:txBody>
          <a:bodyPr wrap="square">
            <a:spAutoFit/>
          </a:bodyPr>
          <a:lstStyle/>
          <a:p>
            <a:pPr algn="l"/>
            <a:r>
              <a:rPr sz="700" b="1" i="0">
                <a:solidFill>
                  <a:srgbClr val="1B3A6B"/>
                </a:solidFill>
              </a:rPr>
              <a:t>PIRE PERFORMANCE</a:t>
            </a:r>
          </a:p>
        </p:txBody>
      </p:sp>
      <p:sp>
        <p:nvSpPr>
          <p:cNvPr id="22" name="TextBox 21"/>
          <p:cNvSpPr txBox="1"/>
          <p:nvPr/>
        </p:nvSpPr>
        <p:spPr>
          <a:xfrm>
            <a:off x="6408000" y="1818000"/>
            <a:ext cx="2304000" cy="324000"/>
          </a:xfrm>
          <a:prstGeom prst="rect">
            <a:avLst/>
          </a:prstGeom>
          <a:noFill/>
        </p:spPr>
        <p:txBody>
          <a:bodyPr wrap="square">
            <a:spAutoFit/>
          </a:bodyPr>
          <a:lstStyle/>
          <a:p>
            <a:pPr algn="l"/>
            <a:r>
              <a:rPr sz="900" b="1" i="0">
                <a:solidFill>
                  <a:srgbClr val="A82020"/>
                </a:solidFill>
              </a:rPr>
              <a:t>BLK  +10%  sur 52 semaines</a:t>
            </a:r>
          </a:p>
        </p:txBody>
      </p:sp>
      <p:sp>
        <p:nvSpPr>
          <p:cNvPr id="23" name="TextBox 22"/>
          <p:cNvSpPr txBox="1"/>
          <p:nvPr/>
        </p:nvSpPr>
        <p:spPr>
          <a:xfrm>
            <a:off x="6408000" y="2196000"/>
            <a:ext cx="2304000" cy="324000"/>
          </a:xfrm>
          <a:prstGeom prst="rect">
            <a:avLst/>
          </a:prstGeom>
          <a:noFill/>
        </p:spPr>
        <p:txBody>
          <a:bodyPr wrap="square">
            <a:spAutoFit/>
          </a:bodyPr>
          <a:lstStyle/>
          <a:p>
            <a:pPr algn="l"/>
            <a:r>
              <a:rPr sz="700" b="1" i="0">
                <a:solidFill>
                  <a:srgbClr val="1B3A6B"/>
                </a:solidFill>
              </a:rPr>
              <a:t>DISPERSION</a:t>
            </a:r>
          </a:p>
        </p:txBody>
      </p:sp>
      <p:sp>
        <p:nvSpPr>
          <p:cNvPr id="24" name="TextBox 23"/>
          <p:cNvSpPr txBox="1"/>
          <p:nvPr/>
        </p:nvSpPr>
        <p:spPr>
          <a:xfrm>
            <a:off x="6408000" y="2358000"/>
            <a:ext cx="2304000" cy="324000"/>
          </a:xfrm>
          <a:prstGeom prst="rect">
            <a:avLst/>
          </a:prstGeom>
          <a:noFill/>
        </p:spPr>
        <p:txBody>
          <a:bodyPr wrap="square">
            <a:spAutoFit/>
          </a:bodyPr>
          <a:lstStyle/>
          <a:p>
            <a:pPr algn="l"/>
            <a:r>
              <a:rPr sz="800" b="0" i="0">
                <a:solidFill>
                  <a:srgbClr val="555555"/>
                </a:solidFill>
              </a:rPr>
              <a:t>Écart 67 pts — 15 valeur(s) positives vs 0 négatives.</a:t>
            </a:r>
          </a:p>
        </p:txBody>
      </p:sp>
      <p:sp>
        <p:nvSpPr>
          <p:cNvPr id="25" name="TextBox 24"/>
          <p:cNvSpPr txBox="1"/>
          <p:nvPr/>
        </p:nvSpPr>
        <p:spPr>
          <a:xfrm>
            <a:off x="6408000" y="2772000"/>
            <a:ext cx="2304000" cy="324000"/>
          </a:xfrm>
          <a:prstGeom prst="rect">
            <a:avLst/>
          </a:prstGeom>
          <a:noFill/>
        </p:spPr>
        <p:txBody>
          <a:bodyPr wrap="square">
            <a:spAutoFit/>
          </a:bodyPr>
          <a:lstStyle/>
          <a:p>
            <a:pPr algn="l"/>
            <a:r>
              <a:rPr sz="700" b="1" i="0">
                <a:solidFill>
                  <a:srgbClr val="1B3A6B"/>
                </a:solidFill>
              </a:rPr>
              <a:t>INTERPRÉTATION</a:t>
            </a:r>
          </a:p>
        </p:txBody>
      </p:sp>
      <p:sp>
        <p:nvSpPr>
          <p:cNvPr id="26" name="TextBox 25"/>
          <p:cNvSpPr txBox="1"/>
          <p:nvPr/>
        </p:nvSpPr>
        <p:spPr>
          <a:xfrm>
            <a:off x="6408000" y="2934000"/>
            <a:ext cx="2304000" cy="324000"/>
          </a:xfrm>
          <a:prstGeom prst="rect">
            <a:avLst/>
          </a:prstGeom>
          <a:noFill/>
        </p:spPr>
        <p:txBody>
          <a:bodyPr wrap="square">
            <a:spAutoFit/>
          </a:bodyPr>
          <a:lstStyle/>
          <a:p>
            <a:pPr algn="l"/>
            <a:r>
              <a:rPr sz="750" b="0" i="0">
                <a:solidFill>
                  <a:srgbClr val="555555"/>
                </a:solidFill>
              </a:rPr>
              <a:t>La dispersion des trajectoires reflète la bifurcation sectorielle : certains acteurs captent l'essentiel de la création de valeur tandis que d'autrès subissent des sorties de capitaux structurelles.</a:t>
            </a:r>
          </a:p>
        </p:txBody>
      </p:sp>
      <p:sp>
        <p:nvSpPr>
          <p:cNvPr id="27" name="TextBox 26"/>
          <p:cNvSpPr txBox="1"/>
          <p:nvPr/>
        </p:nvSpPr>
        <p:spPr>
          <a:xfrm>
            <a:off x="6408000" y="3366000"/>
            <a:ext cx="2304000" cy="324000"/>
          </a:xfrm>
          <a:prstGeom prst="rect">
            <a:avLst/>
          </a:prstGeom>
          <a:noFill/>
        </p:spPr>
        <p:txBody>
          <a:bodyPr wrap="square">
            <a:spAutoFit/>
          </a:bodyPr>
          <a:lstStyle/>
          <a:p>
            <a:pPr algn="l"/>
            <a:r>
              <a:rPr sz="750" b="0" i="0">
                <a:solidFill>
                  <a:srgbClr val="555555"/>
                </a:solidFill>
              </a:rPr>
              <a:t>Le momentum 52W est intégré dans le score FinSight comme signal de confirmation de la thèse d'investissement.</a:t>
            </a:r>
          </a:p>
        </p:txBody>
      </p:sp>
      <p:sp>
        <p:nvSpPr>
          <p:cNvPr id="28" name="Rectangle 27"/>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Avertissement &amp; Méthodologie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Traçabilité complète des données  ·  Data lineage  ·  Agents FinSight IA v1.0</a:t>
            </a:r>
          </a:p>
        </p:txBody>
      </p:sp>
      <p:graphicFrame>
        <p:nvGraphicFramePr>
          <p:cNvPr id="15" name="Table 14"/>
          <p:cNvGraphicFramePr>
            <a:graphicFrameLocks noGrp="1"/>
          </p:cNvGraphicFramePr>
          <p:nvPr/>
        </p:nvGraphicFramePr>
        <p:xfrm>
          <a:off x="324000" y="900000"/>
          <a:ext cx="8495999" cy="1562400"/>
        </p:xfrm>
        <a:graphic>
          <a:graphicData uri="http://schemas.openxmlformats.org/drawingml/2006/table">
            <a:tbl>
              <a:tblPr firstRow="1" bandRow="1">
                <a:tableStyleId>{5C22544A-7EE6-4342-B048-85BDC9FD1C3A}</a:tableStyleId>
              </a:tblPr>
              <a:tblGrid>
                <a:gridCol w="1440000"/>
                <a:gridCol w="1620000"/>
                <a:gridCol w="3780000"/>
                <a:gridCol w="1655999"/>
              </a:tblGrid>
              <a:tr h="223200">
                <a:tc>
                  <a:txBody>
                    <a:bodyPr/>
                    <a:lstStyle/>
                    <a:p>
                      <a:pPr algn="ctr"/>
                      <a:r>
                        <a:rPr sz="800" b="1">
                          <a:solidFill>
                            <a:srgbClr val="FFFFFF"/>
                          </a:solidFill>
                        </a:rPr>
                        <a:t>Agent</a:t>
                      </a:r>
                    </a:p>
                  </a:txBody>
                  <a:tcPr>
                    <a:solidFill>
                      <a:srgbClr val="1B3A6B"/>
                    </a:solidFill>
                  </a:tcPr>
                </a:tc>
                <a:tc>
                  <a:txBody>
                    <a:bodyPr/>
                    <a:lstStyle/>
                    <a:p>
                      <a:pPr algn="ctr"/>
                      <a:r>
                        <a:rPr sz="800" b="1">
                          <a:solidFill>
                            <a:srgbClr val="FFFFFF"/>
                          </a:solidFill>
                        </a:rPr>
                        <a:t>Source données</a:t>
                      </a:r>
                    </a:p>
                  </a:txBody>
                  <a:tcPr>
                    <a:solidFill>
                      <a:srgbClr val="1B3A6B"/>
                    </a:solidFill>
                  </a:tcPr>
                </a:tc>
                <a:tc>
                  <a:txBody>
                    <a:bodyPr/>
                    <a:lstStyle/>
                    <a:p>
                      <a:pPr algn="ctr"/>
                      <a:r>
                        <a:rPr sz="800" b="1">
                          <a:solidFill>
                            <a:srgbClr val="FFFFFF"/>
                          </a:solidFill>
                        </a:rPr>
                        <a:t>Données collectées</a:t>
                      </a:r>
                    </a:p>
                  </a:txBody>
                  <a:tcPr>
                    <a:solidFill>
                      <a:srgbClr val="1B3A6B"/>
                    </a:solidFill>
                  </a:tcPr>
                </a:tc>
                <a:tc>
                  <a:txBody>
                    <a:bodyPr/>
                    <a:lstStyle/>
                    <a:p>
                      <a:pPr algn="ctr"/>
                      <a:r>
                        <a:rPr sz="800" b="1">
                          <a:solidFill>
                            <a:srgbClr val="FFFFFF"/>
                          </a:solidFill>
                        </a:rPr>
                        <a:t>Fréquence</a:t>
                      </a:r>
                    </a:p>
                  </a:txBody>
                  <a:tcPr>
                    <a:solidFill>
                      <a:srgbClr val="1B3A6B"/>
                    </a:solidFill>
                  </a:tcPr>
                </a:tc>
              </a:tr>
              <a:tr h="223200">
                <a:tc>
                  <a:txBody>
                    <a:bodyPr/>
                    <a:lstStyle/>
                    <a:p>
                      <a:pPr algn="ctr"/>
                      <a:r>
                        <a:rPr sz="750" b="0">
                          <a:solidFill>
                            <a:srgbClr val="1A1A1A"/>
                          </a:solidFill>
                        </a:rPr>
                        <a:t>AgentData</a:t>
                      </a:r>
                    </a:p>
                  </a:txBody>
                  <a:tcPr>
                    <a:noFill/>
                  </a:tcPr>
                </a:tc>
                <a:tc>
                  <a:txBody>
                    <a:bodyPr/>
                    <a:lstStyle/>
                    <a:p>
                      <a:pPr algn="ctr"/>
                      <a:r>
                        <a:rPr sz="750" b="0">
                          <a:solidFill>
                            <a:srgbClr val="1A1A1A"/>
                          </a:solidFill>
                        </a:rPr>
                        <a:t>yfinance + FMP</a:t>
                      </a:r>
                    </a:p>
                  </a:txBody>
                  <a:tcPr>
                    <a:noFill/>
                  </a:tcPr>
                </a:tc>
                <a:tc>
                  <a:txBody>
                    <a:bodyPr/>
                    <a:lstStyle/>
                    <a:p>
                      <a:pPr algn="ctr"/>
                      <a:r>
                        <a:rPr sz="750" b="0">
                          <a:solidFill>
                            <a:srgbClr val="1A1A1A"/>
                          </a:solidFill>
                        </a:rPr>
                        <a:t>Cours, ratios, états financiers LTM</a:t>
                      </a:r>
                    </a:p>
                  </a:txBody>
                  <a:tcPr>
                    <a:noFill/>
                  </a:tcPr>
                </a:tc>
                <a:tc>
                  <a:txBody>
                    <a:bodyPr/>
                    <a:lstStyle/>
                    <a:p>
                      <a:pPr algn="ctr"/>
                      <a:r>
                        <a:rPr sz="750" b="0">
                          <a:solidFill>
                            <a:srgbClr val="1A1A1A"/>
                          </a:solidFill>
                        </a:rPr>
                        <a:t>Temps réel / J-1</a:t>
                      </a:r>
                    </a:p>
                  </a:txBody>
                  <a:tcPr>
                    <a:noFill/>
                  </a:tcPr>
                </a:tc>
              </a:tr>
              <a:tr h="223200">
                <a:tc>
                  <a:txBody>
                    <a:bodyPr/>
                    <a:lstStyle/>
                    <a:p>
                      <a:pPr algn="ctr"/>
                      <a:r>
                        <a:rPr sz="750" b="0">
                          <a:solidFill>
                            <a:srgbClr val="1A1A1A"/>
                          </a:solidFill>
                        </a:rPr>
                        <a:t>AgentQuant</a:t>
                      </a:r>
                    </a:p>
                  </a:txBody>
                  <a:tcPr>
                    <a:solidFill>
                      <a:srgbClr val="F5F7FA"/>
                    </a:solidFill>
                  </a:tcPr>
                </a:tc>
                <a:tc>
                  <a:txBody>
                    <a:bodyPr/>
                    <a:lstStyle/>
                    <a:p>
                      <a:pPr algn="ctr"/>
                      <a:r>
                        <a:rPr sz="750" b="0">
                          <a:solidFill>
                            <a:srgbClr val="1A1A1A"/>
                          </a:solidFill>
                        </a:rPr>
                        <a:t>Calcul interne</a:t>
                      </a:r>
                    </a:p>
                  </a:txBody>
                  <a:tcPr>
                    <a:solidFill>
                      <a:srgbClr val="F5F7FA"/>
                    </a:solidFill>
                  </a:tcPr>
                </a:tc>
                <a:tc>
                  <a:txBody>
                    <a:bodyPr/>
                    <a:lstStyle/>
                    <a:p>
                      <a:pPr algn="ctr"/>
                      <a:r>
                        <a:rPr sz="750" b="0">
                          <a:solidFill>
                            <a:srgbClr val="1A1A1A"/>
                          </a:solidFill>
                        </a:rPr>
                        <a:t>Altman Z, Beneish M, scores FinSight</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AgentSentiment</a:t>
                      </a:r>
                    </a:p>
                  </a:txBody>
                  <a:tcPr>
                    <a:noFill/>
                  </a:tcPr>
                </a:tc>
                <a:tc>
                  <a:txBody>
                    <a:bodyPr/>
                    <a:lstStyle/>
                    <a:p>
                      <a:pPr algn="ctr"/>
                      <a:r>
                        <a:rPr sz="750" b="0">
                          <a:solidFill>
                            <a:srgbClr val="1A1A1A"/>
                          </a:solidFill>
                        </a:rPr>
                        <a:t>Finnhub + RSS</a:t>
                      </a:r>
                    </a:p>
                  </a:txBody>
                  <a:tcPr>
                    <a:noFill/>
                  </a:tcPr>
                </a:tc>
                <a:tc>
                  <a:txBody>
                    <a:bodyPr/>
                    <a:lstStyle/>
                    <a:p>
                      <a:pPr algn="ctr"/>
                      <a:r>
                        <a:rPr sz="750" b="0">
                          <a:solidFill>
                            <a:srgbClr val="1A1A1A"/>
                          </a:solidFill>
                        </a:rPr>
                        <a:t>Articles presse, scoring FinBERT</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AgentSynthese</a:t>
                      </a:r>
                    </a:p>
                  </a:txBody>
                  <a:tcPr>
                    <a:solidFill>
                      <a:srgbClr val="F5F7FA"/>
                    </a:solidFill>
                  </a:tcPr>
                </a:tc>
                <a:tc>
                  <a:txBody>
                    <a:bodyPr/>
                    <a:lstStyle/>
                    <a:p>
                      <a:pPr algn="ctr"/>
                      <a:r>
                        <a:rPr sz="750" b="0">
                          <a:solidFill>
                            <a:srgbClr val="1A1A1A"/>
                          </a:solidFill>
                        </a:rPr>
                        <a:t>Claude Haiku</a:t>
                      </a:r>
                    </a:p>
                  </a:txBody>
                  <a:tcPr>
                    <a:solidFill>
                      <a:srgbClr val="F5F7FA"/>
                    </a:solidFill>
                  </a:tcPr>
                </a:tc>
                <a:tc>
                  <a:txBody>
                    <a:bodyPr/>
                    <a:lstStyle/>
                    <a:p>
                      <a:pPr algn="ctr"/>
                      <a:r>
                        <a:rPr sz="750" b="0">
                          <a:solidFill>
                            <a:srgbClr val="1A1A1A"/>
                          </a:solidFill>
                        </a:rPr>
                        <a:t>Ratios calculés, scoring multifactoriel</a:t>
                      </a:r>
                    </a:p>
                  </a:txBody>
                  <a:tcPr>
                    <a:solidFill>
                      <a:srgbClr val="F5F7FA"/>
                    </a:solidFill>
                  </a:tcPr>
                </a:tc>
                <a:tc>
                  <a:txBody>
                    <a:bodyPr/>
                    <a:lstStyle/>
                    <a:p>
                      <a:pPr algn="ctr"/>
                      <a:r>
                        <a:rPr sz="750" b="0">
                          <a:solidFill>
                            <a:srgbClr val="1A1A1A"/>
                          </a:solidFill>
                        </a:rPr>
                        <a:t>À la demande</a:t>
                      </a:r>
                    </a:p>
                  </a:txBody>
                  <a:tcPr>
                    <a:solidFill>
                      <a:srgbClr val="F5F7FA"/>
                    </a:solidFill>
                  </a:tcPr>
                </a:tc>
              </a:tr>
              <a:tr h="223200">
                <a:tc>
                  <a:txBody>
                    <a:bodyPr/>
                    <a:lstStyle/>
                    <a:p>
                      <a:pPr algn="ctr"/>
                      <a:r>
                        <a:rPr sz="750" b="0">
                          <a:solidFill>
                            <a:srgbClr val="1A1A1A"/>
                          </a:solidFill>
                        </a:rPr>
                        <a:t>AgentDevil</a:t>
                      </a:r>
                    </a:p>
                  </a:txBody>
                  <a:tcPr>
                    <a:noFill/>
                  </a:tcPr>
                </a:tc>
                <a:tc>
                  <a:txBody>
                    <a:bodyPr/>
                    <a:lstStyle/>
                    <a:p>
                      <a:pPr algn="ctr"/>
                      <a:r>
                        <a:rPr sz="750" b="0">
                          <a:solidFill>
                            <a:srgbClr val="1A1A1A"/>
                          </a:solidFill>
                        </a:rPr>
                        <a:t>Claude Haiku</a:t>
                      </a:r>
                    </a:p>
                  </a:txBody>
                  <a:tcPr>
                    <a:noFill/>
                  </a:tcPr>
                </a:tc>
                <a:tc>
                  <a:txBody>
                    <a:bodyPr/>
                    <a:lstStyle/>
                    <a:p>
                      <a:pPr algn="ctr"/>
                      <a:r>
                        <a:rPr sz="750" b="0">
                          <a:solidFill>
                            <a:srgbClr val="1A1A1A"/>
                          </a:solidFill>
                        </a:rPr>
                        <a:t>Thèse contraire, conviction delta</a:t>
                      </a:r>
                    </a:p>
                  </a:txBody>
                  <a:tcPr>
                    <a:noFill/>
                  </a:tcPr>
                </a:tc>
                <a:tc>
                  <a:txBody>
                    <a:bodyPr/>
                    <a:lstStyle/>
                    <a:p>
                      <a:pPr algn="ctr"/>
                      <a:r>
                        <a:rPr sz="750" b="0">
                          <a:solidFill>
                            <a:srgbClr val="1A1A1A"/>
                          </a:solidFill>
                        </a:rPr>
                        <a:t>À la demande</a:t>
                      </a:r>
                    </a:p>
                  </a:txBody>
                  <a:tcPr>
                    <a:noFill/>
                  </a:tcPr>
                </a:tc>
              </a:tr>
              <a:tr h="223200">
                <a:tc>
                  <a:txBody>
                    <a:bodyPr/>
                    <a:lstStyle/>
                    <a:p>
                      <a:pPr algn="ctr"/>
                      <a:r>
                        <a:rPr sz="750" b="0">
                          <a:solidFill>
                            <a:srgbClr val="1A1A1A"/>
                          </a:solidFill>
                        </a:rPr>
                        <a:t>AgentQA</a:t>
                      </a:r>
                    </a:p>
                  </a:txBody>
                  <a:tcPr>
                    <a:solidFill>
                      <a:srgbClr val="F5F7FA"/>
                    </a:solidFill>
                  </a:tcPr>
                </a:tc>
                <a:tc>
                  <a:txBody>
                    <a:bodyPr/>
                    <a:lstStyle/>
                    <a:p>
                      <a:pPr algn="ctr"/>
                      <a:r>
                        <a:rPr sz="750" b="0">
                          <a:solidFill>
                            <a:srgbClr val="1A1A1A"/>
                          </a:solidFill>
                        </a:rPr>
                        <a:t>Python + LLM</a:t>
                      </a:r>
                    </a:p>
                  </a:txBody>
                  <a:tcPr>
                    <a:solidFill>
                      <a:srgbClr val="F5F7FA"/>
                    </a:solidFill>
                  </a:tcPr>
                </a:tc>
                <a:tc>
                  <a:txBody>
                    <a:bodyPr/>
                    <a:lstStyle/>
                    <a:p>
                      <a:pPr algn="ctr"/>
                      <a:r>
                        <a:rPr sz="750" b="0">
                          <a:solidFill>
                            <a:srgbClr val="1A1A1A"/>
                          </a:solidFill>
                        </a:rPr>
                        <a:t>Validation cohérence, flags erreur</a:t>
                      </a:r>
                    </a:p>
                  </a:txBody>
                  <a:tcPr>
                    <a:solidFill>
                      <a:srgbClr val="F5F7FA"/>
                    </a:solidFill>
                  </a:tcPr>
                </a:tc>
                <a:tc>
                  <a:txBody>
                    <a:bodyPr/>
                    <a:lstStyle/>
                    <a:p>
                      <a:pPr algn="ctr"/>
                      <a:r>
                        <a:rPr sz="750" b="0">
                          <a:solidFill>
                            <a:srgbClr val="1A1A1A"/>
                          </a:solidFill>
                        </a:rPr>
                        <a:t>Systématique</a:t>
                      </a:r>
                    </a:p>
                  </a:txBody>
                  <a:tcPr>
                    <a:solidFill>
                      <a:srgbClr val="F5F7FA"/>
                    </a:solidFill>
                  </a:tcPr>
                </a:tc>
              </a:tr>
            </a:tbl>
          </a:graphicData>
        </a:graphic>
      </p:graphicFrame>
      <p:sp>
        <p:nvSpPr>
          <p:cNvPr id="16" name="Rectangle 15"/>
          <p:cNvSpPr/>
          <p:nvPr/>
        </p:nvSpPr>
        <p:spPr>
          <a:xfrm>
            <a:off x="324000" y="3456000"/>
            <a:ext cx="8496000" cy="97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56000"/>
            <a:ext cx="36000" cy="97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8000" y="3491999"/>
            <a:ext cx="8316000" cy="216000"/>
          </a:xfrm>
          <a:prstGeom prst="rect">
            <a:avLst/>
          </a:prstGeom>
          <a:noFill/>
        </p:spPr>
        <p:txBody>
          <a:bodyPr wrap="square">
            <a:spAutoFit/>
          </a:bodyPr>
          <a:lstStyle/>
          <a:p>
            <a:pPr algn="l"/>
            <a:r>
              <a:rPr sz="850" b="1" i="0">
                <a:solidFill>
                  <a:srgbClr val="B06000"/>
                </a:solidFill>
              </a:rPr>
              <a:t>LIMITES &amp; PRÉCAUTIONS</a:t>
            </a:r>
          </a:p>
        </p:txBody>
      </p:sp>
      <p:sp>
        <p:nvSpPr>
          <p:cNvPr id="19" name="TextBox 18"/>
          <p:cNvSpPr txBox="1"/>
          <p:nvPr/>
        </p:nvSpPr>
        <p:spPr>
          <a:xfrm>
            <a:off x="468000" y="3726000"/>
            <a:ext cx="8316000" cy="720000"/>
          </a:xfrm>
          <a:prstGeom prst="rect">
            <a:avLst/>
          </a:prstGeom>
          <a:noFill/>
        </p:spPr>
        <p:txBody>
          <a:bodyPr wrap="square">
            <a:spAutoFit/>
          </a:bodyPr>
          <a:lstStyle/>
          <a:p>
            <a:pPr algn="l"/>
            <a:r>
              <a:rPr sz="800" b="0" i="0">
                <a:solidFill>
                  <a:srgbClr val="555555"/>
                </a:solidFill>
              </a:rPr>
              <a:t>Les données financières historiques sont issues de sources publiques et peuvent présenter des délais ou inexactitudes. Les prévisions sont basées sur le consensus et les modèles internes FinSight IA — elles ne constituent pas des engagements. La méthodologie de scoring est soumise à des biais inhérents à toute approche quantitative.</a:t>
            </a:r>
          </a:p>
        </p:txBody>
      </p:sp>
      <p:sp>
        <p:nvSpPr>
          <p:cNvPr id="20" name="Rectangle 19"/>
          <p:cNvSpPr/>
          <p:nvPr/>
        </p:nvSpPr>
        <p:spPr>
          <a:xfrm>
            <a:off x="324000" y="4428000"/>
            <a:ext cx="8496000" cy="3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000" y="4446000"/>
            <a:ext cx="8352000" cy="324000"/>
          </a:xfrm>
          <a:prstGeom prst="rect">
            <a:avLst/>
          </a:prstGeom>
          <a:noFill/>
        </p:spPr>
        <p:txBody>
          <a:bodyPr wrap="square">
            <a:spAutoFit/>
          </a:bodyPr>
          <a:lstStyle/>
          <a:p>
            <a:pPr algn="l"/>
            <a:r>
              <a:rPr sz="700" b="0" i="0">
                <a:solidFill>
                  <a:srgbClr val="AAAAAA"/>
                </a:solidFill>
              </a:rPr>
              <a:t>Ce rapport est Généré par FinSight IA v1.0. Il ne constitue pas un conseil en investissement au sens de la directive MiFID II (2014/65/UE). Document confidentiel — usage interne uniquement. Toute reproduction ou diffusion est interdite sans autorisation.</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